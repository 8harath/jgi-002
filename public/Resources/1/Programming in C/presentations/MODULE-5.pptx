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50"/>
  </p:notesMasterIdLst>
  <p:sldIdLst>
    <p:sldId id="256" r:id="rId2"/>
    <p:sldId id="259" r:id="rId3"/>
    <p:sldId id="257" r:id="rId4"/>
    <p:sldId id="570" r:id="rId5"/>
    <p:sldId id="571" r:id="rId6"/>
    <p:sldId id="438" r:id="rId7"/>
    <p:sldId id="568" r:id="rId8"/>
    <p:sldId id="572" r:id="rId9"/>
    <p:sldId id="569" r:id="rId10"/>
    <p:sldId id="573" r:id="rId11"/>
    <p:sldId id="574" r:id="rId12"/>
    <p:sldId id="575" r:id="rId13"/>
    <p:sldId id="576" r:id="rId14"/>
    <p:sldId id="577" r:id="rId15"/>
    <p:sldId id="580" r:id="rId16"/>
    <p:sldId id="579" r:id="rId17"/>
    <p:sldId id="578" r:id="rId18"/>
    <p:sldId id="581" r:id="rId19"/>
    <p:sldId id="582" r:id="rId20"/>
    <p:sldId id="583" r:id="rId21"/>
    <p:sldId id="585" r:id="rId22"/>
    <p:sldId id="586" r:id="rId23"/>
    <p:sldId id="584" r:id="rId24"/>
    <p:sldId id="587" r:id="rId25"/>
    <p:sldId id="588" r:id="rId26"/>
    <p:sldId id="589" r:id="rId27"/>
    <p:sldId id="590" r:id="rId28"/>
    <p:sldId id="591" r:id="rId29"/>
    <p:sldId id="592" r:id="rId30"/>
    <p:sldId id="593" r:id="rId31"/>
    <p:sldId id="594" r:id="rId32"/>
    <p:sldId id="602" r:id="rId33"/>
    <p:sldId id="603" r:id="rId34"/>
    <p:sldId id="595" r:id="rId35"/>
    <p:sldId id="596" r:id="rId36"/>
    <p:sldId id="598" r:id="rId37"/>
    <p:sldId id="597" r:id="rId38"/>
    <p:sldId id="599" r:id="rId39"/>
    <p:sldId id="600" r:id="rId40"/>
    <p:sldId id="604" r:id="rId41"/>
    <p:sldId id="605" r:id="rId42"/>
    <p:sldId id="606" r:id="rId43"/>
    <p:sldId id="607" r:id="rId44"/>
    <p:sldId id="608" r:id="rId45"/>
    <p:sldId id="487" r:id="rId46"/>
    <p:sldId id="488" r:id="rId47"/>
    <p:sldId id="489" r:id="rId48"/>
    <p:sldId id="491" r:id="rId49"/>
  </p:sldIdLst>
  <p:sldSz cx="9144000" cy="5143500" type="screen16x9"/>
  <p:notesSz cx="6858000" cy="9144000"/>
  <p:embeddedFontLst>
    <p:embeddedFont>
      <p:font typeface="Calibri" panose="020F0502020204030204" pitchFamily="34" charset="0"/>
      <p:regular r:id="rId51"/>
      <p:bold r:id="rId52"/>
      <p:italic r:id="rId53"/>
      <p:boldItalic r:id="rId54"/>
    </p:embeddedFont>
    <p:embeddedFont>
      <p:font typeface="Lora" pitchFamily="2" charset="0"/>
      <p:regular r:id="rId55"/>
      <p:bold r:id="rId56"/>
      <p:italic r:id="rId57"/>
      <p:boldItalic r:id="rId58"/>
    </p:embeddedFont>
    <p:embeddedFont>
      <p:font typeface="Vidaloka" panose="020B0604020202020204" charset="0"/>
      <p:regular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4F6C5D-1427-41C1-A197-041D8283ABD9}">
  <a:tblStyle styleId="{544F6C5D-1427-41C1-A197-041D8283ABD9}"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8245370-B4C5-4E26-848E-422DCF613502}"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868" autoAdjust="0"/>
    <p:restoredTop sz="94660"/>
  </p:normalViewPr>
  <p:slideViewPr>
    <p:cSldViewPr snapToGrid="0">
      <p:cViewPr varScale="1">
        <p:scale>
          <a:sx n="109" d="100"/>
          <a:sy n="109" d="100"/>
        </p:scale>
        <p:origin x="83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font" Target="fonts/font5.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font" Target="fonts/font8.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7.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5f391192_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5f391192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32067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5f391192_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5f391192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22603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5f391192_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5f391192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4572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5ed75ccf_0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5ed75ccf_0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bd924ddcd4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bd924ddcd4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bd924ddcd4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bd924ddcd4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26709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855300" y="1117300"/>
            <a:ext cx="4230600" cy="2908800"/>
          </a:xfrm>
          <a:prstGeom prst="rect">
            <a:avLst/>
          </a:prstGeom>
          <a:effectLst>
            <a:outerShdw blurRad="142875" algn="bl" rotWithShape="0">
              <a:srgbClr val="0072FF"/>
            </a:outerShdw>
          </a:effectLst>
        </p:spPr>
        <p:txBody>
          <a:bodyPr spcFirstLastPara="1" wrap="square" lIns="0" tIns="0" rIns="0" bIns="0" anchor="ctr" anchorCtr="0">
            <a:noAutofit/>
          </a:bodyPr>
          <a:lstStyle>
            <a:lvl1pPr lvl="0" rtl="0">
              <a:spcBef>
                <a:spcPts val="0"/>
              </a:spcBef>
              <a:spcAft>
                <a:spcPts val="0"/>
              </a:spcAft>
              <a:buSzPts val="5200"/>
              <a:buNone/>
              <a:defRPr sz="52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855300" y="2183363"/>
            <a:ext cx="4728600" cy="496500"/>
          </a:xfrm>
          <a:prstGeom prst="rect">
            <a:avLst/>
          </a:prstGeom>
        </p:spPr>
        <p:txBody>
          <a:bodyPr spcFirstLastPara="1" wrap="square" lIns="0" tIns="0" rIns="0" bIns="0" anchor="b" anchorCtr="0">
            <a:no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sp>
        <p:nvSpPr>
          <p:cNvPr id="13" name="Google Shape;13;p3"/>
          <p:cNvSpPr txBox="1">
            <a:spLocks noGrp="1"/>
          </p:cNvSpPr>
          <p:nvPr>
            <p:ph type="subTitle" idx="1"/>
          </p:nvPr>
        </p:nvSpPr>
        <p:spPr>
          <a:xfrm>
            <a:off x="855300" y="2700338"/>
            <a:ext cx="4728600" cy="336000"/>
          </a:xfrm>
          <a:prstGeom prst="rect">
            <a:avLst/>
          </a:prstGeom>
        </p:spPr>
        <p:txBody>
          <a:bodyPr spcFirstLastPara="1" wrap="square" lIns="0" tIns="0" rIns="0" bIns="0" anchor="t" anchorCtr="0">
            <a:noAutofit/>
          </a:bodyPr>
          <a:lstStyle>
            <a:lvl1pPr lvl="0" rtl="0">
              <a:spcBef>
                <a:spcPts val="0"/>
              </a:spcBef>
              <a:spcAft>
                <a:spcPts val="0"/>
              </a:spcAft>
              <a:buClr>
                <a:schemeClr val="accent6"/>
              </a:buClr>
              <a:buSzPts val="1800"/>
              <a:buNone/>
              <a:defRPr sz="1800">
                <a:solidFill>
                  <a:schemeClr val="accent6"/>
                </a:solidFill>
              </a:defRPr>
            </a:lvl1pPr>
            <a:lvl2pPr lvl="1" rtl="0">
              <a:spcBef>
                <a:spcPts val="0"/>
              </a:spcBef>
              <a:spcAft>
                <a:spcPts val="0"/>
              </a:spcAft>
              <a:buClr>
                <a:schemeClr val="accent6"/>
              </a:buClr>
              <a:buSzPts val="1800"/>
              <a:buNone/>
              <a:defRPr sz="1800">
                <a:solidFill>
                  <a:schemeClr val="accent6"/>
                </a:solidFill>
              </a:defRPr>
            </a:lvl2pPr>
            <a:lvl3pPr lvl="2" rtl="0">
              <a:spcBef>
                <a:spcPts val="0"/>
              </a:spcBef>
              <a:spcAft>
                <a:spcPts val="0"/>
              </a:spcAft>
              <a:buClr>
                <a:schemeClr val="accent6"/>
              </a:buClr>
              <a:buSzPts val="1800"/>
              <a:buNone/>
              <a:defRPr sz="1800">
                <a:solidFill>
                  <a:schemeClr val="accent6"/>
                </a:solidFill>
              </a:defRPr>
            </a:lvl3pPr>
            <a:lvl4pPr lvl="3" rtl="0">
              <a:spcBef>
                <a:spcPts val="0"/>
              </a:spcBef>
              <a:spcAft>
                <a:spcPts val="0"/>
              </a:spcAft>
              <a:buClr>
                <a:schemeClr val="accent6"/>
              </a:buClr>
              <a:buSzPts val="1800"/>
              <a:buNone/>
              <a:defRPr sz="1800">
                <a:solidFill>
                  <a:schemeClr val="accent6"/>
                </a:solidFill>
              </a:defRPr>
            </a:lvl4pPr>
            <a:lvl5pPr lvl="4" rtl="0">
              <a:spcBef>
                <a:spcPts val="0"/>
              </a:spcBef>
              <a:spcAft>
                <a:spcPts val="0"/>
              </a:spcAft>
              <a:buClr>
                <a:schemeClr val="accent6"/>
              </a:buClr>
              <a:buSzPts val="1800"/>
              <a:buNone/>
              <a:defRPr sz="1800">
                <a:solidFill>
                  <a:schemeClr val="accent6"/>
                </a:solidFill>
              </a:defRPr>
            </a:lvl5pPr>
            <a:lvl6pPr lvl="5" rtl="0">
              <a:spcBef>
                <a:spcPts val="0"/>
              </a:spcBef>
              <a:spcAft>
                <a:spcPts val="0"/>
              </a:spcAft>
              <a:buClr>
                <a:schemeClr val="accent6"/>
              </a:buClr>
              <a:buSzPts val="1800"/>
              <a:buNone/>
              <a:defRPr sz="1800">
                <a:solidFill>
                  <a:schemeClr val="accent6"/>
                </a:solidFill>
              </a:defRPr>
            </a:lvl6pPr>
            <a:lvl7pPr lvl="6" rtl="0">
              <a:spcBef>
                <a:spcPts val="0"/>
              </a:spcBef>
              <a:spcAft>
                <a:spcPts val="0"/>
              </a:spcAft>
              <a:buClr>
                <a:schemeClr val="accent6"/>
              </a:buClr>
              <a:buSzPts val="1800"/>
              <a:buNone/>
              <a:defRPr sz="1800">
                <a:solidFill>
                  <a:schemeClr val="accent6"/>
                </a:solidFill>
              </a:defRPr>
            </a:lvl7pPr>
            <a:lvl8pPr lvl="7" rtl="0">
              <a:spcBef>
                <a:spcPts val="0"/>
              </a:spcBef>
              <a:spcAft>
                <a:spcPts val="0"/>
              </a:spcAft>
              <a:buClr>
                <a:schemeClr val="accent6"/>
              </a:buClr>
              <a:buSzPts val="1800"/>
              <a:buNone/>
              <a:defRPr sz="1800">
                <a:solidFill>
                  <a:schemeClr val="accent6"/>
                </a:solidFill>
              </a:defRPr>
            </a:lvl8pPr>
            <a:lvl9pPr lvl="8" rtl="0">
              <a:spcBef>
                <a:spcPts val="0"/>
              </a:spcBef>
              <a:spcAft>
                <a:spcPts val="0"/>
              </a:spcAft>
              <a:buClr>
                <a:schemeClr val="accent6"/>
              </a:buClr>
              <a:buSzPts val="1800"/>
              <a:buNone/>
              <a:defRPr sz="1800">
                <a:solidFill>
                  <a:schemeClr val="accent6"/>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855300" y="836000"/>
            <a:ext cx="5462700" cy="396300"/>
          </a:xfrm>
          <a:prstGeom prst="rect">
            <a:avLst/>
          </a:prstGeom>
        </p:spPr>
        <p:txBody>
          <a:bodyPr spcFirstLastPara="1" wrap="square" lIns="0" tIns="0" rIns="0" bIns="0" anchor="ctr"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20" name="Google Shape;20;p5"/>
          <p:cNvSpPr txBox="1">
            <a:spLocks noGrp="1"/>
          </p:cNvSpPr>
          <p:nvPr>
            <p:ph type="body" idx="1"/>
          </p:nvPr>
        </p:nvSpPr>
        <p:spPr>
          <a:xfrm>
            <a:off x="855300" y="1353948"/>
            <a:ext cx="5462700" cy="3033900"/>
          </a:xfrm>
          <a:prstGeom prst="rect">
            <a:avLst/>
          </a:prstGeom>
        </p:spPr>
        <p:txBody>
          <a:bodyPr spcFirstLastPara="1" wrap="square" lIns="0" tIns="0" rIns="0" bIns="0" anchor="t" anchorCtr="0">
            <a:noAutofit/>
          </a:bodyPr>
          <a:lstStyle>
            <a:lvl1pPr marL="457200" lvl="0" indent="-355600" rtl="0">
              <a:spcBef>
                <a:spcPts val="600"/>
              </a:spcBef>
              <a:spcAft>
                <a:spcPts val="0"/>
              </a:spcAft>
              <a:buSzPts val="2000"/>
              <a:buChar char="✦"/>
              <a:defRPr/>
            </a:lvl1pPr>
            <a:lvl2pPr marL="914400" lvl="1" indent="-355600" rtl="0">
              <a:spcBef>
                <a:spcPts val="0"/>
              </a:spcBef>
              <a:spcAft>
                <a:spcPts val="0"/>
              </a:spcAft>
              <a:buSzPts val="2000"/>
              <a:buChar char="✧"/>
              <a:defRPr/>
            </a:lvl2pPr>
            <a:lvl3pPr marL="1371600" lvl="2" indent="-381000" rtl="0">
              <a:spcBef>
                <a:spcPts val="0"/>
              </a:spcBef>
              <a:spcAft>
                <a:spcPts val="0"/>
              </a:spcAft>
              <a:buSzPts val="2400"/>
              <a:buChar char="■"/>
              <a:defRPr/>
            </a:lvl3pPr>
            <a:lvl4pPr marL="1828800" lvl="3" indent="-381000" rtl="0">
              <a:spcBef>
                <a:spcPts val="0"/>
              </a:spcBef>
              <a:spcAft>
                <a:spcPts val="0"/>
              </a:spcAft>
              <a:buSzPts val="2400"/>
              <a:buChar char="●"/>
              <a:defRPr/>
            </a:lvl4pPr>
            <a:lvl5pPr marL="2286000" lvl="4" indent="-381000" rtl="0">
              <a:spcBef>
                <a:spcPts val="0"/>
              </a:spcBef>
              <a:spcAft>
                <a:spcPts val="0"/>
              </a:spcAft>
              <a:buSzPts val="2400"/>
              <a:buChar char="○"/>
              <a:defRPr/>
            </a:lvl5pPr>
            <a:lvl6pPr marL="2743200" lvl="5" indent="-381000" rtl="0">
              <a:spcBef>
                <a:spcPts val="0"/>
              </a:spcBef>
              <a:spcAft>
                <a:spcPts val="0"/>
              </a:spcAft>
              <a:buSzPts val="2400"/>
              <a:buChar char="■"/>
              <a:defRPr/>
            </a:lvl6pPr>
            <a:lvl7pPr marL="3200400" lvl="6" indent="-381000" rtl="0">
              <a:spcBef>
                <a:spcPts val="0"/>
              </a:spcBef>
              <a:spcAft>
                <a:spcPts val="0"/>
              </a:spcAft>
              <a:buSzPts val="2400"/>
              <a:buChar char="●"/>
              <a:defRPr/>
            </a:lvl7pPr>
            <a:lvl8pPr marL="3657600" lvl="7" indent="-381000" rtl="0">
              <a:spcBef>
                <a:spcPts val="0"/>
              </a:spcBef>
              <a:spcAft>
                <a:spcPts val="0"/>
              </a:spcAft>
              <a:buSzPts val="2400"/>
              <a:buChar char="○"/>
              <a:defRPr/>
            </a:lvl8pPr>
            <a:lvl9pPr marL="4114800" lvl="8" indent="-381000" rtl="0">
              <a:spcBef>
                <a:spcPts val="0"/>
              </a:spcBef>
              <a:spcAft>
                <a:spcPts val="0"/>
              </a:spcAft>
              <a:buSzPts val="2400"/>
              <a:buChar char="■"/>
              <a:defRPr/>
            </a:lvl9pPr>
          </a:lstStyle>
          <a:p>
            <a:endParaRPr/>
          </a:p>
        </p:txBody>
      </p:sp>
      <p:sp>
        <p:nvSpPr>
          <p:cNvPr id="21" name="Google Shape;21;p5"/>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855300" y="836000"/>
            <a:ext cx="5462700" cy="396300"/>
          </a:xfrm>
          <a:prstGeom prst="rect">
            <a:avLst/>
          </a:prstGeom>
        </p:spPr>
        <p:txBody>
          <a:bodyPr spcFirstLastPara="1" wrap="square" lIns="0" tIns="0" rIns="0" bIns="0" anchor="ctr"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24" name="Google Shape;24;p6"/>
          <p:cNvSpPr txBox="1">
            <a:spLocks noGrp="1"/>
          </p:cNvSpPr>
          <p:nvPr>
            <p:ph type="body" idx="1"/>
          </p:nvPr>
        </p:nvSpPr>
        <p:spPr>
          <a:xfrm>
            <a:off x="855275" y="1353950"/>
            <a:ext cx="2552400" cy="2953500"/>
          </a:xfrm>
          <a:prstGeom prst="rect">
            <a:avLst/>
          </a:prstGeom>
        </p:spPr>
        <p:txBody>
          <a:bodyPr spcFirstLastPara="1" wrap="square" lIns="0" tIns="0" rIns="0" bIns="0" anchor="t" anchorCtr="0">
            <a:noAutofit/>
          </a:bodyPr>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endParaRPr/>
          </a:p>
        </p:txBody>
      </p:sp>
      <p:sp>
        <p:nvSpPr>
          <p:cNvPr id="25" name="Google Shape;25;p6"/>
          <p:cNvSpPr txBox="1">
            <a:spLocks noGrp="1"/>
          </p:cNvSpPr>
          <p:nvPr>
            <p:ph type="body" idx="2"/>
          </p:nvPr>
        </p:nvSpPr>
        <p:spPr>
          <a:xfrm>
            <a:off x="3765650" y="1353950"/>
            <a:ext cx="2552400" cy="2953500"/>
          </a:xfrm>
          <a:prstGeom prst="rect">
            <a:avLst/>
          </a:prstGeom>
        </p:spPr>
        <p:txBody>
          <a:bodyPr spcFirstLastPara="1" wrap="square" lIns="0" tIns="0" rIns="0" bIns="0" anchor="t" anchorCtr="0">
            <a:noAutofit/>
          </a:bodyPr>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endParaRPr/>
          </a:p>
        </p:txBody>
      </p:sp>
      <p:sp>
        <p:nvSpPr>
          <p:cNvPr id="26" name="Google Shape;26;p6"/>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855300" y="836000"/>
            <a:ext cx="5462700" cy="396300"/>
          </a:xfrm>
          <a:prstGeom prst="rect">
            <a:avLst/>
          </a:prstGeom>
        </p:spPr>
        <p:txBody>
          <a:bodyPr spcFirstLastPara="1" wrap="square" lIns="0" tIns="0" rIns="0" bIns="0" anchor="ctr"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35" name="Google Shape;35;p8"/>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9"/>
        <p:cNvGrpSpPr/>
        <p:nvPr/>
      </p:nvGrpSpPr>
      <p:grpSpPr>
        <a:xfrm>
          <a:off x="0" y="0"/>
          <a:ext cx="0" cy="0"/>
          <a:chOff x="0" y="0"/>
          <a:chExt cx="0" cy="0"/>
        </a:xfrm>
      </p:grpSpPr>
      <p:sp>
        <p:nvSpPr>
          <p:cNvPr id="40" name="Google Shape;40;p10"/>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blipFill>
          <a:blip r:embed="rId8">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55300" y="836000"/>
            <a:ext cx="5462700" cy="396300"/>
          </a:xfrm>
          <a:prstGeom prst="rect">
            <a:avLst/>
          </a:prstGeom>
          <a:noFill/>
          <a:ln>
            <a:noFill/>
          </a:ln>
          <a:effectLst>
            <a:outerShdw blurRad="142875" algn="bl" rotWithShape="0">
              <a:srgbClr val="0072FF"/>
            </a:outerShdw>
          </a:effectLst>
        </p:spPr>
        <p:txBody>
          <a:bodyPr spcFirstLastPara="1" wrap="square" lIns="0" tIns="0" rIns="0" bIns="0" anchor="ctr" anchorCtr="0">
            <a:noAutofit/>
          </a:bodyPr>
          <a:lstStyle>
            <a:lvl1pPr marL="0" marR="0" lvl="0" indent="0" algn="l" rtl="0">
              <a:lnSpc>
                <a:spcPct val="80000"/>
              </a:lnSpc>
              <a:spcBef>
                <a:spcPts val="0"/>
              </a:spcBef>
              <a:spcAft>
                <a:spcPts val="0"/>
              </a:spcAft>
              <a:buClr>
                <a:schemeClr val="dk1"/>
              </a:buClr>
              <a:buSzPts val="3200"/>
              <a:buFont typeface="Vidaloka"/>
              <a:buNone/>
              <a:defRPr sz="3200">
                <a:solidFill>
                  <a:schemeClr val="dk1"/>
                </a:solidFill>
                <a:latin typeface="Vidaloka"/>
                <a:ea typeface="Vidaloka"/>
                <a:cs typeface="Vidaloka"/>
                <a:sym typeface="Vidaloka"/>
              </a:defRPr>
            </a:lvl1pPr>
            <a:lvl2pPr lvl="1" rtl="0">
              <a:lnSpc>
                <a:spcPct val="80000"/>
              </a:lnSpc>
              <a:spcBef>
                <a:spcPts val="0"/>
              </a:spcBef>
              <a:spcAft>
                <a:spcPts val="0"/>
              </a:spcAft>
              <a:buClr>
                <a:schemeClr val="dk1"/>
              </a:buClr>
              <a:buSzPts val="3200"/>
              <a:buFont typeface="Vidaloka"/>
              <a:buNone/>
              <a:defRPr sz="3200">
                <a:solidFill>
                  <a:schemeClr val="dk1"/>
                </a:solidFill>
                <a:latin typeface="Vidaloka"/>
                <a:ea typeface="Vidaloka"/>
                <a:cs typeface="Vidaloka"/>
                <a:sym typeface="Vidaloka"/>
              </a:defRPr>
            </a:lvl2pPr>
            <a:lvl3pPr lvl="2" rtl="0">
              <a:lnSpc>
                <a:spcPct val="80000"/>
              </a:lnSpc>
              <a:spcBef>
                <a:spcPts val="0"/>
              </a:spcBef>
              <a:spcAft>
                <a:spcPts val="0"/>
              </a:spcAft>
              <a:buClr>
                <a:schemeClr val="dk1"/>
              </a:buClr>
              <a:buSzPts val="3200"/>
              <a:buFont typeface="Vidaloka"/>
              <a:buNone/>
              <a:defRPr sz="3200">
                <a:solidFill>
                  <a:schemeClr val="dk1"/>
                </a:solidFill>
                <a:latin typeface="Vidaloka"/>
                <a:ea typeface="Vidaloka"/>
                <a:cs typeface="Vidaloka"/>
                <a:sym typeface="Vidaloka"/>
              </a:defRPr>
            </a:lvl3pPr>
            <a:lvl4pPr lvl="3" rtl="0">
              <a:lnSpc>
                <a:spcPct val="80000"/>
              </a:lnSpc>
              <a:spcBef>
                <a:spcPts val="0"/>
              </a:spcBef>
              <a:spcAft>
                <a:spcPts val="0"/>
              </a:spcAft>
              <a:buClr>
                <a:schemeClr val="dk1"/>
              </a:buClr>
              <a:buSzPts val="3200"/>
              <a:buFont typeface="Vidaloka"/>
              <a:buNone/>
              <a:defRPr sz="3200">
                <a:solidFill>
                  <a:schemeClr val="dk1"/>
                </a:solidFill>
                <a:latin typeface="Vidaloka"/>
                <a:ea typeface="Vidaloka"/>
                <a:cs typeface="Vidaloka"/>
                <a:sym typeface="Vidaloka"/>
              </a:defRPr>
            </a:lvl4pPr>
            <a:lvl5pPr lvl="4" rtl="0">
              <a:lnSpc>
                <a:spcPct val="80000"/>
              </a:lnSpc>
              <a:spcBef>
                <a:spcPts val="0"/>
              </a:spcBef>
              <a:spcAft>
                <a:spcPts val="0"/>
              </a:spcAft>
              <a:buClr>
                <a:schemeClr val="dk1"/>
              </a:buClr>
              <a:buSzPts val="3200"/>
              <a:buFont typeface="Vidaloka"/>
              <a:buNone/>
              <a:defRPr sz="3200">
                <a:solidFill>
                  <a:schemeClr val="dk1"/>
                </a:solidFill>
                <a:latin typeface="Vidaloka"/>
                <a:ea typeface="Vidaloka"/>
                <a:cs typeface="Vidaloka"/>
                <a:sym typeface="Vidaloka"/>
              </a:defRPr>
            </a:lvl5pPr>
            <a:lvl6pPr lvl="5" rtl="0">
              <a:lnSpc>
                <a:spcPct val="80000"/>
              </a:lnSpc>
              <a:spcBef>
                <a:spcPts val="0"/>
              </a:spcBef>
              <a:spcAft>
                <a:spcPts val="0"/>
              </a:spcAft>
              <a:buClr>
                <a:schemeClr val="dk1"/>
              </a:buClr>
              <a:buSzPts val="3200"/>
              <a:buFont typeface="Vidaloka"/>
              <a:buNone/>
              <a:defRPr sz="3200">
                <a:solidFill>
                  <a:schemeClr val="dk1"/>
                </a:solidFill>
                <a:latin typeface="Vidaloka"/>
                <a:ea typeface="Vidaloka"/>
                <a:cs typeface="Vidaloka"/>
                <a:sym typeface="Vidaloka"/>
              </a:defRPr>
            </a:lvl6pPr>
            <a:lvl7pPr lvl="6" rtl="0">
              <a:lnSpc>
                <a:spcPct val="80000"/>
              </a:lnSpc>
              <a:spcBef>
                <a:spcPts val="0"/>
              </a:spcBef>
              <a:spcAft>
                <a:spcPts val="0"/>
              </a:spcAft>
              <a:buClr>
                <a:schemeClr val="dk1"/>
              </a:buClr>
              <a:buSzPts val="3200"/>
              <a:buFont typeface="Vidaloka"/>
              <a:buNone/>
              <a:defRPr sz="3200">
                <a:solidFill>
                  <a:schemeClr val="dk1"/>
                </a:solidFill>
                <a:latin typeface="Vidaloka"/>
                <a:ea typeface="Vidaloka"/>
                <a:cs typeface="Vidaloka"/>
                <a:sym typeface="Vidaloka"/>
              </a:defRPr>
            </a:lvl7pPr>
            <a:lvl8pPr lvl="7" rtl="0">
              <a:lnSpc>
                <a:spcPct val="80000"/>
              </a:lnSpc>
              <a:spcBef>
                <a:spcPts val="0"/>
              </a:spcBef>
              <a:spcAft>
                <a:spcPts val="0"/>
              </a:spcAft>
              <a:buClr>
                <a:schemeClr val="dk1"/>
              </a:buClr>
              <a:buSzPts val="3200"/>
              <a:buFont typeface="Vidaloka"/>
              <a:buNone/>
              <a:defRPr sz="3200">
                <a:solidFill>
                  <a:schemeClr val="dk1"/>
                </a:solidFill>
                <a:latin typeface="Vidaloka"/>
                <a:ea typeface="Vidaloka"/>
                <a:cs typeface="Vidaloka"/>
                <a:sym typeface="Vidaloka"/>
              </a:defRPr>
            </a:lvl8pPr>
            <a:lvl9pPr lvl="8" rtl="0">
              <a:lnSpc>
                <a:spcPct val="80000"/>
              </a:lnSpc>
              <a:spcBef>
                <a:spcPts val="0"/>
              </a:spcBef>
              <a:spcAft>
                <a:spcPts val="0"/>
              </a:spcAft>
              <a:buClr>
                <a:schemeClr val="dk1"/>
              </a:buClr>
              <a:buSzPts val="3200"/>
              <a:buFont typeface="Vidaloka"/>
              <a:buNone/>
              <a:defRPr sz="3200">
                <a:solidFill>
                  <a:schemeClr val="dk1"/>
                </a:solidFill>
                <a:latin typeface="Vidaloka"/>
                <a:ea typeface="Vidaloka"/>
                <a:cs typeface="Vidaloka"/>
                <a:sym typeface="Vidaloka"/>
              </a:defRPr>
            </a:lvl9pPr>
          </a:lstStyle>
          <a:p>
            <a:endParaRPr/>
          </a:p>
        </p:txBody>
      </p:sp>
      <p:sp>
        <p:nvSpPr>
          <p:cNvPr id="7" name="Google Shape;7;p1"/>
          <p:cNvSpPr txBox="1">
            <a:spLocks noGrp="1"/>
          </p:cNvSpPr>
          <p:nvPr>
            <p:ph type="body" idx="1"/>
          </p:nvPr>
        </p:nvSpPr>
        <p:spPr>
          <a:xfrm>
            <a:off x="855300" y="1353948"/>
            <a:ext cx="5462700" cy="3033900"/>
          </a:xfrm>
          <a:prstGeom prst="rect">
            <a:avLst/>
          </a:prstGeom>
          <a:noFill/>
          <a:ln>
            <a:noFill/>
          </a:ln>
        </p:spPr>
        <p:txBody>
          <a:bodyPr spcFirstLastPara="1" wrap="square" lIns="0" tIns="0" rIns="0" bIns="0" anchor="t" anchorCtr="0">
            <a:noAutofit/>
          </a:bodyPr>
          <a:lstStyle>
            <a:lvl1pPr marL="457200" lvl="0" indent="-355600" rtl="0">
              <a:spcBef>
                <a:spcPts val="600"/>
              </a:spcBef>
              <a:spcAft>
                <a:spcPts val="0"/>
              </a:spcAft>
              <a:buClr>
                <a:schemeClr val="accent6"/>
              </a:buClr>
              <a:buSzPts val="2000"/>
              <a:buFont typeface="Lora"/>
              <a:buChar char="✦"/>
              <a:defRPr sz="2400">
                <a:solidFill>
                  <a:schemeClr val="dk1"/>
                </a:solidFill>
                <a:latin typeface="Lora"/>
                <a:ea typeface="Lora"/>
                <a:cs typeface="Lora"/>
                <a:sym typeface="Lora"/>
              </a:defRPr>
            </a:lvl1pPr>
            <a:lvl2pPr marL="914400" lvl="1" indent="-355600" rtl="0">
              <a:spcBef>
                <a:spcPts val="0"/>
              </a:spcBef>
              <a:spcAft>
                <a:spcPts val="0"/>
              </a:spcAft>
              <a:buClr>
                <a:schemeClr val="accent4"/>
              </a:buClr>
              <a:buSzPts val="2000"/>
              <a:buFont typeface="Lora"/>
              <a:buChar char="✧"/>
              <a:defRPr sz="2400">
                <a:solidFill>
                  <a:schemeClr val="dk1"/>
                </a:solidFill>
                <a:latin typeface="Lora"/>
                <a:ea typeface="Lora"/>
                <a:cs typeface="Lora"/>
                <a:sym typeface="Lora"/>
              </a:defRPr>
            </a:lvl2pPr>
            <a:lvl3pPr marL="1371600" lvl="2" indent="-381000" rtl="0">
              <a:spcBef>
                <a:spcPts val="0"/>
              </a:spcBef>
              <a:spcAft>
                <a:spcPts val="0"/>
              </a:spcAft>
              <a:buClr>
                <a:schemeClr val="accent5"/>
              </a:buClr>
              <a:buSzPts val="2400"/>
              <a:buFont typeface="Lora"/>
              <a:buChar char="■"/>
              <a:defRPr sz="2400">
                <a:solidFill>
                  <a:schemeClr val="dk1"/>
                </a:solidFill>
                <a:latin typeface="Lora"/>
                <a:ea typeface="Lora"/>
                <a:cs typeface="Lora"/>
                <a:sym typeface="Lora"/>
              </a:defRPr>
            </a:lvl3pPr>
            <a:lvl4pPr marL="1828800" lvl="3" indent="-381000" rtl="0">
              <a:spcBef>
                <a:spcPts val="0"/>
              </a:spcBef>
              <a:spcAft>
                <a:spcPts val="0"/>
              </a:spcAft>
              <a:buClr>
                <a:schemeClr val="dk1"/>
              </a:buClr>
              <a:buSzPts val="2400"/>
              <a:buFont typeface="Lora"/>
              <a:buChar char="●"/>
              <a:defRPr sz="2400">
                <a:solidFill>
                  <a:schemeClr val="dk1"/>
                </a:solidFill>
                <a:latin typeface="Lora"/>
                <a:ea typeface="Lora"/>
                <a:cs typeface="Lora"/>
                <a:sym typeface="Lora"/>
              </a:defRPr>
            </a:lvl4pPr>
            <a:lvl5pPr marL="2286000" lvl="4" indent="-381000" rtl="0">
              <a:spcBef>
                <a:spcPts val="0"/>
              </a:spcBef>
              <a:spcAft>
                <a:spcPts val="0"/>
              </a:spcAft>
              <a:buClr>
                <a:schemeClr val="dk1"/>
              </a:buClr>
              <a:buSzPts val="2400"/>
              <a:buFont typeface="Lora"/>
              <a:buChar char="○"/>
              <a:defRPr sz="2400">
                <a:solidFill>
                  <a:schemeClr val="dk1"/>
                </a:solidFill>
                <a:latin typeface="Lora"/>
                <a:ea typeface="Lora"/>
                <a:cs typeface="Lora"/>
                <a:sym typeface="Lora"/>
              </a:defRPr>
            </a:lvl5pPr>
            <a:lvl6pPr marL="2743200" lvl="5" indent="-381000" rtl="0">
              <a:spcBef>
                <a:spcPts val="0"/>
              </a:spcBef>
              <a:spcAft>
                <a:spcPts val="0"/>
              </a:spcAft>
              <a:buClr>
                <a:schemeClr val="dk1"/>
              </a:buClr>
              <a:buSzPts val="2400"/>
              <a:buFont typeface="Lora"/>
              <a:buChar char="■"/>
              <a:defRPr sz="2400">
                <a:solidFill>
                  <a:schemeClr val="dk1"/>
                </a:solidFill>
                <a:latin typeface="Lora"/>
                <a:ea typeface="Lora"/>
                <a:cs typeface="Lora"/>
                <a:sym typeface="Lora"/>
              </a:defRPr>
            </a:lvl6pPr>
            <a:lvl7pPr marL="3200400" lvl="6" indent="-381000" rtl="0">
              <a:spcBef>
                <a:spcPts val="0"/>
              </a:spcBef>
              <a:spcAft>
                <a:spcPts val="0"/>
              </a:spcAft>
              <a:buClr>
                <a:schemeClr val="dk1"/>
              </a:buClr>
              <a:buSzPts val="2400"/>
              <a:buFont typeface="Lora"/>
              <a:buChar char="●"/>
              <a:defRPr sz="2400">
                <a:solidFill>
                  <a:schemeClr val="dk1"/>
                </a:solidFill>
                <a:latin typeface="Lora"/>
                <a:ea typeface="Lora"/>
                <a:cs typeface="Lora"/>
                <a:sym typeface="Lora"/>
              </a:defRPr>
            </a:lvl7pPr>
            <a:lvl8pPr marL="3657600" lvl="7" indent="-381000" rtl="0">
              <a:spcBef>
                <a:spcPts val="0"/>
              </a:spcBef>
              <a:spcAft>
                <a:spcPts val="0"/>
              </a:spcAft>
              <a:buClr>
                <a:schemeClr val="dk1"/>
              </a:buClr>
              <a:buSzPts val="2400"/>
              <a:buFont typeface="Lora"/>
              <a:buChar char="○"/>
              <a:defRPr sz="2400">
                <a:solidFill>
                  <a:schemeClr val="dk1"/>
                </a:solidFill>
                <a:latin typeface="Lora"/>
                <a:ea typeface="Lora"/>
                <a:cs typeface="Lora"/>
                <a:sym typeface="Lora"/>
              </a:defRPr>
            </a:lvl8pPr>
            <a:lvl9pPr marL="4114800" lvl="8" indent="-381000" rtl="0">
              <a:spcBef>
                <a:spcPts val="0"/>
              </a:spcBef>
              <a:spcAft>
                <a:spcPts val="0"/>
              </a:spcAft>
              <a:buClr>
                <a:schemeClr val="dk1"/>
              </a:buClr>
              <a:buSzPts val="2400"/>
              <a:buFont typeface="Lora"/>
              <a:buChar char="■"/>
              <a:defRPr sz="2400">
                <a:solidFill>
                  <a:schemeClr val="dk1"/>
                </a:solidFill>
                <a:latin typeface="Lora"/>
                <a:ea typeface="Lora"/>
                <a:cs typeface="Lora"/>
                <a:sym typeface="Lora"/>
              </a:defRPr>
            </a:lvl9pPr>
          </a:lstStyle>
          <a:p>
            <a:endParaRPr/>
          </a:p>
        </p:txBody>
      </p:sp>
      <p:sp>
        <p:nvSpPr>
          <p:cNvPr id="8" name="Google Shape;8;p1"/>
          <p:cNvSpPr txBox="1">
            <a:spLocks noGrp="1"/>
          </p:cNvSpPr>
          <p:nvPr>
            <p:ph type="sldNum" idx="12"/>
          </p:nvPr>
        </p:nvSpPr>
        <p:spPr>
          <a:xfrm>
            <a:off x="8404384" y="4673651"/>
            <a:ext cx="548700" cy="393600"/>
          </a:xfrm>
          <a:prstGeom prst="rect">
            <a:avLst/>
          </a:prstGeom>
          <a:noFill/>
          <a:ln>
            <a:noFill/>
          </a:ln>
          <a:effectLst>
            <a:outerShdw blurRad="114300" algn="bl" rotWithShape="0">
              <a:srgbClr val="FFFF00"/>
            </a:outerShdw>
          </a:effectLst>
        </p:spPr>
        <p:txBody>
          <a:bodyPr spcFirstLastPara="1" wrap="square" lIns="0" tIns="0" rIns="0" bIns="0" anchor="ctr" anchorCtr="0">
            <a:noAutofit/>
          </a:bodyPr>
          <a:lstStyle>
            <a:lvl1pPr lvl="0" algn="r" rtl="0">
              <a:buNone/>
              <a:defRPr sz="1300">
                <a:solidFill>
                  <a:schemeClr val="accent5"/>
                </a:solidFill>
                <a:latin typeface="Vidaloka"/>
                <a:ea typeface="Vidaloka"/>
                <a:cs typeface="Vidaloka"/>
                <a:sym typeface="Vidaloka"/>
              </a:defRPr>
            </a:lvl1pPr>
            <a:lvl2pPr lvl="1" algn="r" rtl="0">
              <a:buNone/>
              <a:defRPr sz="1300">
                <a:solidFill>
                  <a:schemeClr val="accent5"/>
                </a:solidFill>
                <a:latin typeface="Vidaloka"/>
                <a:ea typeface="Vidaloka"/>
                <a:cs typeface="Vidaloka"/>
                <a:sym typeface="Vidaloka"/>
              </a:defRPr>
            </a:lvl2pPr>
            <a:lvl3pPr lvl="2" algn="r" rtl="0">
              <a:buNone/>
              <a:defRPr sz="1300">
                <a:solidFill>
                  <a:schemeClr val="accent5"/>
                </a:solidFill>
                <a:latin typeface="Vidaloka"/>
                <a:ea typeface="Vidaloka"/>
                <a:cs typeface="Vidaloka"/>
                <a:sym typeface="Vidaloka"/>
              </a:defRPr>
            </a:lvl3pPr>
            <a:lvl4pPr lvl="3" algn="r" rtl="0">
              <a:buNone/>
              <a:defRPr sz="1300">
                <a:solidFill>
                  <a:schemeClr val="accent5"/>
                </a:solidFill>
                <a:latin typeface="Vidaloka"/>
                <a:ea typeface="Vidaloka"/>
                <a:cs typeface="Vidaloka"/>
                <a:sym typeface="Vidaloka"/>
              </a:defRPr>
            </a:lvl4pPr>
            <a:lvl5pPr lvl="4" algn="r" rtl="0">
              <a:buNone/>
              <a:defRPr sz="1300">
                <a:solidFill>
                  <a:schemeClr val="accent5"/>
                </a:solidFill>
                <a:latin typeface="Vidaloka"/>
                <a:ea typeface="Vidaloka"/>
                <a:cs typeface="Vidaloka"/>
                <a:sym typeface="Vidaloka"/>
              </a:defRPr>
            </a:lvl5pPr>
            <a:lvl6pPr lvl="5" algn="r" rtl="0">
              <a:buNone/>
              <a:defRPr sz="1300">
                <a:solidFill>
                  <a:schemeClr val="accent5"/>
                </a:solidFill>
                <a:latin typeface="Vidaloka"/>
                <a:ea typeface="Vidaloka"/>
                <a:cs typeface="Vidaloka"/>
                <a:sym typeface="Vidaloka"/>
              </a:defRPr>
            </a:lvl6pPr>
            <a:lvl7pPr lvl="6" algn="r" rtl="0">
              <a:buNone/>
              <a:defRPr sz="1300">
                <a:solidFill>
                  <a:schemeClr val="accent5"/>
                </a:solidFill>
                <a:latin typeface="Vidaloka"/>
                <a:ea typeface="Vidaloka"/>
                <a:cs typeface="Vidaloka"/>
                <a:sym typeface="Vidaloka"/>
              </a:defRPr>
            </a:lvl7pPr>
            <a:lvl8pPr lvl="7" algn="r" rtl="0">
              <a:buNone/>
              <a:defRPr sz="1300">
                <a:solidFill>
                  <a:schemeClr val="accent5"/>
                </a:solidFill>
                <a:latin typeface="Vidaloka"/>
                <a:ea typeface="Vidaloka"/>
                <a:cs typeface="Vidaloka"/>
                <a:sym typeface="Vidaloka"/>
              </a:defRPr>
            </a:lvl8pPr>
            <a:lvl9pPr lvl="8" algn="r" rtl="0">
              <a:buNone/>
              <a:defRPr sz="1300">
                <a:solidFill>
                  <a:schemeClr val="accent5"/>
                </a:solidFill>
                <a:latin typeface="Vidaloka"/>
                <a:ea typeface="Vidaloka"/>
                <a:cs typeface="Vidaloka"/>
                <a:sym typeface="Vidalok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4" r:id="rId5"/>
    <p:sldLayoutId id="2147483656"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 Id="rId5" Type="http://schemas.openxmlformats.org/officeDocument/2006/relationships/image" Target="../media/image23.png"/><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8" Type="http://schemas.openxmlformats.org/officeDocument/2006/relationships/hyperlink" Target="https://www.javatpoint.com/c-strupr" TargetMode="External"/><Relationship Id="rId3" Type="http://schemas.openxmlformats.org/officeDocument/2006/relationships/hyperlink" Target="https://www.javatpoint.com/c-strcpy" TargetMode="External"/><Relationship Id="rId7" Type="http://schemas.openxmlformats.org/officeDocument/2006/relationships/hyperlink" Target="https://www.javatpoint.com/c-strlwr" TargetMode="External"/><Relationship Id="rId2" Type="http://schemas.openxmlformats.org/officeDocument/2006/relationships/hyperlink" Target="https://www.javatpoint.com/c-strlen" TargetMode="External"/><Relationship Id="rId1" Type="http://schemas.openxmlformats.org/officeDocument/2006/relationships/slideLayout" Target="../slideLayouts/slideLayout5.xml"/><Relationship Id="rId6" Type="http://schemas.openxmlformats.org/officeDocument/2006/relationships/hyperlink" Target="https://www.javatpoint.com/c-strrev" TargetMode="External"/><Relationship Id="rId5" Type="http://schemas.openxmlformats.org/officeDocument/2006/relationships/hyperlink" Target="https://www.javatpoint.com/c-strcmp" TargetMode="External"/><Relationship Id="rId4" Type="http://schemas.openxmlformats.org/officeDocument/2006/relationships/hyperlink" Target="https://www.javatpoint.com/c-strcat"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8" Type="http://schemas.openxmlformats.org/officeDocument/2006/relationships/hyperlink" Target="https://www.javatpoint.com/c-string-functions" TargetMode="External"/><Relationship Id="rId3" Type="http://schemas.openxmlformats.org/officeDocument/2006/relationships/hyperlink" Target="https://www.javatpoint.com/file-handling-in-c" TargetMode="External"/><Relationship Id="rId7" Type="http://schemas.openxmlformats.org/officeDocument/2006/relationships/hyperlink" Target="https://www.geeksforgeeks.org/getdate-and-setdate-function-in-c-with-examples/"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hyperlink" Target="https://www.javatpoint.com/c-preprocessor-undef" TargetMode="External"/><Relationship Id="rId5" Type="http://schemas.openxmlformats.org/officeDocument/2006/relationships/hyperlink" Target="https://www.javatpoint.com/c-preprocessor-include" TargetMode="External"/><Relationship Id="rId4" Type="http://schemas.openxmlformats.org/officeDocument/2006/relationships/hyperlink" Target="https://www.tutorialspoint.com/cprogramming/c_preprocessors.htm" TargetMode="External"/><Relationship Id="rId9" Type="http://schemas.openxmlformats.org/officeDocument/2006/relationships/hyperlink" Target="https://www.javatpoint.com/c-math" TargetMode="Externa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3"/>
          <p:cNvSpPr txBox="1">
            <a:spLocks noGrp="1"/>
          </p:cNvSpPr>
          <p:nvPr>
            <p:ph type="ctrTitle"/>
          </p:nvPr>
        </p:nvSpPr>
        <p:spPr>
          <a:xfrm>
            <a:off x="291774" y="-209460"/>
            <a:ext cx="4573239" cy="2908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IN" sz="3600" dirty="0"/>
              <a:t>  </a:t>
            </a:r>
            <a:r>
              <a:rPr lang="en-IN" sz="4000" dirty="0"/>
              <a:t>Programming in C</a:t>
            </a:r>
          </a:p>
        </p:txBody>
      </p:sp>
      <p:sp>
        <p:nvSpPr>
          <p:cNvPr id="4" name="Google Shape;66;p15">
            <a:extLst>
              <a:ext uri="{FF2B5EF4-FFF2-40B4-BE49-F238E27FC236}">
                <a16:creationId xmlns:a16="http://schemas.microsoft.com/office/drawing/2014/main" id="{3190AF45-04F2-8E7F-0036-300548EC208B}"/>
              </a:ext>
            </a:extLst>
          </p:cNvPr>
          <p:cNvSpPr txBox="1">
            <a:spLocks/>
          </p:cNvSpPr>
          <p:nvPr/>
        </p:nvSpPr>
        <p:spPr>
          <a:xfrm>
            <a:off x="291774" y="2155174"/>
            <a:ext cx="4769323" cy="17718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6"/>
              </a:buClr>
              <a:buSzPts val="2000"/>
              <a:buFont typeface="Lora"/>
              <a:buChar char="✦"/>
              <a:defRPr sz="2400" b="0" i="0" u="none" strike="noStrike" cap="none">
                <a:solidFill>
                  <a:schemeClr val="dk1"/>
                </a:solidFill>
                <a:latin typeface="Lora"/>
                <a:ea typeface="Lora"/>
                <a:cs typeface="Lora"/>
                <a:sym typeface="Lora"/>
              </a:defRPr>
            </a:lvl1pPr>
            <a:lvl2pPr marL="914400" marR="0" lvl="1" indent="-355600" algn="l" rtl="0">
              <a:lnSpc>
                <a:spcPct val="100000"/>
              </a:lnSpc>
              <a:spcBef>
                <a:spcPts val="0"/>
              </a:spcBef>
              <a:spcAft>
                <a:spcPts val="0"/>
              </a:spcAft>
              <a:buClr>
                <a:schemeClr val="accent4"/>
              </a:buClr>
              <a:buSzPts val="2000"/>
              <a:buFont typeface="Lora"/>
              <a:buChar char="✧"/>
              <a:defRPr sz="2400" b="0" i="0" u="none" strike="noStrike" cap="none">
                <a:solidFill>
                  <a:schemeClr val="dk1"/>
                </a:solidFill>
                <a:latin typeface="Lora"/>
                <a:ea typeface="Lora"/>
                <a:cs typeface="Lora"/>
                <a:sym typeface="Lora"/>
              </a:defRPr>
            </a:lvl2pPr>
            <a:lvl3pPr marL="1371600" marR="0" lvl="2" indent="-381000" algn="l" rtl="0">
              <a:lnSpc>
                <a:spcPct val="100000"/>
              </a:lnSpc>
              <a:spcBef>
                <a:spcPts val="0"/>
              </a:spcBef>
              <a:spcAft>
                <a:spcPts val="0"/>
              </a:spcAft>
              <a:buClr>
                <a:schemeClr val="accent5"/>
              </a:buClr>
              <a:buSzPts val="2400"/>
              <a:buFont typeface="Lora"/>
              <a:buChar char="■"/>
              <a:defRPr sz="2400" b="0" i="0" u="none" strike="noStrike" cap="none">
                <a:solidFill>
                  <a:schemeClr val="dk1"/>
                </a:solidFill>
                <a:latin typeface="Lora"/>
                <a:ea typeface="Lora"/>
                <a:cs typeface="Lora"/>
                <a:sym typeface="Lora"/>
              </a:defRPr>
            </a:lvl3pPr>
            <a:lvl4pPr marL="1828800" marR="0" lvl="3" indent="-381000" algn="l" rtl="0">
              <a:lnSpc>
                <a:spcPct val="100000"/>
              </a:lnSpc>
              <a:spcBef>
                <a:spcPts val="0"/>
              </a:spcBef>
              <a:spcAft>
                <a:spcPts val="0"/>
              </a:spcAft>
              <a:buClr>
                <a:schemeClr val="dk1"/>
              </a:buClr>
              <a:buSzPts val="2400"/>
              <a:buFont typeface="Lora"/>
              <a:buChar char="●"/>
              <a:defRPr sz="2400" b="0" i="0" u="none" strike="noStrike" cap="none">
                <a:solidFill>
                  <a:schemeClr val="dk1"/>
                </a:solidFill>
                <a:latin typeface="Lora"/>
                <a:ea typeface="Lora"/>
                <a:cs typeface="Lora"/>
                <a:sym typeface="Lora"/>
              </a:defRPr>
            </a:lvl4pPr>
            <a:lvl5pPr marL="2286000" marR="0" lvl="4" indent="-381000" algn="l" rtl="0">
              <a:lnSpc>
                <a:spcPct val="100000"/>
              </a:lnSpc>
              <a:spcBef>
                <a:spcPts val="0"/>
              </a:spcBef>
              <a:spcAft>
                <a:spcPts val="0"/>
              </a:spcAft>
              <a:buClr>
                <a:schemeClr val="dk1"/>
              </a:buClr>
              <a:buSzPts val="2400"/>
              <a:buFont typeface="Lora"/>
              <a:buChar char="○"/>
              <a:defRPr sz="2400" b="0" i="0" u="none" strike="noStrike" cap="none">
                <a:solidFill>
                  <a:schemeClr val="dk1"/>
                </a:solidFill>
                <a:latin typeface="Lora"/>
                <a:ea typeface="Lora"/>
                <a:cs typeface="Lora"/>
                <a:sym typeface="Lora"/>
              </a:defRPr>
            </a:lvl5pPr>
            <a:lvl6pPr marL="2743200" marR="0" lvl="5" indent="-381000" algn="l" rtl="0">
              <a:lnSpc>
                <a:spcPct val="100000"/>
              </a:lnSpc>
              <a:spcBef>
                <a:spcPts val="0"/>
              </a:spcBef>
              <a:spcAft>
                <a:spcPts val="0"/>
              </a:spcAft>
              <a:buClr>
                <a:schemeClr val="dk1"/>
              </a:buClr>
              <a:buSzPts val="2400"/>
              <a:buFont typeface="Lora"/>
              <a:buChar char="■"/>
              <a:defRPr sz="2400" b="0" i="0" u="none" strike="noStrike" cap="none">
                <a:solidFill>
                  <a:schemeClr val="dk1"/>
                </a:solidFill>
                <a:latin typeface="Lora"/>
                <a:ea typeface="Lora"/>
                <a:cs typeface="Lora"/>
                <a:sym typeface="Lora"/>
              </a:defRPr>
            </a:lvl6pPr>
            <a:lvl7pPr marL="3200400" marR="0" lvl="6" indent="-381000" algn="l" rtl="0">
              <a:lnSpc>
                <a:spcPct val="100000"/>
              </a:lnSpc>
              <a:spcBef>
                <a:spcPts val="0"/>
              </a:spcBef>
              <a:spcAft>
                <a:spcPts val="0"/>
              </a:spcAft>
              <a:buClr>
                <a:schemeClr val="dk1"/>
              </a:buClr>
              <a:buSzPts val="2400"/>
              <a:buFont typeface="Lora"/>
              <a:buChar char="●"/>
              <a:defRPr sz="2400" b="0" i="0" u="none" strike="noStrike" cap="none">
                <a:solidFill>
                  <a:schemeClr val="dk1"/>
                </a:solidFill>
                <a:latin typeface="Lora"/>
                <a:ea typeface="Lora"/>
                <a:cs typeface="Lora"/>
                <a:sym typeface="Lora"/>
              </a:defRPr>
            </a:lvl7pPr>
            <a:lvl8pPr marL="3657600" marR="0" lvl="7" indent="-381000" algn="l" rtl="0">
              <a:lnSpc>
                <a:spcPct val="100000"/>
              </a:lnSpc>
              <a:spcBef>
                <a:spcPts val="0"/>
              </a:spcBef>
              <a:spcAft>
                <a:spcPts val="0"/>
              </a:spcAft>
              <a:buClr>
                <a:schemeClr val="dk1"/>
              </a:buClr>
              <a:buSzPts val="2400"/>
              <a:buFont typeface="Lora"/>
              <a:buChar char="○"/>
              <a:defRPr sz="2400" b="0" i="0" u="none" strike="noStrike" cap="none">
                <a:solidFill>
                  <a:schemeClr val="dk1"/>
                </a:solidFill>
                <a:latin typeface="Lora"/>
                <a:ea typeface="Lora"/>
                <a:cs typeface="Lora"/>
                <a:sym typeface="Lora"/>
              </a:defRPr>
            </a:lvl8pPr>
            <a:lvl9pPr marL="4114800" marR="0" lvl="8" indent="-381000" algn="l" rtl="0">
              <a:lnSpc>
                <a:spcPct val="100000"/>
              </a:lnSpc>
              <a:spcBef>
                <a:spcPts val="0"/>
              </a:spcBef>
              <a:spcAft>
                <a:spcPts val="0"/>
              </a:spcAft>
              <a:buClr>
                <a:schemeClr val="dk1"/>
              </a:buClr>
              <a:buSzPts val="2400"/>
              <a:buFont typeface="Lora"/>
              <a:buChar char="■"/>
              <a:defRPr sz="2400" b="0" i="0" u="none" strike="noStrike" cap="none">
                <a:solidFill>
                  <a:schemeClr val="dk1"/>
                </a:solidFill>
                <a:latin typeface="Lora"/>
                <a:ea typeface="Lora"/>
                <a:cs typeface="Lora"/>
                <a:sym typeface="Lora"/>
              </a:defRPr>
            </a:lvl9pPr>
          </a:lstStyle>
          <a:p>
            <a:pPr marL="0" indent="0" algn="ctr">
              <a:buFont typeface="Lora"/>
              <a:buNone/>
            </a:pPr>
            <a:r>
              <a:rPr lang="en-US" b="1" dirty="0"/>
              <a:t>By</a:t>
            </a:r>
          </a:p>
          <a:p>
            <a:pPr marL="0" indent="0">
              <a:buFont typeface="Lora"/>
              <a:buNone/>
            </a:pPr>
            <a:r>
              <a:rPr lang="en-US" b="1" dirty="0">
                <a:solidFill>
                  <a:schemeClr val="accent3"/>
                </a:solidFill>
              </a:rPr>
              <a:t>             MS KRITI KAUSIK</a:t>
            </a:r>
          </a:p>
          <a:p>
            <a:pPr marL="0" indent="0">
              <a:buClr>
                <a:schemeClr val="dk1"/>
              </a:buClr>
              <a:buSzPts val="1100"/>
              <a:buFont typeface="Arial"/>
              <a:buNone/>
            </a:pPr>
            <a:r>
              <a:rPr lang="en-US" dirty="0"/>
              <a:t>        kriti29kausik@gmail.com</a:t>
            </a:r>
            <a:endParaRPr 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ctrTitle"/>
          </p:nvPr>
        </p:nvSpPr>
        <p:spPr>
          <a:xfrm>
            <a:off x="232302" y="693683"/>
            <a:ext cx="4728600" cy="1986180"/>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IN" dirty="0"/>
              <a:t>Additional Features</a:t>
            </a:r>
            <a:endParaRPr dirty="0"/>
          </a:p>
        </p:txBody>
      </p:sp>
      <p:sp>
        <p:nvSpPr>
          <p:cNvPr id="74" name="Google Shape;74;p16"/>
          <p:cNvSpPr txBox="1">
            <a:spLocks noGrp="1"/>
          </p:cNvSpPr>
          <p:nvPr>
            <p:ph type="subTitle" idx="1"/>
          </p:nvPr>
        </p:nvSpPr>
        <p:spPr>
          <a:xfrm>
            <a:off x="91625" y="2679863"/>
            <a:ext cx="4728600" cy="3360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dirty="0"/>
              <a:t>Unit V</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4"/>
          <p:cNvSpPr txBox="1">
            <a:spLocks noGrp="1"/>
          </p:cNvSpPr>
          <p:nvPr>
            <p:ph type="title"/>
          </p:nvPr>
        </p:nvSpPr>
        <p:spPr>
          <a:xfrm>
            <a:off x="855275" y="439750"/>
            <a:ext cx="5462700" cy="396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Contents</a:t>
            </a:r>
            <a:endParaRPr dirty="0"/>
          </a:p>
        </p:txBody>
      </p:sp>
      <p:sp>
        <p:nvSpPr>
          <p:cNvPr id="58" name="Google Shape;58;p14"/>
          <p:cNvSpPr txBox="1">
            <a:spLocks noGrp="1"/>
          </p:cNvSpPr>
          <p:nvPr>
            <p:ph type="body" idx="1"/>
          </p:nvPr>
        </p:nvSpPr>
        <p:spPr>
          <a:xfrm>
            <a:off x="447968" y="1095000"/>
            <a:ext cx="3138657" cy="2953500"/>
          </a:xfrm>
          <a:prstGeom prst="rect">
            <a:avLst/>
          </a:prstGeom>
        </p:spPr>
        <p:txBody>
          <a:bodyPr spcFirstLastPara="1" wrap="square" lIns="0" tIns="0" rIns="0" bIns="0" anchor="t" anchorCtr="0">
            <a:noAutofit/>
          </a:bodyPr>
          <a:lstStyle/>
          <a:p>
            <a:pPr marL="0" lvl="0" indent="0" algn="l" rtl="0">
              <a:spcBef>
                <a:spcPts val="600"/>
              </a:spcBef>
              <a:spcAft>
                <a:spcPts val="0"/>
              </a:spcAft>
              <a:buClr>
                <a:schemeClr val="dk1"/>
              </a:buClr>
              <a:buSzPts val="1100"/>
              <a:buFont typeface="Arial"/>
              <a:buNone/>
            </a:pPr>
            <a:r>
              <a:rPr lang="en-IN" sz="1200" b="1" dirty="0"/>
              <a:t>File Handling</a:t>
            </a:r>
          </a:p>
          <a:p>
            <a:pPr marL="0" lvl="0" indent="0" algn="l" rtl="0">
              <a:spcBef>
                <a:spcPts val="600"/>
              </a:spcBef>
              <a:spcAft>
                <a:spcPts val="0"/>
              </a:spcAft>
              <a:buClr>
                <a:schemeClr val="dk1"/>
              </a:buClr>
              <a:buSzPts val="1100"/>
              <a:buFont typeface="Arial"/>
              <a:buNone/>
            </a:pPr>
            <a:r>
              <a:rPr lang="en-IN" sz="1200" b="1" dirty="0"/>
              <a:t>File Pointer</a:t>
            </a:r>
            <a:br>
              <a:rPr lang="en-IN" sz="1200" b="1" dirty="0"/>
            </a:br>
            <a:r>
              <a:rPr lang="en-IN" sz="1200" b="1" dirty="0"/>
              <a:t>File Accessing Functions</a:t>
            </a:r>
          </a:p>
          <a:p>
            <a:pPr marL="0" lvl="0" indent="0" algn="l" rtl="0">
              <a:spcBef>
                <a:spcPts val="600"/>
              </a:spcBef>
              <a:spcAft>
                <a:spcPts val="0"/>
              </a:spcAft>
              <a:buClr>
                <a:schemeClr val="dk1"/>
              </a:buClr>
              <a:buSzPts val="1100"/>
              <a:buFont typeface="Arial"/>
              <a:buNone/>
            </a:pPr>
            <a:r>
              <a:rPr lang="en-IN" sz="1200" b="1" dirty="0"/>
              <a:t>          </a:t>
            </a:r>
            <a:r>
              <a:rPr lang="en-IN" sz="1200" b="1" dirty="0" err="1"/>
              <a:t>fopen</a:t>
            </a:r>
            <a:r>
              <a:rPr lang="en-IN" sz="1200" b="1" dirty="0"/>
              <a:t>(),</a:t>
            </a:r>
            <a:r>
              <a:rPr lang="en-IN" sz="1200" b="1" dirty="0" err="1"/>
              <a:t>fclose</a:t>
            </a:r>
            <a:r>
              <a:rPr lang="en-IN" sz="1200" b="1" dirty="0"/>
              <a:t>(),</a:t>
            </a:r>
            <a:r>
              <a:rPr lang="en-IN" sz="1200" b="1" dirty="0" err="1"/>
              <a:t>putc</a:t>
            </a:r>
            <a:r>
              <a:rPr lang="en-IN" sz="1200" b="1" dirty="0"/>
              <a:t>(),</a:t>
            </a:r>
            <a:r>
              <a:rPr lang="en-IN" sz="1200" b="1" dirty="0" err="1"/>
              <a:t>getc</a:t>
            </a:r>
            <a:r>
              <a:rPr lang="en-IN" sz="1200" b="1" dirty="0"/>
              <a:t>(),</a:t>
            </a:r>
            <a:r>
              <a:rPr lang="en-IN" sz="1200" b="1" dirty="0" err="1"/>
              <a:t>fprintf</a:t>
            </a:r>
            <a:r>
              <a:rPr lang="en-IN" sz="1200" b="1" dirty="0"/>
              <a:t>()</a:t>
            </a:r>
          </a:p>
          <a:p>
            <a:pPr marL="0" lvl="0" indent="0" algn="l" rtl="0">
              <a:spcBef>
                <a:spcPts val="600"/>
              </a:spcBef>
              <a:spcAft>
                <a:spcPts val="0"/>
              </a:spcAft>
              <a:buClr>
                <a:schemeClr val="dk1"/>
              </a:buClr>
              <a:buSzPts val="1100"/>
              <a:buFont typeface="Arial"/>
              <a:buNone/>
            </a:pPr>
            <a:r>
              <a:rPr lang="en-IN" sz="1200" b="1" dirty="0"/>
              <a:t>C Preprocessor </a:t>
            </a:r>
          </a:p>
          <a:p>
            <a:pPr marL="0" lvl="0" indent="0" algn="l" rtl="0">
              <a:spcBef>
                <a:spcPts val="600"/>
              </a:spcBef>
              <a:spcAft>
                <a:spcPts val="0"/>
              </a:spcAft>
              <a:buClr>
                <a:schemeClr val="dk1"/>
              </a:buClr>
              <a:buSzPts val="1100"/>
              <a:buFont typeface="Arial"/>
              <a:buNone/>
            </a:pPr>
            <a:r>
              <a:rPr lang="en-IN" sz="1200" b="1" dirty="0"/>
              <a:t>        #define</a:t>
            </a:r>
          </a:p>
          <a:p>
            <a:pPr marL="0" lvl="0" indent="0" algn="l" rtl="0">
              <a:spcBef>
                <a:spcPts val="600"/>
              </a:spcBef>
              <a:spcAft>
                <a:spcPts val="0"/>
              </a:spcAft>
              <a:buClr>
                <a:schemeClr val="dk1"/>
              </a:buClr>
              <a:buSzPts val="1100"/>
              <a:buFont typeface="Arial"/>
              <a:buNone/>
            </a:pPr>
            <a:r>
              <a:rPr lang="en-IN" sz="1200" b="1" dirty="0"/>
              <a:t>        #include</a:t>
            </a:r>
          </a:p>
          <a:p>
            <a:pPr marL="0" lvl="0" indent="0" algn="l" rtl="0">
              <a:spcBef>
                <a:spcPts val="600"/>
              </a:spcBef>
              <a:spcAft>
                <a:spcPts val="0"/>
              </a:spcAft>
              <a:buClr>
                <a:schemeClr val="dk1"/>
              </a:buClr>
              <a:buSzPts val="1100"/>
              <a:buFont typeface="Arial"/>
              <a:buNone/>
            </a:pPr>
            <a:r>
              <a:rPr lang="en-IN" sz="1200" b="1" dirty="0"/>
              <a:t>        #undef</a:t>
            </a:r>
          </a:p>
          <a:p>
            <a:pPr marL="0" lvl="0" indent="0" algn="l" rtl="0">
              <a:spcBef>
                <a:spcPts val="600"/>
              </a:spcBef>
              <a:spcAft>
                <a:spcPts val="0"/>
              </a:spcAft>
              <a:buClr>
                <a:schemeClr val="dk1"/>
              </a:buClr>
              <a:buSzPts val="1100"/>
              <a:buFont typeface="Arial"/>
              <a:buNone/>
            </a:pPr>
            <a:r>
              <a:rPr lang="en-IN" sz="1200" b="1" dirty="0"/>
              <a:t>Conditional Compilation Directives</a:t>
            </a:r>
          </a:p>
        </p:txBody>
      </p:sp>
      <p:sp>
        <p:nvSpPr>
          <p:cNvPr id="60" name="Google Shape;60;p14"/>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2" name="Google Shape;58;p14">
            <a:extLst>
              <a:ext uri="{FF2B5EF4-FFF2-40B4-BE49-F238E27FC236}">
                <a16:creationId xmlns:a16="http://schemas.microsoft.com/office/drawing/2014/main" id="{32F77AB2-9A7D-CB5F-386B-99C4FA68B672}"/>
              </a:ext>
            </a:extLst>
          </p:cNvPr>
          <p:cNvSpPr txBox="1">
            <a:spLocks/>
          </p:cNvSpPr>
          <p:nvPr/>
        </p:nvSpPr>
        <p:spPr>
          <a:xfrm>
            <a:off x="3875743" y="1095000"/>
            <a:ext cx="2694023" cy="29535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6"/>
              </a:buClr>
              <a:buSzPts val="2000"/>
              <a:buFont typeface="Lora"/>
              <a:buChar char="✦"/>
              <a:defRPr sz="2000" b="0" i="0" u="none" strike="noStrike" cap="none">
                <a:solidFill>
                  <a:schemeClr val="dk1"/>
                </a:solidFill>
                <a:latin typeface="Lora"/>
                <a:ea typeface="Lora"/>
                <a:cs typeface="Lora"/>
                <a:sym typeface="Lora"/>
              </a:defRPr>
            </a:lvl1pPr>
            <a:lvl2pPr marL="914400" marR="0" lvl="1" indent="-355600" algn="l" rtl="0">
              <a:lnSpc>
                <a:spcPct val="100000"/>
              </a:lnSpc>
              <a:spcBef>
                <a:spcPts val="0"/>
              </a:spcBef>
              <a:spcAft>
                <a:spcPts val="0"/>
              </a:spcAft>
              <a:buClr>
                <a:schemeClr val="accent4"/>
              </a:buClr>
              <a:buSzPts val="2000"/>
              <a:buFont typeface="Lora"/>
              <a:buChar char="✧"/>
              <a:defRPr sz="2000" b="0" i="0" u="none" strike="noStrike" cap="none">
                <a:solidFill>
                  <a:schemeClr val="dk1"/>
                </a:solidFill>
                <a:latin typeface="Lora"/>
                <a:ea typeface="Lora"/>
                <a:cs typeface="Lora"/>
                <a:sym typeface="Lora"/>
              </a:defRPr>
            </a:lvl2pPr>
            <a:lvl3pPr marL="1371600" marR="0" lvl="2" indent="-355600" algn="l" rtl="0">
              <a:lnSpc>
                <a:spcPct val="100000"/>
              </a:lnSpc>
              <a:spcBef>
                <a:spcPts val="0"/>
              </a:spcBef>
              <a:spcAft>
                <a:spcPts val="0"/>
              </a:spcAft>
              <a:buClr>
                <a:schemeClr val="accent5"/>
              </a:buClr>
              <a:buSzPts val="2000"/>
              <a:buFont typeface="Lora"/>
              <a:buChar char="■"/>
              <a:defRPr sz="2000" b="0" i="0" u="none" strike="noStrike" cap="none">
                <a:solidFill>
                  <a:schemeClr val="dk1"/>
                </a:solidFill>
                <a:latin typeface="Lora"/>
                <a:ea typeface="Lora"/>
                <a:cs typeface="Lora"/>
                <a:sym typeface="Lora"/>
              </a:defRPr>
            </a:lvl3pPr>
            <a:lvl4pPr marL="1828800" marR="0" lvl="3" indent="-355600" algn="l" rtl="0">
              <a:lnSpc>
                <a:spcPct val="100000"/>
              </a:lnSpc>
              <a:spcBef>
                <a:spcPts val="0"/>
              </a:spcBef>
              <a:spcAft>
                <a:spcPts val="0"/>
              </a:spcAft>
              <a:buClr>
                <a:schemeClr val="dk1"/>
              </a:buClr>
              <a:buSzPts val="2000"/>
              <a:buFont typeface="Lora"/>
              <a:buChar char="●"/>
              <a:defRPr sz="2000" b="0" i="0" u="none" strike="noStrike" cap="none">
                <a:solidFill>
                  <a:schemeClr val="dk1"/>
                </a:solidFill>
                <a:latin typeface="Lora"/>
                <a:ea typeface="Lora"/>
                <a:cs typeface="Lora"/>
                <a:sym typeface="Lora"/>
              </a:defRPr>
            </a:lvl4pPr>
            <a:lvl5pPr marL="2286000" marR="0" lvl="4" indent="-355600" algn="l" rtl="0">
              <a:lnSpc>
                <a:spcPct val="100000"/>
              </a:lnSpc>
              <a:spcBef>
                <a:spcPts val="0"/>
              </a:spcBef>
              <a:spcAft>
                <a:spcPts val="0"/>
              </a:spcAft>
              <a:buClr>
                <a:schemeClr val="dk1"/>
              </a:buClr>
              <a:buSzPts val="2000"/>
              <a:buFont typeface="Lora"/>
              <a:buChar char="○"/>
              <a:defRPr sz="2000" b="0" i="0" u="none" strike="noStrike" cap="none">
                <a:solidFill>
                  <a:schemeClr val="dk1"/>
                </a:solidFill>
                <a:latin typeface="Lora"/>
                <a:ea typeface="Lora"/>
                <a:cs typeface="Lora"/>
                <a:sym typeface="Lora"/>
              </a:defRPr>
            </a:lvl5pPr>
            <a:lvl6pPr marL="2743200" marR="0" lvl="5" indent="-355600" algn="l" rtl="0">
              <a:lnSpc>
                <a:spcPct val="100000"/>
              </a:lnSpc>
              <a:spcBef>
                <a:spcPts val="0"/>
              </a:spcBef>
              <a:spcAft>
                <a:spcPts val="0"/>
              </a:spcAft>
              <a:buClr>
                <a:schemeClr val="dk1"/>
              </a:buClr>
              <a:buSzPts val="2000"/>
              <a:buFont typeface="Lora"/>
              <a:buChar char="■"/>
              <a:defRPr sz="2000" b="0" i="0" u="none" strike="noStrike" cap="none">
                <a:solidFill>
                  <a:schemeClr val="dk1"/>
                </a:solidFill>
                <a:latin typeface="Lora"/>
                <a:ea typeface="Lora"/>
                <a:cs typeface="Lora"/>
                <a:sym typeface="Lora"/>
              </a:defRPr>
            </a:lvl6pPr>
            <a:lvl7pPr marL="3200400" marR="0" lvl="6" indent="-355600" algn="l" rtl="0">
              <a:lnSpc>
                <a:spcPct val="100000"/>
              </a:lnSpc>
              <a:spcBef>
                <a:spcPts val="0"/>
              </a:spcBef>
              <a:spcAft>
                <a:spcPts val="0"/>
              </a:spcAft>
              <a:buClr>
                <a:schemeClr val="dk1"/>
              </a:buClr>
              <a:buSzPts val="2000"/>
              <a:buFont typeface="Lora"/>
              <a:buChar char="●"/>
              <a:defRPr sz="2000" b="0" i="0" u="none" strike="noStrike" cap="none">
                <a:solidFill>
                  <a:schemeClr val="dk1"/>
                </a:solidFill>
                <a:latin typeface="Lora"/>
                <a:ea typeface="Lora"/>
                <a:cs typeface="Lora"/>
                <a:sym typeface="Lora"/>
              </a:defRPr>
            </a:lvl7pPr>
            <a:lvl8pPr marL="3657600" marR="0" lvl="7" indent="-355600" algn="l" rtl="0">
              <a:lnSpc>
                <a:spcPct val="100000"/>
              </a:lnSpc>
              <a:spcBef>
                <a:spcPts val="0"/>
              </a:spcBef>
              <a:spcAft>
                <a:spcPts val="0"/>
              </a:spcAft>
              <a:buClr>
                <a:schemeClr val="dk1"/>
              </a:buClr>
              <a:buSzPts val="2000"/>
              <a:buFont typeface="Lora"/>
              <a:buChar char="○"/>
              <a:defRPr sz="2000" b="0" i="0" u="none" strike="noStrike" cap="none">
                <a:solidFill>
                  <a:schemeClr val="dk1"/>
                </a:solidFill>
                <a:latin typeface="Lora"/>
                <a:ea typeface="Lora"/>
                <a:cs typeface="Lora"/>
                <a:sym typeface="Lora"/>
              </a:defRPr>
            </a:lvl8pPr>
            <a:lvl9pPr marL="4114800" marR="0" lvl="8" indent="-355600" algn="l" rtl="0">
              <a:lnSpc>
                <a:spcPct val="100000"/>
              </a:lnSpc>
              <a:spcBef>
                <a:spcPts val="0"/>
              </a:spcBef>
              <a:spcAft>
                <a:spcPts val="0"/>
              </a:spcAft>
              <a:buClr>
                <a:schemeClr val="dk1"/>
              </a:buClr>
              <a:buSzPts val="2000"/>
              <a:buFont typeface="Lora"/>
              <a:buChar char="■"/>
              <a:defRPr sz="2000" b="0" i="0" u="none" strike="noStrike" cap="none">
                <a:solidFill>
                  <a:schemeClr val="dk1"/>
                </a:solidFill>
                <a:latin typeface="Lora"/>
                <a:ea typeface="Lora"/>
                <a:cs typeface="Lora"/>
                <a:sym typeface="Lora"/>
              </a:defRPr>
            </a:lvl9pPr>
          </a:lstStyle>
          <a:p>
            <a:pPr marL="0" indent="0">
              <a:buClr>
                <a:schemeClr val="dk1"/>
              </a:buClr>
              <a:buSzPts val="1100"/>
              <a:buFont typeface="Arial"/>
              <a:buNone/>
            </a:pPr>
            <a:r>
              <a:rPr lang="en-IN" sz="1200" b="1" dirty="0"/>
              <a:t>C Standard Library and Header Files</a:t>
            </a:r>
          </a:p>
          <a:p>
            <a:pPr marL="0" indent="0">
              <a:buClr>
                <a:schemeClr val="dk1"/>
              </a:buClr>
              <a:buSzPts val="1100"/>
              <a:buFont typeface="Arial"/>
              <a:buNone/>
            </a:pPr>
            <a:r>
              <a:rPr lang="en-IN" sz="1200" b="1" dirty="0"/>
              <a:t>Header Files</a:t>
            </a:r>
          </a:p>
          <a:p>
            <a:pPr marL="0" indent="0">
              <a:buClr>
                <a:schemeClr val="dk1"/>
              </a:buClr>
              <a:buSzPts val="1100"/>
              <a:buFont typeface="Arial"/>
              <a:buNone/>
            </a:pPr>
            <a:r>
              <a:rPr lang="en-IN" sz="1200" b="1" dirty="0"/>
              <a:t>String Functions</a:t>
            </a:r>
          </a:p>
          <a:p>
            <a:pPr marL="0" indent="0">
              <a:buClr>
                <a:schemeClr val="dk1"/>
              </a:buClr>
              <a:buSzPts val="1100"/>
              <a:buFont typeface="Arial"/>
              <a:buNone/>
            </a:pPr>
            <a:r>
              <a:rPr lang="en-IN" sz="1200" b="1" dirty="0"/>
              <a:t>Mathematical Functions</a:t>
            </a:r>
          </a:p>
          <a:p>
            <a:pPr marL="0" indent="0">
              <a:buClr>
                <a:schemeClr val="dk1"/>
              </a:buClr>
              <a:buSzPts val="1100"/>
              <a:buFont typeface="Arial"/>
              <a:buNone/>
            </a:pPr>
            <a:r>
              <a:rPr lang="en-IN" sz="1200" b="1" dirty="0"/>
              <a:t>Date and Time Functions</a:t>
            </a:r>
          </a:p>
          <a:p>
            <a:pPr marL="0" indent="0">
              <a:buClr>
                <a:schemeClr val="dk1"/>
              </a:buClr>
              <a:buSzPts val="1100"/>
              <a:buFont typeface="Arial"/>
              <a:buNone/>
            </a:pPr>
            <a:endParaRPr lang="en-IN" sz="1200" b="1" dirty="0"/>
          </a:p>
          <a:p>
            <a:pPr marL="0" indent="0">
              <a:buClr>
                <a:schemeClr val="dk1"/>
              </a:buClr>
              <a:buSzPts val="1100"/>
              <a:buFont typeface="Arial"/>
              <a:buNone/>
            </a:pPr>
            <a:endParaRPr lang="en-IN" sz="1200" b="1" dirty="0"/>
          </a:p>
          <a:p>
            <a:pPr marL="0" indent="0">
              <a:buClr>
                <a:schemeClr val="dk1"/>
              </a:buClr>
              <a:buSzPts val="1100"/>
              <a:buFont typeface="Arial"/>
              <a:buNone/>
            </a:pPr>
            <a:endParaRPr lang="en-IN" sz="1200" b="1" dirty="0"/>
          </a:p>
          <a:p>
            <a:pPr marL="0" indent="0">
              <a:buClr>
                <a:schemeClr val="dk1"/>
              </a:buClr>
              <a:buSzPts val="1100"/>
              <a:buFont typeface="Arial"/>
              <a:buNone/>
            </a:pPr>
            <a:endParaRPr lang="en-IN" sz="1200" b="1" dirty="0"/>
          </a:p>
          <a:p>
            <a:pPr marL="0" indent="0">
              <a:buClr>
                <a:schemeClr val="dk1"/>
              </a:buClr>
              <a:buSzPts val="1100"/>
              <a:buFont typeface="Arial"/>
              <a:buNone/>
            </a:pPr>
            <a:endParaRPr lang="en-IN" sz="1200" b="1" dirty="0"/>
          </a:p>
          <a:p>
            <a:pPr marL="0" indent="0">
              <a:buClr>
                <a:schemeClr val="dk1"/>
              </a:buClr>
              <a:buSzPts val="1100"/>
              <a:buFont typeface="Arial"/>
              <a:buNone/>
            </a:pPr>
            <a:endParaRPr lang="en-IN" sz="1200" b="1" dirty="0"/>
          </a:p>
          <a:p>
            <a:pPr marL="0" indent="0">
              <a:buClr>
                <a:schemeClr val="dk1"/>
              </a:buClr>
              <a:buSzPts val="1100"/>
              <a:buFont typeface="Arial"/>
              <a:buNone/>
            </a:pPr>
            <a:endParaRPr lang="en-IN" sz="12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4"/>
          <p:cNvSpPr txBox="1">
            <a:spLocks noGrp="1"/>
          </p:cNvSpPr>
          <p:nvPr>
            <p:ph type="title"/>
          </p:nvPr>
        </p:nvSpPr>
        <p:spPr>
          <a:xfrm>
            <a:off x="580950" y="103214"/>
            <a:ext cx="8097784" cy="396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IN" sz="2800" dirty="0"/>
              <a:t>File Concepts</a:t>
            </a:r>
            <a:endParaRPr sz="2800" dirty="0"/>
          </a:p>
        </p:txBody>
      </p:sp>
      <p:sp>
        <p:nvSpPr>
          <p:cNvPr id="136" name="Google Shape;136;p24"/>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4" name="TextBox 3">
            <a:extLst>
              <a:ext uri="{FF2B5EF4-FFF2-40B4-BE49-F238E27FC236}">
                <a16:creationId xmlns:a16="http://schemas.microsoft.com/office/drawing/2014/main" id="{ED9390BE-7764-4BD4-2373-7CB55586F100}"/>
              </a:ext>
            </a:extLst>
          </p:cNvPr>
          <p:cNvSpPr txBox="1"/>
          <p:nvPr/>
        </p:nvSpPr>
        <p:spPr>
          <a:xfrm>
            <a:off x="365262" y="887968"/>
            <a:ext cx="7427015" cy="698717"/>
          </a:xfrm>
          <a:prstGeom prst="rect">
            <a:avLst/>
          </a:prstGeom>
          <a:noFill/>
        </p:spPr>
        <p:txBody>
          <a:bodyPr wrap="square">
            <a:spAutoFit/>
          </a:bodyPr>
          <a:lstStyle/>
          <a:p>
            <a:pPr>
              <a:lnSpc>
                <a:spcPct val="150000"/>
              </a:lnSpc>
            </a:pPr>
            <a:r>
              <a:rPr lang="en-IN" dirty="0">
                <a:solidFill>
                  <a:schemeClr val="tx1"/>
                </a:solidFill>
              </a:rPr>
              <a:t>A collection of records (or) group of records.</a:t>
            </a:r>
          </a:p>
          <a:p>
            <a:pPr>
              <a:lnSpc>
                <a:spcPct val="150000"/>
              </a:lnSpc>
            </a:pPr>
            <a:r>
              <a:rPr lang="en-IN" dirty="0">
                <a:solidFill>
                  <a:schemeClr val="tx1"/>
                </a:solidFill>
              </a:rPr>
              <a:t>Record means Collection of fields(or)collection of attributes</a:t>
            </a:r>
          </a:p>
        </p:txBody>
      </p:sp>
      <p:graphicFrame>
        <p:nvGraphicFramePr>
          <p:cNvPr id="6" name="Table 5">
            <a:extLst>
              <a:ext uri="{FF2B5EF4-FFF2-40B4-BE49-F238E27FC236}">
                <a16:creationId xmlns:a16="http://schemas.microsoft.com/office/drawing/2014/main" id="{62CEFF19-8FCF-DB9F-03FE-8A607A8F6656}"/>
              </a:ext>
            </a:extLst>
          </p:cNvPr>
          <p:cNvGraphicFramePr>
            <a:graphicFrameLocks noGrp="1"/>
          </p:cNvGraphicFramePr>
          <p:nvPr>
            <p:extLst>
              <p:ext uri="{D42A27DB-BD31-4B8C-83A1-F6EECF244321}">
                <p14:modId xmlns:p14="http://schemas.microsoft.com/office/powerpoint/2010/main" val="1785833295"/>
              </p:ext>
            </p:extLst>
          </p:nvPr>
        </p:nvGraphicFramePr>
        <p:xfrm>
          <a:off x="365262" y="1837188"/>
          <a:ext cx="5390708" cy="2182155"/>
        </p:xfrm>
        <a:graphic>
          <a:graphicData uri="http://schemas.openxmlformats.org/drawingml/2006/table">
            <a:tbl>
              <a:tblPr firstRow="1" firstCol="1" bandRow="1">
                <a:tableStyleId>{284E427A-3D55-4303-BF80-6455036E1DE7}</a:tableStyleId>
              </a:tblPr>
              <a:tblGrid>
                <a:gridCol w="1347677">
                  <a:extLst>
                    <a:ext uri="{9D8B030D-6E8A-4147-A177-3AD203B41FA5}">
                      <a16:colId xmlns:a16="http://schemas.microsoft.com/office/drawing/2014/main" val="3497022007"/>
                    </a:ext>
                  </a:extLst>
                </a:gridCol>
                <a:gridCol w="1347677">
                  <a:extLst>
                    <a:ext uri="{9D8B030D-6E8A-4147-A177-3AD203B41FA5}">
                      <a16:colId xmlns:a16="http://schemas.microsoft.com/office/drawing/2014/main" val="2908999399"/>
                    </a:ext>
                  </a:extLst>
                </a:gridCol>
                <a:gridCol w="1347677">
                  <a:extLst>
                    <a:ext uri="{9D8B030D-6E8A-4147-A177-3AD203B41FA5}">
                      <a16:colId xmlns:a16="http://schemas.microsoft.com/office/drawing/2014/main" val="891563275"/>
                    </a:ext>
                  </a:extLst>
                </a:gridCol>
                <a:gridCol w="1347677">
                  <a:extLst>
                    <a:ext uri="{9D8B030D-6E8A-4147-A177-3AD203B41FA5}">
                      <a16:colId xmlns:a16="http://schemas.microsoft.com/office/drawing/2014/main" val="310906015"/>
                    </a:ext>
                  </a:extLst>
                </a:gridCol>
              </a:tblGrid>
              <a:tr h="457200">
                <a:tc>
                  <a:txBody>
                    <a:bodyPr/>
                    <a:lstStyle/>
                    <a:p>
                      <a:pPr algn="ctr">
                        <a:lnSpc>
                          <a:spcPct val="200000"/>
                        </a:lnSpc>
                        <a:spcAft>
                          <a:spcPts val="1000"/>
                        </a:spcAft>
                      </a:pPr>
                      <a:r>
                        <a:rPr lang="en-IN" sz="1200" b="1" dirty="0">
                          <a:solidFill>
                            <a:schemeClr val="bg1"/>
                          </a:solidFill>
                          <a:effectLst/>
                        </a:rPr>
                        <a:t>NAME</a:t>
                      </a:r>
                      <a:endParaRPr lang="en-IN" sz="11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pPr>
                      <a:r>
                        <a:rPr lang="en-IN" sz="1200" b="1" dirty="0">
                          <a:solidFill>
                            <a:schemeClr val="bg1"/>
                          </a:solidFill>
                          <a:effectLst/>
                        </a:rPr>
                        <a:t>AGE</a:t>
                      </a:r>
                      <a:endParaRPr lang="en-IN" sz="11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pPr>
                      <a:r>
                        <a:rPr lang="en-IN" sz="1200" b="1" dirty="0">
                          <a:solidFill>
                            <a:schemeClr val="bg1"/>
                          </a:solidFill>
                          <a:effectLst/>
                        </a:rPr>
                        <a:t>CLASS</a:t>
                      </a:r>
                      <a:endParaRPr lang="en-IN" sz="11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pPr>
                      <a:r>
                        <a:rPr lang="en-IN" sz="1200" b="1" dirty="0">
                          <a:solidFill>
                            <a:schemeClr val="bg1"/>
                          </a:solidFill>
                          <a:effectLst/>
                        </a:rPr>
                        <a:t>PERCENTAGE</a:t>
                      </a:r>
                      <a:endParaRPr lang="en-IN" sz="11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36908776"/>
                  </a:ext>
                </a:extLst>
              </a:tr>
              <a:tr h="344991">
                <a:tc>
                  <a:txBody>
                    <a:bodyPr/>
                    <a:lstStyle/>
                    <a:p>
                      <a:pPr algn="ctr">
                        <a:lnSpc>
                          <a:spcPct val="200000"/>
                        </a:lnSpc>
                        <a:spcAft>
                          <a:spcPts val="1000"/>
                        </a:spcAft>
                      </a:pPr>
                      <a:r>
                        <a:rPr lang="en-IN" sz="1200" b="1" dirty="0">
                          <a:solidFill>
                            <a:schemeClr val="bg1"/>
                          </a:solidFill>
                          <a:effectLst/>
                        </a:rPr>
                        <a:t>AA</a:t>
                      </a:r>
                      <a:endParaRPr lang="en-IN" sz="11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pPr>
                      <a:r>
                        <a:rPr lang="en-IN" sz="1200" b="1">
                          <a:solidFill>
                            <a:schemeClr val="bg1"/>
                          </a:solidFill>
                          <a:effectLst/>
                        </a:rPr>
                        <a:t>12</a:t>
                      </a:r>
                      <a:endParaRPr lang="en-IN" sz="1100" b="1">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pPr>
                      <a:r>
                        <a:rPr lang="en-IN" sz="1200" b="1">
                          <a:solidFill>
                            <a:schemeClr val="bg1"/>
                          </a:solidFill>
                          <a:effectLst/>
                        </a:rPr>
                        <a:t>1</a:t>
                      </a:r>
                      <a:r>
                        <a:rPr lang="en-IN" sz="1200" b="1" baseline="30000">
                          <a:solidFill>
                            <a:schemeClr val="bg1"/>
                          </a:solidFill>
                          <a:effectLst/>
                        </a:rPr>
                        <a:t>ST</a:t>
                      </a:r>
                      <a:endParaRPr lang="en-IN" sz="1100" b="1">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pPr>
                      <a:r>
                        <a:rPr lang="en-IN" sz="1200" b="1">
                          <a:solidFill>
                            <a:schemeClr val="bg1"/>
                          </a:solidFill>
                          <a:effectLst/>
                        </a:rPr>
                        <a:t>100</a:t>
                      </a:r>
                      <a:endParaRPr lang="en-IN" sz="1100" b="1">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2709408"/>
                  </a:ext>
                </a:extLst>
              </a:tr>
              <a:tr h="344991">
                <a:tc>
                  <a:txBody>
                    <a:bodyPr/>
                    <a:lstStyle/>
                    <a:p>
                      <a:pPr algn="ctr">
                        <a:lnSpc>
                          <a:spcPct val="200000"/>
                        </a:lnSpc>
                        <a:spcAft>
                          <a:spcPts val="1000"/>
                        </a:spcAft>
                      </a:pPr>
                      <a:r>
                        <a:rPr lang="en-IN" sz="1200" b="1" dirty="0">
                          <a:solidFill>
                            <a:schemeClr val="bg1"/>
                          </a:solidFill>
                          <a:effectLst/>
                        </a:rPr>
                        <a:t>BB</a:t>
                      </a:r>
                      <a:endParaRPr lang="en-IN" sz="11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pPr>
                      <a:r>
                        <a:rPr lang="en-IN" sz="1200" b="1">
                          <a:solidFill>
                            <a:schemeClr val="bg1"/>
                          </a:solidFill>
                          <a:effectLst/>
                        </a:rPr>
                        <a:t>13</a:t>
                      </a:r>
                      <a:endParaRPr lang="en-IN" sz="1100" b="1">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pPr>
                      <a:r>
                        <a:rPr lang="en-IN" sz="1200" b="1">
                          <a:solidFill>
                            <a:schemeClr val="bg1"/>
                          </a:solidFill>
                          <a:effectLst/>
                        </a:rPr>
                        <a:t>2</a:t>
                      </a:r>
                      <a:r>
                        <a:rPr lang="en-IN" sz="1200" b="1" baseline="30000">
                          <a:solidFill>
                            <a:schemeClr val="bg1"/>
                          </a:solidFill>
                          <a:effectLst/>
                        </a:rPr>
                        <a:t>ND</a:t>
                      </a:r>
                      <a:endParaRPr lang="en-IN" sz="1100" b="1">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pPr>
                      <a:r>
                        <a:rPr lang="en-IN" sz="1200" b="1">
                          <a:solidFill>
                            <a:schemeClr val="bg1"/>
                          </a:solidFill>
                          <a:effectLst/>
                        </a:rPr>
                        <a:t>98</a:t>
                      </a:r>
                      <a:endParaRPr lang="en-IN" sz="1100" b="1">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88293815"/>
                  </a:ext>
                </a:extLst>
              </a:tr>
              <a:tr h="344991">
                <a:tc>
                  <a:txBody>
                    <a:bodyPr/>
                    <a:lstStyle/>
                    <a:p>
                      <a:pPr algn="ctr">
                        <a:lnSpc>
                          <a:spcPct val="200000"/>
                        </a:lnSpc>
                        <a:spcAft>
                          <a:spcPts val="1000"/>
                        </a:spcAft>
                      </a:pPr>
                      <a:r>
                        <a:rPr lang="en-IN" sz="1200" b="1" dirty="0">
                          <a:solidFill>
                            <a:schemeClr val="bg1"/>
                          </a:solidFill>
                          <a:effectLst/>
                        </a:rPr>
                        <a:t>CC</a:t>
                      </a:r>
                      <a:endParaRPr lang="en-IN" sz="11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pPr>
                      <a:r>
                        <a:rPr lang="en-IN" sz="1200" b="1" dirty="0">
                          <a:solidFill>
                            <a:schemeClr val="bg1"/>
                          </a:solidFill>
                          <a:effectLst/>
                        </a:rPr>
                        <a:t>14</a:t>
                      </a:r>
                      <a:endParaRPr lang="en-IN" sz="11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pPr>
                      <a:r>
                        <a:rPr lang="en-IN" sz="1200" b="1">
                          <a:solidFill>
                            <a:schemeClr val="bg1"/>
                          </a:solidFill>
                          <a:effectLst/>
                        </a:rPr>
                        <a:t>3</a:t>
                      </a:r>
                      <a:r>
                        <a:rPr lang="en-IN" sz="1200" b="1" baseline="30000">
                          <a:solidFill>
                            <a:schemeClr val="bg1"/>
                          </a:solidFill>
                          <a:effectLst/>
                        </a:rPr>
                        <a:t>RD</a:t>
                      </a:r>
                      <a:endParaRPr lang="en-IN" sz="1100" b="1">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pPr>
                      <a:r>
                        <a:rPr lang="en-IN" sz="1200" b="1">
                          <a:solidFill>
                            <a:schemeClr val="bg1"/>
                          </a:solidFill>
                          <a:effectLst/>
                        </a:rPr>
                        <a:t>97</a:t>
                      </a:r>
                      <a:endParaRPr lang="en-IN" sz="1100" b="1">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67500600"/>
                  </a:ext>
                </a:extLst>
              </a:tr>
              <a:tr h="344991">
                <a:tc>
                  <a:txBody>
                    <a:bodyPr/>
                    <a:lstStyle/>
                    <a:p>
                      <a:pPr algn="ctr">
                        <a:lnSpc>
                          <a:spcPct val="200000"/>
                        </a:lnSpc>
                        <a:spcAft>
                          <a:spcPts val="1000"/>
                        </a:spcAft>
                      </a:pPr>
                      <a:r>
                        <a:rPr lang="en-IN" sz="1200" b="1" dirty="0">
                          <a:solidFill>
                            <a:schemeClr val="bg1"/>
                          </a:solidFill>
                          <a:effectLst/>
                        </a:rPr>
                        <a:t>DD</a:t>
                      </a:r>
                      <a:endParaRPr lang="en-IN" sz="11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pPr>
                      <a:r>
                        <a:rPr lang="en-IN" sz="1200" b="1">
                          <a:solidFill>
                            <a:schemeClr val="bg1"/>
                          </a:solidFill>
                          <a:effectLst/>
                        </a:rPr>
                        <a:t>15</a:t>
                      </a:r>
                      <a:endParaRPr lang="en-IN" sz="1100" b="1">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pPr>
                      <a:r>
                        <a:rPr lang="en-IN" sz="1200" b="1">
                          <a:solidFill>
                            <a:schemeClr val="bg1"/>
                          </a:solidFill>
                          <a:effectLst/>
                        </a:rPr>
                        <a:t>4</a:t>
                      </a:r>
                      <a:r>
                        <a:rPr lang="en-IN" sz="1200" b="1" baseline="30000">
                          <a:solidFill>
                            <a:schemeClr val="bg1"/>
                          </a:solidFill>
                          <a:effectLst/>
                        </a:rPr>
                        <a:t>TH</a:t>
                      </a:r>
                      <a:endParaRPr lang="en-IN" sz="1100" b="1">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pPr>
                      <a:r>
                        <a:rPr lang="en-IN" sz="1200" b="1">
                          <a:solidFill>
                            <a:schemeClr val="bg1"/>
                          </a:solidFill>
                          <a:effectLst/>
                        </a:rPr>
                        <a:t>99</a:t>
                      </a:r>
                      <a:endParaRPr lang="en-IN" sz="1100" b="1">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39167281"/>
                  </a:ext>
                </a:extLst>
              </a:tr>
              <a:tr h="344991">
                <a:tc>
                  <a:txBody>
                    <a:bodyPr/>
                    <a:lstStyle/>
                    <a:p>
                      <a:pPr algn="ctr">
                        <a:lnSpc>
                          <a:spcPct val="200000"/>
                        </a:lnSpc>
                        <a:spcAft>
                          <a:spcPts val="1000"/>
                        </a:spcAft>
                      </a:pPr>
                      <a:r>
                        <a:rPr lang="en-IN" sz="1200" b="1" dirty="0">
                          <a:solidFill>
                            <a:schemeClr val="bg1"/>
                          </a:solidFill>
                          <a:effectLst/>
                        </a:rPr>
                        <a:t>EE</a:t>
                      </a:r>
                      <a:endParaRPr lang="en-IN" sz="11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pPr>
                      <a:r>
                        <a:rPr lang="en-IN" sz="1200" b="1">
                          <a:solidFill>
                            <a:schemeClr val="bg1"/>
                          </a:solidFill>
                          <a:effectLst/>
                        </a:rPr>
                        <a:t>16</a:t>
                      </a:r>
                      <a:endParaRPr lang="en-IN" sz="1100" b="1">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pPr>
                      <a:r>
                        <a:rPr lang="en-IN" sz="1200" b="1">
                          <a:solidFill>
                            <a:schemeClr val="bg1"/>
                          </a:solidFill>
                          <a:effectLst/>
                        </a:rPr>
                        <a:t>5</a:t>
                      </a:r>
                      <a:r>
                        <a:rPr lang="en-IN" sz="1200" b="1" baseline="30000">
                          <a:solidFill>
                            <a:schemeClr val="bg1"/>
                          </a:solidFill>
                          <a:effectLst/>
                        </a:rPr>
                        <a:t>TH</a:t>
                      </a:r>
                      <a:endParaRPr lang="en-IN" sz="1100" b="1">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pPr>
                      <a:r>
                        <a:rPr lang="en-IN" sz="1200" b="1" dirty="0">
                          <a:solidFill>
                            <a:schemeClr val="bg1"/>
                          </a:solidFill>
                          <a:effectLst/>
                        </a:rPr>
                        <a:t>100</a:t>
                      </a:r>
                      <a:endParaRPr lang="en-IN" sz="11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02921605"/>
                  </a:ext>
                </a:extLst>
              </a:tr>
            </a:tbl>
          </a:graphicData>
        </a:graphic>
      </p:graphicFrame>
    </p:spTree>
    <p:extLst>
      <p:ext uri="{BB962C8B-B14F-4D97-AF65-F5344CB8AC3E}">
        <p14:creationId xmlns:p14="http://schemas.microsoft.com/office/powerpoint/2010/main" val="563881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4"/>
          <p:cNvSpPr txBox="1">
            <a:spLocks noGrp="1"/>
          </p:cNvSpPr>
          <p:nvPr>
            <p:ph type="title"/>
          </p:nvPr>
        </p:nvSpPr>
        <p:spPr>
          <a:xfrm>
            <a:off x="580950" y="103214"/>
            <a:ext cx="8097784" cy="396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IN" sz="2800" dirty="0"/>
              <a:t>File Handling</a:t>
            </a:r>
            <a:endParaRPr sz="2800" dirty="0"/>
          </a:p>
        </p:txBody>
      </p:sp>
      <p:sp>
        <p:nvSpPr>
          <p:cNvPr id="136" name="Google Shape;136;p24"/>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3" name="TextBox 2">
            <a:extLst>
              <a:ext uri="{FF2B5EF4-FFF2-40B4-BE49-F238E27FC236}">
                <a16:creationId xmlns:a16="http://schemas.microsoft.com/office/drawing/2014/main" id="{CDEA0674-CC0A-1427-8A44-94135DCB2147}"/>
              </a:ext>
            </a:extLst>
          </p:cNvPr>
          <p:cNvSpPr txBox="1"/>
          <p:nvPr/>
        </p:nvSpPr>
        <p:spPr>
          <a:xfrm>
            <a:off x="580950" y="569010"/>
            <a:ext cx="8175423" cy="2152962"/>
          </a:xfrm>
          <a:prstGeom prst="rect">
            <a:avLst/>
          </a:prstGeom>
          <a:noFill/>
        </p:spPr>
        <p:txBody>
          <a:bodyPr wrap="square">
            <a:spAutoFit/>
          </a:bodyPr>
          <a:lstStyle/>
          <a:p>
            <a:pPr marL="285750" indent="-285750" algn="just">
              <a:lnSpc>
                <a:spcPct val="250000"/>
              </a:lnSpc>
              <a:buFont typeface="Arial" panose="020B0604020202020204" pitchFamily="34" charset="0"/>
              <a:buChar char="•"/>
            </a:pPr>
            <a:r>
              <a:rPr lang="en-IN" dirty="0">
                <a:solidFill>
                  <a:schemeClr val="tx1"/>
                </a:solidFill>
              </a:rPr>
              <a:t>File Handling is a mechanism for storing of data in a file using a program. </a:t>
            </a:r>
          </a:p>
          <a:p>
            <a:pPr marL="285750" indent="-285750" algn="just">
              <a:lnSpc>
                <a:spcPct val="250000"/>
              </a:lnSpc>
              <a:buFont typeface="Arial" panose="020B0604020202020204" pitchFamily="34" charset="0"/>
              <a:buChar char="•"/>
            </a:pPr>
            <a:r>
              <a:rPr lang="en-IN" dirty="0">
                <a:solidFill>
                  <a:schemeClr val="tx1"/>
                </a:solidFill>
              </a:rPr>
              <a:t>In C programming language, the programs store results, and other data of the program to a file using file handling in C. </a:t>
            </a:r>
          </a:p>
          <a:p>
            <a:pPr marL="285750" indent="-285750" algn="just">
              <a:lnSpc>
                <a:spcPct val="250000"/>
              </a:lnSpc>
              <a:buFont typeface="Arial" panose="020B0604020202020204" pitchFamily="34" charset="0"/>
              <a:buChar char="•"/>
            </a:pPr>
            <a:r>
              <a:rPr lang="en-IN" dirty="0">
                <a:solidFill>
                  <a:schemeClr val="tx1"/>
                </a:solidFill>
              </a:rPr>
              <a:t>Also, users can extract/fetch data from a file to work with it in the program.</a:t>
            </a:r>
          </a:p>
        </p:txBody>
      </p:sp>
      <p:pic>
        <p:nvPicPr>
          <p:cNvPr id="7" name="Picture 6">
            <a:extLst>
              <a:ext uri="{FF2B5EF4-FFF2-40B4-BE49-F238E27FC236}">
                <a16:creationId xmlns:a16="http://schemas.microsoft.com/office/drawing/2014/main" id="{B95AC553-9696-1CD9-C67D-2D81CDAC9F16}"/>
              </a:ext>
            </a:extLst>
          </p:cNvPr>
          <p:cNvPicPr>
            <a:picLocks noChangeAspect="1"/>
          </p:cNvPicPr>
          <p:nvPr/>
        </p:nvPicPr>
        <p:blipFill>
          <a:blip r:embed="rId3"/>
          <a:stretch>
            <a:fillRect/>
          </a:stretch>
        </p:blipFill>
        <p:spPr>
          <a:xfrm>
            <a:off x="999089" y="2987726"/>
            <a:ext cx="5038725" cy="1685925"/>
          </a:xfrm>
          <a:prstGeom prst="rect">
            <a:avLst/>
          </a:prstGeom>
        </p:spPr>
      </p:pic>
    </p:spTree>
    <p:extLst>
      <p:ext uri="{BB962C8B-B14F-4D97-AF65-F5344CB8AC3E}">
        <p14:creationId xmlns:p14="http://schemas.microsoft.com/office/powerpoint/2010/main" val="4284501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4"/>
          <p:cNvSpPr txBox="1">
            <a:spLocks noGrp="1"/>
          </p:cNvSpPr>
          <p:nvPr>
            <p:ph type="title"/>
          </p:nvPr>
        </p:nvSpPr>
        <p:spPr>
          <a:xfrm>
            <a:off x="580950" y="103214"/>
            <a:ext cx="8097784" cy="396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IN" sz="2800" dirty="0"/>
              <a:t>File Concepts</a:t>
            </a:r>
            <a:endParaRPr sz="2800" dirty="0"/>
          </a:p>
        </p:txBody>
      </p:sp>
      <p:sp>
        <p:nvSpPr>
          <p:cNvPr id="136" name="Google Shape;136;p24"/>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6</a:t>
            </a:fld>
            <a:endParaRPr/>
          </a:p>
        </p:txBody>
      </p:sp>
      <p:sp>
        <p:nvSpPr>
          <p:cNvPr id="3" name="TextBox 2">
            <a:extLst>
              <a:ext uri="{FF2B5EF4-FFF2-40B4-BE49-F238E27FC236}">
                <a16:creationId xmlns:a16="http://schemas.microsoft.com/office/drawing/2014/main" id="{4B003BA1-C995-9884-6927-0A5B2D41BAFC}"/>
              </a:ext>
            </a:extLst>
          </p:cNvPr>
          <p:cNvSpPr txBox="1"/>
          <p:nvPr/>
        </p:nvSpPr>
        <p:spPr>
          <a:xfrm>
            <a:off x="250750" y="499514"/>
            <a:ext cx="8153634" cy="1169551"/>
          </a:xfrm>
          <a:prstGeom prst="rect">
            <a:avLst/>
          </a:prstGeom>
          <a:noFill/>
        </p:spPr>
        <p:txBody>
          <a:bodyPr wrap="square">
            <a:spAutoFit/>
          </a:bodyPr>
          <a:lstStyle/>
          <a:p>
            <a:pPr marL="285750" indent="-285750" algn="just">
              <a:buFont typeface="Arial" panose="020B0604020202020204" pitchFamily="34" charset="0"/>
              <a:buChar char="•"/>
            </a:pPr>
            <a:r>
              <a:rPr lang="en-US" dirty="0">
                <a:solidFill>
                  <a:schemeClr val="tx1"/>
                </a:solidFill>
              </a:rPr>
              <a:t>In programming, users may require some specific input data to be generated several numbers of times. Sometimes, it is not enough to only display the data on the console. </a:t>
            </a:r>
          </a:p>
          <a:p>
            <a:pPr marL="285750" indent="-285750" algn="just">
              <a:buFont typeface="Arial" panose="020B0604020202020204" pitchFamily="34" charset="0"/>
              <a:buChar char="•"/>
            </a:pPr>
            <a:r>
              <a:rPr lang="en-US" dirty="0">
                <a:solidFill>
                  <a:schemeClr val="tx1"/>
                </a:solidFill>
              </a:rPr>
              <a:t>The data to be displayed may be very large, and only a limited amount of data can be displayed on the console, and since the memory is volatile, it is impossible to recover the programmatically generated data again and again. </a:t>
            </a:r>
            <a:endParaRPr lang="pt-BR" dirty="0">
              <a:solidFill>
                <a:schemeClr val="tx1"/>
              </a:solidFill>
            </a:endParaRPr>
          </a:p>
        </p:txBody>
      </p:sp>
      <p:sp>
        <p:nvSpPr>
          <p:cNvPr id="5" name="TextBox 4">
            <a:extLst>
              <a:ext uri="{FF2B5EF4-FFF2-40B4-BE49-F238E27FC236}">
                <a16:creationId xmlns:a16="http://schemas.microsoft.com/office/drawing/2014/main" id="{0BC5964E-256D-30A5-177E-948A6429F18B}"/>
              </a:ext>
            </a:extLst>
          </p:cNvPr>
          <p:cNvSpPr txBox="1"/>
          <p:nvPr/>
        </p:nvSpPr>
        <p:spPr>
          <a:xfrm>
            <a:off x="580950" y="1669065"/>
            <a:ext cx="5521676" cy="2031325"/>
          </a:xfrm>
          <a:prstGeom prst="rect">
            <a:avLst/>
          </a:prstGeom>
          <a:noFill/>
        </p:spPr>
        <p:txBody>
          <a:bodyPr wrap="square">
            <a:spAutoFit/>
          </a:bodyPr>
          <a:lstStyle/>
          <a:p>
            <a:pPr algn="just"/>
            <a:r>
              <a:rPr lang="en-IN" dirty="0">
                <a:solidFill>
                  <a:schemeClr val="tx1"/>
                </a:solidFill>
              </a:rPr>
              <a:t>File handling in C enables users to create, update, read, and delete the files stored on the local file system through users C program. The following operations can be performed on a file.</a:t>
            </a:r>
          </a:p>
          <a:p>
            <a:pPr algn="just"/>
            <a:endParaRPr lang="en-IN" dirty="0">
              <a:solidFill>
                <a:schemeClr val="tx1"/>
              </a:solidFill>
            </a:endParaRPr>
          </a:p>
          <a:p>
            <a:pPr marL="285750" indent="-285750" algn="just">
              <a:buFont typeface="Arial" panose="020B0604020202020204" pitchFamily="34" charset="0"/>
              <a:buChar char="•"/>
            </a:pPr>
            <a:r>
              <a:rPr lang="en-IN" dirty="0">
                <a:solidFill>
                  <a:schemeClr val="tx1"/>
                </a:solidFill>
              </a:rPr>
              <a:t>Creation of the new file</a:t>
            </a:r>
          </a:p>
          <a:p>
            <a:pPr marL="285750" indent="-285750" algn="just">
              <a:buFont typeface="Arial" panose="020B0604020202020204" pitchFamily="34" charset="0"/>
              <a:buChar char="•"/>
            </a:pPr>
            <a:r>
              <a:rPr lang="en-IN" dirty="0">
                <a:solidFill>
                  <a:schemeClr val="tx1"/>
                </a:solidFill>
              </a:rPr>
              <a:t>Opening an existing file</a:t>
            </a:r>
          </a:p>
          <a:p>
            <a:pPr marL="285750" indent="-285750" algn="just">
              <a:buFont typeface="Arial" panose="020B0604020202020204" pitchFamily="34" charset="0"/>
              <a:buChar char="•"/>
            </a:pPr>
            <a:r>
              <a:rPr lang="en-IN" dirty="0">
                <a:solidFill>
                  <a:schemeClr val="tx1"/>
                </a:solidFill>
              </a:rPr>
              <a:t>Reading from the file</a:t>
            </a:r>
          </a:p>
          <a:p>
            <a:pPr marL="285750" indent="-285750" algn="just">
              <a:buFont typeface="Arial" panose="020B0604020202020204" pitchFamily="34" charset="0"/>
              <a:buChar char="•"/>
            </a:pPr>
            <a:r>
              <a:rPr lang="en-IN" dirty="0">
                <a:solidFill>
                  <a:schemeClr val="tx1"/>
                </a:solidFill>
              </a:rPr>
              <a:t>Writing to the file</a:t>
            </a:r>
          </a:p>
          <a:p>
            <a:pPr marL="285750" indent="-285750" algn="just">
              <a:buFont typeface="Arial" panose="020B0604020202020204" pitchFamily="34" charset="0"/>
              <a:buChar char="•"/>
            </a:pPr>
            <a:r>
              <a:rPr lang="en-IN" dirty="0">
                <a:solidFill>
                  <a:schemeClr val="tx1"/>
                </a:solidFill>
              </a:rPr>
              <a:t>Deleting the file</a:t>
            </a:r>
          </a:p>
        </p:txBody>
      </p:sp>
      <p:pic>
        <p:nvPicPr>
          <p:cNvPr id="5122" name="Picture 2" descr="C++ File Handling | Sequential file - InfoBrother">
            <a:extLst>
              <a:ext uri="{FF2B5EF4-FFF2-40B4-BE49-F238E27FC236}">
                <a16:creationId xmlns:a16="http://schemas.microsoft.com/office/drawing/2014/main" id="{3A77E2EB-D75B-EC22-6D8D-710FB43A20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9228" y="3103675"/>
            <a:ext cx="4483598" cy="1766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8225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86071" y="0"/>
            <a:ext cx="6943469" cy="396300"/>
          </a:xfrm>
        </p:spPr>
        <p:txBody>
          <a:bodyPr/>
          <a:lstStyle/>
          <a:p>
            <a:pPr algn="ctr"/>
            <a:r>
              <a:rPr lang="en-IN" sz="2400" dirty="0"/>
              <a:t>File Accessing (Operations) - Functions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graphicFrame>
        <p:nvGraphicFramePr>
          <p:cNvPr id="4" name="Table 3">
            <a:extLst>
              <a:ext uri="{FF2B5EF4-FFF2-40B4-BE49-F238E27FC236}">
                <a16:creationId xmlns:a16="http://schemas.microsoft.com/office/drawing/2014/main" id="{2BC5D85B-6164-2069-1D66-B496E1C4AA5E}"/>
              </a:ext>
            </a:extLst>
          </p:cNvPr>
          <p:cNvGraphicFramePr>
            <a:graphicFrameLocks noGrp="1"/>
          </p:cNvGraphicFramePr>
          <p:nvPr>
            <p:extLst>
              <p:ext uri="{D42A27DB-BD31-4B8C-83A1-F6EECF244321}">
                <p14:modId xmlns:p14="http://schemas.microsoft.com/office/powerpoint/2010/main" val="2559202664"/>
              </p:ext>
            </p:extLst>
          </p:nvPr>
        </p:nvGraphicFramePr>
        <p:xfrm>
          <a:off x="288234" y="477077"/>
          <a:ext cx="5724940" cy="3925973"/>
        </p:xfrm>
        <a:graphic>
          <a:graphicData uri="http://schemas.openxmlformats.org/drawingml/2006/table">
            <a:tbl>
              <a:tblPr/>
              <a:tblGrid>
                <a:gridCol w="690804">
                  <a:extLst>
                    <a:ext uri="{9D8B030D-6E8A-4147-A177-3AD203B41FA5}">
                      <a16:colId xmlns:a16="http://schemas.microsoft.com/office/drawing/2014/main" val="4066214632"/>
                    </a:ext>
                  </a:extLst>
                </a:gridCol>
                <a:gridCol w="1239662">
                  <a:extLst>
                    <a:ext uri="{9D8B030D-6E8A-4147-A177-3AD203B41FA5}">
                      <a16:colId xmlns:a16="http://schemas.microsoft.com/office/drawing/2014/main" val="1962712669"/>
                    </a:ext>
                  </a:extLst>
                </a:gridCol>
                <a:gridCol w="3794474">
                  <a:extLst>
                    <a:ext uri="{9D8B030D-6E8A-4147-A177-3AD203B41FA5}">
                      <a16:colId xmlns:a16="http://schemas.microsoft.com/office/drawing/2014/main" val="1265502819"/>
                    </a:ext>
                  </a:extLst>
                </a:gridCol>
              </a:tblGrid>
              <a:tr h="345223">
                <a:tc>
                  <a:txBody>
                    <a:bodyPr/>
                    <a:lstStyle/>
                    <a:p>
                      <a:pPr algn="l" fontAlgn="t"/>
                      <a:r>
                        <a:rPr lang="en-IN" sz="1400" b="1" dirty="0">
                          <a:solidFill>
                            <a:srgbClr val="000000"/>
                          </a:solidFill>
                          <a:effectLst/>
                          <a:latin typeface="Vidaloka" panose="020B0604020202020204" charset="0"/>
                        </a:rPr>
                        <a:t>No.</a:t>
                      </a:r>
                    </a:p>
                  </a:txBody>
                  <a:tcPr marL="70881" marR="70881" marT="70881" marB="70881">
                    <a:lnL w="9525" cap="flat" cmpd="sng" algn="ctr">
                      <a:solidFill>
                        <a:srgbClr val="F0E7FA"/>
                      </a:solidFill>
                      <a:prstDash val="solid"/>
                      <a:round/>
                      <a:headEnd type="none" w="med" len="med"/>
                      <a:tailEnd type="none" w="med" len="med"/>
                    </a:lnL>
                    <a:lnR w="9525" cap="flat" cmpd="sng" algn="ctr">
                      <a:solidFill>
                        <a:srgbClr val="F0E7FA"/>
                      </a:solidFill>
                      <a:prstDash val="solid"/>
                      <a:round/>
                      <a:headEnd type="none" w="med" len="med"/>
                      <a:tailEnd type="none" w="med" len="med"/>
                    </a:lnR>
                    <a:lnT w="9525" cap="flat" cmpd="sng" algn="ctr">
                      <a:solidFill>
                        <a:srgbClr val="F0E7F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b="1" dirty="0">
                          <a:solidFill>
                            <a:srgbClr val="000000"/>
                          </a:solidFill>
                          <a:effectLst/>
                          <a:latin typeface="Vidaloka" panose="020B0604020202020204" charset="0"/>
                        </a:rPr>
                        <a:t>Function</a:t>
                      </a:r>
                    </a:p>
                  </a:txBody>
                  <a:tcPr marL="70881" marR="70881" marT="70881" marB="70881">
                    <a:lnL w="9525" cap="flat" cmpd="sng" algn="ctr">
                      <a:solidFill>
                        <a:srgbClr val="F0E7FA"/>
                      </a:solidFill>
                      <a:prstDash val="solid"/>
                      <a:round/>
                      <a:headEnd type="none" w="med" len="med"/>
                      <a:tailEnd type="none" w="med" len="med"/>
                    </a:lnL>
                    <a:lnR w="9525" cap="flat" cmpd="sng" algn="ctr">
                      <a:solidFill>
                        <a:srgbClr val="F0E7FA"/>
                      </a:solidFill>
                      <a:prstDash val="solid"/>
                      <a:round/>
                      <a:headEnd type="none" w="med" len="med"/>
                      <a:tailEnd type="none" w="med" len="med"/>
                    </a:lnR>
                    <a:lnT w="9525" cap="flat" cmpd="sng" algn="ctr">
                      <a:solidFill>
                        <a:srgbClr val="F0E7F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b="1" dirty="0">
                          <a:solidFill>
                            <a:srgbClr val="000000"/>
                          </a:solidFill>
                          <a:effectLst/>
                          <a:latin typeface="Vidaloka" panose="020B0604020202020204" charset="0"/>
                        </a:rPr>
                        <a:t>Description</a:t>
                      </a:r>
                    </a:p>
                  </a:txBody>
                  <a:tcPr marL="70881" marR="70881" marT="70881" marB="70881">
                    <a:lnL w="9525" cap="flat" cmpd="sng" algn="ctr">
                      <a:solidFill>
                        <a:srgbClr val="F0E7FA"/>
                      </a:solidFill>
                      <a:prstDash val="solid"/>
                      <a:round/>
                      <a:headEnd type="none" w="med" len="med"/>
                      <a:tailEnd type="none" w="med" len="med"/>
                    </a:lnL>
                    <a:lnR w="9525" cap="flat" cmpd="sng" algn="ctr">
                      <a:solidFill>
                        <a:srgbClr val="F0E7FA"/>
                      </a:solidFill>
                      <a:prstDash val="solid"/>
                      <a:round/>
                      <a:headEnd type="none" w="med" len="med"/>
                      <a:tailEnd type="none" w="med" len="med"/>
                    </a:lnR>
                    <a:lnT w="9525" cap="flat" cmpd="sng" algn="ctr">
                      <a:solidFill>
                        <a:srgbClr val="F0E7F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3144477272"/>
                  </a:ext>
                </a:extLst>
              </a:tr>
              <a:tr h="299286">
                <a:tc>
                  <a:txBody>
                    <a:bodyPr/>
                    <a:lstStyle/>
                    <a:p>
                      <a:pPr algn="just" fontAlgn="t"/>
                      <a:r>
                        <a:rPr lang="en-IN" sz="1400">
                          <a:solidFill>
                            <a:srgbClr val="333333"/>
                          </a:solidFill>
                          <a:effectLst/>
                          <a:latin typeface="Vidaloka" panose="020B0604020202020204" charset="0"/>
                        </a:rPr>
                        <a:t>1</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Vidaloka" panose="020B0604020202020204" charset="0"/>
                        </a:rPr>
                        <a:t>fopen()</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dirty="0">
                          <a:solidFill>
                            <a:srgbClr val="333333"/>
                          </a:solidFill>
                          <a:effectLst/>
                          <a:latin typeface="Vidaloka" panose="020B0604020202020204" charset="0"/>
                        </a:rPr>
                        <a:t>opens new or existing file</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483400854"/>
                  </a:ext>
                </a:extLst>
              </a:tr>
              <a:tr h="299286">
                <a:tc>
                  <a:txBody>
                    <a:bodyPr/>
                    <a:lstStyle/>
                    <a:p>
                      <a:pPr algn="just" fontAlgn="t"/>
                      <a:r>
                        <a:rPr lang="en-IN" sz="1400">
                          <a:solidFill>
                            <a:srgbClr val="333333"/>
                          </a:solidFill>
                          <a:effectLst/>
                          <a:latin typeface="Vidaloka" panose="020B0604020202020204" charset="0"/>
                        </a:rPr>
                        <a:t>2</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Vidaloka" panose="020B0604020202020204" charset="0"/>
                        </a:rPr>
                        <a:t>fprintf()</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400">
                          <a:solidFill>
                            <a:srgbClr val="333333"/>
                          </a:solidFill>
                          <a:effectLst/>
                          <a:latin typeface="Vidaloka" panose="020B0604020202020204" charset="0"/>
                        </a:rPr>
                        <a:t>write data into the file</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926725403"/>
                  </a:ext>
                </a:extLst>
              </a:tr>
              <a:tr h="299286">
                <a:tc>
                  <a:txBody>
                    <a:bodyPr/>
                    <a:lstStyle/>
                    <a:p>
                      <a:pPr algn="just" fontAlgn="t"/>
                      <a:r>
                        <a:rPr lang="en-IN" sz="1400">
                          <a:solidFill>
                            <a:srgbClr val="333333"/>
                          </a:solidFill>
                          <a:effectLst/>
                          <a:latin typeface="Vidaloka" panose="020B0604020202020204" charset="0"/>
                        </a:rPr>
                        <a:t>3</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dirty="0" err="1">
                          <a:solidFill>
                            <a:srgbClr val="333333"/>
                          </a:solidFill>
                          <a:effectLst/>
                          <a:latin typeface="Vidaloka" panose="020B0604020202020204" charset="0"/>
                        </a:rPr>
                        <a:t>fscanf</a:t>
                      </a:r>
                      <a:r>
                        <a:rPr lang="en-IN" sz="1400" dirty="0">
                          <a:solidFill>
                            <a:srgbClr val="333333"/>
                          </a:solidFill>
                          <a:effectLst/>
                          <a:latin typeface="Vidaloka" panose="020B0604020202020204" charset="0"/>
                        </a:rPr>
                        <a:t>()</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Vidaloka" panose="020B0604020202020204" charset="0"/>
                        </a:rPr>
                        <a:t>reads data from the file</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127119743"/>
                  </a:ext>
                </a:extLst>
              </a:tr>
              <a:tr h="321475">
                <a:tc>
                  <a:txBody>
                    <a:bodyPr/>
                    <a:lstStyle/>
                    <a:p>
                      <a:pPr algn="just" fontAlgn="t"/>
                      <a:r>
                        <a:rPr lang="en-IN" sz="1400">
                          <a:solidFill>
                            <a:srgbClr val="333333"/>
                          </a:solidFill>
                          <a:effectLst/>
                          <a:latin typeface="Vidaloka" panose="020B0604020202020204" charset="0"/>
                        </a:rPr>
                        <a:t>4</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Vidaloka" panose="020B0604020202020204" charset="0"/>
                        </a:rPr>
                        <a:t>fputc()</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400">
                          <a:solidFill>
                            <a:srgbClr val="333333"/>
                          </a:solidFill>
                          <a:effectLst/>
                          <a:latin typeface="Vidaloka" panose="020B0604020202020204" charset="0"/>
                        </a:rPr>
                        <a:t>writes a character into the file</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743290318"/>
                  </a:ext>
                </a:extLst>
              </a:tr>
              <a:tr h="299286">
                <a:tc>
                  <a:txBody>
                    <a:bodyPr/>
                    <a:lstStyle/>
                    <a:p>
                      <a:pPr algn="just" fontAlgn="t"/>
                      <a:r>
                        <a:rPr lang="en-IN" sz="1400">
                          <a:solidFill>
                            <a:srgbClr val="333333"/>
                          </a:solidFill>
                          <a:effectLst/>
                          <a:latin typeface="Vidaloka" panose="020B0604020202020204" charset="0"/>
                        </a:rPr>
                        <a:t>5</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Vidaloka" panose="020B0604020202020204" charset="0"/>
                        </a:rPr>
                        <a:t>fgetc()</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Vidaloka" panose="020B0604020202020204" charset="0"/>
                        </a:rPr>
                        <a:t>reads a character from file</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546791187"/>
                  </a:ext>
                </a:extLst>
              </a:tr>
              <a:tr h="299286">
                <a:tc>
                  <a:txBody>
                    <a:bodyPr/>
                    <a:lstStyle/>
                    <a:p>
                      <a:pPr algn="just" fontAlgn="t"/>
                      <a:r>
                        <a:rPr lang="en-IN" sz="1400">
                          <a:solidFill>
                            <a:srgbClr val="333333"/>
                          </a:solidFill>
                          <a:effectLst/>
                          <a:latin typeface="Vidaloka" panose="020B0604020202020204" charset="0"/>
                        </a:rPr>
                        <a:t>6</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Vidaloka" panose="020B0604020202020204" charset="0"/>
                        </a:rPr>
                        <a:t>fclose()</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dirty="0">
                          <a:solidFill>
                            <a:srgbClr val="333333"/>
                          </a:solidFill>
                          <a:effectLst/>
                          <a:latin typeface="Vidaloka" panose="020B0604020202020204" charset="0"/>
                        </a:rPr>
                        <a:t>closes the file</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042096235"/>
                  </a:ext>
                </a:extLst>
              </a:tr>
              <a:tr h="336721">
                <a:tc>
                  <a:txBody>
                    <a:bodyPr/>
                    <a:lstStyle/>
                    <a:p>
                      <a:pPr algn="just" fontAlgn="t"/>
                      <a:r>
                        <a:rPr lang="en-IN" sz="1400">
                          <a:solidFill>
                            <a:srgbClr val="333333"/>
                          </a:solidFill>
                          <a:effectLst/>
                          <a:latin typeface="Vidaloka" panose="020B0604020202020204" charset="0"/>
                        </a:rPr>
                        <a:t>7</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Vidaloka" panose="020B0604020202020204" charset="0"/>
                        </a:rPr>
                        <a:t>fseek()</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Vidaloka" panose="020B0604020202020204" charset="0"/>
                        </a:rPr>
                        <a:t>sets the file pointer to given position</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811095955"/>
                  </a:ext>
                </a:extLst>
              </a:tr>
              <a:tr h="299286">
                <a:tc>
                  <a:txBody>
                    <a:bodyPr/>
                    <a:lstStyle/>
                    <a:p>
                      <a:pPr algn="just" fontAlgn="t"/>
                      <a:r>
                        <a:rPr lang="en-IN" sz="1400">
                          <a:solidFill>
                            <a:srgbClr val="333333"/>
                          </a:solidFill>
                          <a:effectLst/>
                          <a:latin typeface="Vidaloka" panose="020B0604020202020204" charset="0"/>
                        </a:rPr>
                        <a:t>8</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Vidaloka" panose="020B0604020202020204" charset="0"/>
                        </a:rPr>
                        <a:t>fputw()</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400">
                          <a:solidFill>
                            <a:srgbClr val="333333"/>
                          </a:solidFill>
                          <a:effectLst/>
                          <a:latin typeface="Vidaloka" panose="020B0604020202020204" charset="0"/>
                        </a:rPr>
                        <a:t>writes an integer to file</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3885322"/>
                  </a:ext>
                </a:extLst>
              </a:tr>
              <a:tr h="299286">
                <a:tc>
                  <a:txBody>
                    <a:bodyPr/>
                    <a:lstStyle/>
                    <a:p>
                      <a:pPr algn="just" fontAlgn="t"/>
                      <a:r>
                        <a:rPr lang="en-IN" sz="1400">
                          <a:solidFill>
                            <a:srgbClr val="333333"/>
                          </a:solidFill>
                          <a:effectLst/>
                          <a:latin typeface="Vidaloka" panose="020B0604020202020204" charset="0"/>
                        </a:rPr>
                        <a:t>9</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Vidaloka" panose="020B0604020202020204" charset="0"/>
                        </a:rPr>
                        <a:t>fgetw()</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Vidaloka" panose="020B0604020202020204" charset="0"/>
                        </a:rPr>
                        <a:t>reads an integer from file</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687403868"/>
                  </a:ext>
                </a:extLst>
              </a:tr>
              <a:tr h="299286">
                <a:tc>
                  <a:txBody>
                    <a:bodyPr/>
                    <a:lstStyle/>
                    <a:p>
                      <a:pPr algn="just" fontAlgn="t"/>
                      <a:r>
                        <a:rPr lang="en-IN" sz="1400">
                          <a:solidFill>
                            <a:srgbClr val="333333"/>
                          </a:solidFill>
                          <a:effectLst/>
                          <a:latin typeface="Vidaloka" panose="020B0604020202020204" charset="0"/>
                        </a:rPr>
                        <a:t>10</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Vidaloka" panose="020B0604020202020204" charset="0"/>
                        </a:rPr>
                        <a:t>ftell()</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Vidaloka" panose="020B0604020202020204" charset="0"/>
                        </a:rPr>
                        <a:t>returns current position</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10713824"/>
                  </a:ext>
                </a:extLst>
              </a:tr>
              <a:tr h="449711">
                <a:tc>
                  <a:txBody>
                    <a:bodyPr/>
                    <a:lstStyle/>
                    <a:p>
                      <a:pPr algn="just" fontAlgn="t"/>
                      <a:r>
                        <a:rPr lang="en-IN" sz="1400">
                          <a:solidFill>
                            <a:srgbClr val="333333"/>
                          </a:solidFill>
                          <a:effectLst/>
                          <a:latin typeface="Vidaloka" panose="020B0604020202020204" charset="0"/>
                        </a:rPr>
                        <a:t>11</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Vidaloka" panose="020B0604020202020204" charset="0"/>
                        </a:rPr>
                        <a:t>rewind()</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dirty="0">
                          <a:solidFill>
                            <a:srgbClr val="333333"/>
                          </a:solidFill>
                          <a:effectLst/>
                          <a:latin typeface="Vidaloka" panose="020B0604020202020204" charset="0"/>
                        </a:rPr>
                        <a:t>sets the file pointer to the beginning of the file</a:t>
                      </a:r>
                    </a:p>
                  </a:txBody>
                  <a:tcPr marL="47254" marR="47254" marT="47254" marB="4725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312198616"/>
                  </a:ext>
                </a:extLst>
              </a:tr>
            </a:tbl>
          </a:graphicData>
        </a:graphic>
      </p:graphicFrame>
    </p:spTree>
    <p:extLst>
      <p:ext uri="{BB962C8B-B14F-4D97-AF65-F5344CB8AC3E}">
        <p14:creationId xmlns:p14="http://schemas.microsoft.com/office/powerpoint/2010/main" val="37490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86071" y="0"/>
            <a:ext cx="6943469" cy="396300"/>
          </a:xfrm>
        </p:spPr>
        <p:txBody>
          <a:bodyPr/>
          <a:lstStyle/>
          <a:p>
            <a:pPr algn="ctr"/>
            <a:r>
              <a:rPr lang="en-IN" sz="2400" dirty="0"/>
              <a:t>File Operation Modes </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pic>
        <p:nvPicPr>
          <p:cNvPr id="5" name="Picture 4">
            <a:extLst>
              <a:ext uri="{FF2B5EF4-FFF2-40B4-BE49-F238E27FC236}">
                <a16:creationId xmlns:a16="http://schemas.microsoft.com/office/drawing/2014/main" id="{3D015030-A960-F23F-1E70-9419F706507C}"/>
              </a:ext>
            </a:extLst>
          </p:cNvPr>
          <p:cNvPicPr>
            <a:picLocks noChangeAspect="1"/>
          </p:cNvPicPr>
          <p:nvPr/>
        </p:nvPicPr>
        <p:blipFill>
          <a:blip r:embed="rId2"/>
          <a:stretch>
            <a:fillRect/>
          </a:stretch>
        </p:blipFill>
        <p:spPr>
          <a:xfrm>
            <a:off x="567514" y="396300"/>
            <a:ext cx="5067973" cy="4573118"/>
          </a:xfrm>
          <a:prstGeom prst="rect">
            <a:avLst/>
          </a:prstGeom>
        </p:spPr>
      </p:pic>
    </p:spTree>
    <p:extLst>
      <p:ext uri="{BB962C8B-B14F-4D97-AF65-F5344CB8AC3E}">
        <p14:creationId xmlns:p14="http://schemas.microsoft.com/office/powerpoint/2010/main" val="825344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86071" y="104690"/>
            <a:ext cx="6943469" cy="396300"/>
          </a:xfrm>
        </p:spPr>
        <p:txBody>
          <a:bodyPr/>
          <a:lstStyle/>
          <a:p>
            <a:pPr algn="ctr"/>
            <a:r>
              <a:rPr lang="en-IN" sz="2400" dirty="0"/>
              <a:t>File Creation</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
        <p:nvSpPr>
          <p:cNvPr id="6" name="TextBox 5">
            <a:extLst>
              <a:ext uri="{FF2B5EF4-FFF2-40B4-BE49-F238E27FC236}">
                <a16:creationId xmlns:a16="http://schemas.microsoft.com/office/drawing/2014/main" id="{FA2EE72D-1446-9377-7770-A34CAB78B6D3}"/>
              </a:ext>
            </a:extLst>
          </p:cNvPr>
          <p:cNvSpPr txBox="1"/>
          <p:nvPr/>
        </p:nvSpPr>
        <p:spPr>
          <a:xfrm>
            <a:off x="414958" y="500990"/>
            <a:ext cx="7218294" cy="2179892"/>
          </a:xfrm>
          <a:prstGeom prst="rect">
            <a:avLst/>
          </a:prstGeom>
          <a:noFill/>
        </p:spPr>
        <p:txBody>
          <a:bodyPr wrap="square">
            <a:spAutoFit/>
          </a:bodyPr>
          <a:lstStyle/>
          <a:p>
            <a:pPr>
              <a:lnSpc>
                <a:spcPct val="200000"/>
              </a:lnSpc>
            </a:pPr>
            <a:r>
              <a:rPr lang="en-US" dirty="0">
                <a:solidFill>
                  <a:schemeClr val="tx1"/>
                </a:solidFill>
              </a:rPr>
              <a:t>The </a:t>
            </a:r>
            <a:r>
              <a:rPr lang="en-US" b="1" dirty="0" err="1">
                <a:solidFill>
                  <a:srgbClr val="FFFF00"/>
                </a:solidFill>
              </a:rPr>
              <a:t>fopen</a:t>
            </a:r>
            <a:r>
              <a:rPr lang="en-US" b="1" dirty="0">
                <a:solidFill>
                  <a:srgbClr val="FFFF00"/>
                </a:solidFill>
              </a:rPr>
              <a:t>() </a:t>
            </a:r>
            <a:r>
              <a:rPr lang="en-US" dirty="0">
                <a:solidFill>
                  <a:schemeClr val="tx1"/>
                </a:solidFill>
              </a:rPr>
              <a:t>function is used to create a new file or open an existing file in C. </a:t>
            </a:r>
          </a:p>
          <a:p>
            <a:pPr>
              <a:lnSpc>
                <a:spcPct val="200000"/>
              </a:lnSpc>
            </a:pPr>
            <a:r>
              <a:rPr lang="en-US" dirty="0">
                <a:solidFill>
                  <a:schemeClr val="tx1"/>
                </a:solidFill>
              </a:rPr>
              <a:t>The </a:t>
            </a:r>
            <a:r>
              <a:rPr lang="en-US" dirty="0" err="1">
                <a:solidFill>
                  <a:schemeClr val="tx1"/>
                </a:solidFill>
              </a:rPr>
              <a:t>fopen</a:t>
            </a:r>
            <a:r>
              <a:rPr lang="en-US" dirty="0">
                <a:solidFill>
                  <a:schemeClr val="tx1"/>
                </a:solidFill>
              </a:rPr>
              <a:t> function is defined in the </a:t>
            </a:r>
            <a:r>
              <a:rPr lang="en-US" b="1" dirty="0" err="1">
                <a:solidFill>
                  <a:srgbClr val="FFFF00"/>
                </a:solidFill>
              </a:rPr>
              <a:t>stdio.h</a:t>
            </a:r>
            <a:r>
              <a:rPr lang="en-US" dirty="0">
                <a:solidFill>
                  <a:schemeClr val="tx1"/>
                </a:solidFill>
              </a:rPr>
              <a:t> header file.</a:t>
            </a:r>
          </a:p>
          <a:p>
            <a:pPr>
              <a:lnSpc>
                <a:spcPct val="200000"/>
              </a:lnSpc>
            </a:pPr>
            <a:r>
              <a:rPr lang="en-US" dirty="0">
                <a:solidFill>
                  <a:schemeClr val="tx1"/>
                </a:solidFill>
              </a:rPr>
              <a:t>The syntax for creation of a new file or opening a file</a:t>
            </a:r>
          </a:p>
          <a:p>
            <a:pPr>
              <a:lnSpc>
                <a:spcPct val="200000"/>
              </a:lnSpc>
            </a:pPr>
            <a:r>
              <a:rPr lang="en-US" dirty="0">
                <a:solidFill>
                  <a:schemeClr val="tx1"/>
                </a:solidFill>
              </a:rPr>
              <a:t>             </a:t>
            </a:r>
            <a:r>
              <a:rPr lang="en-US" b="1" dirty="0">
                <a:solidFill>
                  <a:schemeClr val="accent2"/>
                </a:solidFill>
              </a:rPr>
              <a:t>file = </a:t>
            </a:r>
            <a:r>
              <a:rPr lang="en-US" b="1" dirty="0" err="1">
                <a:solidFill>
                  <a:schemeClr val="accent2"/>
                </a:solidFill>
              </a:rPr>
              <a:t>fopen</a:t>
            </a:r>
            <a:r>
              <a:rPr lang="en-US" b="1" dirty="0">
                <a:solidFill>
                  <a:schemeClr val="accent2"/>
                </a:solidFill>
              </a:rPr>
              <a:t>(</a:t>
            </a:r>
            <a:r>
              <a:rPr lang="en-US" b="1" dirty="0">
                <a:solidFill>
                  <a:schemeClr val="accent1"/>
                </a:solidFill>
              </a:rPr>
              <a:t>“</a:t>
            </a:r>
            <a:r>
              <a:rPr lang="en-US" b="1" dirty="0" err="1">
                <a:solidFill>
                  <a:schemeClr val="accent1"/>
                </a:solidFill>
              </a:rPr>
              <a:t>file_name</a:t>
            </a:r>
            <a:r>
              <a:rPr lang="en-US" b="1" dirty="0">
                <a:solidFill>
                  <a:schemeClr val="accent1"/>
                </a:solidFill>
              </a:rPr>
              <a:t>”</a:t>
            </a:r>
            <a:r>
              <a:rPr lang="en-US" b="1" dirty="0">
                <a:solidFill>
                  <a:schemeClr val="accent2"/>
                </a:solidFill>
              </a:rPr>
              <a:t>, </a:t>
            </a:r>
            <a:r>
              <a:rPr lang="en-US" b="1" dirty="0">
                <a:solidFill>
                  <a:srgbClr val="00B050"/>
                </a:solidFill>
              </a:rPr>
              <a:t>“mode”</a:t>
            </a:r>
            <a:r>
              <a:rPr lang="en-US" b="1" dirty="0">
                <a:solidFill>
                  <a:schemeClr val="accent2"/>
                </a:solidFill>
              </a:rPr>
              <a:t>)</a:t>
            </a:r>
          </a:p>
          <a:p>
            <a:pPr>
              <a:lnSpc>
                <a:spcPct val="200000"/>
              </a:lnSpc>
            </a:pPr>
            <a:r>
              <a:rPr lang="en-US" dirty="0">
                <a:solidFill>
                  <a:schemeClr val="tx1"/>
                </a:solidFill>
              </a:rPr>
              <a:t>This is a common syntax for both opening and creating a file in C</a:t>
            </a:r>
            <a:endParaRPr lang="en-IN" dirty="0">
              <a:solidFill>
                <a:schemeClr val="tx1"/>
              </a:solidFill>
            </a:endParaRPr>
          </a:p>
        </p:txBody>
      </p:sp>
      <p:sp>
        <p:nvSpPr>
          <p:cNvPr id="8" name="TextBox 7">
            <a:extLst>
              <a:ext uri="{FF2B5EF4-FFF2-40B4-BE49-F238E27FC236}">
                <a16:creationId xmlns:a16="http://schemas.microsoft.com/office/drawing/2014/main" id="{B52CA574-B2A2-50CD-83F0-9AD94B4D08B9}"/>
              </a:ext>
            </a:extLst>
          </p:cNvPr>
          <p:cNvSpPr txBox="1"/>
          <p:nvPr/>
        </p:nvSpPr>
        <p:spPr>
          <a:xfrm>
            <a:off x="414958" y="2927387"/>
            <a:ext cx="5548520" cy="1169551"/>
          </a:xfrm>
          <a:prstGeom prst="rect">
            <a:avLst/>
          </a:prstGeom>
          <a:noFill/>
        </p:spPr>
        <p:txBody>
          <a:bodyPr wrap="square">
            <a:spAutoFit/>
          </a:bodyPr>
          <a:lstStyle/>
          <a:p>
            <a:pPr algn="just"/>
            <a:r>
              <a:rPr lang="en-IN" b="1" dirty="0">
                <a:solidFill>
                  <a:schemeClr val="accent1"/>
                </a:solidFill>
              </a:rPr>
              <a:t>“</a:t>
            </a:r>
            <a:r>
              <a:rPr lang="en-IN" b="1" dirty="0" err="1">
                <a:solidFill>
                  <a:schemeClr val="accent1"/>
                </a:solidFill>
              </a:rPr>
              <a:t>file_name</a:t>
            </a:r>
            <a:r>
              <a:rPr lang="en-IN" b="1" dirty="0">
                <a:solidFill>
                  <a:schemeClr val="accent1"/>
                </a:solidFill>
              </a:rPr>
              <a:t>” </a:t>
            </a:r>
            <a:r>
              <a:rPr lang="en-IN" dirty="0">
                <a:solidFill>
                  <a:schemeClr val="tx1"/>
                </a:solidFill>
              </a:rPr>
              <a:t>− It is a string that specifies the name of the file that is to be opened or created using the </a:t>
            </a:r>
            <a:r>
              <a:rPr lang="en-IN" dirty="0" err="1">
                <a:solidFill>
                  <a:schemeClr val="tx1"/>
                </a:solidFill>
              </a:rPr>
              <a:t>fopen</a:t>
            </a:r>
            <a:r>
              <a:rPr lang="en-IN" dirty="0">
                <a:solidFill>
                  <a:schemeClr val="tx1"/>
                </a:solidFill>
              </a:rPr>
              <a:t> method. </a:t>
            </a:r>
          </a:p>
          <a:p>
            <a:pPr algn="just"/>
            <a:endParaRPr lang="en-IN" dirty="0">
              <a:solidFill>
                <a:schemeClr val="tx1"/>
              </a:solidFill>
            </a:endParaRPr>
          </a:p>
          <a:p>
            <a:pPr algn="just"/>
            <a:r>
              <a:rPr lang="en-IN" b="1" dirty="0">
                <a:solidFill>
                  <a:srgbClr val="00B050"/>
                </a:solidFill>
              </a:rPr>
              <a:t>mode:</a:t>
            </a:r>
            <a:r>
              <a:rPr lang="en-IN" dirty="0">
                <a:solidFill>
                  <a:schemeClr val="tx1"/>
                </a:solidFill>
              </a:rPr>
              <a:t> It is a string (usually a single character ) that specifies the mode in which the file is to be opened.</a:t>
            </a:r>
          </a:p>
        </p:txBody>
      </p:sp>
    </p:spTree>
    <p:extLst>
      <p:ext uri="{BB962C8B-B14F-4D97-AF65-F5344CB8AC3E}">
        <p14:creationId xmlns:p14="http://schemas.microsoft.com/office/powerpoint/2010/main" val="3094068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86071" y="89452"/>
            <a:ext cx="6943469" cy="396300"/>
          </a:xfrm>
        </p:spPr>
        <p:txBody>
          <a:bodyPr/>
          <a:lstStyle/>
          <a:p>
            <a:pPr algn="ctr"/>
            <a:r>
              <a:rPr lang="en-IN" sz="2400" dirty="0" err="1"/>
              <a:t>fopen</a:t>
            </a:r>
            <a:r>
              <a:rPr lang="en-IN" sz="2400" dirty="0"/>
              <a:t>() – File Open</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
        <p:nvSpPr>
          <p:cNvPr id="6" name="TextBox 5">
            <a:extLst>
              <a:ext uri="{FF2B5EF4-FFF2-40B4-BE49-F238E27FC236}">
                <a16:creationId xmlns:a16="http://schemas.microsoft.com/office/drawing/2014/main" id="{FA2EE72D-1446-9377-7770-A34CAB78B6D3}"/>
              </a:ext>
            </a:extLst>
          </p:cNvPr>
          <p:cNvSpPr txBox="1"/>
          <p:nvPr/>
        </p:nvSpPr>
        <p:spPr>
          <a:xfrm>
            <a:off x="414958" y="778206"/>
            <a:ext cx="7218294" cy="2246769"/>
          </a:xfrm>
          <a:prstGeom prst="rect">
            <a:avLst/>
          </a:prstGeom>
          <a:noFill/>
        </p:spPr>
        <p:txBody>
          <a:bodyPr wrap="square">
            <a:spAutoFit/>
          </a:bodyPr>
          <a:lstStyle/>
          <a:p>
            <a:pPr algn="just"/>
            <a:r>
              <a:rPr lang="en-IN" dirty="0">
                <a:solidFill>
                  <a:schemeClr val="tx1"/>
                </a:solidFill>
              </a:rPr>
              <a:t>We must open a file before it can be read, write, or update. The </a:t>
            </a:r>
            <a:r>
              <a:rPr lang="en-IN" dirty="0" err="1">
                <a:solidFill>
                  <a:schemeClr val="tx1"/>
                </a:solidFill>
              </a:rPr>
              <a:t>fopen</a:t>
            </a:r>
            <a:r>
              <a:rPr lang="en-IN" dirty="0">
                <a:solidFill>
                  <a:schemeClr val="tx1"/>
                </a:solidFill>
              </a:rPr>
              <a:t>() function is used to open a file. The syntax of the </a:t>
            </a:r>
            <a:r>
              <a:rPr lang="en-IN" dirty="0" err="1">
                <a:solidFill>
                  <a:schemeClr val="tx1"/>
                </a:solidFill>
              </a:rPr>
              <a:t>fopen</a:t>
            </a:r>
            <a:r>
              <a:rPr lang="en-IN" dirty="0">
                <a:solidFill>
                  <a:schemeClr val="tx1"/>
                </a:solidFill>
              </a:rPr>
              <a:t>() is given below.</a:t>
            </a:r>
          </a:p>
          <a:p>
            <a:pPr algn="just"/>
            <a:endParaRPr lang="en-IN" dirty="0">
              <a:solidFill>
                <a:schemeClr val="tx1"/>
              </a:solidFill>
            </a:endParaRPr>
          </a:p>
          <a:p>
            <a:pPr algn="just"/>
            <a:r>
              <a:rPr lang="en-IN" dirty="0">
                <a:solidFill>
                  <a:schemeClr val="tx1"/>
                </a:solidFill>
              </a:rPr>
              <a:t>FILE *</a:t>
            </a:r>
            <a:r>
              <a:rPr lang="en-IN" dirty="0" err="1">
                <a:solidFill>
                  <a:schemeClr val="tx1"/>
                </a:solidFill>
              </a:rPr>
              <a:t>fopen</a:t>
            </a:r>
            <a:r>
              <a:rPr lang="en-IN" dirty="0">
                <a:solidFill>
                  <a:schemeClr val="tx1"/>
                </a:solidFill>
              </a:rPr>
              <a:t>( </a:t>
            </a:r>
            <a:r>
              <a:rPr lang="en-IN" dirty="0" err="1">
                <a:solidFill>
                  <a:schemeClr val="tx1"/>
                </a:solidFill>
              </a:rPr>
              <a:t>const</a:t>
            </a:r>
            <a:r>
              <a:rPr lang="en-IN" dirty="0">
                <a:solidFill>
                  <a:schemeClr val="tx1"/>
                </a:solidFill>
              </a:rPr>
              <a:t> char * filename, </a:t>
            </a:r>
            <a:r>
              <a:rPr lang="en-IN" dirty="0" err="1">
                <a:solidFill>
                  <a:schemeClr val="tx1"/>
                </a:solidFill>
              </a:rPr>
              <a:t>const</a:t>
            </a:r>
            <a:r>
              <a:rPr lang="en-IN" dirty="0">
                <a:solidFill>
                  <a:schemeClr val="tx1"/>
                </a:solidFill>
              </a:rPr>
              <a:t> char * mode );  </a:t>
            </a:r>
          </a:p>
          <a:p>
            <a:pPr algn="just"/>
            <a:r>
              <a:rPr lang="en-IN" dirty="0">
                <a:solidFill>
                  <a:schemeClr val="tx1"/>
                </a:solidFill>
              </a:rPr>
              <a:t>The </a:t>
            </a:r>
            <a:r>
              <a:rPr lang="en-IN" dirty="0" err="1">
                <a:solidFill>
                  <a:schemeClr val="tx1"/>
                </a:solidFill>
              </a:rPr>
              <a:t>fopen</a:t>
            </a:r>
            <a:r>
              <a:rPr lang="en-IN" dirty="0">
                <a:solidFill>
                  <a:schemeClr val="tx1"/>
                </a:solidFill>
              </a:rPr>
              <a:t>() function accepts two parameters:</a:t>
            </a:r>
          </a:p>
          <a:p>
            <a:pPr algn="just"/>
            <a:endParaRPr lang="en-IN" dirty="0">
              <a:solidFill>
                <a:schemeClr val="tx1"/>
              </a:solidFill>
            </a:endParaRPr>
          </a:p>
          <a:p>
            <a:pPr algn="just"/>
            <a:r>
              <a:rPr lang="en-IN" dirty="0">
                <a:solidFill>
                  <a:schemeClr val="tx1"/>
                </a:solidFill>
              </a:rPr>
              <a:t>The file name (string). If the file is stored at some specific location, then we must mention the path at which the file is stored. For example, a file name can be like "c://some_folder/some_file.ext".</a:t>
            </a:r>
          </a:p>
          <a:p>
            <a:pPr algn="just"/>
            <a:r>
              <a:rPr lang="en-IN" dirty="0">
                <a:solidFill>
                  <a:schemeClr val="tx1"/>
                </a:solidFill>
              </a:rPr>
              <a:t>The mode in which the file is to be opened. It is a string.</a:t>
            </a:r>
          </a:p>
        </p:txBody>
      </p:sp>
    </p:spTree>
    <p:extLst>
      <p:ext uri="{BB962C8B-B14F-4D97-AF65-F5344CB8AC3E}">
        <p14:creationId xmlns:p14="http://schemas.microsoft.com/office/powerpoint/2010/main" val="1211026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139148"/>
            <a:ext cx="6943469" cy="396300"/>
          </a:xfrm>
        </p:spPr>
        <p:txBody>
          <a:bodyPr/>
          <a:lstStyle/>
          <a:p>
            <a:pPr algn="ctr"/>
            <a:r>
              <a:rPr lang="en-IN" sz="2400" dirty="0" err="1"/>
              <a:t>getc</a:t>
            </a:r>
            <a:r>
              <a:rPr lang="en-IN" sz="2400" dirty="0"/>
              <a:t>() – Function in File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
        <p:nvSpPr>
          <p:cNvPr id="6" name="TextBox 5">
            <a:extLst>
              <a:ext uri="{FF2B5EF4-FFF2-40B4-BE49-F238E27FC236}">
                <a16:creationId xmlns:a16="http://schemas.microsoft.com/office/drawing/2014/main" id="{FA2EE72D-1446-9377-7770-A34CAB78B6D3}"/>
              </a:ext>
            </a:extLst>
          </p:cNvPr>
          <p:cNvSpPr txBox="1"/>
          <p:nvPr/>
        </p:nvSpPr>
        <p:spPr>
          <a:xfrm>
            <a:off x="414958" y="827902"/>
            <a:ext cx="7218294" cy="2677656"/>
          </a:xfrm>
          <a:prstGeom prst="rect">
            <a:avLst/>
          </a:prstGeom>
          <a:noFill/>
        </p:spPr>
        <p:txBody>
          <a:bodyPr wrap="square">
            <a:spAutoFit/>
          </a:bodyPr>
          <a:lstStyle/>
          <a:p>
            <a:r>
              <a:rPr lang="en-US" dirty="0" err="1">
                <a:solidFill>
                  <a:schemeClr val="tx1"/>
                </a:solidFill>
              </a:rPr>
              <a:t>getc</a:t>
            </a:r>
            <a:r>
              <a:rPr lang="en-US" dirty="0">
                <a:solidFill>
                  <a:schemeClr val="tx1"/>
                </a:solidFill>
              </a:rPr>
              <a:t>( ) function is used to read a character from file</a:t>
            </a:r>
          </a:p>
          <a:p>
            <a:endParaRPr lang="en-US" dirty="0">
              <a:solidFill>
                <a:schemeClr val="tx1"/>
              </a:solidFill>
            </a:endParaRPr>
          </a:p>
          <a:p>
            <a:r>
              <a:rPr lang="en-US" dirty="0">
                <a:solidFill>
                  <a:schemeClr val="tx1"/>
                </a:solidFill>
              </a:rPr>
              <a:t>The syntax for </a:t>
            </a:r>
            <a:r>
              <a:rPr lang="en-US" dirty="0" err="1">
                <a:solidFill>
                  <a:schemeClr val="tx1"/>
                </a:solidFill>
              </a:rPr>
              <a:t>getc</a:t>
            </a:r>
            <a:r>
              <a:rPr lang="en-US" dirty="0">
                <a:solidFill>
                  <a:schemeClr val="tx1"/>
                </a:solidFill>
              </a:rPr>
              <a:t>() function is as follows −</a:t>
            </a:r>
          </a:p>
          <a:p>
            <a:endParaRPr lang="en-US" dirty="0">
              <a:solidFill>
                <a:schemeClr val="tx1"/>
              </a:solidFill>
            </a:endParaRPr>
          </a:p>
          <a:p>
            <a:r>
              <a:rPr lang="en-US" dirty="0">
                <a:solidFill>
                  <a:schemeClr val="tx1"/>
                </a:solidFill>
              </a:rPr>
              <a:t>             </a:t>
            </a:r>
            <a:r>
              <a:rPr lang="en-US" b="1" dirty="0">
                <a:solidFill>
                  <a:srgbClr val="FFFF00"/>
                </a:solidFill>
              </a:rPr>
              <a:t>char </a:t>
            </a:r>
            <a:r>
              <a:rPr lang="en-US" b="1" dirty="0" err="1">
                <a:solidFill>
                  <a:srgbClr val="FFFF00"/>
                </a:solidFill>
              </a:rPr>
              <a:t>getc</a:t>
            </a:r>
            <a:r>
              <a:rPr lang="en-US" b="1" dirty="0">
                <a:solidFill>
                  <a:srgbClr val="FFFF00"/>
                </a:solidFill>
              </a:rPr>
              <a:t> (FILE *</a:t>
            </a:r>
            <a:r>
              <a:rPr lang="en-US" b="1" dirty="0" err="1">
                <a:solidFill>
                  <a:srgbClr val="FFFF00"/>
                </a:solidFill>
              </a:rPr>
              <a:t>fp</a:t>
            </a:r>
            <a:r>
              <a:rPr lang="en-US" b="1" dirty="0">
                <a:solidFill>
                  <a:srgbClr val="FFFF00"/>
                </a:solidFill>
              </a:rPr>
              <a:t>);</a:t>
            </a:r>
          </a:p>
          <a:p>
            <a:endParaRPr lang="en-US" dirty="0">
              <a:solidFill>
                <a:schemeClr val="tx1"/>
              </a:solidFill>
            </a:endParaRPr>
          </a:p>
          <a:p>
            <a:r>
              <a:rPr lang="en-US" dirty="0">
                <a:solidFill>
                  <a:schemeClr val="tx1"/>
                </a:solidFill>
              </a:rPr>
              <a:t>For example,</a:t>
            </a:r>
          </a:p>
          <a:p>
            <a:endParaRPr lang="en-US" dirty="0">
              <a:solidFill>
                <a:schemeClr val="tx1"/>
              </a:solidFill>
            </a:endParaRPr>
          </a:p>
          <a:p>
            <a:r>
              <a:rPr lang="en-US" dirty="0">
                <a:solidFill>
                  <a:schemeClr val="tx1"/>
                </a:solidFill>
              </a:rPr>
              <a:t>           FILE *</a:t>
            </a:r>
            <a:r>
              <a:rPr lang="en-US" dirty="0" err="1">
                <a:solidFill>
                  <a:schemeClr val="tx1"/>
                </a:solidFill>
              </a:rPr>
              <a:t>fp</a:t>
            </a:r>
            <a:r>
              <a:rPr lang="en-US" dirty="0">
                <a:solidFill>
                  <a:schemeClr val="tx1"/>
                </a:solidFill>
              </a:rPr>
              <a:t>;</a:t>
            </a:r>
          </a:p>
          <a:p>
            <a:r>
              <a:rPr lang="en-US" dirty="0">
                <a:solidFill>
                  <a:schemeClr val="tx1"/>
                </a:solidFill>
              </a:rPr>
              <a:t>           char </a:t>
            </a:r>
            <a:r>
              <a:rPr lang="en-US" dirty="0" err="1">
                <a:solidFill>
                  <a:schemeClr val="tx1"/>
                </a:solidFill>
              </a:rPr>
              <a:t>ch</a:t>
            </a:r>
            <a:r>
              <a:rPr lang="en-US" dirty="0">
                <a:solidFill>
                  <a:schemeClr val="tx1"/>
                </a:solidFill>
              </a:rPr>
              <a:t>;</a:t>
            </a:r>
          </a:p>
          <a:p>
            <a:r>
              <a:rPr lang="en-US" dirty="0">
                <a:solidFill>
                  <a:schemeClr val="tx1"/>
                </a:solidFill>
              </a:rPr>
              <a:t>           </a:t>
            </a:r>
            <a:r>
              <a:rPr lang="en-US" dirty="0" err="1">
                <a:solidFill>
                  <a:schemeClr val="tx1"/>
                </a:solidFill>
              </a:rPr>
              <a:t>ch</a:t>
            </a:r>
            <a:r>
              <a:rPr lang="en-US" dirty="0">
                <a:solidFill>
                  <a:schemeClr val="tx1"/>
                </a:solidFill>
              </a:rPr>
              <a:t> = </a:t>
            </a:r>
            <a:r>
              <a:rPr lang="en-US" dirty="0" err="1">
                <a:solidFill>
                  <a:schemeClr val="tx1"/>
                </a:solidFill>
              </a:rPr>
              <a:t>getc</a:t>
            </a:r>
            <a:r>
              <a:rPr lang="en-US" dirty="0">
                <a:solidFill>
                  <a:schemeClr val="tx1"/>
                </a:solidFill>
              </a:rPr>
              <a:t>(</a:t>
            </a:r>
            <a:r>
              <a:rPr lang="en-US" dirty="0" err="1">
                <a:solidFill>
                  <a:schemeClr val="tx1"/>
                </a:solidFill>
              </a:rPr>
              <a:t>fp</a:t>
            </a:r>
            <a:r>
              <a:rPr lang="en-US" dirty="0">
                <a:solidFill>
                  <a:schemeClr val="tx1"/>
                </a:solidFill>
              </a:rPr>
              <a:t>);</a:t>
            </a:r>
          </a:p>
          <a:p>
            <a:endParaRPr lang="en-US" dirty="0">
              <a:solidFill>
                <a:schemeClr val="tx1"/>
              </a:solidFill>
            </a:endParaRPr>
          </a:p>
        </p:txBody>
      </p:sp>
      <p:pic>
        <p:nvPicPr>
          <p:cNvPr id="3074" name="Picture 2">
            <a:extLst>
              <a:ext uri="{FF2B5EF4-FFF2-40B4-BE49-F238E27FC236}">
                <a16:creationId xmlns:a16="http://schemas.microsoft.com/office/drawing/2014/main" id="{1EEC0899-7666-8F14-4A41-2932ACBE97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916" y="3499402"/>
            <a:ext cx="5715000" cy="1504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5711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139148"/>
            <a:ext cx="6943469" cy="396300"/>
          </a:xfrm>
        </p:spPr>
        <p:txBody>
          <a:bodyPr/>
          <a:lstStyle/>
          <a:p>
            <a:pPr algn="ctr"/>
            <a:r>
              <a:rPr lang="en-IN" sz="2400" dirty="0" err="1"/>
              <a:t>putc</a:t>
            </a:r>
            <a:r>
              <a:rPr lang="en-IN" sz="2400" dirty="0"/>
              <a:t>() – Function in File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
        <p:nvSpPr>
          <p:cNvPr id="6" name="TextBox 5">
            <a:extLst>
              <a:ext uri="{FF2B5EF4-FFF2-40B4-BE49-F238E27FC236}">
                <a16:creationId xmlns:a16="http://schemas.microsoft.com/office/drawing/2014/main" id="{FA2EE72D-1446-9377-7770-A34CAB78B6D3}"/>
              </a:ext>
            </a:extLst>
          </p:cNvPr>
          <p:cNvSpPr txBox="1"/>
          <p:nvPr/>
        </p:nvSpPr>
        <p:spPr>
          <a:xfrm>
            <a:off x="236053" y="678815"/>
            <a:ext cx="7218294" cy="2462213"/>
          </a:xfrm>
          <a:prstGeom prst="rect">
            <a:avLst/>
          </a:prstGeom>
          <a:noFill/>
        </p:spPr>
        <p:txBody>
          <a:bodyPr wrap="square">
            <a:spAutoFit/>
          </a:bodyPr>
          <a:lstStyle/>
          <a:p>
            <a:r>
              <a:rPr lang="en-US" dirty="0" err="1">
                <a:solidFill>
                  <a:schemeClr val="tx1"/>
                </a:solidFill>
              </a:rPr>
              <a:t>putc</a:t>
            </a:r>
            <a:r>
              <a:rPr lang="en-US" dirty="0">
                <a:solidFill>
                  <a:schemeClr val="tx1"/>
                </a:solidFill>
              </a:rPr>
              <a:t>( ) function is used for writing a character into a file.</a:t>
            </a:r>
          </a:p>
          <a:p>
            <a:endParaRPr lang="en-US" dirty="0">
              <a:solidFill>
                <a:schemeClr val="tx1"/>
              </a:solidFill>
            </a:endParaRPr>
          </a:p>
          <a:p>
            <a:r>
              <a:rPr lang="en-US" dirty="0">
                <a:solidFill>
                  <a:schemeClr val="tx1"/>
                </a:solidFill>
              </a:rPr>
              <a:t>The syntax for </a:t>
            </a:r>
            <a:r>
              <a:rPr lang="en-US" dirty="0" err="1">
                <a:solidFill>
                  <a:schemeClr val="tx1"/>
                </a:solidFill>
              </a:rPr>
              <a:t>putc</a:t>
            </a:r>
            <a:r>
              <a:rPr lang="en-US" dirty="0">
                <a:solidFill>
                  <a:schemeClr val="tx1"/>
                </a:solidFill>
              </a:rPr>
              <a:t>() function is as follows −</a:t>
            </a:r>
          </a:p>
          <a:p>
            <a:endParaRPr lang="en-US" dirty="0">
              <a:solidFill>
                <a:schemeClr val="tx1"/>
              </a:solidFill>
            </a:endParaRPr>
          </a:p>
          <a:p>
            <a:r>
              <a:rPr lang="en-US" b="1" dirty="0" err="1">
                <a:solidFill>
                  <a:srgbClr val="FFFF00"/>
                </a:solidFill>
              </a:rPr>
              <a:t>putc</a:t>
            </a:r>
            <a:r>
              <a:rPr lang="en-US" b="1" dirty="0">
                <a:solidFill>
                  <a:srgbClr val="FFFF00"/>
                </a:solidFill>
              </a:rPr>
              <a:t> (char </a:t>
            </a:r>
            <a:r>
              <a:rPr lang="en-US" b="1" dirty="0" err="1">
                <a:solidFill>
                  <a:srgbClr val="FFFF00"/>
                </a:solidFill>
              </a:rPr>
              <a:t>ch</a:t>
            </a:r>
            <a:r>
              <a:rPr lang="en-US" b="1" dirty="0">
                <a:solidFill>
                  <a:srgbClr val="FFFF00"/>
                </a:solidFill>
              </a:rPr>
              <a:t>, FILE *</a:t>
            </a:r>
            <a:r>
              <a:rPr lang="en-US" b="1" dirty="0" err="1">
                <a:solidFill>
                  <a:srgbClr val="FFFF00"/>
                </a:solidFill>
              </a:rPr>
              <a:t>fp</a:t>
            </a:r>
            <a:r>
              <a:rPr lang="en-US" b="1" dirty="0">
                <a:solidFill>
                  <a:srgbClr val="FFFF00"/>
                </a:solidFill>
              </a:rPr>
              <a:t>);</a:t>
            </a:r>
          </a:p>
          <a:p>
            <a:endParaRPr lang="en-US" dirty="0">
              <a:solidFill>
                <a:schemeClr val="tx1"/>
              </a:solidFill>
            </a:endParaRPr>
          </a:p>
          <a:p>
            <a:r>
              <a:rPr lang="en-US" dirty="0">
                <a:solidFill>
                  <a:schemeClr val="tx1"/>
                </a:solidFill>
              </a:rPr>
              <a:t>For example,</a:t>
            </a:r>
          </a:p>
          <a:p>
            <a:endParaRPr lang="en-US" dirty="0">
              <a:solidFill>
                <a:schemeClr val="tx1"/>
              </a:solidFill>
            </a:endParaRPr>
          </a:p>
          <a:p>
            <a:r>
              <a:rPr lang="en-US" dirty="0">
                <a:solidFill>
                  <a:schemeClr val="tx1"/>
                </a:solidFill>
              </a:rPr>
              <a:t>               FILE *</a:t>
            </a:r>
            <a:r>
              <a:rPr lang="en-US" dirty="0" err="1">
                <a:solidFill>
                  <a:schemeClr val="tx1"/>
                </a:solidFill>
              </a:rPr>
              <a:t>fp</a:t>
            </a:r>
            <a:r>
              <a:rPr lang="en-US" dirty="0">
                <a:solidFill>
                  <a:schemeClr val="tx1"/>
                </a:solidFill>
              </a:rPr>
              <a:t>;</a:t>
            </a:r>
          </a:p>
          <a:p>
            <a:r>
              <a:rPr lang="en-US" dirty="0">
                <a:solidFill>
                  <a:schemeClr val="tx1"/>
                </a:solidFill>
              </a:rPr>
              <a:t>               char </a:t>
            </a:r>
            <a:r>
              <a:rPr lang="en-US" dirty="0" err="1">
                <a:solidFill>
                  <a:schemeClr val="tx1"/>
                </a:solidFill>
              </a:rPr>
              <a:t>ch</a:t>
            </a:r>
            <a:r>
              <a:rPr lang="en-US" dirty="0">
                <a:solidFill>
                  <a:schemeClr val="tx1"/>
                </a:solidFill>
              </a:rPr>
              <a:t>;</a:t>
            </a:r>
          </a:p>
          <a:p>
            <a:r>
              <a:rPr lang="en-US" dirty="0">
                <a:solidFill>
                  <a:schemeClr val="tx1"/>
                </a:solidFill>
              </a:rPr>
              <a:t>               </a:t>
            </a:r>
            <a:r>
              <a:rPr lang="en-US" dirty="0" err="1">
                <a:solidFill>
                  <a:schemeClr val="tx1"/>
                </a:solidFill>
              </a:rPr>
              <a:t>putc</a:t>
            </a:r>
            <a:r>
              <a:rPr lang="en-US" dirty="0">
                <a:solidFill>
                  <a:schemeClr val="tx1"/>
                </a:solidFill>
              </a:rPr>
              <a:t>(</a:t>
            </a:r>
            <a:r>
              <a:rPr lang="en-US" dirty="0" err="1">
                <a:solidFill>
                  <a:schemeClr val="tx1"/>
                </a:solidFill>
              </a:rPr>
              <a:t>ch</a:t>
            </a:r>
            <a:r>
              <a:rPr lang="en-US" dirty="0">
                <a:solidFill>
                  <a:schemeClr val="tx1"/>
                </a:solidFill>
              </a:rPr>
              <a:t>, </a:t>
            </a:r>
            <a:r>
              <a:rPr lang="en-US" dirty="0" err="1">
                <a:solidFill>
                  <a:schemeClr val="tx1"/>
                </a:solidFill>
              </a:rPr>
              <a:t>fp</a:t>
            </a:r>
            <a:r>
              <a:rPr lang="en-US" dirty="0">
                <a:solidFill>
                  <a:schemeClr val="tx1"/>
                </a:solidFill>
              </a:rPr>
              <a:t>);</a:t>
            </a:r>
          </a:p>
        </p:txBody>
      </p:sp>
      <p:sp>
        <p:nvSpPr>
          <p:cNvPr id="5" name="TextBox 4">
            <a:extLst>
              <a:ext uri="{FF2B5EF4-FFF2-40B4-BE49-F238E27FC236}">
                <a16:creationId xmlns:a16="http://schemas.microsoft.com/office/drawing/2014/main" id="{247F073F-704D-660F-5BFB-72452759C820}"/>
              </a:ext>
            </a:extLst>
          </p:cNvPr>
          <p:cNvSpPr txBox="1"/>
          <p:nvPr/>
        </p:nvSpPr>
        <p:spPr>
          <a:xfrm>
            <a:off x="3000374" y="1722687"/>
            <a:ext cx="3143250" cy="2246769"/>
          </a:xfrm>
          <a:prstGeom prst="rect">
            <a:avLst/>
          </a:prstGeom>
          <a:noFill/>
        </p:spPr>
        <p:txBody>
          <a:bodyPr wrap="square">
            <a:spAutoFit/>
          </a:bodyPr>
          <a:lstStyle/>
          <a:p>
            <a:r>
              <a:rPr lang="en-IN" b="1" dirty="0">
                <a:solidFill>
                  <a:srgbClr val="00B050"/>
                </a:solidFill>
              </a:rPr>
              <a:t>Example</a:t>
            </a:r>
          </a:p>
          <a:p>
            <a:r>
              <a:rPr lang="en-IN" dirty="0">
                <a:solidFill>
                  <a:schemeClr val="tx1"/>
                </a:solidFill>
              </a:rPr>
              <a:t>#include&lt;stdio.h&gt;</a:t>
            </a:r>
          </a:p>
          <a:p>
            <a:r>
              <a:rPr lang="en-IN" dirty="0">
                <a:solidFill>
                  <a:schemeClr val="tx1"/>
                </a:solidFill>
              </a:rPr>
              <a:t>void main () </a:t>
            </a:r>
          </a:p>
          <a:p>
            <a:r>
              <a:rPr lang="en-IN" dirty="0">
                <a:solidFill>
                  <a:schemeClr val="tx1"/>
                </a:solidFill>
              </a:rPr>
              <a:t>{</a:t>
            </a:r>
          </a:p>
          <a:p>
            <a:r>
              <a:rPr lang="en-IN" dirty="0">
                <a:solidFill>
                  <a:schemeClr val="tx1"/>
                </a:solidFill>
              </a:rPr>
              <a:t>   char c;</a:t>
            </a:r>
          </a:p>
          <a:p>
            <a:r>
              <a:rPr lang="en-IN" dirty="0">
                <a:solidFill>
                  <a:schemeClr val="tx1"/>
                </a:solidFill>
              </a:rPr>
              <a:t>   </a:t>
            </a:r>
            <a:r>
              <a:rPr lang="en-IN" dirty="0" err="1">
                <a:solidFill>
                  <a:schemeClr val="tx1"/>
                </a:solidFill>
              </a:rPr>
              <a:t>printf</a:t>
            </a:r>
            <a:r>
              <a:rPr lang="en-IN" dirty="0">
                <a:solidFill>
                  <a:schemeClr val="tx1"/>
                </a:solidFill>
              </a:rPr>
              <a:t>("Enter character: ");</a:t>
            </a:r>
          </a:p>
          <a:p>
            <a:r>
              <a:rPr lang="en-IN" dirty="0">
                <a:solidFill>
                  <a:schemeClr val="tx1"/>
                </a:solidFill>
              </a:rPr>
              <a:t>   c = </a:t>
            </a:r>
            <a:r>
              <a:rPr lang="en-IN" dirty="0" err="1">
                <a:solidFill>
                  <a:schemeClr val="tx1"/>
                </a:solidFill>
              </a:rPr>
              <a:t>getc</a:t>
            </a:r>
            <a:r>
              <a:rPr lang="en-IN" dirty="0">
                <a:solidFill>
                  <a:schemeClr val="tx1"/>
                </a:solidFill>
              </a:rPr>
              <a:t>(stdin);</a:t>
            </a:r>
          </a:p>
          <a:p>
            <a:r>
              <a:rPr lang="en-IN" dirty="0">
                <a:solidFill>
                  <a:schemeClr val="tx1"/>
                </a:solidFill>
              </a:rPr>
              <a:t>   </a:t>
            </a:r>
            <a:r>
              <a:rPr lang="en-IN" dirty="0" err="1">
                <a:solidFill>
                  <a:schemeClr val="tx1"/>
                </a:solidFill>
              </a:rPr>
              <a:t>printf</a:t>
            </a:r>
            <a:r>
              <a:rPr lang="en-IN" dirty="0">
                <a:solidFill>
                  <a:schemeClr val="tx1"/>
                </a:solidFill>
              </a:rPr>
              <a:t>("Character entered: ");</a:t>
            </a:r>
          </a:p>
          <a:p>
            <a:r>
              <a:rPr lang="en-IN" dirty="0">
                <a:solidFill>
                  <a:schemeClr val="tx1"/>
                </a:solidFill>
              </a:rPr>
              <a:t>   </a:t>
            </a:r>
            <a:r>
              <a:rPr lang="en-IN" dirty="0" err="1">
                <a:solidFill>
                  <a:schemeClr val="tx1"/>
                </a:solidFill>
              </a:rPr>
              <a:t>putc</a:t>
            </a:r>
            <a:r>
              <a:rPr lang="en-IN" dirty="0">
                <a:solidFill>
                  <a:schemeClr val="tx1"/>
                </a:solidFill>
              </a:rPr>
              <a:t>(c, </a:t>
            </a:r>
            <a:r>
              <a:rPr lang="en-IN" dirty="0" err="1">
                <a:solidFill>
                  <a:schemeClr val="tx1"/>
                </a:solidFill>
              </a:rPr>
              <a:t>stdout</a:t>
            </a:r>
            <a:r>
              <a:rPr lang="en-IN" dirty="0">
                <a:solidFill>
                  <a:schemeClr val="tx1"/>
                </a:solidFill>
              </a:rPr>
              <a:t>);</a:t>
            </a:r>
          </a:p>
          <a:p>
            <a:r>
              <a:rPr lang="en-IN" dirty="0">
                <a:solidFill>
                  <a:schemeClr val="tx1"/>
                </a:solidFill>
              </a:rPr>
              <a:t>}</a:t>
            </a:r>
          </a:p>
        </p:txBody>
      </p:sp>
      <p:sp>
        <p:nvSpPr>
          <p:cNvPr id="8" name="TextBox 7">
            <a:extLst>
              <a:ext uri="{FF2B5EF4-FFF2-40B4-BE49-F238E27FC236}">
                <a16:creationId xmlns:a16="http://schemas.microsoft.com/office/drawing/2014/main" id="{5F4B4CF3-C0A5-1D07-41C3-F50A5AB3C4B7}"/>
              </a:ext>
            </a:extLst>
          </p:cNvPr>
          <p:cNvSpPr txBox="1"/>
          <p:nvPr/>
        </p:nvSpPr>
        <p:spPr>
          <a:xfrm>
            <a:off x="3452851" y="4131787"/>
            <a:ext cx="2238296" cy="738664"/>
          </a:xfrm>
          <a:prstGeom prst="rect">
            <a:avLst/>
          </a:prstGeom>
          <a:noFill/>
        </p:spPr>
        <p:txBody>
          <a:bodyPr wrap="square">
            <a:spAutoFit/>
          </a:bodyPr>
          <a:lstStyle/>
          <a:p>
            <a:r>
              <a:rPr lang="en-IN" b="1" dirty="0">
                <a:solidFill>
                  <a:srgbClr val="FFFF00"/>
                </a:solidFill>
              </a:rPr>
              <a:t>Output</a:t>
            </a:r>
          </a:p>
          <a:p>
            <a:r>
              <a:rPr lang="en-IN" dirty="0">
                <a:solidFill>
                  <a:srgbClr val="FFFF00"/>
                </a:solidFill>
              </a:rPr>
              <a:t>Enter character: a</a:t>
            </a:r>
          </a:p>
          <a:p>
            <a:r>
              <a:rPr lang="en-IN" dirty="0">
                <a:solidFill>
                  <a:srgbClr val="FFFF00"/>
                </a:solidFill>
              </a:rPr>
              <a:t>Character entered: a</a:t>
            </a:r>
          </a:p>
        </p:txBody>
      </p:sp>
    </p:spTree>
    <p:extLst>
      <p:ext uri="{BB962C8B-B14F-4D97-AF65-F5344CB8AC3E}">
        <p14:creationId xmlns:p14="http://schemas.microsoft.com/office/powerpoint/2010/main" val="2824661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0"/>
            <a:ext cx="6943469" cy="396300"/>
          </a:xfrm>
        </p:spPr>
        <p:txBody>
          <a:bodyPr/>
          <a:lstStyle/>
          <a:p>
            <a:pPr algn="ctr"/>
            <a:r>
              <a:rPr lang="en-IN" sz="2400" dirty="0"/>
              <a:t>Example for </a:t>
            </a:r>
            <a:r>
              <a:rPr lang="en-IN" sz="2400" dirty="0" err="1"/>
              <a:t>getc</a:t>
            </a:r>
            <a:r>
              <a:rPr lang="en-IN" sz="2400" dirty="0"/>
              <a:t>() and </a:t>
            </a:r>
            <a:r>
              <a:rPr lang="en-IN" sz="2400" dirty="0" err="1"/>
              <a:t>putc</a:t>
            </a:r>
            <a:r>
              <a:rPr lang="en-IN" sz="2400" dirty="0"/>
              <a:t>()</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sp>
        <p:nvSpPr>
          <p:cNvPr id="6" name="TextBox 5">
            <a:extLst>
              <a:ext uri="{FF2B5EF4-FFF2-40B4-BE49-F238E27FC236}">
                <a16:creationId xmlns:a16="http://schemas.microsoft.com/office/drawing/2014/main" id="{FA2EE72D-1446-9377-7770-A34CAB78B6D3}"/>
              </a:ext>
            </a:extLst>
          </p:cNvPr>
          <p:cNvSpPr txBox="1"/>
          <p:nvPr/>
        </p:nvSpPr>
        <p:spPr>
          <a:xfrm>
            <a:off x="41831" y="263426"/>
            <a:ext cx="6333711" cy="4616648"/>
          </a:xfrm>
          <a:prstGeom prst="rect">
            <a:avLst/>
          </a:prstGeom>
          <a:noFill/>
        </p:spPr>
        <p:txBody>
          <a:bodyPr wrap="square">
            <a:spAutoFit/>
          </a:bodyPr>
          <a:lstStyle/>
          <a:p>
            <a:r>
              <a:rPr lang="en-US" dirty="0">
                <a:solidFill>
                  <a:schemeClr val="tx1"/>
                </a:solidFill>
              </a:rPr>
              <a:t>#include&lt;stdio.h&gt;</a:t>
            </a:r>
          </a:p>
          <a:p>
            <a:r>
              <a:rPr lang="en-US" dirty="0">
                <a:solidFill>
                  <a:schemeClr val="tx1"/>
                </a:solidFill>
              </a:rPr>
              <a:t>void main()</a:t>
            </a:r>
          </a:p>
          <a:p>
            <a:r>
              <a:rPr lang="en-US" dirty="0">
                <a:solidFill>
                  <a:schemeClr val="tx1"/>
                </a:solidFill>
              </a:rPr>
              <a:t>{</a:t>
            </a:r>
          </a:p>
          <a:p>
            <a:r>
              <a:rPr lang="en-US" dirty="0">
                <a:solidFill>
                  <a:schemeClr val="tx1"/>
                </a:solidFill>
              </a:rPr>
              <a:t>   char </a:t>
            </a:r>
            <a:r>
              <a:rPr lang="en-US" dirty="0" err="1">
                <a:solidFill>
                  <a:schemeClr val="tx1"/>
                </a:solidFill>
              </a:rPr>
              <a:t>ch</a:t>
            </a:r>
            <a:r>
              <a:rPr lang="en-US" dirty="0">
                <a:solidFill>
                  <a:schemeClr val="tx1"/>
                </a:solidFill>
              </a:rPr>
              <a:t>;</a:t>
            </a:r>
          </a:p>
          <a:p>
            <a:r>
              <a:rPr lang="en-US" dirty="0">
                <a:solidFill>
                  <a:schemeClr val="tx1"/>
                </a:solidFill>
              </a:rPr>
              <a:t>   FILE *</a:t>
            </a:r>
            <a:r>
              <a:rPr lang="en-US" dirty="0" err="1">
                <a:solidFill>
                  <a:schemeClr val="tx1"/>
                </a:solidFill>
              </a:rPr>
              <a:t>fp</a:t>
            </a:r>
            <a:r>
              <a:rPr lang="en-US" dirty="0">
                <a:solidFill>
                  <a:schemeClr val="tx1"/>
                </a:solidFill>
              </a:rPr>
              <a:t>;</a:t>
            </a:r>
          </a:p>
          <a:p>
            <a:r>
              <a:rPr lang="en-US" dirty="0">
                <a:solidFill>
                  <a:schemeClr val="tx1"/>
                </a:solidFill>
              </a:rPr>
              <a:t>   </a:t>
            </a:r>
            <a:r>
              <a:rPr lang="en-US" dirty="0" err="1">
                <a:solidFill>
                  <a:schemeClr val="tx1"/>
                </a:solidFill>
              </a:rPr>
              <a:t>fp</a:t>
            </a:r>
            <a:r>
              <a:rPr lang="en-US" dirty="0">
                <a:solidFill>
                  <a:schemeClr val="tx1"/>
                </a:solidFill>
              </a:rPr>
              <a:t>=</a:t>
            </a:r>
            <a:r>
              <a:rPr lang="en-US" dirty="0" err="1">
                <a:solidFill>
                  <a:schemeClr val="tx1"/>
                </a:solidFill>
              </a:rPr>
              <a:t>fopen</a:t>
            </a:r>
            <a:r>
              <a:rPr lang="en-US" dirty="0">
                <a:solidFill>
                  <a:schemeClr val="tx1"/>
                </a:solidFill>
              </a:rPr>
              <a:t>("std1.txt","w");   </a:t>
            </a:r>
            <a:r>
              <a:rPr lang="en-US" b="1" dirty="0">
                <a:solidFill>
                  <a:schemeClr val="accent2"/>
                </a:solidFill>
              </a:rPr>
              <a:t>//opening file in write mode</a:t>
            </a:r>
          </a:p>
          <a:p>
            <a:r>
              <a:rPr lang="en-US" dirty="0">
                <a:solidFill>
                  <a:schemeClr val="tx1"/>
                </a:solidFill>
              </a:rPr>
              <a:t>   </a:t>
            </a:r>
            <a:r>
              <a:rPr lang="en-US" dirty="0" err="1">
                <a:solidFill>
                  <a:schemeClr val="tx1"/>
                </a:solidFill>
              </a:rPr>
              <a:t>printf</a:t>
            </a:r>
            <a:r>
              <a:rPr lang="en-US" dirty="0">
                <a:solidFill>
                  <a:schemeClr val="tx1"/>
                </a:solidFill>
              </a:rPr>
              <a:t>("enter the </a:t>
            </a:r>
            <a:r>
              <a:rPr lang="en-US" dirty="0" err="1">
                <a:solidFill>
                  <a:schemeClr val="tx1"/>
                </a:solidFill>
              </a:rPr>
              <a:t>text.press</a:t>
            </a:r>
            <a:r>
              <a:rPr lang="en-US" dirty="0">
                <a:solidFill>
                  <a:schemeClr val="tx1"/>
                </a:solidFill>
              </a:rPr>
              <a:t> </a:t>
            </a:r>
            <a:r>
              <a:rPr lang="en-US" dirty="0" err="1">
                <a:solidFill>
                  <a:schemeClr val="tx1"/>
                </a:solidFill>
              </a:rPr>
              <a:t>cntrl</a:t>
            </a:r>
            <a:r>
              <a:rPr lang="en-US" dirty="0">
                <a:solidFill>
                  <a:schemeClr val="tx1"/>
                </a:solidFill>
              </a:rPr>
              <a:t> Z:");</a:t>
            </a:r>
          </a:p>
          <a:p>
            <a:r>
              <a:rPr lang="en-US" dirty="0">
                <a:solidFill>
                  <a:schemeClr val="tx1"/>
                </a:solidFill>
              </a:rPr>
              <a:t>   while((</a:t>
            </a:r>
            <a:r>
              <a:rPr lang="en-US" dirty="0" err="1">
                <a:solidFill>
                  <a:schemeClr val="tx1"/>
                </a:solidFill>
              </a:rPr>
              <a:t>ch</a:t>
            </a:r>
            <a:r>
              <a:rPr lang="en-US" dirty="0">
                <a:solidFill>
                  <a:schemeClr val="tx1"/>
                </a:solidFill>
              </a:rPr>
              <a:t> = </a:t>
            </a:r>
            <a:r>
              <a:rPr lang="en-US" dirty="0" err="1">
                <a:solidFill>
                  <a:schemeClr val="tx1"/>
                </a:solidFill>
              </a:rPr>
              <a:t>getchar</a:t>
            </a:r>
            <a:r>
              <a:rPr lang="en-US" dirty="0">
                <a:solidFill>
                  <a:schemeClr val="tx1"/>
                </a:solidFill>
              </a:rPr>
              <a:t>())!=EOF)</a:t>
            </a:r>
          </a:p>
          <a:p>
            <a:r>
              <a:rPr lang="en-US" dirty="0">
                <a:solidFill>
                  <a:schemeClr val="tx1"/>
                </a:solidFill>
              </a:rPr>
              <a:t>   {</a:t>
            </a:r>
          </a:p>
          <a:p>
            <a:r>
              <a:rPr lang="en-US" dirty="0">
                <a:solidFill>
                  <a:schemeClr val="tx1"/>
                </a:solidFill>
              </a:rPr>
              <a:t>      </a:t>
            </a:r>
            <a:r>
              <a:rPr lang="en-US" dirty="0" err="1">
                <a:solidFill>
                  <a:schemeClr val="tx1"/>
                </a:solidFill>
              </a:rPr>
              <a:t>putc</a:t>
            </a:r>
            <a:r>
              <a:rPr lang="en-US" dirty="0">
                <a:solidFill>
                  <a:schemeClr val="tx1"/>
                </a:solidFill>
              </a:rPr>
              <a:t>(</a:t>
            </a:r>
            <a:r>
              <a:rPr lang="en-US" dirty="0" err="1">
                <a:solidFill>
                  <a:schemeClr val="tx1"/>
                </a:solidFill>
              </a:rPr>
              <a:t>ch,fp</a:t>
            </a:r>
            <a:r>
              <a:rPr lang="en-US" dirty="0">
                <a:solidFill>
                  <a:schemeClr val="tx1"/>
                </a:solidFill>
              </a:rPr>
              <a:t>);        </a:t>
            </a:r>
            <a:r>
              <a:rPr lang="en-US" b="1" dirty="0">
                <a:solidFill>
                  <a:schemeClr val="accent2"/>
                </a:solidFill>
              </a:rPr>
              <a:t>// writing each character into the file</a:t>
            </a:r>
          </a:p>
          <a:p>
            <a:r>
              <a:rPr lang="en-US" dirty="0">
                <a:solidFill>
                  <a:schemeClr val="tx1"/>
                </a:solidFill>
              </a:rPr>
              <a:t>   }</a:t>
            </a:r>
          </a:p>
          <a:p>
            <a:r>
              <a:rPr lang="en-US" dirty="0">
                <a:solidFill>
                  <a:schemeClr val="tx1"/>
                </a:solidFill>
              </a:rPr>
              <a:t>   </a:t>
            </a:r>
            <a:r>
              <a:rPr lang="en-US" dirty="0" err="1">
                <a:solidFill>
                  <a:schemeClr val="tx1"/>
                </a:solidFill>
              </a:rPr>
              <a:t>fclose</a:t>
            </a:r>
            <a:r>
              <a:rPr lang="en-US" dirty="0">
                <a:solidFill>
                  <a:schemeClr val="tx1"/>
                </a:solidFill>
              </a:rPr>
              <a:t>(</a:t>
            </a:r>
            <a:r>
              <a:rPr lang="en-US" dirty="0" err="1">
                <a:solidFill>
                  <a:schemeClr val="tx1"/>
                </a:solidFill>
              </a:rPr>
              <a:t>fp</a:t>
            </a:r>
            <a:r>
              <a:rPr lang="en-US" dirty="0">
                <a:solidFill>
                  <a:schemeClr val="tx1"/>
                </a:solidFill>
              </a:rPr>
              <a:t>);</a:t>
            </a:r>
          </a:p>
          <a:p>
            <a:endParaRPr lang="en-US" dirty="0">
              <a:solidFill>
                <a:schemeClr val="tx1"/>
              </a:solidFill>
            </a:endParaRPr>
          </a:p>
          <a:p>
            <a:r>
              <a:rPr lang="en-US" dirty="0">
                <a:solidFill>
                  <a:schemeClr val="tx1"/>
                </a:solidFill>
              </a:rPr>
              <a:t>   </a:t>
            </a:r>
            <a:r>
              <a:rPr lang="en-US" dirty="0" err="1">
                <a:solidFill>
                  <a:schemeClr val="tx1"/>
                </a:solidFill>
              </a:rPr>
              <a:t>fp</a:t>
            </a:r>
            <a:r>
              <a:rPr lang="en-US" dirty="0">
                <a:solidFill>
                  <a:schemeClr val="tx1"/>
                </a:solidFill>
              </a:rPr>
              <a:t>=</a:t>
            </a:r>
            <a:r>
              <a:rPr lang="en-US" dirty="0" err="1">
                <a:solidFill>
                  <a:schemeClr val="tx1"/>
                </a:solidFill>
              </a:rPr>
              <a:t>fopen</a:t>
            </a:r>
            <a:r>
              <a:rPr lang="en-US" dirty="0">
                <a:solidFill>
                  <a:schemeClr val="tx1"/>
                </a:solidFill>
              </a:rPr>
              <a:t>("std1.txt","r");</a:t>
            </a:r>
          </a:p>
          <a:p>
            <a:r>
              <a:rPr lang="en-US" dirty="0">
                <a:solidFill>
                  <a:schemeClr val="tx1"/>
                </a:solidFill>
              </a:rPr>
              <a:t>   </a:t>
            </a:r>
            <a:r>
              <a:rPr lang="en-US" dirty="0" err="1">
                <a:solidFill>
                  <a:schemeClr val="tx1"/>
                </a:solidFill>
              </a:rPr>
              <a:t>printf</a:t>
            </a:r>
            <a:r>
              <a:rPr lang="en-US" dirty="0">
                <a:solidFill>
                  <a:schemeClr val="tx1"/>
                </a:solidFill>
              </a:rPr>
              <a:t>("text on the file:");</a:t>
            </a:r>
          </a:p>
          <a:p>
            <a:r>
              <a:rPr lang="en-US" dirty="0">
                <a:solidFill>
                  <a:schemeClr val="tx1"/>
                </a:solidFill>
              </a:rPr>
              <a:t>   while ((</a:t>
            </a:r>
            <a:r>
              <a:rPr lang="en-US" dirty="0" err="1">
                <a:solidFill>
                  <a:schemeClr val="tx1"/>
                </a:solidFill>
              </a:rPr>
              <a:t>ch</a:t>
            </a:r>
            <a:r>
              <a:rPr lang="en-US" dirty="0">
                <a:solidFill>
                  <a:schemeClr val="tx1"/>
                </a:solidFill>
              </a:rPr>
              <a:t>=</a:t>
            </a:r>
            <a:r>
              <a:rPr lang="en-US" dirty="0" err="1">
                <a:solidFill>
                  <a:schemeClr val="tx1"/>
                </a:solidFill>
              </a:rPr>
              <a:t>getc</a:t>
            </a:r>
            <a:r>
              <a:rPr lang="en-US" dirty="0">
                <a:solidFill>
                  <a:schemeClr val="tx1"/>
                </a:solidFill>
              </a:rPr>
              <a:t>(</a:t>
            </a:r>
            <a:r>
              <a:rPr lang="en-US" dirty="0" err="1">
                <a:solidFill>
                  <a:schemeClr val="tx1"/>
                </a:solidFill>
              </a:rPr>
              <a:t>fp</a:t>
            </a:r>
            <a:r>
              <a:rPr lang="en-US" dirty="0">
                <a:solidFill>
                  <a:schemeClr val="tx1"/>
                </a:solidFill>
              </a:rPr>
              <a:t>))!=EOF) </a:t>
            </a:r>
            <a:r>
              <a:rPr lang="en-US" b="1" dirty="0">
                <a:solidFill>
                  <a:schemeClr val="accent2"/>
                </a:solidFill>
              </a:rPr>
              <a:t>// reading each character from file</a:t>
            </a:r>
          </a:p>
          <a:p>
            <a:r>
              <a:rPr lang="en-US" dirty="0">
                <a:solidFill>
                  <a:schemeClr val="tx1"/>
                </a:solidFill>
              </a:rPr>
              <a:t>   { </a:t>
            </a:r>
          </a:p>
          <a:p>
            <a:r>
              <a:rPr lang="en-US" dirty="0">
                <a:solidFill>
                  <a:schemeClr val="tx1"/>
                </a:solidFill>
              </a:rPr>
              <a:t>      </a:t>
            </a:r>
            <a:r>
              <a:rPr lang="en-US" dirty="0" err="1">
                <a:solidFill>
                  <a:schemeClr val="tx1"/>
                </a:solidFill>
              </a:rPr>
              <a:t>putchar</a:t>
            </a:r>
            <a:r>
              <a:rPr lang="en-US" dirty="0">
                <a:solidFill>
                  <a:schemeClr val="tx1"/>
                </a:solidFill>
              </a:rPr>
              <a:t>(</a:t>
            </a:r>
            <a:r>
              <a:rPr lang="en-US" dirty="0" err="1">
                <a:solidFill>
                  <a:schemeClr val="tx1"/>
                </a:solidFill>
              </a:rPr>
              <a:t>ch</a:t>
            </a:r>
            <a:r>
              <a:rPr lang="en-US" dirty="0">
                <a:solidFill>
                  <a:schemeClr val="tx1"/>
                </a:solidFill>
              </a:rPr>
              <a:t>);                 </a:t>
            </a:r>
            <a:r>
              <a:rPr lang="en-US" b="1" dirty="0">
                <a:solidFill>
                  <a:schemeClr val="accent2"/>
                </a:solidFill>
              </a:rPr>
              <a:t> // displaying each character on to the screen</a:t>
            </a:r>
          </a:p>
          <a:p>
            <a:r>
              <a:rPr lang="en-US" dirty="0">
                <a:solidFill>
                  <a:schemeClr val="tx1"/>
                </a:solidFill>
              </a:rPr>
              <a:t>   }</a:t>
            </a:r>
          </a:p>
          <a:p>
            <a:r>
              <a:rPr lang="en-US" dirty="0">
                <a:solidFill>
                  <a:schemeClr val="tx1"/>
                </a:solidFill>
              </a:rPr>
              <a:t>   </a:t>
            </a:r>
            <a:r>
              <a:rPr lang="en-US" dirty="0" err="1">
                <a:solidFill>
                  <a:schemeClr val="tx1"/>
                </a:solidFill>
              </a:rPr>
              <a:t>fclose</a:t>
            </a:r>
            <a:r>
              <a:rPr lang="en-US" dirty="0">
                <a:solidFill>
                  <a:schemeClr val="tx1"/>
                </a:solidFill>
              </a:rPr>
              <a:t>(</a:t>
            </a:r>
            <a:r>
              <a:rPr lang="en-US" dirty="0" err="1">
                <a:solidFill>
                  <a:schemeClr val="tx1"/>
                </a:solidFill>
              </a:rPr>
              <a:t>fp</a:t>
            </a:r>
            <a:r>
              <a:rPr lang="en-US" dirty="0">
                <a:solidFill>
                  <a:schemeClr val="tx1"/>
                </a:solidFill>
              </a:rPr>
              <a:t>);</a:t>
            </a:r>
          </a:p>
          <a:p>
            <a:r>
              <a:rPr lang="en-US" dirty="0">
                <a:solidFill>
                  <a:schemeClr val="tx1"/>
                </a:solidFill>
              </a:rPr>
              <a:t>}</a:t>
            </a:r>
          </a:p>
        </p:txBody>
      </p:sp>
      <p:sp>
        <p:nvSpPr>
          <p:cNvPr id="5" name="TextBox 4">
            <a:extLst>
              <a:ext uri="{FF2B5EF4-FFF2-40B4-BE49-F238E27FC236}">
                <a16:creationId xmlns:a16="http://schemas.microsoft.com/office/drawing/2014/main" id="{FC7DFF0C-70A9-E275-4234-9D52BFBEDD5F}"/>
              </a:ext>
            </a:extLst>
          </p:cNvPr>
          <p:cNvSpPr txBox="1"/>
          <p:nvPr/>
        </p:nvSpPr>
        <p:spPr>
          <a:xfrm>
            <a:off x="4698725" y="590152"/>
            <a:ext cx="4586908" cy="1815882"/>
          </a:xfrm>
          <a:prstGeom prst="rect">
            <a:avLst/>
          </a:prstGeom>
          <a:noFill/>
        </p:spPr>
        <p:txBody>
          <a:bodyPr wrap="square">
            <a:spAutoFit/>
          </a:bodyPr>
          <a:lstStyle/>
          <a:p>
            <a:r>
              <a:rPr lang="en-IN" sz="1200" dirty="0">
                <a:solidFill>
                  <a:srgbClr val="FFFF00"/>
                </a:solidFill>
              </a:rPr>
              <a:t>enter the </a:t>
            </a:r>
            <a:r>
              <a:rPr lang="en-IN" sz="1200" dirty="0" err="1">
                <a:solidFill>
                  <a:srgbClr val="FFFF00"/>
                </a:solidFill>
              </a:rPr>
              <a:t>text.press</a:t>
            </a:r>
            <a:r>
              <a:rPr lang="en-IN" sz="1200" dirty="0">
                <a:solidFill>
                  <a:srgbClr val="FFFF00"/>
                </a:solidFill>
              </a:rPr>
              <a:t> </a:t>
            </a:r>
            <a:r>
              <a:rPr lang="en-IN" sz="1200" dirty="0" err="1">
                <a:solidFill>
                  <a:srgbClr val="FFFF00"/>
                </a:solidFill>
              </a:rPr>
              <a:t>cntrl</a:t>
            </a:r>
            <a:r>
              <a:rPr lang="en-IN" sz="1200" dirty="0">
                <a:solidFill>
                  <a:srgbClr val="FFFF00"/>
                </a:solidFill>
              </a:rPr>
              <a:t> Z:</a:t>
            </a:r>
          </a:p>
          <a:p>
            <a:r>
              <a:rPr lang="en-IN" sz="1200" dirty="0">
                <a:solidFill>
                  <a:srgbClr val="FFFF00"/>
                </a:solidFill>
              </a:rPr>
              <a:t>Hi Welcome to C World</a:t>
            </a:r>
          </a:p>
          <a:p>
            <a:r>
              <a:rPr lang="en-IN" sz="1200" dirty="0">
                <a:solidFill>
                  <a:srgbClr val="FFFF00"/>
                </a:solidFill>
              </a:rPr>
              <a:t>Here I am Presenting Question and answers in C Programming Language</a:t>
            </a:r>
          </a:p>
          <a:p>
            <a:r>
              <a:rPr lang="en-IN" sz="1200" dirty="0">
                <a:solidFill>
                  <a:srgbClr val="FFFF00"/>
                </a:solidFill>
              </a:rPr>
              <a:t>^Z</a:t>
            </a:r>
          </a:p>
          <a:p>
            <a:r>
              <a:rPr lang="en-IN" sz="1200" dirty="0">
                <a:solidFill>
                  <a:srgbClr val="FFFF00"/>
                </a:solidFill>
              </a:rPr>
              <a:t>text on the file:</a:t>
            </a:r>
          </a:p>
          <a:p>
            <a:r>
              <a:rPr lang="en-IN" sz="1200" dirty="0">
                <a:solidFill>
                  <a:srgbClr val="FFFF00"/>
                </a:solidFill>
              </a:rPr>
              <a:t>Hi Welcome to C World</a:t>
            </a:r>
          </a:p>
          <a:p>
            <a:r>
              <a:rPr lang="en-IN" sz="1200" dirty="0">
                <a:solidFill>
                  <a:srgbClr val="FFFF00"/>
                </a:solidFill>
              </a:rPr>
              <a:t>Here I am Presenting Question and answers in C Programming Language</a:t>
            </a:r>
          </a:p>
        </p:txBody>
      </p:sp>
      <p:sp>
        <p:nvSpPr>
          <p:cNvPr id="8" name="TextBox 7">
            <a:extLst>
              <a:ext uri="{FF2B5EF4-FFF2-40B4-BE49-F238E27FC236}">
                <a16:creationId xmlns:a16="http://schemas.microsoft.com/office/drawing/2014/main" id="{C5C1500E-5156-D63A-3DA3-95FE9C29062F}"/>
              </a:ext>
            </a:extLst>
          </p:cNvPr>
          <p:cNvSpPr txBox="1"/>
          <p:nvPr/>
        </p:nvSpPr>
        <p:spPr>
          <a:xfrm>
            <a:off x="5232952" y="335172"/>
            <a:ext cx="4641574" cy="307777"/>
          </a:xfrm>
          <a:prstGeom prst="rect">
            <a:avLst/>
          </a:prstGeom>
          <a:noFill/>
        </p:spPr>
        <p:txBody>
          <a:bodyPr wrap="square">
            <a:spAutoFit/>
          </a:bodyPr>
          <a:lstStyle/>
          <a:p>
            <a:r>
              <a:rPr lang="en-IN" sz="1400" b="1" dirty="0">
                <a:solidFill>
                  <a:srgbClr val="FFFF00"/>
                </a:solidFill>
              </a:rPr>
              <a:t>Output</a:t>
            </a:r>
            <a:endParaRPr lang="en-IN" b="1" dirty="0">
              <a:solidFill>
                <a:srgbClr val="FFFF00"/>
              </a:solidFill>
            </a:endParaRPr>
          </a:p>
        </p:txBody>
      </p:sp>
    </p:spTree>
    <p:extLst>
      <p:ext uri="{BB962C8B-B14F-4D97-AF65-F5344CB8AC3E}">
        <p14:creationId xmlns:p14="http://schemas.microsoft.com/office/powerpoint/2010/main" val="507583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99391"/>
            <a:ext cx="6943469" cy="396300"/>
          </a:xfrm>
        </p:spPr>
        <p:txBody>
          <a:bodyPr/>
          <a:lstStyle/>
          <a:p>
            <a:pPr algn="ctr"/>
            <a:r>
              <a:rPr lang="en-IN" sz="2400" dirty="0" err="1"/>
              <a:t>fprintf</a:t>
            </a:r>
            <a:r>
              <a:rPr lang="en-IN" sz="2400" dirty="0"/>
              <a:t>()  function</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sp>
        <p:nvSpPr>
          <p:cNvPr id="5" name="TextBox 4">
            <a:extLst>
              <a:ext uri="{FF2B5EF4-FFF2-40B4-BE49-F238E27FC236}">
                <a16:creationId xmlns:a16="http://schemas.microsoft.com/office/drawing/2014/main" id="{5821AE52-1534-37A9-A4F3-84F54559405E}"/>
              </a:ext>
            </a:extLst>
          </p:cNvPr>
          <p:cNvSpPr txBox="1"/>
          <p:nvPr/>
        </p:nvSpPr>
        <p:spPr>
          <a:xfrm>
            <a:off x="454715" y="763887"/>
            <a:ext cx="5677728" cy="1600438"/>
          </a:xfrm>
          <a:prstGeom prst="rect">
            <a:avLst/>
          </a:prstGeom>
          <a:noFill/>
        </p:spPr>
        <p:txBody>
          <a:bodyPr wrap="square">
            <a:spAutoFit/>
          </a:bodyPr>
          <a:lstStyle/>
          <a:p>
            <a:r>
              <a:rPr lang="en-US" dirty="0">
                <a:solidFill>
                  <a:schemeClr val="tx1"/>
                </a:solidFill>
              </a:rPr>
              <a:t>Writing File : </a:t>
            </a:r>
            <a:r>
              <a:rPr lang="en-US" b="1" dirty="0" err="1">
                <a:solidFill>
                  <a:srgbClr val="00B050"/>
                </a:solidFill>
              </a:rPr>
              <a:t>fprintf</a:t>
            </a:r>
            <a:r>
              <a:rPr lang="en-US" b="1" dirty="0">
                <a:solidFill>
                  <a:srgbClr val="00B050"/>
                </a:solidFill>
              </a:rPr>
              <a:t>() function</a:t>
            </a:r>
          </a:p>
          <a:p>
            <a:r>
              <a:rPr lang="en-US" dirty="0">
                <a:solidFill>
                  <a:schemeClr val="tx1"/>
                </a:solidFill>
              </a:rPr>
              <a:t>The </a:t>
            </a:r>
            <a:r>
              <a:rPr lang="en-US" dirty="0" err="1">
                <a:solidFill>
                  <a:schemeClr val="tx1"/>
                </a:solidFill>
              </a:rPr>
              <a:t>fprintf</a:t>
            </a:r>
            <a:r>
              <a:rPr lang="en-US" dirty="0">
                <a:solidFill>
                  <a:schemeClr val="tx1"/>
                </a:solidFill>
              </a:rPr>
              <a:t>() function is used to write set of characters into file. It sends formatted output to a stream.</a:t>
            </a:r>
          </a:p>
          <a:p>
            <a:endParaRPr lang="en-US" dirty="0">
              <a:solidFill>
                <a:schemeClr val="tx1"/>
              </a:solidFill>
            </a:endParaRPr>
          </a:p>
          <a:p>
            <a:r>
              <a:rPr lang="en-US" b="1" dirty="0">
                <a:solidFill>
                  <a:srgbClr val="FFFF00"/>
                </a:solidFill>
              </a:rPr>
              <a:t>Syntax:</a:t>
            </a:r>
          </a:p>
          <a:p>
            <a:endParaRPr lang="en-US" dirty="0">
              <a:solidFill>
                <a:schemeClr val="tx1"/>
              </a:solidFill>
            </a:endParaRPr>
          </a:p>
          <a:p>
            <a:r>
              <a:rPr lang="en-US" dirty="0">
                <a:solidFill>
                  <a:schemeClr val="tx1"/>
                </a:solidFill>
              </a:rPr>
              <a:t>int </a:t>
            </a:r>
            <a:r>
              <a:rPr lang="en-US" dirty="0" err="1">
                <a:solidFill>
                  <a:schemeClr val="tx1"/>
                </a:solidFill>
              </a:rPr>
              <a:t>fprintf</a:t>
            </a:r>
            <a:r>
              <a:rPr lang="en-US" dirty="0">
                <a:solidFill>
                  <a:schemeClr val="tx1"/>
                </a:solidFill>
              </a:rPr>
              <a:t>(FILE *stream, const char *format [, argument, ...])</a:t>
            </a:r>
            <a:endParaRPr lang="en-IN" dirty="0">
              <a:solidFill>
                <a:schemeClr val="tx1"/>
              </a:solidFill>
            </a:endParaRPr>
          </a:p>
        </p:txBody>
      </p:sp>
      <p:sp>
        <p:nvSpPr>
          <p:cNvPr id="8" name="TextBox 7">
            <a:extLst>
              <a:ext uri="{FF2B5EF4-FFF2-40B4-BE49-F238E27FC236}">
                <a16:creationId xmlns:a16="http://schemas.microsoft.com/office/drawing/2014/main" id="{34FFAF68-B30F-E2AF-6212-23ADF61545B3}"/>
              </a:ext>
            </a:extLst>
          </p:cNvPr>
          <p:cNvSpPr txBox="1"/>
          <p:nvPr/>
        </p:nvSpPr>
        <p:spPr>
          <a:xfrm>
            <a:off x="454715" y="2519570"/>
            <a:ext cx="5150954" cy="2031325"/>
          </a:xfrm>
          <a:prstGeom prst="rect">
            <a:avLst/>
          </a:prstGeom>
          <a:noFill/>
        </p:spPr>
        <p:txBody>
          <a:bodyPr wrap="square">
            <a:spAutoFit/>
          </a:bodyPr>
          <a:lstStyle/>
          <a:p>
            <a:r>
              <a:rPr lang="en-IN" b="1" dirty="0">
                <a:solidFill>
                  <a:schemeClr val="accent1"/>
                </a:solidFill>
              </a:rPr>
              <a:t>Example</a:t>
            </a:r>
          </a:p>
          <a:p>
            <a:r>
              <a:rPr lang="en-IN" dirty="0">
                <a:solidFill>
                  <a:schemeClr val="tx1"/>
                </a:solidFill>
              </a:rPr>
              <a:t>#include &lt;</a:t>
            </a:r>
            <a:r>
              <a:rPr lang="en-IN" dirty="0" err="1">
                <a:solidFill>
                  <a:schemeClr val="tx1"/>
                </a:solidFill>
              </a:rPr>
              <a:t>stdio.h</a:t>
            </a:r>
            <a:r>
              <a:rPr lang="en-IN" dirty="0">
                <a:solidFill>
                  <a:schemeClr val="tx1"/>
                </a:solidFill>
              </a:rPr>
              <a:t>&gt;  </a:t>
            </a:r>
          </a:p>
          <a:p>
            <a:r>
              <a:rPr lang="en-IN" dirty="0">
                <a:solidFill>
                  <a:schemeClr val="tx1"/>
                </a:solidFill>
              </a:rPr>
              <a:t>main()</a:t>
            </a:r>
          </a:p>
          <a:p>
            <a:r>
              <a:rPr lang="en-IN" dirty="0">
                <a:solidFill>
                  <a:schemeClr val="tx1"/>
                </a:solidFill>
              </a:rPr>
              <a:t>{  </a:t>
            </a:r>
          </a:p>
          <a:p>
            <a:r>
              <a:rPr lang="en-IN" dirty="0">
                <a:solidFill>
                  <a:schemeClr val="tx1"/>
                </a:solidFill>
              </a:rPr>
              <a:t>   FILE *</a:t>
            </a:r>
            <a:r>
              <a:rPr lang="en-IN" dirty="0" err="1">
                <a:solidFill>
                  <a:schemeClr val="tx1"/>
                </a:solidFill>
              </a:rPr>
              <a:t>fp</a:t>
            </a:r>
            <a:r>
              <a:rPr lang="en-IN" dirty="0">
                <a:solidFill>
                  <a:schemeClr val="tx1"/>
                </a:solidFill>
              </a:rPr>
              <a:t>;  </a:t>
            </a:r>
          </a:p>
          <a:p>
            <a:r>
              <a:rPr lang="en-IN" dirty="0">
                <a:solidFill>
                  <a:schemeClr val="tx1"/>
                </a:solidFill>
              </a:rPr>
              <a:t>   </a:t>
            </a:r>
            <a:r>
              <a:rPr lang="en-IN" dirty="0" err="1">
                <a:solidFill>
                  <a:schemeClr val="tx1"/>
                </a:solidFill>
              </a:rPr>
              <a:t>fp</a:t>
            </a:r>
            <a:r>
              <a:rPr lang="en-IN" dirty="0">
                <a:solidFill>
                  <a:schemeClr val="tx1"/>
                </a:solidFill>
              </a:rPr>
              <a:t> = </a:t>
            </a:r>
            <a:r>
              <a:rPr lang="en-IN" dirty="0" err="1">
                <a:solidFill>
                  <a:schemeClr val="tx1"/>
                </a:solidFill>
              </a:rPr>
              <a:t>fopen</a:t>
            </a:r>
            <a:r>
              <a:rPr lang="en-IN" dirty="0">
                <a:solidFill>
                  <a:schemeClr val="tx1"/>
                </a:solidFill>
              </a:rPr>
              <a:t>("file.txt", "w");  </a:t>
            </a:r>
          </a:p>
          <a:p>
            <a:r>
              <a:rPr lang="en-IN" dirty="0">
                <a:solidFill>
                  <a:schemeClr val="tx1"/>
                </a:solidFill>
              </a:rPr>
              <a:t>   </a:t>
            </a:r>
            <a:r>
              <a:rPr lang="en-IN" dirty="0" err="1">
                <a:solidFill>
                  <a:schemeClr val="tx1"/>
                </a:solidFill>
              </a:rPr>
              <a:t>fprintf</a:t>
            </a:r>
            <a:r>
              <a:rPr lang="en-IN" dirty="0">
                <a:solidFill>
                  <a:schemeClr val="tx1"/>
                </a:solidFill>
              </a:rPr>
              <a:t>(</a:t>
            </a:r>
            <a:r>
              <a:rPr lang="en-IN" dirty="0" err="1">
                <a:solidFill>
                  <a:schemeClr val="tx1"/>
                </a:solidFill>
              </a:rPr>
              <a:t>fp</a:t>
            </a:r>
            <a:r>
              <a:rPr lang="en-IN" dirty="0">
                <a:solidFill>
                  <a:schemeClr val="tx1"/>
                </a:solidFill>
              </a:rPr>
              <a:t>, "Hello file by </a:t>
            </a:r>
            <a:r>
              <a:rPr lang="en-IN" dirty="0" err="1">
                <a:solidFill>
                  <a:schemeClr val="tx1"/>
                </a:solidFill>
              </a:rPr>
              <a:t>fprintf</a:t>
            </a:r>
            <a:r>
              <a:rPr lang="en-IN" dirty="0">
                <a:solidFill>
                  <a:schemeClr val="tx1"/>
                </a:solidFill>
              </a:rPr>
              <a:t>...\n"); </a:t>
            </a:r>
          </a:p>
          <a:p>
            <a:r>
              <a:rPr lang="en-IN" dirty="0">
                <a:solidFill>
                  <a:schemeClr val="tx1"/>
                </a:solidFill>
              </a:rPr>
              <a:t>   </a:t>
            </a:r>
            <a:r>
              <a:rPr lang="en-IN" dirty="0" err="1">
                <a:solidFill>
                  <a:schemeClr val="tx1"/>
                </a:solidFill>
              </a:rPr>
              <a:t>fclose</a:t>
            </a:r>
            <a:r>
              <a:rPr lang="en-IN" dirty="0">
                <a:solidFill>
                  <a:schemeClr val="tx1"/>
                </a:solidFill>
              </a:rPr>
              <a:t>(</a:t>
            </a:r>
            <a:r>
              <a:rPr lang="en-IN" dirty="0" err="1">
                <a:solidFill>
                  <a:schemeClr val="tx1"/>
                </a:solidFill>
              </a:rPr>
              <a:t>fp</a:t>
            </a:r>
            <a:r>
              <a:rPr lang="en-IN" dirty="0">
                <a:solidFill>
                  <a:schemeClr val="tx1"/>
                </a:solidFill>
              </a:rPr>
              <a:t>); </a:t>
            </a:r>
          </a:p>
          <a:p>
            <a:r>
              <a:rPr lang="en-IN" dirty="0">
                <a:solidFill>
                  <a:schemeClr val="tx1"/>
                </a:solidFill>
              </a:rPr>
              <a:t>} </a:t>
            </a:r>
          </a:p>
        </p:txBody>
      </p:sp>
    </p:spTree>
    <p:extLst>
      <p:ext uri="{BB962C8B-B14F-4D97-AF65-F5344CB8AC3E}">
        <p14:creationId xmlns:p14="http://schemas.microsoft.com/office/powerpoint/2010/main" val="4262763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99391"/>
            <a:ext cx="6943469" cy="396300"/>
          </a:xfrm>
        </p:spPr>
        <p:txBody>
          <a:bodyPr/>
          <a:lstStyle/>
          <a:p>
            <a:pPr algn="ctr"/>
            <a:r>
              <a:rPr lang="en-IN" sz="2400" dirty="0" err="1"/>
              <a:t>fscanf</a:t>
            </a:r>
            <a:r>
              <a:rPr lang="en-IN" sz="2400" dirty="0"/>
              <a:t>()  function</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
        <p:nvSpPr>
          <p:cNvPr id="5" name="TextBox 4">
            <a:extLst>
              <a:ext uri="{FF2B5EF4-FFF2-40B4-BE49-F238E27FC236}">
                <a16:creationId xmlns:a16="http://schemas.microsoft.com/office/drawing/2014/main" id="{5821AE52-1534-37A9-A4F3-84F54559405E}"/>
              </a:ext>
            </a:extLst>
          </p:cNvPr>
          <p:cNvSpPr txBox="1"/>
          <p:nvPr/>
        </p:nvSpPr>
        <p:spPr>
          <a:xfrm>
            <a:off x="454715" y="495691"/>
            <a:ext cx="7238172" cy="1600438"/>
          </a:xfrm>
          <a:prstGeom prst="rect">
            <a:avLst/>
          </a:prstGeom>
          <a:noFill/>
        </p:spPr>
        <p:txBody>
          <a:bodyPr wrap="square">
            <a:spAutoFit/>
          </a:bodyPr>
          <a:lstStyle/>
          <a:p>
            <a:r>
              <a:rPr lang="en-US" dirty="0">
                <a:solidFill>
                  <a:schemeClr val="tx1"/>
                </a:solidFill>
              </a:rPr>
              <a:t>Reading File : </a:t>
            </a:r>
            <a:r>
              <a:rPr lang="en-US" b="1" dirty="0" err="1">
                <a:solidFill>
                  <a:srgbClr val="00B050"/>
                </a:solidFill>
              </a:rPr>
              <a:t>fscanf</a:t>
            </a:r>
            <a:r>
              <a:rPr lang="en-US" b="1" dirty="0">
                <a:solidFill>
                  <a:srgbClr val="00B050"/>
                </a:solidFill>
              </a:rPr>
              <a:t>()</a:t>
            </a:r>
            <a:r>
              <a:rPr lang="en-US" dirty="0">
                <a:solidFill>
                  <a:schemeClr val="tx1"/>
                </a:solidFill>
              </a:rPr>
              <a:t> function</a:t>
            </a:r>
          </a:p>
          <a:p>
            <a:r>
              <a:rPr lang="en-US" dirty="0">
                <a:solidFill>
                  <a:schemeClr val="tx1"/>
                </a:solidFill>
              </a:rPr>
              <a:t>The </a:t>
            </a:r>
            <a:r>
              <a:rPr lang="en-US" dirty="0" err="1">
                <a:solidFill>
                  <a:schemeClr val="tx1"/>
                </a:solidFill>
              </a:rPr>
              <a:t>fscanf</a:t>
            </a:r>
            <a:r>
              <a:rPr lang="en-US" dirty="0">
                <a:solidFill>
                  <a:schemeClr val="tx1"/>
                </a:solidFill>
              </a:rPr>
              <a:t>() function is used to read set of characters from file. </a:t>
            </a:r>
          </a:p>
          <a:p>
            <a:r>
              <a:rPr lang="en-US" dirty="0">
                <a:solidFill>
                  <a:schemeClr val="tx1"/>
                </a:solidFill>
              </a:rPr>
              <a:t>It reads a word from the file and returns EOF at the end of file.</a:t>
            </a:r>
          </a:p>
          <a:p>
            <a:endParaRPr lang="en-US" dirty="0">
              <a:solidFill>
                <a:schemeClr val="tx1"/>
              </a:solidFill>
            </a:endParaRPr>
          </a:p>
          <a:p>
            <a:r>
              <a:rPr lang="en-US" dirty="0">
                <a:solidFill>
                  <a:srgbClr val="FFFF00"/>
                </a:solidFill>
              </a:rPr>
              <a:t>Syntax:</a:t>
            </a:r>
          </a:p>
          <a:p>
            <a:endParaRPr lang="en-US" dirty="0">
              <a:solidFill>
                <a:schemeClr val="tx1"/>
              </a:solidFill>
            </a:endParaRPr>
          </a:p>
          <a:p>
            <a:r>
              <a:rPr lang="en-US" dirty="0">
                <a:solidFill>
                  <a:schemeClr val="tx1"/>
                </a:solidFill>
              </a:rPr>
              <a:t>int </a:t>
            </a:r>
            <a:r>
              <a:rPr lang="en-US" dirty="0" err="1">
                <a:solidFill>
                  <a:schemeClr val="tx1"/>
                </a:solidFill>
              </a:rPr>
              <a:t>fscanf</a:t>
            </a:r>
            <a:r>
              <a:rPr lang="en-US" dirty="0">
                <a:solidFill>
                  <a:schemeClr val="tx1"/>
                </a:solidFill>
              </a:rPr>
              <a:t>(FILE *stream, const char *format [, argument, ...])</a:t>
            </a:r>
            <a:endParaRPr lang="en-IN" dirty="0">
              <a:solidFill>
                <a:schemeClr val="tx1"/>
              </a:solidFill>
            </a:endParaRPr>
          </a:p>
        </p:txBody>
      </p:sp>
      <p:sp>
        <p:nvSpPr>
          <p:cNvPr id="8" name="TextBox 7">
            <a:extLst>
              <a:ext uri="{FF2B5EF4-FFF2-40B4-BE49-F238E27FC236}">
                <a16:creationId xmlns:a16="http://schemas.microsoft.com/office/drawing/2014/main" id="{34FFAF68-B30F-E2AF-6212-23ADF61545B3}"/>
              </a:ext>
            </a:extLst>
          </p:cNvPr>
          <p:cNvSpPr txBox="1"/>
          <p:nvPr/>
        </p:nvSpPr>
        <p:spPr>
          <a:xfrm>
            <a:off x="454715" y="2151009"/>
            <a:ext cx="5150954" cy="2893100"/>
          </a:xfrm>
          <a:prstGeom prst="rect">
            <a:avLst/>
          </a:prstGeom>
          <a:noFill/>
        </p:spPr>
        <p:txBody>
          <a:bodyPr wrap="square">
            <a:spAutoFit/>
          </a:bodyPr>
          <a:lstStyle/>
          <a:p>
            <a:r>
              <a:rPr lang="en-IN" b="1" dirty="0">
                <a:solidFill>
                  <a:schemeClr val="accent1"/>
                </a:solidFill>
              </a:rPr>
              <a:t>Example</a:t>
            </a:r>
          </a:p>
          <a:p>
            <a:r>
              <a:rPr lang="en-IN" dirty="0">
                <a:solidFill>
                  <a:schemeClr val="tx1"/>
                </a:solidFill>
              </a:rPr>
              <a:t>#include &lt;</a:t>
            </a:r>
            <a:r>
              <a:rPr lang="en-IN" dirty="0" err="1">
                <a:solidFill>
                  <a:schemeClr val="tx1"/>
                </a:solidFill>
              </a:rPr>
              <a:t>stdio.h</a:t>
            </a:r>
            <a:r>
              <a:rPr lang="en-IN" dirty="0">
                <a:solidFill>
                  <a:schemeClr val="tx1"/>
                </a:solidFill>
              </a:rPr>
              <a:t>&gt;  </a:t>
            </a:r>
          </a:p>
          <a:p>
            <a:r>
              <a:rPr lang="en-IN" dirty="0">
                <a:solidFill>
                  <a:schemeClr val="tx1"/>
                </a:solidFill>
              </a:rPr>
              <a:t>void main()</a:t>
            </a:r>
          </a:p>
          <a:p>
            <a:r>
              <a:rPr lang="en-IN" dirty="0">
                <a:solidFill>
                  <a:schemeClr val="tx1"/>
                </a:solidFill>
              </a:rPr>
              <a:t>{  </a:t>
            </a:r>
          </a:p>
          <a:p>
            <a:r>
              <a:rPr lang="en-IN" dirty="0">
                <a:solidFill>
                  <a:schemeClr val="tx1"/>
                </a:solidFill>
              </a:rPr>
              <a:t>   FILE *</a:t>
            </a:r>
            <a:r>
              <a:rPr lang="en-IN" dirty="0" err="1">
                <a:solidFill>
                  <a:schemeClr val="tx1"/>
                </a:solidFill>
              </a:rPr>
              <a:t>fp</a:t>
            </a:r>
            <a:r>
              <a:rPr lang="en-IN" dirty="0">
                <a:solidFill>
                  <a:schemeClr val="tx1"/>
                </a:solidFill>
              </a:rPr>
              <a:t>;  </a:t>
            </a:r>
          </a:p>
          <a:p>
            <a:r>
              <a:rPr lang="en-IN" dirty="0">
                <a:solidFill>
                  <a:schemeClr val="tx1"/>
                </a:solidFill>
              </a:rPr>
              <a:t>   char buff[255]; </a:t>
            </a:r>
          </a:p>
          <a:p>
            <a:r>
              <a:rPr lang="en-IN" dirty="0">
                <a:solidFill>
                  <a:schemeClr val="tx1"/>
                </a:solidFill>
              </a:rPr>
              <a:t>   </a:t>
            </a:r>
            <a:r>
              <a:rPr lang="en-IN" dirty="0" err="1">
                <a:solidFill>
                  <a:schemeClr val="tx1"/>
                </a:solidFill>
              </a:rPr>
              <a:t>fp</a:t>
            </a:r>
            <a:r>
              <a:rPr lang="en-IN" dirty="0">
                <a:solidFill>
                  <a:schemeClr val="tx1"/>
                </a:solidFill>
              </a:rPr>
              <a:t> = </a:t>
            </a:r>
            <a:r>
              <a:rPr lang="en-IN" dirty="0" err="1">
                <a:solidFill>
                  <a:schemeClr val="tx1"/>
                </a:solidFill>
              </a:rPr>
              <a:t>fopen</a:t>
            </a:r>
            <a:r>
              <a:rPr lang="en-IN" dirty="0">
                <a:solidFill>
                  <a:schemeClr val="tx1"/>
                </a:solidFill>
              </a:rPr>
              <a:t>("file.txt", "r");  </a:t>
            </a:r>
          </a:p>
          <a:p>
            <a:r>
              <a:rPr lang="en-IN" dirty="0">
                <a:solidFill>
                  <a:schemeClr val="tx1"/>
                </a:solidFill>
              </a:rPr>
              <a:t>   while(</a:t>
            </a:r>
            <a:r>
              <a:rPr lang="en-IN" dirty="0" err="1">
                <a:solidFill>
                  <a:schemeClr val="tx1"/>
                </a:solidFill>
              </a:rPr>
              <a:t>fscanf</a:t>
            </a:r>
            <a:r>
              <a:rPr lang="en-IN" dirty="0">
                <a:solidFill>
                  <a:schemeClr val="tx1"/>
                </a:solidFill>
              </a:rPr>
              <a:t>(</a:t>
            </a:r>
            <a:r>
              <a:rPr lang="en-IN" dirty="0" err="1">
                <a:solidFill>
                  <a:schemeClr val="tx1"/>
                </a:solidFill>
              </a:rPr>
              <a:t>fp</a:t>
            </a:r>
            <a:r>
              <a:rPr lang="en-IN" dirty="0">
                <a:solidFill>
                  <a:schemeClr val="tx1"/>
                </a:solidFill>
              </a:rPr>
              <a:t>, "%s", buff)!=EOF)</a:t>
            </a:r>
          </a:p>
          <a:p>
            <a:r>
              <a:rPr lang="en-IN" dirty="0">
                <a:solidFill>
                  <a:schemeClr val="tx1"/>
                </a:solidFill>
              </a:rPr>
              <a:t>    {   </a:t>
            </a:r>
          </a:p>
          <a:p>
            <a:r>
              <a:rPr lang="en-IN" dirty="0">
                <a:solidFill>
                  <a:schemeClr val="tx1"/>
                </a:solidFill>
              </a:rPr>
              <a:t>          </a:t>
            </a:r>
            <a:r>
              <a:rPr lang="en-IN" dirty="0" err="1">
                <a:solidFill>
                  <a:schemeClr val="tx1"/>
                </a:solidFill>
              </a:rPr>
              <a:t>printf</a:t>
            </a:r>
            <a:r>
              <a:rPr lang="en-IN" dirty="0">
                <a:solidFill>
                  <a:schemeClr val="tx1"/>
                </a:solidFill>
              </a:rPr>
              <a:t>("%s ", buff );  </a:t>
            </a:r>
          </a:p>
          <a:p>
            <a:r>
              <a:rPr lang="en-IN" dirty="0">
                <a:solidFill>
                  <a:schemeClr val="tx1"/>
                </a:solidFill>
              </a:rPr>
              <a:t>     }  </a:t>
            </a:r>
          </a:p>
          <a:p>
            <a:r>
              <a:rPr lang="en-IN" dirty="0">
                <a:solidFill>
                  <a:schemeClr val="tx1"/>
                </a:solidFill>
              </a:rPr>
              <a:t>   </a:t>
            </a:r>
            <a:r>
              <a:rPr lang="en-IN" dirty="0" err="1">
                <a:solidFill>
                  <a:schemeClr val="tx1"/>
                </a:solidFill>
              </a:rPr>
              <a:t>fclose</a:t>
            </a:r>
            <a:r>
              <a:rPr lang="en-IN" dirty="0">
                <a:solidFill>
                  <a:schemeClr val="tx1"/>
                </a:solidFill>
              </a:rPr>
              <a:t>(</a:t>
            </a:r>
            <a:r>
              <a:rPr lang="en-IN" dirty="0" err="1">
                <a:solidFill>
                  <a:schemeClr val="tx1"/>
                </a:solidFill>
              </a:rPr>
              <a:t>fp</a:t>
            </a:r>
            <a:r>
              <a:rPr lang="en-IN" dirty="0">
                <a:solidFill>
                  <a:schemeClr val="tx1"/>
                </a:solidFill>
              </a:rPr>
              <a:t>);  </a:t>
            </a:r>
          </a:p>
          <a:p>
            <a:r>
              <a:rPr lang="en-IN" dirty="0">
                <a:solidFill>
                  <a:schemeClr val="tx1"/>
                </a:solidFill>
              </a:rPr>
              <a:t>}</a:t>
            </a:r>
          </a:p>
        </p:txBody>
      </p:sp>
      <p:sp>
        <p:nvSpPr>
          <p:cNvPr id="6" name="TextBox 5">
            <a:extLst>
              <a:ext uri="{FF2B5EF4-FFF2-40B4-BE49-F238E27FC236}">
                <a16:creationId xmlns:a16="http://schemas.microsoft.com/office/drawing/2014/main" id="{5B601B8B-D3F5-2DBC-6D95-61E33AEC7CEB}"/>
              </a:ext>
            </a:extLst>
          </p:cNvPr>
          <p:cNvSpPr txBox="1"/>
          <p:nvPr/>
        </p:nvSpPr>
        <p:spPr>
          <a:xfrm>
            <a:off x="3312215" y="4673651"/>
            <a:ext cx="4586908" cy="307777"/>
          </a:xfrm>
          <a:prstGeom prst="rect">
            <a:avLst/>
          </a:prstGeom>
          <a:noFill/>
        </p:spPr>
        <p:txBody>
          <a:bodyPr wrap="square">
            <a:spAutoFit/>
          </a:bodyPr>
          <a:lstStyle/>
          <a:p>
            <a:r>
              <a:rPr lang="en-IN" b="1" dirty="0">
                <a:solidFill>
                  <a:srgbClr val="FFFF00"/>
                </a:solidFill>
              </a:rPr>
              <a:t>Output:</a:t>
            </a:r>
            <a:r>
              <a:rPr lang="en-IN" dirty="0">
                <a:solidFill>
                  <a:srgbClr val="FFFF00"/>
                </a:solidFill>
              </a:rPr>
              <a:t> Hello file by </a:t>
            </a:r>
            <a:r>
              <a:rPr lang="en-IN" dirty="0" err="1">
                <a:solidFill>
                  <a:srgbClr val="FFFF00"/>
                </a:solidFill>
              </a:rPr>
              <a:t>fprintf</a:t>
            </a:r>
            <a:r>
              <a:rPr lang="en-IN" dirty="0">
                <a:solidFill>
                  <a:srgbClr val="FFFF00"/>
                </a:solidFill>
              </a:rPr>
              <a:t>...</a:t>
            </a:r>
          </a:p>
        </p:txBody>
      </p:sp>
    </p:spTree>
    <p:extLst>
      <p:ext uri="{BB962C8B-B14F-4D97-AF65-F5344CB8AC3E}">
        <p14:creationId xmlns:p14="http://schemas.microsoft.com/office/powerpoint/2010/main" val="17979272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99391"/>
            <a:ext cx="6943469" cy="396300"/>
          </a:xfrm>
        </p:spPr>
        <p:txBody>
          <a:bodyPr/>
          <a:lstStyle/>
          <a:p>
            <a:pPr algn="ctr"/>
            <a:r>
              <a:rPr lang="en-IN" sz="2400" dirty="0"/>
              <a:t>Example program for File Read</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
        <p:nvSpPr>
          <p:cNvPr id="5" name="TextBox 4">
            <a:extLst>
              <a:ext uri="{FF2B5EF4-FFF2-40B4-BE49-F238E27FC236}">
                <a16:creationId xmlns:a16="http://schemas.microsoft.com/office/drawing/2014/main" id="{5821AE52-1534-37A9-A4F3-84F54559405E}"/>
              </a:ext>
            </a:extLst>
          </p:cNvPr>
          <p:cNvSpPr txBox="1"/>
          <p:nvPr/>
        </p:nvSpPr>
        <p:spPr>
          <a:xfrm>
            <a:off x="454715" y="763887"/>
            <a:ext cx="4586908" cy="3754874"/>
          </a:xfrm>
          <a:prstGeom prst="rect">
            <a:avLst/>
          </a:prstGeom>
          <a:noFill/>
        </p:spPr>
        <p:txBody>
          <a:bodyPr wrap="square">
            <a:spAutoFit/>
          </a:bodyPr>
          <a:lstStyle/>
          <a:p>
            <a:r>
              <a:rPr lang="en-IN" dirty="0">
                <a:solidFill>
                  <a:schemeClr val="tx1"/>
                </a:solidFill>
              </a:rPr>
              <a:t>#include&lt;stdio.h&gt;</a:t>
            </a:r>
          </a:p>
          <a:p>
            <a:r>
              <a:rPr lang="en-IN" dirty="0">
                <a:solidFill>
                  <a:schemeClr val="tx1"/>
                </a:solidFill>
              </a:rPr>
              <a:t>#include&lt;conio.h&gt;</a:t>
            </a:r>
          </a:p>
          <a:p>
            <a:r>
              <a:rPr lang="en-IN" dirty="0">
                <a:solidFill>
                  <a:schemeClr val="tx1"/>
                </a:solidFill>
              </a:rPr>
              <a:t>void main()</a:t>
            </a:r>
          </a:p>
          <a:p>
            <a:r>
              <a:rPr lang="en-IN" dirty="0">
                <a:solidFill>
                  <a:schemeClr val="tx1"/>
                </a:solidFill>
              </a:rPr>
              <a:t>{</a:t>
            </a:r>
          </a:p>
          <a:p>
            <a:r>
              <a:rPr lang="en-IN" dirty="0">
                <a:solidFill>
                  <a:schemeClr val="tx1"/>
                </a:solidFill>
              </a:rPr>
              <a:t>	FILE *</a:t>
            </a:r>
            <a:r>
              <a:rPr lang="en-IN" dirty="0" err="1">
                <a:solidFill>
                  <a:schemeClr val="tx1"/>
                </a:solidFill>
              </a:rPr>
              <a:t>ptr</a:t>
            </a:r>
            <a:r>
              <a:rPr lang="en-IN" dirty="0">
                <a:solidFill>
                  <a:schemeClr val="tx1"/>
                </a:solidFill>
              </a:rPr>
              <a:t>;</a:t>
            </a:r>
          </a:p>
          <a:p>
            <a:r>
              <a:rPr lang="en-IN" dirty="0">
                <a:solidFill>
                  <a:schemeClr val="tx1"/>
                </a:solidFill>
              </a:rPr>
              <a:t>	int c;</a:t>
            </a:r>
          </a:p>
          <a:p>
            <a:r>
              <a:rPr lang="en-IN" dirty="0">
                <a:solidFill>
                  <a:schemeClr val="tx1"/>
                </a:solidFill>
              </a:rPr>
              <a:t>	</a:t>
            </a:r>
            <a:r>
              <a:rPr lang="en-IN" dirty="0" err="1">
                <a:solidFill>
                  <a:schemeClr val="tx1"/>
                </a:solidFill>
              </a:rPr>
              <a:t>clrscr</a:t>
            </a:r>
            <a:r>
              <a:rPr lang="en-IN" dirty="0">
                <a:solidFill>
                  <a:schemeClr val="tx1"/>
                </a:solidFill>
              </a:rPr>
              <a:t>();</a:t>
            </a:r>
          </a:p>
          <a:p>
            <a:r>
              <a:rPr lang="en-IN" dirty="0">
                <a:solidFill>
                  <a:schemeClr val="tx1"/>
                </a:solidFill>
              </a:rPr>
              <a:t>	</a:t>
            </a:r>
            <a:r>
              <a:rPr lang="en-IN" dirty="0" err="1">
                <a:solidFill>
                  <a:schemeClr val="tx1"/>
                </a:solidFill>
              </a:rPr>
              <a:t>ptr</a:t>
            </a:r>
            <a:r>
              <a:rPr lang="en-IN" dirty="0">
                <a:solidFill>
                  <a:schemeClr val="tx1"/>
                </a:solidFill>
              </a:rPr>
              <a:t>=</a:t>
            </a:r>
            <a:r>
              <a:rPr lang="en-IN" dirty="0" err="1">
                <a:solidFill>
                  <a:schemeClr val="tx1"/>
                </a:solidFill>
              </a:rPr>
              <a:t>fopen</a:t>
            </a:r>
            <a:r>
              <a:rPr lang="en-IN" dirty="0">
                <a:solidFill>
                  <a:schemeClr val="tx1"/>
                </a:solidFill>
              </a:rPr>
              <a:t>(“</a:t>
            </a:r>
            <a:r>
              <a:rPr lang="en-IN" dirty="0" err="1">
                <a:solidFill>
                  <a:schemeClr val="tx1"/>
                </a:solidFill>
              </a:rPr>
              <a:t>total.c”,”r</a:t>
            </a:r>
            <a:r>
              <a:rPr lang="en-IN" dirty="0">
                <a:solidFill>
                  <a:schemeClr val="tx1"/>
                </a:solidFill>
              </a:rPr>
              <a:t>”);</a:t>
            </a:r>
          </a:p>
          <a:p>
            <a:r>
              <a:rPr lang="en-IN" dirty="0">
                <a:solidFill>
                  <a:schemeClr val="tx1"/>
                </a:solidFill>
              </a:rPr>
              <a:t>	c=</a:t>
            </a:r>
            <a:r>
              <a:rPr lang="en-IN" dirty="0" err="1">
                <a:solidFill>
                  <a:schemeClr val="tx1"/>
                </a:solidFill>
              </a:rPr>
              <a:t>getc</a:t>
            </a:r>
            <a:r>
              <a:rPr lang="en-IN" dirty="0">
                <a:solidFill>
                  <a:schemeClr val="tx1"/>
                </a:solidFill>
              </a:rPr>
              <a:t>(</a:t>
            </a:r>
            <a:r>
              <a:rPr lang="en-IN" dirty="0" err="1">
                <a:solidFill>
                  <a:schemeClr val="tx1"/>
                </a:solidFill>
              </a:rPr>
              <a:t>ptr</a:t>
            </a:r>
            <a:r>
              <a:rPr lang="en-IN" dirty="0">
                <a:solidFill>
                  <a:schemeClr val="tx1"/>
                </a:solidFill>
              </a:rPr>
              <a:t>);</a:t>
            </a:r>
          </a:p>
          <a:p>
            <a:r>
              <a:rPr lang="en-IN" dirty="0">
                <a:solidFill>
                  <a:schemeClr val="tx1"/>
                </a:solidFill>
              </a:rPr>
              <a:t>	while(c!=EOF)</a:t>
            </a:r>
          </a:p>
          <a:p>
            <a:r>
              <a:rPr lang="en-IN" dirty="0">
                <a:solidFill>
                  <a:schemeClr val="tx1"/>
                </a:solidFill>
              </a:rPr>
              <a:t>	{</a:t>
            </a:r>
          </a:p>
          <a:p>
            <a:r>
              <a:rPr lang="en-IN" dirty="0">
                <a:solidFill>
                  <a:schemeClr val="tx1"/>
                </a:solidFill>
              </a:rPr>
              <a:t>		</a:t>
            </a:r>
            <a:r>
              <a:rPr lang="en-IN" dirty="0" err="1">
                <a:solidFill>
                  <a:schemeClr val="tx1"/>
                </a:solidFill>
              </a:rPr>
              <a:t>putchar</a:t>
            </a:r>
            <a:r>
              <a:rPr lang="en-IN" dirty="0">
                <a:solidFill>
                  <a:schemeClr val="tx1"/>
                </a:solidFill>
              </a:rPr>
              <a:t>(c);</a:t>
            </a:r>
          </a:p>
          <a:p>
            <a:r>
              <a:rPr lang="en-IN" dirty="0">
                <a:solidFill>
                  <a:schemeClr val="tx1"/>
                </a:solidFill>
              </a:rPr>
              <a:t>		c=</a:t>
            </a:r>
            <a:r>
              <a:rPr lang="en-IN" dirty="0" err="1">
                <a:solidFill>
                  <a:schemeClr val="tx1"/>
                </a:solidFill>
              </a:rPr>
              <a:t>getc</a:t>
            </a:r>
            <a:r>
              <a:rPr lang="en-IN" dirty="0">
                <a:solidFill>
                  <a:schemeClr val="tx1"/>
                </a:solidFill>
              </a:rPr>
              <a:t>(</a:t>
            </a:r>
            <a:r>
              <a:rPr lang="en-IN" dirty="0" err="1">
                <a:solidFill>
                  <a:schemeClr val="tx1"/>
                </a:solidFill>
              </a:rPr>
              <a:t>ptr</a:t>
            </a:r>
            <a:r>
              <a:rPr lang="en-IN" dirty="0">
                <a:solidFill>
                  <a:schemeClr val="tx1"/>
                </a:solidFill>
              </a:rPr>
              <a:t>);</a:t>
            </a:r>
          </a:p>
          <a:p>
            <a:r>
              <a:rPr lang="en-IN" dirty="0">
                <a:solidFill>
                  <a:schemeClr val="tx1"/>
                </a:solidFill>
              </a:rPr>
              <a:t>	}</a:t>
            </a:r>
          </a:p>
          <a:p>
            <a:r>
              <a:rPr lang="en-IN" dirty="0">
                <a:solidFill>
                  <a:schemeClr val="tx1"/>
                </a:solidFill>
              </a:rPr>
              <a:t>	</a:t>
            </a:r>
            <a:r>
              <a:rPr lang="en-IN" dirty="0" err="1">
                <a:solidFill>
                  <a:schemeClr val="tx1"/>
                </a:solidFill>
              </a:rPr>
              <a:t>fclose</a:t>
            </a:r>
            <a:r>
              <a:rPr lang="en-IN" dirty="0">
                <a:solidFill>
                  <a:schemeClr val="tx1"/>
                </a:solidFill>
              </a:rPr>
              <a:t>(</a:t>
            </a:r>
            <a:r>
              <a:rPr lang="en-IN" dirty="0" err="1">
                <a:solidFill>
                  <a:schemeClr val="tx1"/>
                </a:solidFill>
              </a:rPr>
              <a:t>ptr</a:t>
            </a:r>
            <a:r>
              <a:rPr lang="en-IN" dirty="0">
                <a:solidFill>
                  <a:schemeClr val="tx1"/>
                </a:solidFill>
              </a:rPr>
              <a:t>);</a:t>
            </a:r>
          </a:p>
          <a:p>
            <a:r>
              <a:rPr lang="en-IN" dirty="0">
                <a:solidFill>
                  <a:schemeClr val="tx1"/>
                </a:solidFill>
              </a:rPr>
              <a:t>	</a:t>
            </a:r>
            <a:r>
              <a:rPr lang="en-IN" dirty="0" err="1">
                <a:solidFill>
                  <a:schemeClr val="tx1"/>
                </a:solidFill>
              </a:rPr>
              <a:t>getch</a:t>
            </a:r>
            <a:r>
              <a:rPr lang="en-IN" dirty="0">
                <a:solidFill>
                  <a:schemeClr val="tx1"/>
                </a:solidFill>
              </a:rPr>
              <a:t>();</a:t>
            </a:r>
          </a:p>
          <a:p>
            <a:r>
              <a:rPr lang="en-IN" dirty="0">
                <a:solidFill>
                  <a:schemeClr val="tx1"/>
                </a:solidFill>
              </a:rPr>
              <a:t>}</a:t>
            </a:r>
          </a:p>
        </p:txBody>
      </p:sp>
    </p:spTree>
    <p:extLst>
      <p:ext uri="{BB962C8B-B14F-4D97-AF65-F5344CB8AC3E}">
        <p14:creationId xmlns:p14="http://schemas.microsoft.com/office/powerpoint/2010/main" val="2241832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99391"/>
            <a:ext cx="6943469" cy="396300"/>
          </a:xfrm>
        </p:spPr>
        <p:txBody>
          <a:bodyPr/>
          <a:lstStyle/>
          <a:p>
            <a:pPr algn="ctr"/>
            <a:r>
              <a:rPr lang="en-IN" sz="2400" dirty="0"/>
              <a:t>Example program for File Write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
        <p:nvSpPr>
          <p:cNvPr id="5" name="TextBox 4">
            <a:extLst>
              <a:ext uri="{FF2B5EF4-FFF2-40B4-BE49-F238E27FC236}">
                <a16:creationId xmlns:a16="http://schemas.microsoft.com/office/drawing/2014/main" id="{5821AE52-1534-37A9-A4F3-84F54559405E}"/>
              </a:ext>
            </a:extLst>
          </p:cNvPr>
          <p:cNvSpPr txBox="1"/>
          <p:nvPr/>
        </p:nvSpPr>
        <p:spPr>
          <a:xfrm>
            <a:off x="454715" y="763887"/>
            <a:ext cx="5687668" cy="2893100"/>
          </a:xfrm>
          <a:prstGeom prst="rect">
            <a:avLst/>
          </a:prstGeom>
          <a:noFill/>
        </p:spPr>
        <p:txBody>
          <a:bodyPr wrap="square">
            <a:spAutoFit/>
          </a:bodyPr>
          <a:lstStyle/>
          <a:p>
            <a:r>
              <a:rPr lang="en-IN" dirty="0">
                <a:solidFill>
                  <a:schemeClr val="tx1"/>
                </a:solidFill>
              </a:rPr>
              <a:t>#include&lt;stdio.h&gt;</a:t>
            </a:r>
          </a:p>
          <a:p>
            <a:r>
              <a:rPr lang="en-IN" dirty="0">
                <a:solidFill>
                  <a:schemeClr val="tx1"/>
                </a:solidFill>
              </a:rPr>
              <a:t>#include&lt;conio.h&gt;</a:t>
            </a:r>
          </a:p>
          <a:p>
            <a:r>
              <a:rPr lang="en-IN" dirty="0">
                <a:solidFill>
                  <a:schemeClr val="tx1"/>
                </a:solidFill>
              </a:rPr>
              <a:t>void main()</a:t>
            </a:r>
          </a:p>
          <a:p>
            <a:r>
              <a:rPr lang="en-IN" dirty="0">
                <a:solidFill>
                  <a:schemeClr val="tx1"/>
                </a:solidFill>
              </a:rPr>
              <a:t>{</a:t>
            </a:r>
          </a:p>
          <a:p>
            <a:r>
              <a:rPr lang="en-IN" dirty="0">
                <a:solidFill>
                  <a:schemeClr val="tx1"/>
                </a:solidFill>
              </a:rPr>
              <a:t>	FILE *</a:t>
            </a:r>
            <a:r>
              <a:rPr lang="en-IN" dirty="0" err="1">
                <a:solidFill>
                  <a:schemeClr val="tx1"/>
                </a:solidFill>
              </a:rPr>
              <a:t>ptr</a:t>
            </a:r>
            <a:r>
              <a:rPr lang="en-IN" dirty="0">
                <a:solidFill>
                  <a:schemeClr val="tx1"/>
                </a:solidFill>
              </a:rPr>
              <a:t>;</a:t>
            </a:r>
          </a:p>
          <a:p>
            <a:r>
              <a:rPr lang="en-IN" dirty="0">
                <a:solidFill>
                  <a:schemeClr val="tx1"/>
                </a:solidFill>
              </a:rPr>
              <a:t>	</a:t>
            </a:r>
            <a:r>
              <a:rPr lang="en-IN" dirty="0" err="1">
                <a:solidFill>
                  <a:schemeClr val="tx1"/>
                </a:solidFill>
              </a:rPr>
              <a:t>clrscr</a:t>
            </a:r>
            <a:r>
              <a:rPr lang="en-IN" dirty="0">
                <a:solidFill>
                  <a:schemeClr val="tx1"/>
                </a:solidFill>
              </a:rPr>
              <a:t>();</a:t>
            </a:r>
          </a:p>
          <a:p>
            <a:r>
              <a:rPr lang="en-IN" dirty="0">
                <a:solidFill>
                  <a:schemeClr val="tx1"/>
                </a:solidFill>
              </a:rPr>
              <a:t>	</a:t>
            </a:r>
            <a:r>
              <a:rPr lang="en-IN" dirty="0" err="1">
                <a:solidFill>
                  <a:schemeClr val="tx1"/>
                </a:solidFill>
              </a:rPr>
              <a:t>ptr</a:t>
            </a:r>
            <a:r>
              <a:rPr lang="en-IN" dirty="0">
                <a:solidFill>
                  <a:schemeClr val="tx1"/>
                </a:solidFill>
              </a:rPr>
              <a:t>=</a:t>
            </a:r>
            <a:r>
              <a:rPr lang="en-IN" dirty="0" err="1">
                <a:solidFill>
                  <a:schemeClr val="tx1"/>
                </a:solidFill>
              </a:rPr>
              <a:t>fopen</a:t>
            </a:r>
            <a:r>
              <a:rPr lang="en-IN" dirty="0">
                <a:solidFill>
                  <a:schemeClr val="tx1"/>
                </a:solidFill>
              </a:rPr>
              <a:t>(“</a:t>
            </a:r>
            <a:r>
              <a:rPr lang="en-IN" dirty="0" err="1">
                <a:solidFill>
                  <a:schemeClr val="tx1"/>
                </a:solidFill>
              </a:rPr>
              <a:t>sai.txt”,”w</a:t>
            </a:r>
            <a:r>
              <a:rPr lang="en-IN" dirty="0">
                <a:solidFill>
                  <a:schemeClr val="tx1"/>
                </a:solidFill>
              </a:rPr>
              <a:t>”);</a:t>
            </a:r>
          </a:p>
          <a:p>
            <a:r>
              <a:rPr lang="en-IN" dirty="0">
                <a:solidFill>
                  <a:schemeClr val="tx1"/>
                </a:solidFill>
              </a:rPr>
              <a:t>	</a:t>
            </a:r>
            <a:r>
              <a:rPr lang="en-IN" dirty="0" err="1">
                <a:solidFill>
                  <a:schemeClr val="tx1"/>
                </a:solidFill>
              </a:rPr>
              <a:t>fprintf</a:t>
            </a:r>
            <a:r>
              <a:rPr lang="en-IN" dirty="0">
                <a:solidFill>
                  <a:schemeClr val="tx1"/>
                </a:solidFill>
              </a:rPr>
              <a:t>(</a:t>
            </a:r>
            <a:r>
              <a:rPr lang="en-IN" dirty="0" err="1">
                <a:solidFill>
                  <a:schemeClr val="tx1"/>
                </a:solidFill>
              </a:rPr>
              <a:t>ptr</a:t>
            </a:r>
            <a:r>
              <a:rPr lang="en-IN" dirty="0">
                <a:solidFill>
                  <a:schemeClr val="tx1"/>
                </a:solidFill>
              </a:rPr>
              <a:t>,”\n %</a:t>
            </a:r>
            <a:r>
              <a:rPr lang="en-IN" dirty="0" err="1">
                <a:solidFill>
                  <a:schemeClr val="tx1"/>
                </a:solidFill>
              </a:rPr>
              <a:t>s”,”HELLO</a:t>
            </a:r>
            <a:r>
              <a:rPr lang="en-IN" dirty="0">
                <a:solidFill>
                  <a:schemeClr val="tx1"/>
                </a:solidFill>
              </a:rPr>
              <a:t> HOW ARE YOU!”);</a:t>
            </a:r>
          </a:p>
          <a:p>
            <a:r>
              <a:rPr lang="en-IN" dirty="0">
                <a:solidFill>
                  <a:schemeClr val="tx1"/>
                </a:solidFill>
              </a:rPr>
              <a:t>	</a:t>
            </a:r>
            <a:r>
              <a:rPr lang="en-IN" dirty="0" err="1">
                <a:solidFill>
                  <a:schemeClr val="tx1"/>
                </a:solidFill>
              </a:rPr>
              <a:t>fprintf</a:t>
            </a:r>
            <a:r>
              <a:rPr lang="en-IN" dirty="0">
                <a:solidFill>
                  <a:schemeClr val="tx1"/>
                </a:solidFill>
              </a:rPr>
              <a:t>(</a:t>
            </a:r>
            <a:r>
              <a:rPr lang="en-IN" dirty="0" err="1">
                <a:solidFill>
                  <a:schemeClr val="tx1"/>
                </a:solidFill>
              </a:rPr>
              <a:t>ptr</a:t>
            </a:r>
            <a:r>
              <a:rPr lang="en-IN" dirty="0">
                <a:solidFill>
                  <a:schemeClr val="tx1"/>
                </a:solidFill>
              </a:rPr>
              <a:t>,”\n%d”,15000);</a:t>
            </a:r>
          </a:p>
          <a:p>
            <a:r>
              <a:rPr lang="en-IN" dirty="0">
                <a:solidFill>
                  <a:schemeClr val="tx1"/>
                </a:solidFill>
              </a:rPr>
              <a:t>	</a:t>
            </a:r>
            <a:r>
              <a:rPr lang="en-IN" dirty="0" err="1">
                <a:solidFill>
                  <a:schemeClr val="tx1"/>
                </a:solidFill>
              </a:rPr>
              <a:t>fprintf</a:t>
            </a:r>
            <a:r>
              <a:rPr lang="en-IN" dirty="0">
                <a:solidFill>
                  <a:schemeClr val="tx1"/>
                </a:solidFill>
              </a:rPr>
              <a:t>(</a:t>
            </a:r>
            <a:r>
              <a:rPr lang="en-IN" dirty="0" err="1">
                <a:solidFill>
                  <a:schemeClr val="tx1"/>
                </a:solidFill>
              </a:rPr>
              <a:t>ptr</a:t>
            </a:r>
            <a:r>
              <a:rPr lang="en-IN" dirty="0">
                <a:solidFill>
                  <a:schemeClr val="tx1"/>
                </a:solidFill>
              </a:rPr>
              <a:t>,”\n%f”,12.9090);</a:t>
            </a:r>
          </a:p>
          <a:p>
            <a:r>
              <a:rPr lang="en-IN" dirty="0">
                <a:solidFill>
                  <a:schemeClr val="tx1"/>
                </a:solidFill>
              </a:rPr>
              <a:t>	</a:t>
            </a:r>
            <a:r>
              <a:rPr lang="en-IN" dirty="0" err="1">
                <a:solidFill>
                  <a:schemeClr val="tx1"/>
                </a:solidFill>
              </a:rPr>
              <a:t>fclose</a:t>
            </a:r>
            <a:r>
              <a:rPr lang="en-IN" dirty="0">
                <a:solidFill>
                  <a:schemeClr val="tx1"/>
                </a:solidFill>
              </a:rPr>
              <a:t>(</a:t>
            </a:r>
            <a:r>
              <a:rPr lang="en-IN" dirty="0" err="1">
                <a:solidFill>
                  <a:schemeClr val="tx1"/>
                </a:solidFill>
              </a:rPr>
              <a:t>ptr</a:t>
            </a:r>
            <a:r>
              <a:rPr lang="en-IN" dirty="0">
                <a:solidFill>
                  <a:schemeClr val="tx1"/>
                </a:solidFill>
              </a:rPr>
              <a:t>);</a:t>
            </a:r>
          </a:p>
          <a:p>
            <a:r>
              <a:rPr lang="en-IN" dirty="0">
                <a:solidFill>
                  <a:schemeClr val="tx1"/>
                </a:solidFill>
              </a:rPr>
              <a:t>	</a:t>
            </a:r>
            <a:r>
              <a:rPr lang="en-IN" dirty="0" err="1">
                <a:solidFill>
                  <a:schemeClr val="tx1"/>
                </a:solidFill>
              </a:rPr>
              <a:t>getch</a:t>
            </a:r>
            <a:r>
              <a:rPr lang="en-IN" dirty="0">
                <a:solidFill>
                  <a:schemeClr val="tx1"/>
                </a:solidFill>
              </a:rPr>
              <a:t>();</a:t>
            </a:r>
          </a:p>
          <a:p>
            <a:r>
              <a:rPr lang="en-IN" dirty="0">
                <a:solidFill>
                  <a:schemeClr val="tx1"/>
                </a:solidFill>
              </a:rPr>
              <a:t>}</a:t>
            </a:r>
          </a:p>
        </p:txBody>
      </p:sp>
    </p:spTree>
    <p:extLst>
      <p:ext uri="{BB962C8B-B14F-4D97-AF65-F5344CB8AC3E}">
        <p14:creationId xmlns:p14="http://schemas.microsoft.com/office/powerpoint/2010/main" val="418262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99391"/>
            <a:ext cx="6943469" cy="396300"/>
          </a:xfrm>
        </p:spPr>
        <p:txBody>
          <a:bodyPr/>
          <a:lstStyle/>
          <a:p>
            <a:pPr algn="ctr"/>
            <a:r>
              <a:rPr lang="en-IN" sz="2400" dirty="0"/>
              <a:t>C Preprocessor</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sp>
        <p:nvSpPr>
          <p:cNvPr id="5" name="TextBox 4">
            <a:extLst>
              <a:ext uri="{FF2B5EF4-FFF2-40B4-BE49-F238E27FC236}">
                <a16:creationId xmlns:a16="http://schemas.microsoft.com/office/drawing/2014/main" id="{5821AE52-1534-37A9-A4F3-84F54559405E}"/>
              </a:ext>
            </a:extLst>
          </p:cNvPr>
          <p:cNvSpPr txBox="1"/>
          <p:nvPr/>
        </p:nvSpPr>
        <p:spPr>
          <a:xfrm>
            <a:off x="446017" y="396299"/>
            <a:ext cx="8251963" cy="1384995"/>
          </a:xfrm>
          <a:prstGeom prst="rect">
            <a:avLst/>
          </a:prstGeom>
          <a:noFill/>
        </p:spPr>
        <p:txBody>
          <a:bodyPr wrap="square">
            <a:spAutoFit/>
          </a:bodyPr>
          <a:lstStyle/>
          <a:p>
            <a:r>
              <a:rPr lang="en-US" dirty="0">
                <a:solidFill>
                  <a:schemeClr val="tx1"/>
                </a:solidFill>
              </a:rPr>
              <a:t>C Preprocessor is just a text substitution tool and it instructs the compiler to do required pre-processing before the actual compilation.  </a:t>
            </a:r>
          </a:p>
          <a:p>
            <a:endParaRPr lang="en-US" dirty="0">
              <a:solidFill>
                <a:schemeClr val="tx1"/>
              </a:solidFill>
            </a:endParaRPr>
          </a:p>
          <a:p>
            <a:r>
              <a:rPr lang="en-US" dirty="0">
                <a:solidFill>
                  <a:schemeClr val="tx1"/>
                </a:solidFill>
              </a:rPr>
              <a:t>It preprocesses instructions before it sends to the compiler</a:t>
            </a:r>
          </a:p>
          <a:p>
            <a:endParaRPr lang="en-US" dirty="0">
              <a:solidFill>
                <a:schemeClr val="tx1"/>
              </a:solidFill>
            </a:endParaRPr>
          </a:p>
          <a:p>
            <a:r>
              <a:rPr lang="en-US" dirty="0">
                <a:solidFill>
                  <a:schemeClr val="tx1"/>
                </a:solidFill>
              </a:rPr>
              <a:t>All preprocessor commands begin with a hash symbol (#).  </a:t>
            </a:r>
            <a:endParaRPr lang="en-IN" dirty="0">
              <a:solidFill>
                <a:schemeClr val="tx1"/>
              </a:solidFill>
            </a:endParaRPr>
          </a:p>
        </p:txBody>
      </p:sp>
      <p:pic>
        <p:nvPicPr>
          <p:cNvPr id="6" name="Picture 5">
            <a:extLst>
              <a:ext uri="{FF2B5EF4-FFF2-40B4-BE49-F238E27FC236}">
                <a16:creationId xmlns:a16="http://schemas.microsoft.com/office/drawing/2014/main" id="{9F01E885-C571-88C1-C76B-E496D63F1464}"/>
              </a:ext>
            </a:extLst>
          </p:cNvPr>
          <p:cNvPicPr>
            <a:picLocks noChangeAspect="1"/>
          </p:cNvPicPr>
          <p:nvPr/>
        </p:nvPicPr>
        <p:blipFill>
          <a:blip r:embed="rId2"/>
          <a:stretch>
            <a:fillRect/>
          </a:stretch>
        </p:blipFill>
        <p:spPr>
          <a:xfrm>
            <a:off x="580857" y="1846352"/>
            <a:ext cx="2779812" cy="3024099"/>
          </a:xfrm>
          <a:prstGeom prst="rect">
            <a:avLst/>
          </a:prstGeom>
        </p:spPr>
      </p:pic>
      <p:pic>
        <p:nvPicPr>
          <p:cNvPr id="8" name="Picture 7">
            <a:extLst>
              <a:ext uri="{FF2B5EF4-FFF2-40B4-BE49-F238E27FC236}">
                <a16:creationId xmlns:a16="http://schemas.microsoft.com/office/drawing/2014/main" id="{600BAAC1-95F1-9913-EBCC-632CFCB9D861}"/>
              </a:ext>
            </a:extLst>
          </p:cNvPr>
          <p:cNvPicPr>
            <a:picLocks noChangeAspect="1"/>
          </p:cNvPicPr>
          <p:nvPr/>
        </p:nvPicPr>
        <p:blipFill>
          <a:blip r:embed="rId3"/>
          <a:stretch>
            <a:fillRect/>
          </a:stretch>
        </p:blipFill>
        <p:spPr>
          <a:xfrm>
            <a:off x="3568013" y="1887598"/>
            <a:ext cx="2473385" cy="2982853"/>
          </a:xfrm>
          <a:prstGeom prst="rect">
            <a:avLst/>
          </a:prstGeom>
        </p:spPr>
      </p:pic>
    </p:spTree>
    <p:extLst>
      <p:ext uri="{BB962C8B-B14F-4D97-AF65-F5344CB8AC3E}">
        <p14:creationId xmlns:p14="http://schemas.microsoft.com/office/powerpoint/2010/main" val="3524082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99391"/>
            <a:ext cx="6943469" cy="396300"/>
          </a:xfrm>
        </p:spPr>
        <p:txBody>
          <a:bodyPr/>
          <a:lstStyle/>
          <a:p>
            <a:pPr algn="ctr"/>
            <a:r>
              <a:rPr lang="en-IN" sz="2400" dirty="0"/>
              <a:t>C Preprocessor</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pic>
        <p:nvPicPr>
          <p:cNvPr id="4" name="Picture 3">
            <a:extLst>
              <a:ext uri="{FF2B5EF4-FFF2-40B4-BE49-F238E27FC236}">
                <a16:creationId xmlns:a16="http://schemas.microsoft.com/office/drawing/2014/main" id="{7C99F15D-56E9-0C66-F9A9-10440E033D48}"/>
              </a:ext>
            </a:extLst>
          </p:cNvPr>
          <p:cNvPicPr>
            <a:picLocks noChangeAspect="1"/>
          </p:cNvPicPr>
          <p:nvPr/>
        </p:nvPicPr>
        <p:blipFill>
          <a:blip r:embed="rId2"/>
          <a:stretch>
            <a:fillRect/>
          </a:stretch>
        </p:blipFill>
        <p:spPr>
          <a:xfrm>
            <a:off x="1912258" y="495691"/>
            <a:ext cx="4474118" cy="2197813"/>
          </a:xfrm>
          <a:prstGeom prst="rect">
            <a:avLst/>
          </a:prstGeom>
        </p:spPr>
      </p:pic>
      <p:pic>
        <p:nvPicPr>
          <p:cNvPr id="2052" name="Picture 4" descr="C preprocessor">
            <a:extLst>
              <a:ext uri="{FF2B5EF4-FFF2-40B4-BE49-F238E27FC236}">
                <a16:creationId xmlns:a16="http://schemas.microsoft.com/office/drawing/2014/main" id="{4ADC3856-3E02-15DB-C82F-8C224B56F6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693" y="403091"/>
            <a:ext cx="1362075" cy="3743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1052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99391"/>
            <a:ext cx="6943469" cy="396300"/>
          </a:xfrm>
        </p:spPr>
        <p:txBody>
          <a:bodyPr/>
          <a:lstStyle/>
          <a:p>
            <a:pPr algn="ctr"/>
            <a:r>
              <a:rPr lang="en-IN" sz="2400" dirty="0"/>
              <a:t>C Preprocessor</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sp>
        <p:nvSpPr>
          <p:cNvPr id="6" name="TextBox 5">
            <a:extLst>
              <a:ext uri="{FF2B5EF4-FFF2-40B4-BE49-F238E27FC236}">
                <a16:creationId xmlns:a16="http://schemas.microsoft.com/office/drawing/2014/main" id="{4B9A3FB2-BE10-9F80-6ACF-DDDBE7FB4CB3}"/>
              </a:ext>
            </a:extLst>
          </p:cNvPr>
          <p:cNvSpPr txBox="1"/>
          <p:nvPr/>
        </p:nvSpPr>
        <p:spPr>
          <a:xfrm>
            <a:off x="315566" y="748677"/>
            <a:ext cx="8271843" cy="1749005"/>
          </a:xfrm>
          <a:prstGeom prst="rect">
            <a:avLst/>
          </a:prstGeom>
          <a:noFill/>
        </p:spPr>
        <p:txBody>
          <a:bodyPr wrap="square">
            <a:spAutoFit/>
          </a:bodyPr>
          <a:lstStyle/>
          <a:p>
            <a:pPr algn="just">
              <a:lnSpc>
                <a:spcPct val="200000"/>
              </a:lnSpc>
            </a:pPr>
            <a:r>
              <a:rPr lang="en-IN" dirty="0">
                <a:solidFill>
                  <a:schemeClr val="tx1"/>
                </a:solidFill>
              </a:rPr>
              <a:t>In programming terminology, a preprocessor is nothing but a System Software that performs the processing of a high-level language before compilation by translating the source code written in a high-level language to object code written in the machine-level language, that is easily understood by the compiler</a:t>
            </a:r>
          </a:p>
        </p:txBody>
      </p:sp>
    </p:spTree>
    <p:extLst>
      <p:ext uri="{BB962C8B-B14F-4D97-AF65-F5344CB8AC3E}">
        <p14:creationId xmlns:p14="http://schemas.microsoft.com/office/powerpoint/2010/main" val="39646676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99391"/>
            <a:ext cx="6943469" cy="396300"/>
          </a:xfrm>
        </p:spPr>
        <p:txBody>
          <a:bodyPr/>
          <a:lstStyle/>
          <a:p>
            <a:pPr algn="ctr"/>
            <a:r>
              <a:rPr lang="en-IN" sz="2400" dirty="0"/>
              <a:t>#inlcude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
        <p:nvSpPr>
          <p:cNvPr id="6" name="TextBox 5">
            <a:extLst>
              <a:ext uri="{FF2B5EF4-FFF2-40B4-BE49-F238E27FC236}">
                <a16:creationId xmlns:a16="http://schemas.microsoft.com/office/drawing/2014/main" id="{4B9A3FB2-BE10-9F80-6ACF-DDDBE7FB4CB3}"/>
              </a:ext>
            </a:extLst>
          </p:cNvPr>
          <p:cNvSpPr txBox="1"/>
          <p:nvPr/>
        </p:nvSpPr>
        <p:spPr>
          <a:xfrm>
            <a:off x="295689" y="495691"/>
            <a:ext cx="8271842" cy="2960875"/>
          </a:xfrm>
          <a:prstGeom prst="rect">
            <a:avLst/>
          </a:prstGeom>
          <a:noFill/>
        </p:spPr>
        <p:txBody>
          <a:bodyPr wrap="square">
            <a:spAutoFit/>
          </a:bodyPr>
          <a:lstStyle/>
          <a:p>
            <a:pPr algn="just">
              <a:lnSpc>
                <a:spcPct val="150000"/>
              </a:lnSpc>
            </a:pPr>
            <a:r>
              <a:rPr lang="en-US" dirty="0">
                <a:solidFill>
                  <a:schemeClr val="tx1"/>
                </a:solidFill>
              </a:rPr>
              <a:t>The </a:t>
            </a:r>
            <a:r>
              <a:rPr lang="en-US" b="1" dirty="0">
                <a:solidFill>
                  <a:srgbClr val="FFFF00"/>
                </a:solidFill>
              </a:rPr>
              <a:t>#include </a:t>
            </a:r>
            <a:r>
              <a:rPr lang="en-US" dirty="0">
                <a:solidFill>
                  <a:schemeClr val="tx1"/>
                </a:solidFill>
              </a:rPr>
              <a:t>preprocessor directive is used to paste code of given file into current file. </a:t>
            </a:r>
          </a:p>
          <a:p>
            <a:pPr algn="just">
              <a:lnSpc>
                <a:spcPct val="150000"/>
              </a:lnSpc>
            </a:pPr>
            <a:r>
              <a:rPr lang="en-US" dirty="0">
                <a:solidFill>
                  <a:schemeClr val="tx1"/>
                </a:solidFill>
              </a:rPr>
              <a:t>It is used include system-defined and user-defined header files. If included file is not found, compiler renders error.</a:t>
            </a:r>
          </a:p>
          <a:p>
            <a:pPr algn="just">
              <a:lnSpc>
                <a:spcPct val="150000"/>
              </a:lnSpc>
            </a:pPr>
            <a:r>
              <a:rPr lang="en-US" dirty="0">
                <a:solidFill>
                  <a:schemeClr val="tx1"/>
                </a:solidFill>
              </a:rPr>
              <a:t>By the use of #include directive, user provides information to the preprocessor where to look for the header files. </a:t>
            </a:r>
          </a:p>
          <a:p>
            <a:pPr algn="just">
              <a:lnSpc>
                <a:spcPct val="150000"/>
              </a:lnSpc>
            </a:pPr>
            <a:r>
              <a:rPr lang="en-US" dirty="0">
                <a:solidFill>
                  <a:schemeClr val="tx1"/>
                </a:solidFill>
              </a:rPr>
              <a:t>There are two variants to use #include directive.</a:t>
            </a:r>
          </a:p>
          <a:p>
            <a:pPr algn="just">
              <a:lnSpc>
                <a:spcPct val="150000"/>
              </a:lnSpc>
            </a:pPr>
            <a:r>
              <a:rPr lang="en-US" b="1" dirty="0">
                <a:solidFill>
                  <a:srgbClr val="00B050"/>
                </a:solidFill>
              </a:rPr>
              <a:t>                  #include &lt;filename&gt;</a:t>
            </a:r>
          </a:p>
          <a:p>
            <a:pPr algn="just">
              <a:lnSpc>
                <a:spcPct val="150000"/>
              </a:lnSpc>
            </a:pPr>
            <a:r>
              <a:rPr lang="en-US" b="1" dirty="0">
                <a:solidFill>
                  <a:srgbClr val="00B0F0"/>
                </a:solidFill>
              </a:rPr>
              <a:t>                   #include "filename“</a:t>
            </a:r>
          </a:p>
          <a:p>
            <a:pPr algn="just">
              <a:lnSpc>
                <a:spcPct val="150000"/>
              </a:lnSpc>
            </a:pPr>
            <a:endParaRPr lang="en-US" dirty="0">
              <a:solidFill>
                <a:schemeClr val="tx1"/>
              </a:solidFill>
            </a:endParaRPr>
          </a:p>
        </p:txBody>
      </p:sp>
      <p:sp>
        <p:nvSpPr>
          <p:cNvPr id="5" name="TextBox 4">
            <a:extLst>
              <a:ext uri="{FF2B5EF4-FFF2-40B4-BE49-F238E27FC236}">
                <a16:creationId xmlns:a16="http://schemas.microsoft.com/office/drawing/2014/main" id="{D73A5324-B040-36B0-4E17-0C4B756EB4DB}"/>
              </a:ext>
            </a:extLst>
          </p:cNvPr>
          <p:cNvSpPr txBox="1"/>
          <p:nvPr/>
        </p:nvSpPr>
        <p:spPr>
          <a:xfrm>
            <a:off x="190916" y="3117742"/>
            <a:ext cx="6015659" cy="1749005"/>
          </a:xfrm>
          <a:prstGeom prst="rect">
            <a:avLst/>
          </a:prstGeom>
          <a:noFill/>
        </p:spPr>
        <p:txBody>
          <a:bodyPr wrap="square">
            <a:spAutoFit/>
          </a:bodyPr>
          <a:lstStyle/>
          <a:p>
            <a:pPr algn="just">
              <a:lnSpc>
                <a:spcPct val="200000"/>
              </a:lnSpc>
            </a:pPr>
            <a:r>
              <a:rPr lang="en-US" sz="1400" dirty="0">
                <a:solidFill>
                  <a:srgbClr val="00B050"/>
                </a:solidFill>
              </a:rPr>
              <a:t>The #include &lt;filename&gt; tells the compiler to look for the directory where system header files are held.  </a:t>
            </a:r>
          </a:p>
          <a:p>
            <a:pPr algn="just">
              <a:lnSpc>
                <a:spcPct val="200000"/>
              </a:lnSpc>
            </a:pPr>
            <a:r>
              <a:rPr lang="en-US" sz="1400" dirty="0">
                <a:solidFill>
                  <a:srgbClr val="00B0F0"/>
                </a:solidFill>
              </a:rPr>
              <a:t>The #include "filename" tells the compiler to look in the current directory from where program is running.</a:t>
            </a:r>
            <a:endParaRPr lang="en-IN" sz="1400" dirty="0">
              <a:solidFill>
                <a:srgbClr val="00B0F0"/>
              </a:solidFill>
            </a:endParaRPr>
          </a:p>
        </p:txBody>
      </p:sp>
    </p:spTree>
    <p:extLst>
      <p:ext uri="{BB962C8B-B14F-4D97-AF65-F5344CB8AC3E}">
        <p14:creationId xmlns:p14="http://schemas.microsoft.com/office/powerpoint/2010/main" val="3389686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99391"/>
            <a:ext cx="6943469" cy="396300"/>
          </a:xfrm>
        </p:spPr>
        <p:txBody>
          <a:bodyPr/>
          <a:lstStyle/>
          <a:p>
            <a:pPr algn="ctr"/>
            <a:r>
              <a:rPr lang="en-IN" sz="2400" dirty="0"/>
              <a:t>#inlcude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sp>
        <p:nvSpPr>
          <p:cNvPr id="6" name="TextBox 5">
            <a:extLst>
              <a:ext uri="{FF2B5EF4-FFF2-40B4-BE49-F238E27FC236}">
                <a16:creationId xmlns:a16="http://schemas.microsoft.com/office/drawing/2014/main" id="{4B9A3FB2-BE10-9F80-6ACF-DDDBE7FB4CB3}"/>
              </a:ext>
            </a:extLst>
          </p:cNvPr>
          <p:cNvSpPr txBox="1"/>
          <p:nvPr/>
        </p:nvSpPr>
        <p:spPr>
          <a:xfrm>
            <a:off x="1269723" y="853499"/>
            <a:ext cx="3491120" cy="2314544"/>
          </a:xfrm>
          <a:prstGeom prst="rect">
            <a:avLst/>
          </a:prstGeom>
          <a:noFill/>
        </p:spPr>
        <p:txBody>
          <a:bodyPr wrap="square">
            <a:spAutoFit/>
          </a:bodyPr>
          <a:lstStyle/>
          <a:p>
            <a:pPr algn="just">
              <a:lnSpc>
                <a:spcPct val="150000"/>
              </a:lnSpc>
            </a:pPr>
            <a:r>
              <a:rPr lang="en-US" b="1" dirty="0">
                <a:solidFill>
                  <a:srgbClr val="00B050"/>
                </a:solidFill>
              </a:rPr>
              <a:t>Example</a:t>
            </a:r>
          </a:p>
          <a:p>
            <a:pPr algn="just">
              <a:lnSpc>
                <a:spcPct val="150000"/>
              </a:lnSpc>
            </a:pPr>
            <a:r>
              <a:rPr lang="en-US" dirty="0">
                <a:solidFill>
                  <a:schemeClr val="tx1"/>
                </a:solidFill>
              </a:rPr>
              <a:t>#include&lt;stdio.h&gt;  </a:t>
            </a:r>
          </a:p>
          <a:p>
            <a:pPr algn="just">
              <a:lnSpc>
                <a:spcPct val="150000"/>
              </a:lnSpc>
            </a:pPr>
            <a:r>
              <a:rPr lang="en-US" dirty="0">
                <a:solidFill>
                  <a:schemeClr val="tx1"/>
                </a:solidFill>
              </a:rPr>
              <a:t> int main()</a:t>
            </a:r>
          </a:p>
          <a:p>
            <a:pPr algn="just">
              <a:lnSpc>
                <a:spcPct val="150000"/>
              </a:lnSpc>
            </a:pPr>
            <a:r>
              <a:rPr lang="en-US" dirty="0">
                <a:solidFill>
                  <a:schemeClr val="tx1"/>
                </a:solidFill>
              </a:rPr>
              <a:t>{    </a:t>
            </a:r>
          </a:p>
          <a:p>
            <a:pPr algn="just">
              <a:lnSpc>
                <a:spcPct val="150000"/>
              </a:lnSpc>
            </a:pPr>
            <a:r>
              <a:rPr lang="en-US" dirty="0">
                <a:solidFill>
                  <a:schemeClr val="tx1"/>
                </a:solidFill>
              </a:rPr>
              <a:t>   </a:t>
            </a:r>
            <a:r>
              <a:rPr lang="en-US" dirty="0" err="1">
                <a:solidFill>
                  <a:schemeClr val="tx1"/>
                </a:solidFill>
              </a:rPr>
              <a:t>printf</a:t>
            </a:r>
            <a:r>
              <a:rPr lang="en-US" dirty="0">
                <a:solidFill>
                  <a:schemeClr val="tx1"/>
                </a:solidFill>
              </a:rPr>
              <a:t>("Hello C");      </a:t>
            </a:r>
          </a:p>
          <a:p>
            <a:pPr algn="just">
              <a:lnSpc>
                <a:spcPct val="150000"/>
              </a:lnSpc>
            </a:pPr>
            <a:r>
              <a:rPr lang="en-US" dirty="0">
                <a:solidFill>
                  <a:schemeClr val="tx1"/>
                </a:solidFill>
              </a:rPr>
              <a:t>   return 0;  </a:t>
            </a:r>
          </a:p>
          <a:p>
            <a:pPr algn="just">
              <a:lnSpc>
                <a:spcPct val="150000"/>
              </a:lnSpc>
            </a:pPr>
            <a:r>
              <a:rPr lang="en-US" dirty="0">
                <a:solidFill>
                  <a:schemeClr val="tx1"/>
                </a:solidFill>
              </a:rPr>
              <a:t> } </a:t>
            </a:r>
          </a:p>
        </p:txBody>
      </p:sp>
      <p:sp>
        <p:nvSpPr>
          <p:cNvPr id="4" name="Rectangle 1">
            <a:extLst>
              <a:ext uri="{FF2B5EF4-FFF2-40B4-BE49-F238E27FC236}">
                <a16:creationId xmlns:a16="http://schemas.microsoft.com/office/drawing/2014/main" id="{D9F601BC-A4D0-15EB-2376-0D24EE7C7ACA}"/>
              </a:ext>
            </a:extLst>
          </p:cNvPr>
          <p:cNvSpPr>
            <a:spLocks noChangeArrowheads="1"/>
          </p:cNvSpPr>
          <p:nvPr/>
        </p:nvSpPr>
        <p:spPr bwMode="auto">
          <a:xfrm>
            <a:off x="1192695" y="3367582"/>
            <a:ext cx="1311966" cy="77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sz="1200" b="1" i="0" u="none" strike="noStrike" cap="none" normalizeH="0" baseline="0" dirty="0">
                <a:ln>
                  <a:noFill/>
                </a:ln>
                <a:solidFill>
                  <a:srgbClr val="FFFF00"/>
                </a:solidFill>
                <a:effectLst/>
                <a:latin typeface="Arial Unicode MS"/>
              </a:rPr>
              <a:t>Output</a:t>
            </a: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sz="1200" b="0" i="0" u="none" strike="noStrike" cap="none" normalizeH="0" baseline="0" dirty="0">
                <a:ln>
                  <a:noFill/>
                </a:ln>
                <a:solidFill>
                  <a:srgbClr val="F9F9F9"/>
                </a:solidFill>
                <a:effectLst/>
                <a:latin typeface="Arial Unicode MS"/>
              </a:rPr>
              <a:t>Hello C</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737495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99391"/>
            <a:ext cx="6943469" cy="396300"/>
          </a:xfrm>
        </p:spPr>
        <p:txBody>
          <a:bodyPr/>
          <a:lstStyle/>
          <a:p>
            <a:pPr algn="ctr"/>
            <a:r>
              <a:rPr lang="en-IN" sz="2400" dirty="0"/>
              <a:t>#define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sp>
        <p:nvSpPr>
          <p:cNvPr id="6" name="TextBox 5">
            <a:extLst>
              <a:ext uri="{FF2B5EF4-FFF2-40B4-BE49-F238E27FC236}">
                <a16:creationId xmlns:a16="http://schemas.microsoft.com/office/drawing/2014/main" id="{4B9A3FB2-BE10-9F80-6ACF-DDDBE7FB4CB3}"/>
              </a:ext>
            </a:extLst>
          </p:cNvPr>
          <p:cNvSpPr txBox="1"/>
          <p:nvPr/>
        </p:nvSpPr>
        <p:spPr>
          <a:xfrm>
            <a:off x="295688" y="495691"/>
            <a:ext cx="8271843" cy="3970318"/>
          </a:xfrm>
          <a:prstGeom prst="rect">
            <a:avLst/>
          </a:prstGeom>
          <a:noFill/>
        </p:spPr>
        <p:txBody>
          <a:bodyPr wrap="square">
            <a:spAutoFit/>
          </a:bodyPr>
          <a:lstStyle/>
          <a:p>
            <a:pPr algn="just">
              <a:lnSpc>
                <a:spcPct val="200000"/>
              </a:lnSpc>
            </a:pPr>
            <a:r>
              <a:rPr lang="en-US" dirty="0">
                <a:solidFill>
                  <a:schemeClr val="tx1"/>
                </a:solidFill>
              </a:rPr>
              <a:t>The </a:t>
            </a:r>
            <a:r>
              <a:rPr lang="en-US" b="1" dirty="0">
                <a:solidFill>
                  <a:srgbClr val="FFFF00"/>
                </a:solidFill>
              </a:rPr>
              <a:t>#define </a:t>
            </a:r>
            <a:r>
              <a:rPr lang="en-US" dirty="0">
                <a:solidFill>
                  <a:schemeClr val="tx1"/>
                </a:solidFill>
              </a:rPr>
              <a:t>preprocessor directive is used to define constant or micro substitution. </a:t>
            </a:r>
          </a:p>
          <a:p>
            <a:pPr algn="just">
              <a:lnSpc>
                <a:spcPct val="200000"/>
              </a:lnSpc>
            </a:pPr>
            <a:r>
              <a:rPr lang="en-US" dirty="0">
                <a:solidFill>
                  <a:schemeClr val="tx1"/>
                </a:solidFill>
              </a:rPr>
              <a:t>It can use any basic data type.</a:t>
            </a:r>
          </a:p>
          <a:p>
            <a:pPr algn="just">
              <a:lnSpc>
                <a:spcPct val="200000"/>
              </a:lnSpc>
            </a:pPr>
            <a:r>
              <a:rPr lang="en-US" b="1" dirty="0">
                <a:solidFill>
                  <a:srgbClr val="FFFF00"/>
                </a:solidFill>
              </a:rPr>
              <a:t>Syntax</a:t>
            </a:r>
          </a:p>
          <a:p>
            <a:pPr algn="just">
              <a:lnSpc>
                <a:spcPct val="200000"/>
              </a:lnSpc>
            </a:pPr>
            <a:r>
              <a:rPr lang="en-US" dirty="0">
                <a:solidFill>
                  <a:schemeClr val="tx1"/>
                </a:solidFill>
              </a:rPr>
              <a:t> 	#define token value </a:t>
            </a:r>
          </a:p>
          <a:p>
            <a:pPr algn="just">
              <a:lnSpc>
                <a:spcPct val="200000"/>
              </a:lnSpc>
            </a:pPr>
            <a:r>
              <a:rPr lang="en-US" b="1" dirty="0">
                <a:solidFill>
                  <a:srgbClr val="FFFF00"/>
                </a:solidFill>
              </a:rPr>
              <a:t>Example</a:t>
            </a:r>
          </a:p>
          <a:p>
            <a:pPr algn="just"/>
            <a:r>
              <a:rPr lang="en-US" b="1" dirty="0">
                <a:solidFill>
                  <a:srgbClr val="FFFF00"/>
                </a:solidFill>
              </a:rPr>
              <a:t>	</a:t>
            </a:r>
            <a:r>
              <a:rPr lang="en-US" dirty="0">
                <a:solidFill>
                  <a:schemeClr val="tx1"/>
                </a:solidFill>
              </a:rPr>
              <a:t>#include &lt;</a:t>
            </a:r>
            <a:r>
              <a:rPr lang="en-US" dirty="0" err="1">
                <a:solidFill>
                  <a:schemeClr val="tx1"/>
                </a:solidFill>
              </a:rPr>
              <a:t>stdio.h</a:t>
            </a:r>
            <a:r>
              <a:rPr lang="en-US" dirty="0">
                <a:solidFill>
                  <a:schemeClr val="tx1"/>
                </a:solidFill>
              </a:rPr>
              <a:t>&gt;  </a:t>
            </a:r>
          </a:p>
          <a:p>
            <a:pPr algn="just"/>
            <a:r>
              <a:rPr lang="en-US" dirty="0">
                <a:solidFill>
                  <a:schemeClr val="tx1"/>
                </a:solidFill>
              </a:rPr>
              <a:t>                   #define PI 3.14  </a:t>
            </a:r>
          </a:p>
          <a:p>
            <a:pPr algn="just"/>
            <a:r>
              <a:rPr lang="en-US" dirty="0">
                <a:solidFill>
                  <a:schemeClr val="tx1"/>
                </a:solidFill>
              </a:rPr>
              <a:t>                   void main() </a:t>
            </a:r>
          </a:p>
          <a:p>
            <a:pPr algn="just"/>
            <a:r>
              <a:rPr lang="en-US" dirty="0">
                <a:solidFill>
                  <a:schemeClr val="tx1"/>
                </a:solidFill>
              </a:rPr>
              <a:t>                    {  </a:t>
            </a:r>
          </a:p>
          <a:p>
            <a:pPr algn="just"/>
            <a:r>
              <a:rPr lang="en-US" dirty="0">
                <a:solidFill>
                  <a:schemeClr val="tx1"/>
                </a:solidFill>
              </a:rPr>
              <a:t>                          </a:t>
            </a:r>
            <a:r>
              <a:rPr lang="en-US" dirty="0" err="1">
                <a:solidFill>
                  <a:schemeClr val="tx1"/>
                </a:solidFill>
              </a:rPr>
              <a:t>printf</a:t>
            </a:r>
            <a:r>
              <a:rPr lang="en-US" dirty="0">
                <a:solidFill>
                  <a:schemeClr val="tx1"/>
                </a:solidFill>
              </a:rPr>
              <a:t>("%f", PI);  </a:t>
            </a:r>
          </a:p>
          <a:p>
            <a:pPr algn="just"/>
            <a:r>
              <a:rPr lang="en-US" dirty="0">
                <a:solidFill>
                  <a:schemeClr val="tx1"/>
                </a:solidFill>
              </a:rPr>
              <a:t>                    }</a:t>
            </a:r>
          </a:p>
          <a:p>
            <a:pPr algn="just"/>
            <a:r>
              <a:rPr lang="en-IN" b="1" dirty="0">
                <a:solidFill>
                  <a:srgbClr val="FFFF00"/>
                </a:solidFill>
              </a:rPr>
              <a:t>Output</a:t>
            </a:r>
          </a:p>
          <a:p>
            <a:pPr algn="just"/>
            <a:r>
              <a:rPr lang="en-IN" dirty="0">
                <a:solidFill>
                  <a:schemeClr val="tx1"/>
                </a:solidFill>
              </a:rPr>
              <a:t>                 3.140000 </a:t>
            </a:r>
          </a:p>
        </p:txBody>
      </p:sp>
      <p:sp>
        <p:nvSpPr>
          <p:cNvPr id="5" name="TextBox 4">
            <a:extLst>
              <a:ext uri="{FF2B5EF4-FFF2-40B4-BE49-F238E27FC236}">
                <a16:creationId xmlns:a16="http://schemas.microsoft.com/office/drawing/2014/main" id="{C1295DA0-E325-0987-3CD2-F949F24DDEB1}"/>
              </a:ext>
            </a:extLst>
          </p:cNvPr>
          <p:cNvSpPr txBox="1"/>
          <p:nvPr/>
        </p:nvSpPr>
        <p:spPr>
          <a:xfrm>
            <a:off x="3980623" y="1032866"/>
            <a:ext cx="5163377" cy="1384995"/>
          </a:xfrm>
          <a:prstGeom prst="rect">
            <a:avLst/>
          </a:prstGeom>
          <a:noFill/>
        </p:spPr>
        <p:txBody>
          <a:bodyPr wrap="square">
            <a:spAutoFit/>
          </a:bodyPr>
          <a:lstStyle/>
          <a:p>
            <a:r>
              <a:rPr lang="en-IN" dirty="0">
                <a:solidFill>
                  <a:schemeClr val="tx1"/>
                </a:solidFill>
              </a:rPr>
              <a:t>#include &lt;</a:t>
            </a:r>
            <a:r>
              <a:rPr lang="en-IN" dirty="0" err="1">
                <a:solidFill>
                  <a:schemeClr val="tx1"/>
                </a:solidFill>
              </a:rPr>
              <a:t>stdio.h</a:t>
            </a:r>
            <a:r>
              <a:rPr lang="en-IN" dirty="0">
                <a:solidFill>
                  <a:schemeClr val="tx1"/>
                </a:solidFill>
              </a:rPr>
              <a:t>&gt;  </a:t>
            </a:r>
          </a:p>
          <a:p>
            <a:r>
              <a:rPr lang="en-IN" dirty="0">
                <a:solidFill>
                  <a:schemeClr val="tx1"/>
                </a:solidFill>
              </a:rPr>
              <a:t>#define MIN(</a:t>
            </a:r>
            <a:r>
              <a:rPr lang="en-IN" dirty="0" err="1">
                <a:solidFill>
                  <a:schemeClr val="tx1"/>
                </a:solidFill>
              </a:rPr>
              <a:t>a,b</a:t>
            </a:r>
            <a:r>
              <a:rPr lang="en-IN" dirty="0">
                <a:solidFill>
                  <a:schemeClr val="tx1"/>
                </a:solidFill>
              </a:rPr>
              <a:t>) ((a)&lt;(b)?(a):(b))  </a:t>
            </a:r>
          </a:p>
          <a:p>
            <a:r>
              <a:rPr lang="en-IN" dirty="0">
                <a:solidFill>
                  <a:schemeClr val="tx1"/>
                </a:solidFill>
              </a:rPr>
              <a:t>void main() </a:t>
            </a:r>
          </a:p>
          <a:p>
            <a:r>
              <a:rPr lang="en-IN" dirty="0">
                <a:solidFill>
                  <a:schemeClr val="tx1"/>
                </a:solidFill>
              </a:rPr>
              <a:t>{  </a:t>
            </a:r>
          </a:p>
          <a:p>
            <a:r>
              <a:rPr lang="en-IN" dirty="0">
                <a:solidFill>
                  <a:schemeClr val="tx1"/>
                </a:solidFill>
              </a:rPr>
              <a:t>   </a:t>
            </a:r>
            <a:r>
              <a:rPr lang="en-IN" dirty="0" err="1">
                <a:solidFill>
                  <a:schemeClr val="tx1"/>
                </a:solidFill>
              </a:rPr>
              <a:t>printf</a:t>
            </a:r>
            <a:r>
              <a:rPr lang="en-IN" dirty="0">
                <a:solidFill>
                  <a:schemeClr val="tx1"/>
                </a:solidFill>
              </a:rPr>
              <a:t>("Minimum between 10 and 20 is: %d\n", MIN(10,20));    </a:t>
            </a:r>
          </a:p>
          <a:p>
            <a:r>
              <a:rPr lang="en-IN" dirty="0">
                <a:solidFill>
                  <a:schemeClr val="tx1"/>
                </a:solidFill>
              </a:rPr>
              <a:t>} </a:t>
            </a:r>
          </a:p>
        </p:txBody>
      </p:sp>
      <p:sp>
        <p:nvSpPr>
          <p:cNvPr id="8" name="TextBox 7">
            <a:extLst>
              <a:ext uri="{FF2B5EF4-FFF2-40B4-BE49-F238E27FC236}">
                <a16:creationId xmlns:a16="http://schemas.microsoft.com/office/drawing/2014/main" id="{C1C51715-3F4E-E8B4-814A-ACB0DA114232}"/>
              </a:ext>
            </a:extLst>
          </p:cNvPr>
          <p:cNvSpPr txBox="1"/>
          <p:nvPr/>
        </p:nvSpPr>
        <p:spPr>
          <a:xfrm>
            <a:off x="4545079" y="2417861"/>
            <a:ext cx="4586908" cy="307777"/>
          </a:xfrm>
          <a:prstGeom prst="rect">
            <a:avLst/>
          </a:prstGeom>
          <a:noFill/>
        </p:spPr>
        <p:txBody>
          <a:bodyPr wrap="square">
            <a:spAutoFit/>
          </a:bodyPr>
          <a:lstStyle/>
          <a:p>
            <a:r>
              <a:rPr lang="en-IN" b="1" dirty="0">
                <a:solidFill>
                  <a:srgbClr val="FFFF00"/>
                </a:solidFill>
              </a:rPr>
              <a:t>Output:</a:t>
            </a:r>
            <a:r>
              <a:rPr lang="en-IN" dirty="0">
                <a:solidFill>
                  <a:schemeClr val="tx1"/>
                </a:solidFill>
              </a:rPr>
              <a:t> Minimum between 10 and 20 is: 10 </a:t>
            </a:r>
          </a:p>
        </p:txBody>
      </p:sp>
    </p:spTree>
    <p:extLst>
      <p:ext uri="{BB962C8B-B14F-4D97-AF65-F5344CB8AC3E}">
        <p14:creationId xmlns:p14="http://schemas.microsoft.com/office/powerpoint/2010/main" val="39087671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99391"/>
            <a:ext cx="6943469" cy="396300"/>
          </a:xfrm>
        </p:spPr>
        <p:txBody>
          <a:bodyPr/>
          <a:lstStyle/>
          <a:p>
            <a:pPr algn="ctr"/>
            <a:r>
              <a:rPr lang="en-IN" sz="2400" dirty="0"/>
              <a:t>#undef</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sp>
        <p:nvSpPr>
          <p:cNvPr id="6" name="TextBox 5">
            <a:extLst>
              <a:ext uri="{FF2B5EF4-FFF2-40B4-BE49-F238E27FC236}">
                <a16:creationId xmlns:a16="http://schemas.microsoft.com/office/drawing/2014/main" id="{4B9A3FB2-BE10-9F80-6ACF-DDDBE7FB4CB3}"/>
              </a:ext>
            </a:extLst>
          </p:cNvPr>
          <p:cNvSpPr txBox="1"/>
          <p:nvPr/>
        </p:nvSpPr>
        <p:spPr>
          <a:xfrm>
            <a:off x="573985" y="495691"/>
            <a:ext cx="7377320" cy="4253537"/>
          </a:xfrm>
          <a:prstGeom prst="rect">
            <a:avLst/>
          </a:prstGeom>
          <a:noFill/>
        </p:spPr>
        <p:txBody>
          <a:bodyPr wrap="square">
            <a:spAutoFit/>
          </a:bodyPr>
          <a:lstStyle/>
          <a:p>
            <a:pPr algn="just">
              <a:lnSpc>
                <a:spcPct val="150000"/>
              </a:lnSpc>
            </a:pPr>
            <a:r>
              <a:rPr lang="en-US" dirty="0">
                <a:solidFill>
                  <a:schemeClr val="tx1"/>
                </a:solidFill>
              </a:rPr>
              <a:t>The #undef preprocessor directive is used to undefine the constant or macro defined by #define.</a:t>
            </a:r>
          </a:p>
          <a:p>
            <a:pPr algn="just">
              <a:lnSpc>
                <a:spcPct val="150000"/>
              </a:lnSpc>
            </a:pPr>
            <a:r>
              <a:rPr lang="en-US" b="1" dirty="0">
                <a:solidFill>
                  <a:srgbClr val="FFFF00"/>
                </a:solidFill>
              </a:rPr>
              <a:t>Syntax:</a:t>
            </a:r>
          </a:p>
          <a:p>
            <a:pPr algn="just">
              <a:lnSpc>
                <a:spcPct val="150000"/>
              </a:lnSpc>
            </a:pPr>
            <a:r>
              <a:rPr lang="en-US" dirty="0">
                <a:solidFill>
                  <a:schemeClr val="tx1"/>
                </a:solidFill>
              </a:rPr>
              <a:t> 	</a:t>
            </a:r>
            <a:r>
              <a:rPr lang="en-US" b="1" dirty="0">
                <a:solidFill>
                  <a:schemeClr val="accent1"/>
                </a:solidFill>
              </a:rPr>
              <a:t>#undef token  </a:t>
            </a:r>
          </a:p>
          <a:p>
            <a:pPr algn="just">
              <a:lnSpc>
                <a:spcPct val="150000"/>
              </a:lnSpc>
            </a:pPr>
            <a:r>
              <a:rPr lang="en-US" dirty="0">
                <a:solidFill>
                  <a:schemeClr val="tx1"/>
                </a:solidFill>
              </a:rPr>
              <a:t>Simple example to define and undefine a constant.</a:t>
            </a:r>
          </a:p>
          <a:p>
            <a:pPr algn="just">
              <a:lnSpc>
                <a:spcPct val="150000"/>
              </a:lnSpc>
            </a:pPr>
            <a:r>
              <a:rPr lang="en-US" b="1" dirty="0">
                <a:solidFill>
                  <a:srgbClr val="FFFF00"/>
                </a:solidFill>
              </a:rPr>
              <a:t>Example</a:t>
            </a:r>
          </a:p>
          <a:p>
            <a:pPr algn="just">
              <a:lnSpc>
                <a:spcPct val="150000"/>
              </a:lnSpc>
            </a:pPr>
            <a:r>
              <a:rPr lang="en-US" dirty="0">
                <a:solidFill>
                  <a:schemeClr val="tx1"/>
                </a:solidFill>
              </a:rPr>
              <a:t>      #include &lt;</a:t>
            </a:r>
            <a:r>
              <a:rPr lang="en-US" dirty="0" err="1">
                <a:solidFill>
                  <a:schemeClr val="tx1"/>
                </a:solidFill>
              </a:rPr>
              <a:t>stdio.h</a:t>
            </a:r>
            <a:r>
              <a:rPr lang="en-US" dirty="0">
                <a:solidFill>
                  <a:schemeClr val="tx1"/>
                </a:solidFill>
              </a:rPr>
              <a:t>&gt;  </a:t>
            </a:r>
          </a:p>
          <a:p>
            <a:pPr algn="just">
              <a:lnSpc>
                <a:spcPct val="150000"/>
              </a:lnSpc>
            </a:pPr>
            <a:r>
              <a:rPr lang="en-US" dirty="0">
                <a:solidFill>
                  <a:schemeClr val="tx1"/>
                </a:solidFill>
              </a:rPr>
              <a:t>      #define PI 3.14  </a:t>
            </a:r>
          </a:p>
          <a:p>
            <a:pPr algn="just">
              <a:lnSpc>
                <a:spcPct val="150000"/>
              </a:lnSpc>
            </a:pPr>
            <a:r>
              <a:rPr lang="en-US" dirty="0">
                <a:solidFill>
                  <a:schemeClr val="tx1"/>
                </a:solidFill>
              </a:rPr>
              <a:t>      #undef PI  </a:t>
            </a:r>
          </a:p>
          <a:p>
            <a:pPr algn="just">
              <a:lnSpc>
                <a:spcPct val="150000"/>
              </a:lnSpc>
            </a:pPr>
            <a:r>
              <a:rPr lang="en-US" dirty="0">
                <a:solidFill>
                  <a:schemeClr val="tx1"/>
                </a:solidFill>
              </a:rPr>
              <a:t>      void main() </a:t>
            </a:r>
          </a:p>
          <a:p>
            <a:pPr algn="just">
              <a:lnSpc>
                <a:spcPct val="150000"/>
              </a:lnSpc>
            </a:pPr>
            <a:r>
              <a:rPr lang="en-US" dirty="0">
                <a:solidFill>
                  <a:schemeClr val="tx1"/>
                </a:solidFill>
              </a:rPr>
              <a:t>     {  </a:t>
            </a:r>
          </a:p>
          <a:p>
            <a:pPr algn="just">
              <a:lnSpc>
                <a:spcPct val="150000"/>
              </a:lnSpc>
            </a:pPr>
            <a:r>
              <a:rPr lang="en-US" dirty="0">
                <a:solidFill>
                  <a:schemeClr val="tx1"/>
                </a:solidFill>
              </a:rPr>
              <a:t>              </a:t>
            </a:r>
            <a:r>
              <a:rPr lang="en-US" dirty="0" err="1">
                <a:solidFill>
                  <a:schemeClr val="tx1"/>
                </a:solidFill>
              </a:rPr>
              <a:t>printf</a:t>
            </a:r>
            <a:r>
              <a:rPr lang="en-US" dirty="0">
                <a:solidFill>
                  <a:schemeClr val="tx1"/>
                </a:solidFill>
              </a:rPr>
              <a:t>("%</a:t>
            </a:r>
            <a:r>
              <a:rPr lang="en-US" dirty="0" err="1">
                <a:solidFill>
                  <a:schemeClr val="tx1"/>
                </a:solidFill>
              </a:rPr>
              <a:t>f",PI</a:t>
            </a:r>
            <a:r>
              <a:rPr lang="en-US" dirty="0">
                <a:solidFill>
                  <a:schemeClr val="tx1"/>
                </a:solidFill>
              </a:rPr>
              <a:t>);  </a:t>
            </a:r>
          </a:p>
          <a:p>
            <a:pPr algn="just">
              <a:lnSpc>
                <a:spcPct val="150000"/>
              </a:lnSpc>
            </a:pPr>
            <a:r>
              <a:rPr lang="en-US" dirty="0">
                <a:solidFill>
                  <a:schemeClr val="tx1"/>
                </a:solidFill>
              </a:rPr>
              <a:t>     }</a:t>
            </a:r>
          </a:p>
        </p:txBody>
      </p:sp>
      <p:sp>
        <p:nvSpPr>
          <p:cNvPr id="4" name="Rectangle 1">
            <a:extLst>
              <a:ext uri="{FF2B5EF4-FFF2-40B4-BE49-F238E27FC236}">
                <a16:creationId xmlns:a16="http://schemas.microsoft.com/office/drawing/2014/main" id="{D9F601BC-A4D0-15EB-2376-0D24EE7C7ACA}"/>
              </a:ext>
            </a:extLst>
          </p:cNvPr>
          <p:cNvSpPr>
            <a:spLocks noChangeArrowheads="1"/>
          </p:cNvSpPr>
          <p:nvPr/>
        </p:nvSpPr>
        <p:spPr bwMode="auto">
          <a:xfrm>
            <a:off x="3226096" y="3975490"/>
            <a:ext cx="2886469" cy="77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sz="1200" b="1" i="0" u="none" strike="noStrike" cap="none" normalizeH="0" baseline="0" dirty="0">
                <a:ln>
                  <a:noFill/>
                </a:ln>
                <a:solidFill>
                  <a:srgbClr val="FFFF00"/>
                </a:solidFill>
                <a:effectLst/>
                <a:latin typeface="Arial Unicode MS"/>
              </a:rPr>
              <a:t>Output</a:t>
            </a: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sz="1200" b="0" i="0" u="none" strike="noStrike" cap="none" normalizeH="0" baseline="0" dirty="0">
                <a:ln>
                  <a:noFill/>
                </a:ln>
                <a:solidFill>
                  <a:srgbClr val="F9F9F9"/>
                </a:solidFill>
                <a:effectLst/>
                <a:latin typeface="Arial Unicode MS"/>
              </a:rPr>
              <a:t>Compile Time Error: 'PI' undeclared</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850683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99391"/>
            <a:ext cx="6943469" cy="396300"/>
          </a:xfrm>
        </p:spPr>
        <p:txBody>
          <a:bodyPr/>
          <a:lstStyle/>
          <a:p>
            <a:pPr algn="ctr"/>
            <a:r>
              <a:rPr lang="en-IN" sz="2400" dirty="0"/>
              <a:t>#undef Example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25</a:t>
            </a:fld>
            <a:endParaRPr lang="en"/>
          </a:p>
        </p:txBody>
      </p:sp>
      <p:sp>
        <p:nvSpPr>
          <p:cNvPr id="6" name="TextBox 5">
            <a:extLst>
              <a:ext uri="{FF2B5EF4-FFF2-40B4-BE49-F238E27FC236}">
                <a16:creationId xmlns:a16="http://schemas.microsoft.com/office/drawing/2014/main" id="{4B9A3FB2-BE10-9F80-6ACF-DDDBE7FB4CB3}"/>
              </a:ext>
            </a:extLst>
          </p:cNvPr>
          <p:cNvSpPr txBox="1"/>
          <p:nvPr/>
        </p:nvSpPr>
        <p:spPr>
          <a:xfrm>
            <a:off x="1556322" y="917184"/>
            <a:ext cx="3988076" cy="2637710"/>
          </a:xfrm>
          <a:prstGeom prst="rect">
            <a:avLst/>
          </a:prstGeom>
          <a:noFill/>
        </p:spPr>
        <p:txBody>
          <a:bodyPr wrap="square">
            <a:spAutoFit/>
          </a:bodyPr>
          <a:lstStyle/>
          <a:p>
            <a:pPr algn="just">
              <a:lnSpc>
                <a:spcPct val="150000"/>
              </a:lnSpc>
            </a:pPr>
            <a:r>
              <a:rPr lang="en-US" dirty="0">
                <a:solidFill>
                  <a:schemeClr val="tx1"/>
                </a:solidFill>
              </a:rPr>
              <a:t>#include &lt;</a:t>
            </a:r>
            <a:r>
              <a:rPr lang="en-US" dirty="0" err="1">
                <a:solidFill>
                  <a:schemeClr val="tx1"/>
                </a:solidFill>
              </a:rPr>
              <a:t>stdio.h</a:t>
            </a:r>
            <a:r>
              <a:rPr lang="en-US" dirty="0">
                <a:solidFill>
                  <a:schemeClr val="tx1"/>
                </a:solidFill>
              </a:rPr>
              <a:t>&gt;  </a:t>
            </a:r>
          </a:p>
          <a:p>
            <a:pPr algn="just">
              <a:lnSpc>
                <a:spcPct val="150000"/>
              </a:lnSpc>
            </a:pPr>
            <a:r>
              <a:rPr lang="en-US" dirty="0">
                <a:solidFill>
                  <a:schemeClr val="tx1"/>
                </a:solidFill>
              </a:rPr>
              <a:t>#define number 15  </a:t>
            </a:r>
          </a:p>
          <a:p>
            <a:pPr algn="just">
              <a:lnSpc>
                <a:spcPct val="150000"/>
              </a:lnSpc>
            </a:pPr>
            <a:r>
              <a:rPr lang="en-US" dirty="0">
                <a:solidFill>
                  <a:schemeClr val="tx1"/>
                </a:solidFill>
              </a:rPr>
              <a:t>int square=number*number;  </a:t>
            </a:r>
          </a:p>
          <a:p>
            <a:pPr algn="just">
              <a:lnSpc>
                <a:spcPct val="150000"/>
              </a:lnSpc>
            </a:pPr>
            <a:r>
              <a:rPr lang="en-US" dirty="0">
                <a:solidFill>
                  <a:schemeClr val="tx1"/>
                </a:solidFill>
              </a:rPr>
              <a:t>#undef number  </a:t>
            </a:r>
          </a:p>
          <a:p>
            <a:pPr algn="just">
              <a:lnSpc>
                <a:spcPct val="150000"/>
              </a:lnSpc>
            </a:pPr>
            <a:r>
              <a:rPr lang="en-US" dirty="0">
                <a:solidFill>
                  <a:schemeClr val="tx1"/>
                </a:solidFill>
              </a:rPr>
              <a:t>void main() </a:t>
            </a:r>
          </a:p>
          <a:p>
            <a:pPr algn="just">
              <a:lnSpc>
                <a:spcPct val="150000"/>
              </a:lnSpc>
            </a:pPr>
            <a:r>
              <a:rPr lang="en-US" dirty="0">
                <a:solidFill>
                  <a:schemeClr val="tx1"/>
                </a:solidFill>
              </a:rPr>
              <a:t>{  </a:t>
            </a:r>
          </a:p>
          <a:p>
            <a:pPr algn="just">
              <a:lnSpc>
                <a:spcPct val="150000"/>
              </a:lnSpc>
            </a:pPr>
            <a:r>
              <a:rPr lang="en-US" dirty="0">
                <a:solidFill>
                  <a:schemeClr val="tx1"/>
                </a:solidFill>
              </a:rPr>
              <a:t>   </a:t>
            </a:r>
            <a:r>
              <a:rPr lang="en-US" dirty="0" err="1">
                <a:solidFill>
                  <a:schemeClr val="tx1"/>
                </a:solidFill>
              </a:rPr>
              <a:t>printf</a:t>
            </a:r>
            <a:r>
              <a:rPr lang="en-US" dirty="0">
                <a:solidFill>
                  <a:schemeClr val="tx1"/>
                </a:solidFill>
              </a:rPr>
              <a:t>("%</a:t>
            </a:r>
            <a:r>
              <a:rPr lang="en-US" dirty="0" err="1">
                <a:solidFill>
                  <a:schemeClr val="tx1"/>
                </a:solidFill>
              </a:rPr>
              <a:t>d",square</a:t>
            </a:r>
            <a:r>
              <a:rPr lang="en-US" dirty="0">
                <a:solidFill>
                  <a:schemeClr val="tx1"/>
                </a:solidFill>
              </a:rPr>
              <a:t>);  </a:t>
            </a:r>
          </a:p>
          <a:p>
            <a:pPr algn="just">
              <a:lnSpc>
                <a:spcPct val="150000"/>
              </a:lnSpc>
            </a:pPr>
            <a:r>
              <a:rPr lang="en-US" dirty="0">
                <a:solidFill>
                  <a:schemeClr val="tx1"/>
                </a:solidFill>
              </a:rPr>
              <a:t>}</a:t>
            </a:r>
          </a:p>
        </p:txBody>
      </p:sp>
      <p:sp>
        <p:nvSpPr>
          <p:cNvPr id="4" name="Rectangle 1">
            <a:extLst>
              <a:ext uri="{FF2B5EF4-FFF2-40B4-BE49-F238E27FC236}">
                <a16:creationId xmlns:a16="http://schemas.microsoft.com/office/drawing/2014/main" id="{D9F601BC-A4D0-15EB-2376-0D24EE7C7ACA}"/>
              </a:ext>
            </a:extLst>
          </p:cNvPr>
          <p:cNvSpPr>
            <a:spLocks noChangeArrowheads="1"/>
          </p:cNvSpPr>
          <p:nvPr/>
        </p:nvSpPr>
        <p:spPr bwMode="auto">
          <a:xfrm>
            <a:off x="1685530" y="3976387"/>
            <a:ext cx="2886469" cy="77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sz="1200" b="1" i="0" u="none" strike="noStrike" cap="none" normalizeH="0" baseline="0" dirty="0">
                <a:ln>
                  <a:noFill/>
                </a:ln>
                <a:solidFill>
                  <a:srgbClr val="FFFF00"/>
                </a:solidFill>
                <a:effectLst/>
                <a:latin typeface="Arial Unicode MS"/>
              </a:rPr>
              <a:t>Output</a:t>
            </a: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sz="1200" b="1" i="0" u="none" strike="noStrike" cap="none" normalizeH="0" baseline="0" dirty="0">
                <a:ln>
                  <a:noFill/>
                </a:ln>
                <a:solidFill>
                  <a:srgbClr val="F9F9F9"/>
                </a:solidFill>
                <a:effectLst/>
                <a:latin typeface="Arial Unicode MS"/>
              </a:rPr>
              <a:t>225</a:t>
            </a: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283122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99391"/>
            <a:ext cx="6943469" cy="396300"/>
          </a:xfrm>
        </p:spPr>
        <p:txBody>
          <a:bodyPr/>
          <a:lstStyle/>
          <a:p>
            <a:pPr algn="ctr"/>
            <a:r>
              <a:rPr lang="en-IN" sz="2400" dirty="0"/>
              <a:t>Conditional Directives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sp>
        <p:nvSpPr>
          <p:cNvPr id="6" name="TextBox 5">
            <a:extLst>
              <a:ext uri="{FF2B5EF4-FFF2-40B4-BE49-F238E27FC236}">
                <a16:creationId xmlns:a16="http://schemas.microsoft.com/office/drawing/2014/main" id="{4B9A3FB2-BE10-9F80-6ACF-DDDBE7FB4CB3}"/>
              </a:ext>
            </a:extLst>
          </p:cNvPr>
          <p:cNvSpPr txBox="1"/>
          <p:nvPr/>
        </p:nvSpPr>
        <p:spPr>
          <a:xfrm>
            <a:off x="721436" y="744170"/>
            <a:ext cx="4476730" cy="2893100"/>
          </a:xfrm>
          <a:prstGeom prst="rect">
            <a:avLst/>
          </a:prstGeom>
          <a:noFill/>
        </p:spPr>
        <p:txBody>
          <a:bodyPr wrap="square">
            <a:spAutoFit/>
          </a:bodyPr>
          <a:lstStyle/>
          <a:p>
            <a:pPr algn="just"/>
            <a:r>
              <a:rPr lang="en-US" dirty="0">
                <a:solidFill>
                  <a:schemeClr val="tx1"/>
                </a:solidFill>
              </a:rPr>
              <a:t>The conditional directives are:</a:t>
            </a:r>
          </a:p>
          <a:p>
            <a:pPr algn="just"/>
            <a:endParaRPr lang="en-US" dirty="0">
              <a:solidFill>
                <a:schemeClr val="tx1"/>
              </a:solidFill>
            </a:endParaRPr>
          </a:p>
          <a:p>
            <a:pPr algn="just"/>
            <a:r>
              <a:rPr lang="en-US" b="1" dirty="0">
                <a:solidFill>
                  <a:srgbClr val="FFFF00"/>
                </a:solidFill>
              </a:rPr>
              <a:t>#ifdef </a:t>
            </a:r>
            <a:r>
              <a:rPr lang="en-US" dirty="0">
                <a:solidFill>
                  <a:schemeClr val="tx1"/>
                </a:solidFill>
              </a:rPr>
              <a:t>- If this macro is defined</a:t>
            </a:r>
          </a:p>
          <a:p>
            <a:pPr algn="just"/>
            <a:endParaRPr lang="en-US" dirty="0">
              <a:solidFill>
                <a:schemeClr val="tx1"/>
              </a:solidFill>
            </a:endParaRPr>
          </a:p>
          <a:p>
            <a:pPr algn="just"/>
            <a:r>
              <a:rPr lang="en-US" b="1" dirty="0">
                <a:solidFill>
                  <a:srgbClr val="FFFF00"/>
                </a:solidFill>
              </a:rPr>
              <a:t>#ifndef </a:t>
            </a:r>
            <a:r>
              <a:rPr lang="en-US" dirty="0">
                <a:solidFill>
                  <a:schemeClr val="tx1"/>
                </a:solidFill>
              </a:rPr>
              <a:t>- If this macro is not defined</a:t>
            </a:r>
          </a:p>
          <a:p>
            <a:pPr algn="just"/>
            <a:endParaRPr lang="en-US" dirty="0">
              <a:solidFill>
                <a:schemeClr val="tx1"/>
              </a:solidFill>
            </a:endParaRPr>
          </a:p>
          <a:p>
            <a:pPr algn="just"/>
            <a:r>
              <a:rPr lang="en-US" b="1" dirty="0">
                <a:solidFill>
                  <a:srgbClr val="FFFF00"/>
                </a:solidFill>
              </a:rPr>
              <a:t>#if </a:t>
            </a:r>
            <a:r>
              <a:rPr lang="en-US" dirty="0">
                <a:solidFill>
                  <a:schemeClr val="tx1"/>
                </a:solidFill>
              </a:rPr>
              <a:t>- Test if a compile time condition is true</a:t>
            </a:r>
          </a:p>
          <a:p>
            <a:pPr algn="just"/>
            <a:endParaRPr lang="en-US" dirty="0">
              <a:solidFill>
                <a:schemeClr val="tx1"/>
              </a:solidFill>
            </a:endParaRPr>
          </a:p>
          <a:p>
            <a:pPr algn="just"/>
            <a:r>
              <a:rPr lang="en-US" b="1" dirty="0">
                <a:solidFill>
                  <a:srgbClr val="FFFF00"/>
                </a:solidFill>
              </a:rPr>
              <a:t>#else </a:t>
            </a:r>
            <a:r>
              <a:rPr lang="en-US" dirty="0">
                <a:solidFill>
                  <a:schemeClr val="tx1"/>
                </a:solidFill>
              </a:rPr>
              <a:t>- The alternative for #if</a:t>
            </a:r>
          </a:p>
          <a:p>
            <a:pPr algn="just"/>
            <a:endParaRPr lang="en-US" dirty="0">
              <a:solidFill>
                <a:schemeClr val="tx1"/>
              </a:solidFill>
            </a:endParaRPr>
          </a:p>
          <a:p>
            <a:pPr algn="just"/>
            <a:r>
              <a:rPr lang="en-US" b="1" dirty="0">
                <a:solidFill>
                  <a:srgbClr val="FFFF00"/>
                </a:solidFill>
              </a:rPr>
              <a:t>#elif </a:t>
            </a:r>
            <a:r>
              <a:rPr lang="en-US" dirty="0">
                <a:solidFill>
                  <a:schemeClr val="tx1"/>
                </a:solidFill>
              </a:rPr>
              <a:t>- #else an #if in one statement</a:t>
            </a:r>
          </a:p>
          <a:p>
            <a:pPr algn="just"/>
            <a:endParaRPr lang="en-US" dirty="0">
              <a:solidFill>
                <a:schemeClr val="tx1"/>
              </a:solidFill>
            </a:endParaRPr>
          </a:p>
          <a:p>
            <a:pPr algn="just"/>
            <a:r>
              <a:rPr lang="en-US" b="1" dirty="0">
                <a:solidFill>
                  <a:srgbClr val="FFFF00"/>
                </a:solidFill>
              </a:rPr>
              <a:t>#endif </a:t>
            </a:r>
            <a:r>
              <a:rPr lang="en-US" dirty="0">
                <a:solidFill>
                  <a:schemeClr val="tx1"/>
                </a:solidFill>
              </a:rPr>
              <a:t>- End preprocessor conditional</a:t>
            </a:r>
          </a:p>
        </p:txBody>
      </p:sp>
    </p:spTree>
    <p:extLst>
      <p:ext uri="{BB962C8B-B14F-4D97-AF65-F5344CB8AC3E}">
        <p14:creationId xmlns:p14="http://schemas.microsoft.com/office/powerpoint/2010/main" val="18915031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99391"/>
            <a:ext cx="6943469" cy="396300"/>
          </a:xfrm>
        </p:spPr>
        <p:txBody>
          <a:bodyPr/>
          <a:lstStyle/>
          <a:p>
            <a:pPr algn="ctr"/>
            <a:r>
              <a:rPr lang="en-IN" sz="2400" dirty="0"/>
              <a:t>#if directive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sp>
        <p:nvSpPr>
          <p:cNvPr id="6" name="TextBox 5">
            <a:extLst>
              <a:ext uri="{FF2B5EF4-FFF2-40B4-BE49-F238E27FC236}">
                <a16:creationId xmlns:a16="http://schemas.microsoft.com/office/drawing/2014/main" id="{4B9A3FB2-BE10-9F80-6ACF-DDDBE7FB4CB3}"/>
              </a:ext>
            </a:extLst>
          </p:cNvPr>
          <p:cNvSpPr txBox="1"/>
          <p:nvPr/>
        </p:nvSpPr>
        <p:spPr>
          <a:xfrm>
            <a:off x="721435" y="744170"/>
            <a:ext cx="7518103" cy="1318118"/>
          </a:xfrm>
          <a:prstGeom prst="rect">
            <a:avLst/>
          </a:prstGeom>
          <a:noFill/>
        </p:spPr>
        <p:txBody>
          <a:bodyPr wrap="square">
            <a:spAutoFit/>
          </a:bodyPr>
          <a:lstStyle/>
          <a:p>
            <a:pPr algn="just">
              <a:lnSpc>
                <a:spcPct val="200000"/>
              </a:lnSpc>
            </a:pPr>
            <a:r>
              <a:rPr lang="en-US" dirty="0">
                <a:solidFill>
                  <a:schemeClr val="tx1"/>
                </a:solidFill>
              </a:rPr>
              <a:t>The #if preprocessor directive takes condition in parenthesis, </a:t>
            </a:r>
            <a:r>
              <a:rPr lang="en-US" b="1" dirty="0">
                <a:solidFill>
                  <a:srgbClr val="00B050"/>
                </a:solidFill>
              </a:rPr>
              <a:t>if condition is true, then the statements given between #if and #else will get execute.</a:t>
            </a:r>
          </a:p>
          <a:p>
            <a:pPr algn="just">
              <a:lnSpc>
                <a:spcPct val="200000"/>
              </a:lnSpc>
            </a:pPr>
            <a:r>
              <a:rPr lang="en-US" dirty="0">
                <a:solidFill>
                  <a:schemeClr val="tx1"/>
                </a:solidFill>
              </a:rPr>
              <a:t> </a:t>
            </a:r>
            <a:r>
              <a:rPr lang="en-US" b="1" dirty="0">
                <a:solidFill>
                  <a:schemeClr val="accent3"/>
                </a:solidFill>
              </a:rPr>
              <a:t>If condition is false, then statements given between #else and #endif will get execute</a:t>
            </a:r>
          </a:p>
        </p:txBody>
      </p:sp>
      <p:pic>
        <p:nvPicPr>
          <p:cNvPr id="5" name="Picture 4">
            <a:extLst>
              <a:ext uri="{FF2B5EF4-FFF2-40B4-BE49-F238E27FC236}">
                <a16:creationId xmlns:a16="http://schemas.microsoft.com/office/drawing/2014/main" id="{1E2A61B2-CB86-E8BA-95A0-BD2B1F9CC762}"/>
              </a:ext>
            </a:extLst>
          </p:cNvPr>
          <p:cNvPicPr>
            <a:picLocks noChangeAspect="1"/>
          </p:cNvPicPr>
          <p:nvPr/>
        </p:nvPicPr>
        <p:blipFill>
          <a:blip r:embed="rId2"/>
          <a:stretch>
            <a:fillRect/>
          </a:stretch>
        </p:blipFill>
        <p:spPr>
          <a:xfrm>
            <a:off x="692013" y="2668489"/>
            <a:ext cx="1571625" cy="1819275"/>
          </a:xfrm>
          <a:prstGeom prst="rect">
            <a:avLst/>
          </a:prstGeom>
        </p:spPr>
      </p:pic>
      <p:sp>
        <p:nvSpPr>
          <p:cNvPr id="8" name="TextBox 7">
            <a:extLst>
              <a:ext uri="{FF2B5EF4-FFF2-40B4-BE49-F238E27FC236}">
                <a16:creationId xmlns:a16="http://schemas.microsoft.com/office/drawing/2014/main" id="{A342E9BB-85B1-9013-8D6E-22C01B4FDC4F}"/>
              </a:ext>
            </a:extLst>
          </p:cNvPr>
          <p:cNvSpPr txBox="1"/>
          <p:nvPr/>
        </p:nvSpPr>
        <p:spPr>
          <a:xfrm>
            <a:off x="692013" y="2156878"/>
            <a:ext cx="4586908" cy="307777"/>
          </a:xfrm>
          <a:prstGeom prst="rect">
            <a:avLst/>
          </a:prstGeom>
          <a:noFill/>
        </p:spPr>
        <p:txBody>
          <a:bodyPr wrap="square">
            <a:spAutoFit/>
          </a:bodyPr>
          <a:lstStyle/>
          <a:p>
            <a:r>
              <a:rPr lang="en-US" b="1" dirty="0">
                <a:solidFill>
                  <a:srgbClr val="FFFF00"/>
                </a:solidFill>
              </a:rPr>
              <a:t>Syntax</a:t>
            </a:r>
            <a:endParaRPr lang="en-IN" dirty="0">
              <a:solidFill>
                <a:srgbClr val="FFFF00"/>
              </a:solidFill>
            </a:endParaRPr>
          </a:p>
        </p:txBody>
      </p:sp>
      <p:pic>
        <p:nvPicPr>
          <p:cNvPr id="10" name="Picture 9">
            <a:extLst>
              <a:ext uri="{FF2B5EF4-FFF2-40B4-BE49-F238E27FC236}">
                <a16:creationId xmlns:a16="http://schemas.microsoft.com/office/drawing/2014/main" id="{91E72C9D-6DBD-1384-B707-6DE5C551709B}"/>
              </a:ext>
            </a:extLst>
          </p:cNvPr>
          <p:cNvPicPr>
            <a:picLocks noChangeAspect="1"/>
          </p:cNvPicPr>
          <p:nvPr/>
        </p:nvPicPr>
        <p:blipFill>
          <a:blip r:embed="rId3"/>
          <a:stretch>
            <a:fillRect/>
          </a:stretch>
        </p:blipFill>
        <p:spPr>
          <a:xfrm>
            <a:off x="2619996" y="2156878"/>
            <a:ext cx="3248025" cy="2828925"/>
          </a:xfrm>
          <a:prstGeom prst="rect">
            <a:avLst/>
          </a:prstGeom>
        </p:spPr>
      </p:pic>
    </p:spTree>
    <p:extLst>
      <p:ext uri="{BB962C8B-B14F-4D97-AF65-F5344CB8AC3E}">
        <p14:creationId xmlns:p14="http://schemas.microsoft.com/office/powerpoint/2010/main" val="36918149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99391"/>
            <a:ext cx="6943469" cy="396300"/>
          </a:xfrm>
        </p:spPr>
        <p:txBody>
          <a:bodyPr/>
          <a:lstStyle/>
          <a:p>
            <a:pPr algn="ctr"/>
            <a:r>
              <a:rPr lang="en-IN" sz="2400" dirty="0"/>
              <a:t>#elif directive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28</a:t>
            </a:fld>
            <a:endParaRPr lang="en"/>
          </a:p>
        </p:txBody>
      </p:sp>
      <p:sp>
        <p:nvSpPr>
          <p:cNvPr id="6" name="TextBox 5">
            <a:extLst>
              <a:ext uri="{FF2B5EF4-FFF2-40B4-BE49-F238E27FC236}">
                <a16:creationId xmlns:a16="http://schemas.microsoft.com/office/drawing/2014/main" id="{4B9A3FB2-BE10-9F80-6ACF-DDDBE7FB4CB3}"/>
              </a:ext>
            </a:extLst>
          </p:cNvPr>
          <p:cNvSpPr txBox="1"/>
          <p:nvPr/>
        </p:nvSpPr>
        <p:spPr>
          <a:xfrm>
            <a:off x="721435" y="744170"/>
            <a:ext cx="7518103" cy="1318118"/>
          </a:xfrm>
          <a:prstGeom prst="rect">
            <a:avLst/>
          </a:prstGeom>
          <a:noFill/>
        </p:spPr>
        <p:txBody>
          <a:bodyPr wrap="square">
            <a:spAutoFit/>
          </a:bodyPr>
          <a:lstStyle/>
          <a:p>
            <a:pPr algn="just">
              <a:lnSpc>
                <a:spcPct val="200000"/>
              </a:lnSpc>
            </a:pPr>
            <a:r>
              <a:rPr lang="en-US" dirty="0">
                <a:solidFill>
                  <a:schemeClr val="tx1"/>
                </a:solidFill>
              </a:rPr>
              <a:t>The #elif preprocessor directive is similar to if-else ladder statement. It is used for checking multiple conditions, if the first condition will not satisfy, compiler will jump to #else block and check other condition is true or not and so on.</a:t>
            </a:r>
            <a:endParaRPr lang="en-IN" dirty="0">
              <a:solidFill>
                <a:schemeClr val="tx1"/>
              </a:solidFill>
            </a:endParaRPr>
          </a:p>
        </p:txBody>
      </p:sp>
      <p:sp>
        <p:nvSpPr>
          <p:cNvPr id="8" name="TextBox 7">
            <a:extLst>
              <a:ext uri="{FF2B5EF4-FFF2-40B4-BE49-F238E27FC236}">
                <a16:creationId xmlns:a16="http://schemas.microsoft.com/office/drawing/2014/main" id="{A342E9BB-85B1-9013-8D6E-22C01B4FDC4F}"/>
              </a:ext>
            </a:extLst>
          </p:cNvPr>
          <p:cNvSpPr txBox="1"/>
          <p:nvPr/>
        </p:nvSpPr>
        <p:spPr>
          <a:xfrm>
            <a:off x="721435" y="2283602"/>
            <a:ext cx="4586908" cy="307777"/>
          </a:xfrm>
          <a:prstGeom prst="rect">
            <a:avLst/>
          </a:prstGeom>
          <a:noFill/>
        </p:spPr>
        <p:txBody>
          <a:bodyPr wrap="square">
            <a:spAutoFit/>
          </a:bodyPr>
          <a:lstStyle/>
          <a:p>
            <a:r>
              <a:rPr lang="en-US" b="1" dirty="0">
                <a:solidFill>
                  <a:srgbClr val="FFFF00"/>
                </a:solidFill>
              </a:rPr>
              <a:t>Syntax</a:t>
            </a:r>
            <a:endParaRPr lang="en-IN" dirty="0">
              <a:solidFill>
                <a:srgbClr val="FFFF00"/>
              </a:solidFill>
            </a:endParaRPr>
          </a:p>
        </p:txBody>
      </p:sp>
      <p:pic>
        <p:nvPicPr>
          <p:cNvPr id="7" name="Picture 6">
            <a:extLst>
              <a:ext uri="{FF2B5EF4-FFF2-40B4-BE49-F238E27FC236}">
                <a16:creationId xmlns:a16="http://schemas.microsoft.com/office/drawing/2014/main" id="{9EFE9C45-47C3-B623-3DEB-11F16C26B13F}"/>
              </a:ext>
            </a:extLst>
          </p:cNvPr>
          <p:cNvPicPr>
            <a:picLocks noChangeAspect="1"/>
          </p:cNvPicPr>
          <p:nvPr/>
        </p:nvPicPr>
        <p:blipFill>
          <a:blip r:embed="rId2"/>
          <a:stretch>
            <a:fillRect/>
          </a:stretch>
        </p:blipFill>
        <p:spPr>
          <a:xfrm>
            <a:off x="1891955" y="2208889"/>
            <a:ext cx="2063819" cy="2677387"/>
          </a:xfrm>
          <a:prstGeom prst="rect">
            <a:avLst/>
          </a:prstGeom>
        </p:spPr>
      </p:pic>
    </p:spTree>
    <p:extLst>
      <p:ext uri="{BB962C8B-B14F-4D97-AF65-F5344CB8AC3E}">
        <p14:creationId xmlns:p14="http://schemas.microsoft.com/office/powerpoint/2010/main" val="28216070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16150"/>
            <a:ext cx="6943469" cy="396300"/>
          </a:xfrm>
        </p:spPr>
        <p:txBody>
          <a:bodyPr/>
          <a:lstStyle/>
          <a:p>
            <a:pPr algn="ctr"/>
            <a:r>
              <a:rPr lang="en-IN" sz="2400" dirty="0"/>
              <a:t>#elif directive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p:sp>
        <p:nvSpPr>
          <p:cNvPr id="8" name="TextBox 7">
            <a:extLst>
              <a:ext uri="{FF2B5EF4-FFF2-40B4-BE49-F238E27FC236}">
                <a16:creationId xmlns:a16="http://schemas.microsoft.com/office/drawing/2014/main" id="{A342E9BB-85B1-9013-8D6E-22C01B4FDC4F}"/>
              </a:ext>
            </a:extLst>
          </p:cNvPr>
          <p:cNvSpPr txBox="1"/>
          <p:nvPr/>
        </p:nvSpPr>
        <p:spPr>
          <a:xfrm>
            <a:off x="651861" y="289653"/>
            <a:ext cx="4586908" cy="307777"/>
          </a:xfrm>
          <a:prstGeom prst="rect">
            <a:avLst/>
          </a:prstGeom>
          <a:noFill/>
        </p:spPr>
        <p:txBody>
          <a:bodyPr wrap="square">
            <a:spAutoFit/>
          </a:bodyPr>
          <a:lstStyle/>
          <a:p>
            <a:r>
              <a:rPr lang="en-US" b="1" dirty="0">
                <a:solidFill>
                  <a:srgbClr val="FFFF00"/>
                </a:solidFill>
              </a:rPr>
              <a:t>Example</a:t>
            </a:r>
            <a:endParaRPr lang="en-IN" dirty="0">
              <a:solidFill>
                <a:srgbClr val="FFFF00"/>
              </a:solidFill>
            </a:endParaRPr>
          </a:p>
        </p:txBody>
      </p:sp>
      <p:sp>
        <p:nvSpPr>
          <p:cNvPr id="9" name="TextBox 8">
            <a:extLst>
              <a:ext uri="{FF2B5EF4-FFF2-40B4-BE49-F238E27FC236}">
                <a16:creationId xmlns:a16="http://schemas.microsoft.com/office/drawing/2014/main" id="{3084ADF7-DB03-2575-9092-9363ECFA1F95}"/>
              </a:ext>
            </a:extLst>
          </p:cNvPr>
          <p:cNvSpPr txBox="1"/>
          <p:nvPr/>
        </p:nvSpPr>
        <p:spPr>
          <a:xfrm>
            <a:off x="1915767" y="627400"/>
            <a:ext cx="4586908" cy="2677656"/>
          </a:xfrm>
          <a:prstGeom prst="rect">
            <a:avLst/>
          </a:prstGeom>
          <a:noFill/>
        </p:spPr>
        <p:txBody>
          <a:bodyPr wrap="square">
            <a:spAutoFit/>
          </a:bodyPr>
          <a:lstStyle/>
          <a:p>
            <a:r>
              <a:rPr lang="en-US" dirty="0">
                <a:solidFill>
                  <a:schemeClr val="tx1"/>
                </a:solidFill>
              </a:rPr>
              <a:t>#include &lt;</a:t>
            </a:r>
            <a:r>
              <a:rPr lang="en-US" dirty="0" err="1">
                <a:solidFill>
                  <a:schemeClr val="tx1"/>
                </a:solidFill>
              </a:rPr>
              <a:t>stdio.h</a:t>
            </a:r>
            <a:r>
              <a:rPr lang="en-US" dirty="0">
                <a:solidFill>
                  <a:schemeClr val="tx1"/>
                </a:solidFill>
              </a:rPr>
              <a:t>&gt;</a:t>
            </a:r>
          </a:p>
          <a:p>
            <a:r>
              <a:rPr lang="en-US" dirty="0">
                <a:solidFill>
                  <a:schemeClr val="tx1"/>
                </a:solidFill>
              </a:rPr>
              <a:t>#define checker 5</a:t>
            </a:r>
          </a:p>
          <a:p>
            <a:r>
              <a:rPr lang="en-US" dirty="0">
                <a:solidFill>
                  <a:schemeClr val="tx1"/>
                </a:solidFill>
              </a:rPr>
              <a:t>void main()</a:t>
            </a:r>
          </a:p>
          <a:p>
            <a:r>
              <a:rPr lang="en-US" dirty="0">
                <a:solidFill>
                  <a:schemeClr val="tx1"/>
                </a:solidFill>
              </a:rPr>
              <a:t>{</a:t>
            </a:r>
          </a:p>
          <a:p>
            <a:r>
              <a:rPr lang="en-US" dirty="0">
                <a:solidFill>
                  <a:schemeClr val="tx1"/>
                </a:solidFill>
              </a:rPr>
              <a:t>   #if checker &lt;= 3</a:t>
            </a:r>
          </a:p>
          <a:p>
            <a:r>
              <a:rPr lang="en-US" dirty="0">
                <a:solidFill>
                  <a:schemeClr val="tx1"/>
                </a:solidFill>
              </a:rPr>
              <a:t>   </a:t>
            </a:r>
            <a:r>
              <a:rPr lang="en-US" dirty="0" err="1">
                <a:solidFill>
                  <a:schemeClr val="tx1"/>
                </a:solidFill>
              </a:rPr>
              <a:t>printf</a:t>
            </a:r>
            <a:r>
              <a:rPr lang="en-US" dirty="0">
                <a:solidFill>
                  <a:schemeClr val="tx1"/>
                </a:solidFill>
              </a:rPr>
              <a:t>("This is the if directive block.\n");</a:t>
            </a:r>
          </a:p>
          <a:p>
            <a:endParaRPr lang="en-US" dirty="0">
              <a:solidFill>
                <a:schemeClr val="tx1"/>
              </a:solidFill>
            </a:endParaRPr>
          </a:p>
          <a:p>
            <a:r>
              <a:rPr lang="en-US" dirty="0">
                <a:solidFill>
                  <a:schemeClr val="tx1"/>
                </a:solidFill>
              </a:rPr>
              <a:t>   #elif checker &gt; 3</a:t>
            </a:r>
          </a:p>
          <a:p>
            <a:r>
              <a:rPr lang="en-US" dirty="0">
                <a:solidFill>
                  <a:schemeClr val="tx1"/>
                </a:solidFill>
              </a:rPr>
              <a:t>   </a:t>
            </a:r>
            <a:r>
              <a:rPr lang="en-US" dirty="0" err="1">
                <a:solidFill>
                  <a:schemeClr val="tx1"/>
                </a:solidFill>
              </a:rPr>
              <a:t>printf</a:t>
            </a:r>
            <a:r>
              <a:rPr lang="en-US" dirty="0">
                <a:solidFill>
                  <a:schemeClr val="tx1"/>
                </a:solidFill>
              </a:rPr>
              <a:t>("This is the </a:t>
            </a:r>
            <a:r>
              <a:rPr lang="en-US" dirty="0" err="1">
                <a:solidFill>
                  <a:schemeClr val="tx1"/>
                </a:solidFill>
              </a:rPr>
              <a:t>elif</a:t>
            </a:r>
            <a:r>
              <a:rPr lang="en-US" dirty="0">
                <a:solidFill>
                  <a:schemeClr val="tx1"/>
                </a:solidFill>
              </a:rPr>
              <a:t> directive block.\n");</a:t>
            </a:r>
          </a:p>
          <a:p>
            <a:endParaRPr lang="en-US" dirty="0">
              <a:solidFill>
                <a:schemeClr val="tx1"/>
              </a:solidFill>
            </a:endParaRPr>
          </a:p>
          <a:p>
            <a:r>
              <a:rPr lang="en-US" dirty="0">
                <a:solidFill>
                  <a:schemeClr val="tx1"/>
                </a:solidFill>
              </a:rPr>
              <a:t>   #endif</a:t>
            </a:r>
          </a:p>
          <a:p>
            <a:r>
              <a:rPr lang="en-US" dirty="0">
                <a:solidFill>
                  <a:schemeClr val="tx1"/>
                </a:solidFill>
              </a:rPr>
              <a:t>}</a:t>
            </a:r>
            <a:endParaRPr lang="en-IN" dirty="0">
              <a:solidFill>
                <a:schemeClr val="tx1"/>
              </a:solidFill>
            </a:endParaRPr>
          </a:p>
        </p:txBody>
      </p:sp>
      <p:sp>
        <p:nvSpPr>
          <p:cNvPr id="10" name="TextBox 9">
            <a:extLst>
              <a:ext uri="{FF2B5EF4-FFF2-40B4-BE49-F238E27FC236}">
                <a16:creationId xmlns:a16="http://schemas.microsoft.com/office/drawing/2014/main" id="{DBF5EC1C-9B62-50B2-44B1-F3B1CCCA2E2F}"/>
              </a:ext>
            </a:extLst>
          </p:cNvPr>
          <p:cNvSpPr txBox="1"/>
          <p:nvPr/>
        </p:nvSpPr>
        <p:spPr>
          <a:xfrm>
            <a:off x="761191" y="3335026"/>
            <a:ext cx="4586908" cy="523220"/>
          </a:xfrm>
          <a:prstGeom prst="rect">
            <a:avLst/>
          </a:prstGeom>
          <a:noFill/>
        </p:spPr>
        <p:txBody>
          <a:bodyPr wrap="square">
            <a:spAutoFit/>
          </a:bodyPr>
          <a:lstStyle/>
          <a:p>
            <a:r>
              <a:rPr lang="en-US" b="1" dirty="0">
                <a:solidFill>
                  <a:srgbClr val="FFFF00"/>
                </a:solidFill>
              </a:rPr>
              <a:t>Output</a:t>
            </a:r>
          </a:p>
          <a:p>
            <a:r>
              <a:rPr lang="en-US" dirty="0">
                <a:solidFill>
                  <a:schemeClr val="tx1"/>
                </a:solidFill>
              </a:rPr>
              <a:t>This is the </a:t>
            </a:r>
            <a:r>
              <a:rPr lang="en-US" dirty="0" err="1">
                <a:solidFill>
                  <a:schemeClr val="tx1"/>
                </a:solidFill>
              </a:rPr>
              <a:t>elif</a:t>
            </a:r>
            <a:r>
              <a:rPr lang="en-US" dirty="0">
                <a:solidFill>
                  <a:schemeClr val="tx1"/>
                </a:solidFill>
              </a:rPr>
              <a:t> directive block</a:t>
            </a:r>
            <a:endParaRPr lang="en-IN" dirty="0">
              <a:solidFill>
                <a:srgbClr val="FFFF00"/>
              </a:solidFill>
            </a:endParaRPr>
          </a:p>
        </p:txBody>
      </p:sp>
    </p:spTree>
    <p:extLst>
      <p:ext uri="{BB962C8B-B14F-4D97-AF65-F5344CB8AC3E}">
        <p14:creationId xmlns:p14="http://schemas.microsoft.com/office/powerpoint/2010/main" val="12685039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16150"/>
            <a:ext cx="6943469" cy="396300"/>
          </a:xfrm>
        </p:spPr>
        <p:txBody>
          <a:bodyPr/>
          <a:lstStyle/>
          <a:p>
            <a:pPr algn="ctr"/>
            <a:r>
              <a:rPr lang="en-IN" sz="2400" dirty="0"/>
              <a:t>#ifdef directive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p:sp>
        <p:nvSpPr>
          <p:cNvPr id="9" name="TextBox 8">
            <a:extLst>
              <a:ext uri="{FF2B5EF4-FFF2-40B4-BE49-F238E27FC236}">
                <a16:creationId xmlns:a16="http://schemas.microsoft.com/office/drawing/2014/main" id="{3084ADF7-DB03-2575-9092-9363ECFA1F95}"/>
              </a:ext>
            </a:extLst>
          </p:cNvPr>
          <p:cNvSpPr txBox="1"/>
          <p:nvPr/>
        </p:nvSpPr>
        <p:spPr>
          <a:xfrm>
            <a:off x="663436" y="333070"/>
            <a:ext cx="7740947" cy="887231"/>
          </a:xfrm>
          <a:prstGeom prst="rect">
            <a:avLst/>
          </a:prstGeom>
          <a:noFill/>
        </p:spPr>
        <p:txBody>
          <a:bodyPr wrap="square">
            <a:spAutoFit/>
          </a:bodyPr>
          <a:lstStyle/>
          <a:p>
            <a:pPr algn="just">
              <a:lnSpc>
                <a:spcPct val="200000"/>
              </a:lnSpc>
            </a:pPr>
            <a:r>
              <a:rPr lang="en-US" dirty="0">
                <a:solidFill>
                  <a:schemeClr val="tx1"/>
                </a:solidFill>
              </a:rPr>
              <a:t>The #ifdef preprocessor directive is used to check whether the macro-name is previously defined or not, if defined then the statements given between #ifdef and #else will get execute</a:t>
            </a:r>
            <a:endParaRPr lang="en-IN" dirty="0">
              <a:solidFill>
                <a:schemeClr val="tx1"/>
              </a:solidFill>
            </a:endParaRPr>
          </a:p>
        </p:txBody>
      </p:sp>
      <p:sp>
        <p:nvSpPr>
          <p:cNvPr id="10" name="TextBox 9">
            <a:extLst>
              <a:ext uri="{FF2B5EF4-FFF2-40B4-BE49-F238E27FC236}">
                <a16:creationId xmlns:a16="http://schemas.microsoft.com/office/drawing/2014/main" id="{DBF5EC1C-9B62-50B2-44B1-F3B1CCCA2E2F}"/>
              </a:ext>
            </a:extLst>
          </p:cNvPr>
          <p:cNvSpPr txBox="1"/>
          <p:nvPr/>
        </p:nvSpPr>
        <p:spPr>
          <a:xfrm>
            <a:off x="1017517" y="1554007"/>
            <a:ext cx="1165364" cy="307777"/>
          </a:xfrm>
          <a:prstGeom prst="rect">
            <a:avLst/>
          </a:prstGeom>
          <a:noFill/>
        </p:spPr>
        <p:txBody>
          <a:bodyPr wrap="square">
            <a:spAutoFit/>
          </a:bodyPr>
          <a:lstStyle/>
          <a:p>
            <a:r>
              <a:rPr lang="en-US" b="1" dirty="0">
                <a:solidFill>
                  <a:srgbClr val="FFFF00"/>
                </a:solidFill>
              </a:rPr>
              <a:t>Syntax</a:t>
            </a:r>
          </a:p>
        </p:txBody>
      </p:sp>
      <p:pic>
        <p:nvPicPr>
          <p:cNvPr id="5" name="Picture 4">
            <a:extLst>
              <a:ext uri="{FF2B5EF4-FFF2-40B4-BE49-F238E27FC236}">
                <a16:creationId xmlns:a16="http://schemas.microsoft.com/office/drawing/2014/main" id="{765AE1B9-9C7B-CA24-010C-1E8C1CBF09C5}"/>
              </a:ext>
            </a:extLst>
          </p:cNvPr>
          <p:cNvPicPr>
            <a:picLocks noChangeAspect="1"/>
          </p:cNvPicPr>
          <p:nvPr/>
        </p:nvPicPr>
        <p:blipFill>
          <a:blip r:embed="rId2"/>
          <a:stretch>
            <a:fillRect/>
          </a:stretch>
        </p:blipFill>
        <p:spPr>
          <a:xfrm>
            <a:off x="742949" y="1954685"/>
            <a:ext cx="1714500" cy="1590675"/>
          </a:xfrm>
          <a:prstGeom prst="rect">
            <a:avLst/>
          </a:prstGeom>
        </p:spPr>
      </p:pic>
      <p:pic>
        <p:nvPicPr>
          <p:cNvPr id="7" name="Picture 6">
            <a:extLst>
              <a:ext uri="{FF2B5EF4-FFF2-40B4-BE49-F238E27FC236}">
                <a16:creationId xmlns:a16="http://schemas.microsoft.com/office/drawing/2014/main" id="{0E0AC2D3-F61B-85B2-3272-9A7F24ED7B07}"/>
              </a:ext>
            </a:extLst>
          </p:cNvPr>
          <p:cNvPicPr>
            <a:picLocks noChangeAspect="1"/>
          </p:cNvPicPr>
          <p:nvPr/>
        </p:nvPicPr>
        <p:blipFill>
          <a:blip r:embed="rId3"/>
          <a:stretch>
            <a:fillRect/>
          </a:stretch>
        </p:blipFill>
        <p:spPr>
          <a:xfrm>
            <a:off x="2956890" y="1517358"/>
            <a:ext cx="2924175" cy="3514725"/>
          </a:xfrm>
          <a:prstGeom prst="rect">
            <a:avLst/>
          </a:prstGeom>
        </p:spPr>
      </p:pic>
      <p:sp>
        <p:nvSpPr>
          <p:cNvPr id="11" name="TextBox 10">
            <a:extLst>
              <a:ext uri="{FF2B5EF4-FFF2-40B4-BE49-F238E27FC236}">
                <a16:creationId xmlns:a16="http://schemas.microsoft.com/office/drawing/2014/main" id="{7068E5B0-7A27-2F40-2EF4-F29D0228DD1F}"/>
              </a:ext>
            </a:extLst>
          </p:cNvPr>
          <p:cNvSpPr txBox="1"/>
          <p:nvPr/>
        </p:nvSpPr>
        <p:spPr>
          <a:xfrm>
            <a:off x="3529219" y="1208245"/>
            <a:ext cx="1585267" cy="307777"/>
          </a:xfrm>
          <a:prstGeom prst="rect">
            <a:avLst/>
          </a:prstGeom>
          <a:noFill/>
        </p:spPr>
        <p:txBody>
          <a:bodyPr wrap="square">
            <a:spAutoFit/>
          </a:bodyPr>
          <a:lstStyle/>
          <a:p>
            <a:r>
              <a:rPr lang="en-US" b="1" dirty="0">
                <a:solidFill>
                  <a:srgbClr val="FFFF00"/>
                </a:solidFill>
              </a:rPr>
              <a:t>Example</a:t>
            </a:r>
          </a:p>
        </p:txBody>
      </p:sp>
    </p:spTree>
    <p:extLst>
      <p:ext uri="{BB962C8B-B14F-4D97-AF65-F5344CB8AC3E}">
        <p14:creationId xmlns:p14="http://schemas.microsoft.com/office/powerpoint/2010/main" val="16465157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16150"/>
            <a:ext cx="6943469" cy="396300"/>
          </a:xfrm>
        </p:spPr>
        <p:txBody>
          <a:bodyPr/>
          <a:lstStyle/>
          <a:p>
            <a:pPr algn="ctr"/>
            <a:r>
              <a:rPr lang="en-IN" sz="2400" dirty="0"/>
              <a:t>#ifndef directive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31</a:t>
            </a:fld>
            <a:endParaRPr lang="en"/>
          </a:p>
        </p:txBody>
      </p:sp>
      <p:sp>
        <p:nvSpPr>
          <p:cNvPr id="9" name="TextBox 8">
            <a:extLst>
              <a:ext uri="{FF2B5EF4-FFF2-40B4-BE49-F238E27FC236}">
                <a16:creationId xmlns:a16="http://schemas.microsoft.com/office/drawing/2014/main" id="{3084ADF7-DB03-2575-9092-9363ECFA1F95}"/>
              </a:ext>
            </a:extLst>
          </p:cNvPr>
          <p:cNvSpPr txBox="1"/>
          <p:nvPr/>
        </p:nvSpPr>
        <p:spPr>
          <a:xfrm>
            <a:off x="663436" y="333070"/>
            <a:ext cx="7740947" cy="1318118"/>
          </a:xfrm>
          <a:prstGeom prst="rect">
            <a:avLst/>
          </a:prstGeom>
          <a:noFill/>
        </p:spPr>
        <p:txBody>
          <a:bodyPr wrap="square">
            <a:spAutoFit/>
          </a:bodyPr>
          <a:lstStyle/>
          <a:p>
            <a:pPr algn="just">
              <a:lnSpc>
                <a:spcPct val="200000"/>
              </a:lnSpc>
            </a:pPr>
            <a:r>
              <a:rPr lang="en-US" dirty="0">
                <a:solidFill>
                  <a:schemeClr val="tx1"/>
                </a:solidFill>
              </a:rPr>
              <a:t>The #ifndef preprocessor directive is used to check whether the macro-name is previously defined or not, if not defined then the statements given between #ifndef and #else will get execute.</a:t>
            </a:r>
            <a:endParaRPr lang="en-IN" dirty="0">
              <a:solidFill>
                <a:schemeClr val="tx1"/>
              </a:solidFill>
            </a:endParaRPr>
          </a:p>
        </p:txBody>
      </p:sp>
      <p:sp>
        <p:nvSpPr>
          <p:cNvPr id="10" name="TextBox 9">
            <a:extLst>
              <a:ext uri="{FF2B5EF4-FFF2-40B4-BE49-F238E27FC236}">
                <a16:creationId xmlns:a16="http://schemas.microsoft.com/office/drawing/2014/main" id="{DBF5EC1C-9B62-50B2-44B1-F3B1CCCA2E2F}"/>
              </a:ext>
            </a:extLst>
          </p:cNvPr>
          <p:cNvSpPr txBox="1"/>
          <p:nvPr/>
        </p:nvSpPr>
        <p:spPr>
          <a:xfrm>
            <a:off x="1017517" y="1651188"/>
            <a:ext cx="1165364" cy="307777"/>
          </a:xfrm>
          <a:prstGeom prst="rect">
            <a:avLst/>
          </a:prstGeom>
          <a:noFill/>
        </p:spPr>
        <p:txBody>
          <a:bodyPr wrap="square">
            <a:spAutoFit/>
          </a:bodyPr>
          <a:lstStyle/>
          <a:p>
            <a:r>
              <a:rPr lang="en-US" b="1" dirty="0">
                <a:solidFill>
                  <a:srgbClr val="FFFF00"/>
                </a:solidFill>
              </a:rPr>
              <a:t>Syntax</a:t>
            </a:r>
          </a:p>
        </p:txBody>
      </p:sp>
      <p:sp>
        <p:nvSpPr>
          <p:cNvPr id="11" name="TextBox 10">
            <a:extLst>
              <a:ext uri="{FF2B5EF4-FFF2-40B4-BE49-F238E27FC236}">
                <a16:creationId xmlns:a16="http://schemas.microsoft.com/office/drawing/2014/main" id="{7068E5B0-7A27-2F40-2EF4-F29D0228DD1F}"/>
              </a:ext>
            </a:extLst>
          </p:cNvPr>
          <p:cNvSpPr txBox="1"/>
          <p:nvPr/>
        </p:nvSpPr>
        <p:spPr>
          <a:xfrm>
            <a:off x="3529219" y="1208245"/>
            <a:ext cx="1585267" cy="307777"/>
          </a:xfrm>
          <a:prstGeom prst="rect">
            <a:avLst/>
          </a:prstGeom>
          <a:noFill/>
        </p:spPr>
        <p:txBody>
          <a:bodyPr wrap="square">
            <a:spAutoFit/>
          </a:bodyPr>
          <a:lstStyle/>
          <a:p>
            <a:r>
              <a:rPr lang="en-US" b="1" dirty="0">
                <a:solidFill>
                  <a:srgbClr val="FFFF00"/>
                </a:solidFill>
              </a:rPr>
              <a:t>Example</a:t>
            </a:r>
          </a:p>
        </p:txBody>
      </p:sp>
      <p:pic>
        <p:nvPicPr>
          <p:cNvPr id="6" name="Picture 5">
            <a:extLst>
              <a:ext uri="{FF2B5EF4-FFF2-40B4-BE49-F238E27FC236}">
                <a16:creationId xmlns:a16="http://schemas.microsoft.com/office/drawing/2014/main" id="{CA76616E-147B-7699-A222-897BE3B473F1}"/>
              </a:ext>
            </a:extLst>
          </p:cNvPr>
          <p:cNvPicPr>
            <a:picLocks noChangeAspect="1"/>
          </p:cNvPicPr>
          <p:nvPr/>
        </p:nvPicPr>
        <p:blipFill>
          <a:blip r:embed="rId2"/>
          <a:stretch>
            <a:fillRect/>
          </a:stretch>
        </p:blipFill>
        <p:spPr>
          <a:xfrm>
            <a:off x="709611" y="2000408"/>
            <a:ext cx="1781175" cy="1571625"/>
          </a:xfrm>
          <a:prstGeom prst="rect">
            <a:avLst/>
          </a:prstGeom>
        </p:spPr>
      </p:pic>
      <p:pic>
        <p:nvPicPr>
          <p:cNvPr id="12" name="Picture 11">
            <a:extLst>
              <a:ext uri="{FF2B5EF4-FFF2-40B4-BE49-F238E27FC236}">
                <a16:creationId xmlns:a16="http://schemas.microsoft.com/office/drawing/2014/main" id="{2E797837-EF83-D130-9F25-A9BDBC82ACF9}"/>
              </a:ext>
            </a:extLst>
          </p:cNvPr>
          <p:cNvPicPr>
            <a:picLocks noChangeAspect="1"/>
          </p:cNvPicPr>
          <p:nvPr/>
        </p:nvPicPr>
        <p:blipFill>
          <a:blip r:embed="rId3"/>
          <a:stretch>
            <a:fillRect/>
          </a:stretch>
        </p:blipFill>
        <p:spPr>
          <a:xfrm>
            <a:off x="2844867" y="1462247"/>
            <a:ext cx="3067050" cy="3495675"/>
          </a:xfrm>
          <a:prstGeom prst="rect">
            <a:avLst/>
          </a:prstGeom>
        </p:spPr>
      </p:pic>
    </p:spTree>
    <p:extLst>
      <p:ext uri="{BB962C8B-B14F-4D97-AF65-F5344CB8AC3E}">
        <p14:creationId xmlns:p14="http://schemas.microsoft.com/office/powerpoint/2010/main" val="31432901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16150"/>
            <a:ext cx="6943469" cy="396300"/>
          </a:xfrm>
        </p:spPr>
        <p:txBody>
          <a:bodyPr/>
          <a:lstStyle/>
          <a:p>
            <a:pPr algn="ctr"/>
            <a:r>
              <a:rPr lang="en-IN" sz="2400" dirty="0"/>
              <a:t>#error directive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32</a:t>
            </a:fld>
            <a:endParaRPr lang="en"/>
          </a:p>
        </p:txBody>
      </p:sp>
      <p:sp>
        <p:nvSpPr>
          <p:cNvPr id="9" name="TextBox 8">
            <a:extLst>
              <a:ext uri="{FF2B5EF4-FFF2-40B4-BE49-F238E27FC236}">
                <a16:creationId xmlns:a16="http://schemas.microsoft.com/office/drawing/2014/main" id="{3084ADF7-DB03-2575-9092-9363ECFA1F95}"/>
              </a:ext>
            </a:extLst>
          </p:cNvPr>
          <p:cNvSpPr txBox="1"/>
          <p:nvPr/>
        </p:nvSpPr>
        <p:spPr>
          <a:xfrm>
            <a:off x="663436" y="333070"/>
            <a:ext cx="7740947" cy="698717"/>
          </a:xfrm>
          <a:prstGeom prst="rect">
            <a:avLst/>
          </a:prstGeom>
          <a:noFill/>
        </p:spPr>
        <p:txBody>
          <a:bodyPr wrap="square">
            <a:spAutoFit/>
          </a:bodyPr>
          <a:lstStyle/>
          <a:p>
            <a:pPr algn="just">
              <a:lnSpc>
                <a:spcPct val="150000"/>
              </a:lnSpc>
            </a:pPr>
            <a:r>
              <a:rPr lang="en-US" dirty="0">
                <a:solidFill>
                  <a:schemeClr val="tx1"/>
                </a:solidFill>
              </a:rPr>
              <a:t>The #error preprocessor directive is used to force the compile to stop compiling the source code. In other words we can manually force the compiler to stop compiling and give fatal error.</a:t>
            </a:r>
            <a:endParaRPr lang="en-IN" dirty="0">
              <a:solidFill>
                <a:schemeClr val="tx1"/>
              </a:solidFill>
            </a:endParaRPr>
          </a:p>
        </p:txBody>
      </p:sp>
      <p:sp>
        <p:nvSpPr>
          <p:cNvPr id="11" name="TextBox 10">
            <a:extLst>
              <a:ext uri="{FF2B5EF4-FFF2-40B4-BE49-F238E27FC236}">
                <a16:creationId xmlns:a16="http://schemas.microsoft.com/office/drawing/2014/main" id="{7068E5B0-7A27-2F40-2EF4-F29D0228DD1F}"/>
              </a:ext>
            </a:extLst>
          </p:cNvPr>
          <p:cNvSpPr txBox="1"/>
          <p:nvPr/>
        </p:nvSpPr>
        <p:spPr>
          <a:xfrm>
            <a:off x="1402245" y="1295504"/>
            <a:ext cx="2841764" cy="307777"/>
          </a:xfrm>
          <a:prstGeom prst="rect">
            <a:avLst/>
          </a:prstGeom>
          <a:noFill/>
        </p:spPr>
        <p:txBody>
          <a:bodyPr wrap="square">
            <a:spAutoFit/>
          </a:bodyPr>
          <a:lstStyle/>
          <a:p>
            <a:r>
              <a:rPr lang="en-US" b="1" dirty="0">
                <a:solidFill>
                  <a:srgbClr val="FFFF00"/>
                </a:solidFill>
              </a:rPr>
              <a:t>Example without #error</a:t>
            </a:r>
          </a:p>
        </p:txBody>
      </p:sp>
      <p:pic>
        <p:nvPicPr>
          <p:cNvPr id="4" name="Picture 3">
            <a:extLst>
              <a:ext uri="{FF2B5EF4-FFF2-40B4-BE49-F238E27FC236}">
                <a16:creationId xmlns:a16="http://schemas.microsoft.com/office/drawing/2014/main" id="{A3114413-A2D6-50C0-FA81-83C37AFA6E8F}"/>
              </a:ext>
            </a:extLst>
          </p:cNvPr>
          <p:cNvPicPr>
            <a:picLocks noChangeAspect="1"/>
          </p:cNvPicPr>
          <p:nvPr/>
        </p:nvPicPr>
        <p:blipFill>
          <a:blip r:embed="rId2"/>
          <a:stretch>
            <a:fillRect/>
          </a:stretch>
        </p:blipFill>
        <p:spPr>
          <a:xfrm>
            <a:off x="496399" y="1866999"/>
            <a:ext cx="4325004" cy="2806652"/>
          </a:xfrm>
          <a:prstGeom prst="rect">
            <a:avLst/>
          </a:prstGeom>
        </p:spPr>
      </p:pic>
    </p:spTree>
    <p:extLst>
      <p:ext uri="{BB962C8B-B14F-4D97-AF65-F5344CB8AC3E}">
        <p14:creationId xmlns:p14="http://schemas.microsoft.com/office/powerpoint/2010/main" val="29971250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16150"/>
            <a:ext cx="6943469" cy="396300"/>
          </a:xfrm>
        </p:spPr>
        <p:txBody>
          <a:bodyPr/>
          <a:lstStyle/>
          <a:p>
            <a:pPr algn="ctr"/>
            <a:r>
              <a:rPr lang="en-IN" sz="2400" dirty="0"/>
              <a:t>#error directive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33</a:t>
            </a:fld>
            <a:endParaRPr lang="en"/>
          </a:p>
        </p:txBody>
      </p:sp>
      <p:sp>
        <p:nvSpPr>
          <p:cNvPr id="9" name="TextBox 8">
            <a:extLst>
              <a:ext uri="{FF2B5EF4-FFF2-40B4-BE49-F238E27FC236}">
                <a16:creationId xmlns:a16="http://schemas.microsoft.com/office/drawing/2014/main" id="{3084ADF7-DB03-2575-9092-9363ECFA1F95}"/>
              </a:ext>
            </a:extLst>
          </p:cNvPr>
          <p:cNvSpPr txBox="1"/>
          <p:nvPr/>
        </p:nvSpPr>
        <p:spPr>
          <a:xfrm>
            <a:off x="663436" y="333070"/>
            <a:ext cx="7923973" cy="1021883"/>
          </a:xfrm>
          <a:prstGeom prst="rect">
            <a:avLst/>
          </a:prstGeom>
          <a:noFill/>
        </p:spPr>
        <p:txBody>
          <a:bodyPr wrap="square">
            <a:spAutoFit/>
          </a:bodyPr>
          <a:lstStyle/>
          <a:p>
            <a:pPr algn="just">
              <a:lnSpc>
                <a:spcPct val="150000"/>
              </a:lnSpc>
            </a:pPr>
            <a:r>
              <a:rPr lang="en-US" b="0" i="0" dirty="0">
                <a:solidFill>
                  <a:schemeClr val="tx1"/>
                </a:solidFill>
                <a:effectLst/>
                <a:latin typeface="arial" panose="020B0604020202020204" pitchFamily="34" charset="0"/>
              </a:rPr>
              <a:t>#error is a preprocessor directive in C which is </a:t>
            </a:r>
            <a:r>
              <a:rPr lang="en-US" b="1" i="0" dirty="0">
                <a:solidFill>
                  <a:schemeClr val="tx1"/>
                </a:solidFill>
                <a:effectLst/>
                <a:latin typeface="arial" panose="020B0604020202020204" pitchFamily="34" charset="0"/>
              </a:rPr>
              <a:t>used to raise an error during compilation and terminate the process</a:t>
            </a:r>
            <a:r>
              <a:rPr lang="en-US" b="0" i="0" dirty="0">
                <a:solidFill>
                  <a:schemeClr val="tx1"/>
                </a:solidFill>
                <a:effectLst/>
                <a:latin typeface="arial" panose="020B0604020202020204" pitchFamily="34" charset="0"/>
              </a:rPr>
              <a:t>. Usually, the error message is associated with preprocessor conditional statements like #if, #ifdef and others</a:t>
            </a:r>
            <a:endParaRPr lang="en-IN" dirty="0">
              <a:solidFill>
                <a:schemeClr val="tx1"/>
              </a:solidFill>
            </a:endParaRPr>
          </a:p>
        </p:txBody>
      </p:sp>
      <p:sp>
        <p:nvSpPr>
          <p:cNvPr id="11" name="TextBox 10">
            <a:extLst>
              <a:ext uri="{FF2B5EF4-FFF2-40B4-BE49-F238E27FC236}">
                <a16:creationId xmlns:a16="http://schemas.microsoft.com/office/drawing/2014/main" id="{7068E5B0-7A27-2F40-2EF4-F29D0228DD1F}"/>
              </a:ext>
            </a:extLst>
          </p:cNvPr>
          <p:cNvSpPr txBox="1"/>
          <p:nvPr/>
        </p:nvSpPr>
        <p:spPr>
          <a:xfrm>
            <a:off x="1581149" y="1375062"/>
            <a:ext cx="2841764" cy="307777"/>
          </a:xfrm>
          <a:prstGeom prst="rect">
            <a:avLst/>
          </a:prstGeom>
          <a:noFill/>
        </p:spPr>
        <p:txBody>
          <a:bodyPr wrap="square">
            <a:spAutoFit/>
          </a:bodyPr>
          <a:lstStyle/>
          <a:p>
            <a:r>
              <a:rPr lang="en-US" b="1" dirty="0">
                <a:solidFill>
                  <a:srgbClr val="FFFF00"/>
                </a:solidFill>
              </a:rPr>
              <a:t>Example with #error</a:t>
            </a:r>
          </a:p>
        </p:txBody>
      </p:sp>
      <p:pic>
        <p:nvPicPr>
          <p:cNvPr id="5" name="Picture 4">
            <a:extLst>
              <a:ext uri="{FF2B5EF4-FFF2-40B4-BE49-F238E27FC236}">
                <a16:creationId xmlns:a16="http://schemas.microsoft.com/office/drawing/2014/main" id="{2BA9A462-FBA3-5BD4-33AD-53667FA7371E}"/>
              </a:ext>
            </a:extLst>
          </p:cNvPr>
          <p:cNvPicPr>
            <a:picLocks noChangeAspect="1"/>
          </p:cNvPicPr>
          <p:nvPr/>
        </p:nvPicPr>
        <p:blipFill>
          <a:blip r:embed="rId2"/>
          <a:stretch>
            <a:fillRect/>
          </a:stretch>
        </p:blipFill>
        <p:spPr>
          <a:xfrm>
            <a:off x="210794" y="1702948"/>
            <a:ext cx="5776577" cy="3276832"/>
          </a:xfrm>
          <a:prstGeom prst="rect">
            <a:avLst/>
          </a:prstGeom>
        </p:spPr>
      </p:pic>
      <p:cxnSp>
        <p:nvCxnSpPr>
          <p:cNvPr id="7" name="Straight Connector 6">
            <a:extLst>
              <a:ext uri="{FF2B5EF4-FFF2-40B4-BE49-F238E27FC236}">
                <a16:creationId xmlns:a16="http://schemas.microsoft.com/office/drawing/2014/main" id="{460F2134-220C-BE1E-5D70-BE8131B6DB80}"/>
              </a:ext>
            </a:extLst>
          </p:cNvPr>
          <p:cNvCxnSpPr/>
          <p:nvPr/>
        </p:nvCxnSpPr>
        <p:spPr>
          <a:xfrm>
            <a:off x="1100265" y="3180522"/>
            <a:ext cx="768292"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3057263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16150"/>
            <a:ext cx="6943469" cy="396300"/>
          </a:xfrm>
        </p:spPr>
        <p:txBody>
          <a:bodyPr/>
          <a:lstStyle/>
          <a:p>
            <a:pPr algn="ctr"/>
            <a:r>
              <a:rPr lang="en-IN" sz="2400" dirty="0"/>
              <a:t>Standard Library Header Files in C</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34</a:t>
            </a:fld>
            <a:endParaRPr lang="en"/>
          </a:p>
        </p:txBody>
      </p:sp>
      <p:pic>
        <p:nvPicPr>
          <p:cNvPr id="7" name="Picture 6">
            <a:extLst>
              <a:ext uri="{FF2B5EF4-FFF2-40B4-BE49-F238E27FC236}">
                <a16:creationId xmlns:a16="http://schemas.microsoft.com/office/drawing/2014/main" id="{7930070B-D906-0B68-E7D4-B32DC6830081}"/>
              </a:ext>
            </a:extLst>
          </p:cNvPr>
          <p:cNvPicPr>
            <a:picLocks noChangeAspect="1"/>
          </p:cNvPicPr>
          <p:nvPr/>
        </p:nvPicPr>
        <p:blipFill>
          <a:blip r:embed="rId2"/>
          <a:stretch>
            <a:fillRect/>
          </a:stretch>
        </p:blipFill>
        <p:spPr>
          <a:xfrm>
            <a:off x="39020" y="387604"/>
            <a:ext cx="2122489" cy="2556635"/>
          </a:xfrm>
          <a:prstGeom prst="rect">
            <a:avLst/>
          </a:prstGeom>
        </p:spPr>
      </p:pic>
      <p:pic>
        <p:nvPicPr>
          <p:cNvPr id="13" name="Picture 12">
            <a:extLst>
              <a:ext uri="{FF2B5EF4-FFF2-40B4-BE49-F238E27FC236}">
                <a16:creationId xmlns:a16="http://schemas.microsoft.com/office/drawing/2014/main" id="{4921DF4A-09C3-4F82-FD29-34A26BCE87D5}"/>
              </a:ext>
            </a:extLst>
          </p:cNvPr>
          <p:cNvPicPr>
            <a:picLocks noChangeAspect="1"/>
          </p:cNvPicPr>
          <p:nvPr/>
        </p:nvPicPr>
        <p:blipFill>
          <a:blip r:embed="rId3"/>
          <a:stretch>
            <a:fillRect/>
          </a:stretch>
        </p:blipFill>
        <p:spPr>
          <a:xfrm>
            <a:off x="1873276" y="1693254"/>
            <a:ext cx="4248774" cy="2656026"/>
          </a:xfrm>
          <a:prstGeom prst="rect">
            <a:avLst/>
          </a:prstGeom>
        </p:spPr>
      </p:pic>
      <p:grpSp>
        <p:nvGrpSpPr>
          <p:cNvPr id="16" name="Group 15">
            <a:extLst>
              <a:ext uri="{FF2B5EF4-FFF2-40B4-BE49-F238E27FC236}">
                <a16:creationId xmlns:a16="http://schemas.microsoft.com/office/drawing/2014/main" id="{8AC8AD44-7596-30AB-7101-88920DA2C885}"/>
              </a:ext>
            </a:extLst>
          </p:cNvPr>
          <p:cNvGrpSpPr/>
          <p:nvPr/>
        </p:nvGrpSpPr>
        <p:grpSpPr>
          <a:xfrm>
            <a:off x="6323727" y="435170"/>
            <a:ext cx="2363073" cy="2136580"/>
            <a:chOff x="6323727" y="435170"/>
            <a:chExt cx="2363073" cy="2136580"/>
          </a:xfrm>
        </p:grpSpPr>
        <p:pic>
          <p:nvPicPr>
            <p:cNvPr id="4098" name="Picture 2" descr="Header Files in C - C Tutorial">
              <a:extLst>
                <a:ext uri="{FF2B5EF4-FFF2-40B4-BE49-F238E27FC236}">
                  <a16:creationId xmlns:a16="http://schemas.microsoft.com/office/drawing/2014/main" id="{C0582A1D-3E4E-A847-EB4E-02FC8E21CB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3727" y="435170"/>
              <a:ext cx="2363073" cy="213658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58B1A8FF-BA00-DB53-5021-D6EE7FDB8E37}"/>
                </a:ext>
              </a:extLst>
            </p:cNvPr>
            <p:cNvPicPr>
              <a:picLocks noChangeAspect="1"/>
            </p:cNvPicPr>
            <p:nvPr/>
          </p:nvPicPr>
          <p:blipFill>
            <a:blip r:embed="rId5"/>
            <a:stretch>
              <a:fillRect/>
            </a:stretch>
          </p:blipFill>
          <p:spPr>
            <a:xfrm>
              <a:off x="6343605" y="2285172"/>
              <a:ext cx="962025" cy="266700"/>
            </a:xfrm>
            <a:prstGeom prst="rect">
              <a:avLst/>
            </a:prstGeom>
          </p:spPr>
        </p:pic>
      </p:grpSp>
    </p:spTree>
    <p:extLst>
      <p:ext uri="{BB962C8B-B14F-4D97-AF65-F5344CB8AC3E}">
        <p14:creationId xmlns:p14="http://schemas.microsoft.com/office/powerpoint/2010/main" val="35526384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16150"/>
            <a:ext cx="6943469" cy="396300"/>
          </a:xfrm>
        </p:spPr>
        <p:txBody>
          <a:bodyPr/>
          <a:lstStyle/>
          <a:p>
            <a:pPr algn="ctr"/>
            <a:r>
              <a:rPr lang="en-IN" sz="2400" dirty="0"/>
              <a:t>String </a:t>
            </a:r>
            <a:r>
              <a:rPr lang="en-IN" sz="2400" dirty="0">
                <a:latin typeface="Vidaloka" panose="020B0604020202020204" charset="0"/>
              </a:rPr>
              <a:t>Functions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35</a:t>
            </a:fld>
            <a:endParaRPr lang="en"/>
          </a:p>
        </p:txBody>
      </p:sp>
      <p:graphicFrame>
        <p:nvGraphicFramePr>
          <p:cNvPr id="5" name="Table 4">
            <a:extLst>
              <a:ext uri="{FF2B5EF4-FFF2-40B4-BE49-F238E27FC236}">
                <a16:creationId xmlns:a16="http://schemas.microsoft.com/office/drawing/2014/main" id="{DF4DB1D7-14E9-F323-B4AC-B17C673D2A42}"/>
              </a:ext>
            </a:extLst>
          </p:cNvPr>
          <p:cNvGraphicFramePr>
            <a:graphicFrameLocks noGrp="1"/>
          </p:cNvGraphicFramePr>
          <p:nvPr>
            <p:extLst>
              <p:ext uri="{D42A27DB-BD31-4B8C-83A1-F6EECF244321}">
                <p14:modId xmlns:p14="http://schemas.microsoft.com/office/powerpoint/2010/main" val="1698976313"/>
              </p:ext>
            </p:extLst>
          </p:nvPr>
        </p:nvGraphicFramePr>
        <p:xfrm>
          <a:off x="190916" y="482474"/>
          <a:ext cx="5895927" cy="4475083"/>
        </p:xfrm>
        <a:graphic>
          <a:graphicData uri="http://schemas.openxmlformats.org/drawingml/2006/table">
            <a:tbl>
              <a:tblPr/>
              <a:tblGrid>
                <a:gridCol w="462691">
                  <a:extLst>
                    <a:ext uri="{9D8B030D-6E8A-4147-A177-3AD203B41FA5}">
                      <a16:colId xmlns:a16="http://schemas.microsoft.com/office/drawing/2014/main" val="4007530372"/>
                    </a:ext>
                  </a:extLst>
                </a:gridCol>
                <a:gridCol w="2328531">
                  <a:extLst>
                    <a:ext uri="{9D8B030D-6E8A-4147-A177-3AD203B41FA5}">
                      <a16:colId xmlns:a16="http://schemas.microsoft.com/office/drawing/2014/main" val="3544418742"/>
                    </a:ext>
                  </a:extLst>
                </a:gridCol>
                <a:gridCol w="3104705">
                  <a:extLst>
                    <a:ext uri="{9D8B030D-6E8A-4147-A177-3AD203B41FA5}">
                      <a16:colId xmlns:a16="http://schemas.microsoft.com/office/drawing/2014/main" val="3106568775"/>
                    </a:ext>
                  </a:extLst>
                </a:gridCol>
              </a:tblGrid>
              <a:tr h="272377">
                <a:tc>
                  <a:txBody>
                    <a:bodyPr/>
                    <a:lstStyle/>
                    <a:p>
                      <a:pPr algn="l" fontAlgn="t"/>
                      <a:r>
                        <a:rPr lang="en-IN" sz="1600">
                          <a:solidFill>
                            <a:srgbClr val="000000"/>
                          </a:solidFill>
                          <a:effectLst/>
                          <a:latin typeface="Vidaloka" panose="020B0604020202020204" charset="0"/>
                        </a:rPr>
                        <a:t>No.</a:t>
                      </a:r>
                    </a:p>
                  </a:txBody>
                  <a:tcPr marL="70442" marR="70442" marT="70442" marB="70442">
                    <a:lnL w="9525" cap="flat" cmpd="sng" algn="ctr">
                      <a:solidFill>
                        <a:srgbClr val="C8FBFB"/>
                      </a:solidFill>
                      <a:prstDash val="solid"/>
                      <a:round/>
                      <a:headEnd type="none" w="med" len="med"/>
                      <a:tailEnd type="none" w="med" len="med"/>
                    </a:lnL>
                    <a:lnR w="9525" cap="flat" cmpd="sng" algn="ctr">
                      <a:solidFill>
                        <a:srgbClr val="C8FBFB"/>
                      </a:solidFill>
                      <a:prstDash val="solid"/>
                      <a:round/>
                      <a:headEnd type="none" w="med" len="med"/>
                      <a:tailEnd type="none" w="med" len="med"/>
                    </a:lnR>
                    <a:lnT w="9525" cap="flat" cmpd="sng" algn="ctr">
                      <a:solidFill>
                        <a:srgbClr val="C8FBFB"/>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600">
                          <a:solidFill>
                            <a:srgbClr val="000000"/>
                          </a:solidFill>
                          <a:effectLst/>
                          <a:latin typeface="Vidaloka" panose="020B0604020202020204" charset="0"/>
                        </a:rPr>
                        <a:t>Function</a:t>
                      </a:r>
                    </a:p>
                  </a:txBody>
                  <a:tcPr marL="70442" marR="70442" marT="70442" marB="70442">
                    <a:lnL w="9525" cap="flat" cmpd="sng" algn="ctr">
                      <a:solidFill>
                        <a:srgbClr val="C8FBFB"/>
                      </a:solidFill>
                      <a:prstDash val="solid"/>
                      <a:round/>
                      <a:headEnd type="none" w="med" len="med"/>
                      <a:tailEnd type="none" w="med" len="med"/>
                    </a:lnL>
                    <a:lnR w="9525" cap="flat" cmpd="sng" algn="ctr">
                      <a:solidFill>
                        <a:srgbClr val="C8FBFB"/>
                      </a:solidFill>
                      <a:prstDash val="solid"/>
                      <a:round/>
                      <a:headEnd type="none" w="med" len="med"/>
                      <a:tailEnd type="none" w="med" len="med"/>
                    </a:lnR>
                    <a:lnT w="9525" cap="flat" cmpd="sng" algn="ctr">
                      <a:solidFill>
                        <a:srgbClr val="C8FBFB"/>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600" dirty="0">
                          <a:solidFill>
                            <a:schemeClr val="bg1"/>
                          </a:solidFill>
                          <a:effectLst/>
                          <a:latin typeface="Vidaloka" panose="020B0604020202020204" charset="0"/>
                        </a:rPr>
                        <a:t>Description</a:t>
                      </a:r>
                    </a:p>
                  </a:txBody>
                  <a:tcPr marL="70442" marR="70442" marT="70442" marB="70442">
                    <a:lnL w="9525" cap="flat" cmpd="sng" algn="ctr">
                      <a:solidFill>
                        <a:srgbClr val="C8FBFB"/>
                      </a:solidFill>
                      <a:prstDash val="solid"/>
                      <a:round/>
                      <a:headEnd type="none" w="med" len="med"/>
                      <a:tailEnd type="none" w="med" len="med"/>
                    </a:lnL>
                    <a:lnR w="9525" cap="flat" cmpd="sng" algn="ctr">
                      <a:solidFill>
                        <a:srgbClr val="C8FBFB"/>
                      </a:solidFill>
                      <a:prstDash val="solid"/>
                      <a:round/>
                      <a:headEnd type="none" w="med" len="med"/>
                      <a:tailEnd type="none" w="med" len="med"/>
                    </a:lnR>
                    <a:lnT w="9525" cap="flat" cmpd="sng" algn="ctr">
                      <a:solidFill>
                        <a:srgbClr val="C8FBFB"/>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2967208734"/>
                  </a:ext>
                </a:extLst>
              </a:tr>
              <a:tr h="356907">
                <a:tc>
                  <a:txBody>
                    <a:bodyPr/>
                    <a:lstStyle/>
                    <a:p>
                      <a:pPr algn="just" fontAlgn="t"/>
                      <a:r>
                        <a:rPr lang="en-IN" sz="1600">
                          <a:solidFill>
                            <a:srgbClr val="333333"/>
                          </a:solidFill>
                          <a:effectLst/>
                          <a:latin typeface="Vidaloka" panose="020B0604020202020204" charset="0"/>
                        </a:rPr>
                        <a:t>1)</a:t>
                      </a:r>
                    </a:p>
                  </a:txBody>
                  <a:tcPr marL="46961" marR="46961" marT="46961" marB="4696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u="none" strike="noStrike">
                          <a:solidFill>
                            <a:schemeClr val="bg1"/>
                          </a:solidFill>
                          <a:effectLst/>
                          <a:latin typeface="Vidaloka" panose="020B0604020202020204" charset="0"/>
                          <a:hlinkClick r:id="rId2">
                            <a:extLst>
                              <a:ext uri="{A12FA001-AC4F-418D-AE19-62706E023703}">
                                <ahyp:hlinkClr xmlns:ahyp="http://schemas.microsoft.com/office/drawing/2018/hyperlinkcolor" val="tx"/>
                              </a:ext>
                            </a:extLst>
                          </a:hlinkClick>
                        </a:rPr>
                        <a:t>strlen(string_name)</a:t>
                      </a:r>
                      <a:endParaRPr lang="en-IN" sz="1600" u="none">
                        <a:solidFill>
                          <a:schemeClr val="bg1"/>
                        </a:solidFill>
                        <a:effectLst/>
                        <a:latin typeface="Vidaloka" panose="020B0604020202020204" charset="0"/>
                      </a:endParaRPr>
                    </a:p>
                  </a:txBody>
                  <a:tcPr marL="46961" marR="46961" marT="46961" marB="4696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chemeClr val="bg1"/>
                          </a:solidFill>
                          <a:effectLst/>
                          <a:latin typeface="Vidaloka" panose="020B0604020202020204" charset="0"/>
                        </a:rPr>
                        <a:t>returns the length of string name.</a:t>
                      </a:r>
                    </a:p>
                  </a:txBody>
                  <a:tcPr marL="46961" marR="46961" marT="46961" marB="4696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124056311"/>
                  </a:ext>
                </a:extLst>
              </a:tr>
              <a:tr h="356907">
                <a:tc>
                  <a:txBody>
                    <a:bodyPr/>
                    <a:lstStyle/>
                    <a:p>
                      <a:pPr algn="just" fontAlgn="t"/>
                      <a:r>
                        <a:rPr lang="en-IN" sz="1600">
                          <a:solidFill>
                            <a:srgbClr val="333333"/>
                          </a:solidFill>
                          <a:effectLst/>
                          <a:latin typeface="Vidaloka" panose="020B0604020202020204" charset="0"/>
                        </a:rPr>
                        <a:t>2)</a:t>
                      </a:r>
                    </a:p>
                  </a:txBody>
                  <a:tcPr marL="46961" marR="46961" marT="46961" marB="4696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600" u="none" strike="noStrike">
                          <a:solidFill>
                            <a:schemeClr val="bg1"/>
                          </a:solidFill>
                          <a:effectLst/>
                          <a:latin typeface="Vidaloka" panose="020B0604020202020204" charset="0"/>
                          <a:hlinkClick r:id="rId3">
                            <a:extLst>
                              <a:ext uri="{A12FA001-AC4F-418D-AE19-62706E023703}">
                                <ahyp:hlinkClr xmlns:ahyp="http://schemas.microsoft.com/office/drawing/2018/hyperlinkcolor" val="tx"/>
                              </a:ext>
                            </a:extLst>
                          </a:hlinkClick>
                        </a:rPr>
                        <a:t>strcpy(destination, source)</a:t>
                      </a:r>
                      <a:endParaRPr lang="en-IN" sz="1600" u="none">
                        <a:solidFill>
                          <a:schemeClr val="bg1"/>
                        </a:solidFill>
                        <a:effectLst/>
                        <a:latin typeface="Vidaloka" panose="020B0604020202020204" charset="0"/>
                      </a:endParaRPr>
                    </a:p>
                  </a:txBody>
                  <a:tcPr marL="46961" marR="46961" marT="46961" marB="4696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bg1"/>
                          </a:solidFill>
                          <a:effectLst/>
                          <a:latin typeface="Vidaloka" panose="020B0604020202020204" charset="0"/>
                        </a:rPr>
                        <a:t>copies the contents of source string to destination string.</a:t>
                      </a:r>
                    </a:p>
                  </a:txBody>
                  <a:tcPr marL="46961" marR="46961" marT="46961" marB="4696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571147876"/>
                  </a:ext>
                </a:extLst>
              </a:tr>
              <a:tr h="619892">
                <a:tc>
                  <a:txBody>
                    <a:bodyPr/>
                    <a:lstStyle/>
                    <a:p>
                      <a:pPr algn="just" fontAlgn="t"/>
                      <a:r>
                        <a:rPr lang="en-IN" sz="1600">
                          <a:solidFill>
                            <a:srgbClr val="333333"/>
                          </a:solidFill>
                          <a:effectLst/>
                          <a:latin typeface="Vidaloka" panose="020B0604020202020204" charset="0"/>
                        </a:rPr>
                        <a:t>3)</a:t>
                      </a:r>
                    </a:p>
                  </a:txBody>
                  <a:tcPr marL="46961" marR="46961" marT="46961" marB="4696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u="none" strike="noStrike">
                          <a:solidFill>
                            <a:schemeClr val="bg1"/>
                          </a:solidFill>
                          <a:effectLst/>
                          <a:latin typeface="Vidaloka" panose="020B0604020202020204" charset="0"/>
                          <a:hlinkClick r:id="rId4">
                            <a:extLst>
                              <a:ext uri="{A12FA001-AC4F-418D-AE19-62706E023703}">
                                <ahyp:hlinkClr xmlns:ahyp="http://schemas.microsoft.com/office/drawing/2018/hyperlinkcolor" val="tx"/>
                              </a:ext>
                            </a:extLst>
                          </a:hlinkClick>
                        </a:rPr>
                        <a:t>strcat(first_string, second_string)</a:t>
                      </a:r>
                      <a:endParaRPr lang="en-US" sz="1600" u="none">
                        <a:solidFill>
                          <a:schemeClr val="bg1"/>
                        </a:solidFill>
                        <a:effectLst/>
                        <a:latin typeface="Vidaloka" panose="020B0604020202020204" charset="0"/>
                      </a:endParaRPr>
                    </a:p>
                  </a:txBody>
                  <a:tcPr marL="46961" marR="46961" marT="46961" marB="4696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dirty="0" err="1">
                          <a:solidFill>
                            <a:schemeClr val="bg1"/>
                          </a:solidFill>
                          <a:effectLst/>
                          <a:latin typeface="Vidaloka" panose="020B0604020202020204" charset="0"/>
                        </a:rPr>
                        <a:t>concats</a:t>
                      </a:r>
                      <a:r>
                        <a:rPr lang="en-US" sz="1600" dirty="0">
                          <a:solidFill>
                            <a:schemeClr val="bg1"/>
                          </a:solidFill>
                          <a:effectLst/>
                          <a:latin typeface="Vidaloka" panose="020B0604020202020204" charset="0"/>
                        </a:rPr>
                        <a:t> or joins first string with second string. The result of the string is stored in first string.</a:t>
                      </a:r>
                    </a:p>
                  </a:txBody>
                  <a:tcPr marL="46961" marR="46961" marT="46961" marB="4696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62636598"/>
                  </a:ext>
                </a:extLst>
              </a:tr>
              <a:tr h="488399">
                <a:tc>
                  <a:txBody>
                    <a:bodyPr/>
                    <a:lstStyle/>
                    <a:p>
                      <a:pPr algn="just" fontAlgn="t"/>
                      <a:r>
                        <a:rPr lang="en-IN" sz="1600">
                          <a:solidFill>
                            <a:srgbClr val="333333"/>
                          </a:solidFill>
                          <a:effectLst/>
                          <a:latin typeface="Vidaloka" panose="020B0604020202020204" charset="0"/>
                        </a:rPr>
                        <a:t>4)</a:t>
                      </a:r>
                    </a:p>
                  </a:txBody>
                  <a:tcPr marL="46961" marR="46961" marT="46961" marB="4696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u="none" strike="noStrike">
                          <a:solidFill>
                            <a:schemeClr val="bg1"/>
                          </a:solidFill>
                          <a:effectLst/>
                          <a:latin typeface="Vidaloka" panose="020B0604020202020204" charset="0"/>
                          <a:hlinkClick r:id="rId5">
                            <a:extLst>
                              <a:ext uri="{A12FA001-AC4F-418D-AE19-62706E023703}">
                                <ahyp:hlinkClr xmlns:ahyp="http://schemas.microsoft.com/office/drawing/2018/hyperlinkcolor" val="tx"/>
                              </a:ext>
                            </a:extLst>
                          </a:hlinkClick>
                        </a:rPr>
                        <a:t>strcmp(first_string, second_string)</a:t>
                      </a:r>
                      <a:endParaRPr lang="en-US" sz="1600" u="none">
                        <a:solidFill>
                          <a:schemeClr val="bg1"/>
                        </a:solidFill>
                        <a:effectLst/>
                        <a:latin typeface="Vidaloka" panose="020B0604020202020204" charset="0"/>
                      </a:endParaRPr>
                    </a:p>
                  </a:txBody>
                  <a:tcPr marL="46961" marR="46961" marT="46961" marB="4696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bg1"/>
                          </a:solidFill>
                          <a:effectLst/>
                          <a:latin typeface="Vidaloka" panose="020B0604020202020204" charset="0"/>
                        </a:rPr>
                        <a:t>compares the first string with second string. If both strings are same, it returns 0.</a:t>
                      </a:r>
                    </a:p>
                  </a:txBody>
                  <a:tcPr marL="46961" marR="46961" marT="46961" marB="4696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609491158"/>
                  </a:ext>
                </a:extLst>
              </a:tr>
              <a:tr h="225415">
                <a:tc>
                  <a:txBody>
                    <a:bodyPr/>
                    <a:lstStyle/>
                    <a:p>
                      <a:pPr algn="just" fontAlgn="t"/>
                      <a:r>
                        <a:rPr lang="en-IN" sz="1600">
                          <a:solidFill>
                            <a:srgbClr val="333333"/>
                          </a:solidFill>
                          <a:effectLst/>
                          <a:latin typeface="Vidaloka" panose="020B0604020202020204" charset="0"/>
                        </a:rPr>
                        <a:t>5)</a:t>
                      </a:r>
                    </a:p>
                  </a:txBody>
                  <a:tcPr marL="46961" marR="46961" marT="46961" marB="4696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u="none" strike="noStrike">
                          <a:solidFill>
                            <a:schemeClr val="bg1"/>
                          </a:solidFill>
                          <a:effectLst/>
                          <a:latin typeface="Vidaloka" panose="020B0604020202020204" charset="0"/>
                          <a:hlinkClick r:id="rId6">
                            <a:extLst>
                              <a:ext uri="{A12FA001-AC4F-418D-AE19-62706E023703}">
                                <ahyp:hlinkClr xmlns:ahyp="http://schemas.microsoft.com/office/drawing/2018/hyperlinkcolor" val="tx"/>
                              </a:ext>
                            </a:extLst>
                          </a:hlinkClick>
                        </a:rPr>
                        <a:t>strrev(string)</a:t>
                      </a:r>
                      <a:endParaRPr lang="en-IN" sz="1600" u="none">
                        <a:solidFill>
                          <a:schemeClr val="bg1"/>
                        </a:solidFill>
                        <a:effectLst/>
                        <a:latin typeface="Vidaloka" panose="020B0604020202020204" charset="0"/>
                      </a:endParaRPr>
                    </a:p>
                  </a:txBody>
                  <a:tcPr marL="46961" marR="46961" marT="46961" marB="4696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a:solidFill>
                            <a:schemeClr val="bg1"/>
                          </a:solidFill>
                          <a:effectLst/>
                          <a:latin typeface="Vidaloka" panose="020B0604020202020204" charset="0"/>
                        </a:rPr>
                        <a:t>returns reverse string.</a:t>
                      </a:r>
                    </a:p>
                  </a:txBody>
                  <a:tcPr marL="46961" marR="46961" marT="46961" marB="4696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104635966"/>
                  </a:ext>
                </a:extLst>
              </a:tr>
              <a:tr h="356907">
                <a:tc>
                  <a:txBody>
                    <a:bodyPr/>
                    <a:lstStyle/>
                    <a:p>
                      <a:pPr algn="just" fontAlgn="t"/>
                      <a:r>
                        <a:rPr lang="en-IN" sz="1600">
                          <a:solidFill>
                            <a:srgbClr val="333333"/>
                          </a:solidFill>
                          <a:effectLst/>
                          <a:latin typeface="Vidaloka" panose="020B0604020202020204" charset="0"/>
                        </a:rPr>
                        <a:t>6)</a:t>
                      </a:r>
                    </a:p>
                  </a:txBody>
                  <a:tcPr marL="46961" marR="46961" marT="46961" marB="4696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600" u="none" strike="noStrike">
                          <a:solidFill>
                            <a:schemeClr val="bg1"/>
                          </a:solidFill>
                          <a:effectLst/>
                          <a:latin typeface="Vidaloka" panose="020B0604020202020204" charset="0"/>
                          <a:hlinkClick r:id="rId7">
                            <a:extLst>
                              <a:ext uri="{A12FA001-AC4F-418D-AE19-62706E023703}">
                                <ahyp:hlinkClr xmlns:ahyp="http://schemas.microsoft.com/office/drawing/2018/hyperlinkcolor" val="tx"/>
                              </a:ext>
                            </a:extLst>
                          </a:hlinkClick>
                        </a:rPr>
                        <a:t>strlwr(string)</a:t>
                      </a:r>
                      <a:endParaRPr lang="en-IN" sz="1600" u="none">
                        <a:solidFill>
                          <a:schemeClr val="bg1"/>
                        </a:solidFill>
                        <a:effectLst/>
                        <a:latin typeface="Vidaloka" panose="020B0604020202020204" charset="0"/>
                      </a:endParaRPr>
                    </a:p>
                  </a:txBody>
                  <a:tcPr marL="46961" marR="46961" marT="46961" marB="4696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bg1"/>
                          </a:solidFill>
                          <a:effectLst/>
                          <a:latin typeface="Vidaloka" panose="020B0604020202020204" charset="0"/>
                        </a:rPr>
                        <a:t>returns string characters in lowercase.</a:t>
                      </a:r>
                    </a:p>
                  </a:txBody>
                  <a:tcPr marL="46961" marR="46961" marT="46961" marB="4696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173281734"/>
                  </a:ext>
                </a:extLst>
              </a:tr>
              <a:tr h="356907">
                <a:tc>
                  <a:txBody>
                    <a:bodyPr/>
                    <a:lstStyle/>
                    <a:p>
                      <a:pPr algn="just" fontAlgn="t"/>
                      <a:r>
                        <a:rPr lang="en-IN" sz="1600">
                          <a:solidFill>
                            <a:srgbClr val="333333"/>
                          </a:solidFill>
                          <a:effectLst/>
                          <a:latin typeface="Vidaloka" panose="020B0604020202020204" charset="0"/>
                        </a:rPr>
                        <a:t>7)</a:t>
                      </a:r>
                    </a:p>
                  </a:txBody>
                  <a:tcPr marL="46961" marR="46961" marT="46961" marB="4696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u="none" strike="noStrike" dirty="0" err="1">
                          <a:solidFill>
                            <a:schemeClr val="bg1"/>
                          </a:solidFill>
                          <a:effectLst/>
                          <a:latin typeface="Vidaloka" panose="020B0604020202020204" charset="0"/>
                          <a:hlinkClick r:id="rId8">
                            <a:extLst>
                              <a:ext uri="{A12FA001-AC4F-418D-AE19-62706E023703}">
                                <ahyp:hlinkClr xmlns:ahyp="http://schemas.microsoft.com/office/drawing/2018/hyperlinkcolor" val="tx"/>
                              </a:ext>
                            </a:extLst>
                          </a:hlinkClick>
                        </a:rPr>
                        <a:t>strupr</a:t>
                      </a:r>
                      <a:r>
                        <a:rPr lang="en-IN" sz="1600" u="none" strike="noStrike" dirty="0">
                          <a:solidFill>
                            <a:schemeClr val="bg1"/>
                          </a:solidFill>
                          <a:effectLst/>
                          <a:latin typeface="Vidaloka" panose="020B0604020202020204" charset="0"/>
                          <a:hlinkClick r:id="rId8">
                            <a:extLst>
                              <a:ext uri="{A12FA001-AC4F-418D-AE19-62706E023703}">
                                <ahyp:hlinkClr xmlns:ahyp="http://schemas.microsoft.com/office/drawing/2018/hyperlinkcolor" val="tx"/>
                              </a:ext>
                            </a:extLst>
                          </a:hlinkClick>
                        </a:rPr>
                        <a:t>(string)</a:t>
                      </a:r>
                      <a:endParaRPr lang="en-IN" sz="1600" u="none" dirty="0">
                        <a:solidFill>
                          <a:schemeClr val="bg1"/>
                        </a:solidFill>
                        <a:effectLst/>
                        <a:latin typeface="Vidaloka" panose="020B0604020202020204" charset="0"/>
                      </a:endParaRPr>
                    </a:p>
                  </a:txBody>
                  <a:tcPr marL="46961" marR="46961" marT="46961" marB="4696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dirty="0">
                          <a:solidFill>
                            <a:schemeClr val="bg1"/>
                          </a:solidFill>
                          <a:effectLst/>
                          <a:latin typeface="Vidaloka" panose="020B0604020202020204" charset="0"/>
                        </a:rPr>
                        <a:t>returns string characters in uppercase.</a:t>
                      </a:r>
                    </a:p>
                  </a:txBody>
                  <a:tcPr marL="46961" marR="46961" marT="46961" marB="4696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747780516"/>
                  </a:ext>
                </a:extLst>
              </a:tr>
            </a:tbl>
          </a:graphicData>
        </a:graphic>
      </p:graphicFrame>
    </p:spTree>
    <p:extLst>
      <p:ext uri="{BB962C8B-B14F-4D97-AF65-F5344CB8AC3E}">
        <p14:creationId xmlns:p14="http://schemas.microsoft.com/office/powerpoint/2010/main" val="330784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16150"/>
            <a:ext cx="6943469" cy="396300"/>
          </a:xfrm>
        </p:spPr>
        <p:txBody>
          <a:bodyPr/>
          <a:lstStyle/>
          <a:p>
            <a:pPr algn="ctr"/>
            <a:r>
              <a:rPr lang="en-IN" sz="2400" dirty="0"/>
              <a:t>Mathematical </a:t>
            </a:r>
            <a:r>
              <a:rPr lang="en-IN" sz="2400" dirty="0">
                <a:latin typeface="Vidaloka" panose="020B0604020202020204" charset="0"/>
              </a:rPr>
              <a:t>Functions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36</a:t>
            </a:fld>
            <a:endParaRPr lang="en"/>
          </a:p>
        </p:txBody>
      </p:sp>
      <p:graphicFrame>
        <p:nvGraphicFramePr>
          <p:cNvPr id="4" name="Table 3">
            <a:extLst>
              <a:ext uri="{FF2B5EF4-FFF2-40B4-BE49-F238E27FC236}">
                <a16:creationId xmlns:a16="http://schemas.microsoft.com/office/drawing/2014/main" id="{04DF2FD8-E816-D1D4-677D-4F332E7F1D05}"/>
              </a:ext>
            </a:extLst>
          </p:cNvPr>
          <p:cNvGraphicFramePr>
            <a:graphicFrameLocks noGrp="1"/>
          </p:cNvGraphicFramePr>
          <p:nvPr>
            <p:extLst>
              <p:ext uri="{D42A27DB-BD31-4B8C-83A1-F6EECF244321}">
                <p14:modId xmlns:p14="http://schemas.microsoft.com/office/powerpoint/2010/main" val="3101061161"/>
              </p:ext>
            </p:extLst>
          </p:nvPr>
        </p:nvGraphicFramePr>
        <p:xfrm>
          <a:off x="344978" y="716185"/>
          <a:ext cx="5609255" cy="3372904"/>
        </p:xfrm>
        <a:graphic>
          <a:graphicData uri="http://schemas.openxmlformats.org/drawingml/2006/table">
            <a:tbl>
              <a:tblPr/>
              <a:tblGrid>
                <a:gridCol w="590999">
                  <a:extLst>
                    <a:ext uri="{9D8B030D-6E8A-4147-A177-3AD203B41FA5}">
                      <a16:colId xmlns:a16="http://schemas.microsoft.com/office/drawing/2014/main" val="3525010688"/>
                    </a:ext>
                  </a:extLst>
                </a:gridCol>
                <a:gridCol w="1847068">
                  <a:extLst>
                    <a:ext uri="{9D8B030D-6E8A-4147-A177-3AD203B41FA5}">
                      <a16:colId xmlns:a16="http://schemas.microsoft.com/office/drawing/2014/main" val="2639727245"/>
                    </a:ext>
                  </a:extLst>
                </a:gridCol>
                <a:gridCol w="3171188">
                  <a:extLst>
                    <a:ext uri="{9D8B030D-6E8A-4147-A177-3AD203B41FA5}">
                      <a16:colId xmlns:a16="http://schemas.microsoft.com/office/drawing/2014/main" val="3468122247"/>
                    </a:ext>
                  </a:extLst>
                </a:gridCol>
              </a:tblGrid>
              <a:tr h="319919">
                <a:tc>
                  <a:txBody>
                    <a:bodyPr/>
                    <a:lstStyle/>
                    <a:p>
                      <a:pPr algn="l" fontAlgn="t"/>
                      <a:r>
                        <a:rPr lang="en-IN" sz="1400">
                          <a:solidFill>
                            <a:srgbClr val="000000"/>
                          </a:solidFill>
                          <a:effectLst/>
                          <a:latin typeface="Vidaloka" panose="020B0604020202020204" charset="0"/>
                        </a:rPr>
                        <a:t>No.</a:t>
                      </a:r>
                    </a:p>
                  </a:txBody>
                  <a:tcPr marL="82738" marR="82738" marT="82738" marB="82738">
                    <a:lnL w="9525" cap="flat" cmpd="sng" algn="ctr">
                      <a:solidFill>
                        <a:srgbClr val="586617"/>
                      </a:solidFill>
                      <a:prstDash val="solid"/>
                      <a:round/>
                      <a:headEnd type="none" w="med" len="med"/>
                      <a:tailEnd type="none" w="med" len="med"/>
                    </a:lnL>
                    <a:lnR w="9525" cap="flat" cmpd="sng" algn="ctr">
                      <a:solidFill>
                        <a:srgbClr val="586617"/>
                      </a:solidFill>
                      <a:prstDash val="solid"/>
                      <a:round/>
                      <a:headEnd type="none" w="med" len="med"/>
                      <a:tailEnd type="none" w="med" len="med"/>
                    </a:lnR>
                    <a:lnT w="9525" cap="flat" cmpd="sng" algn="ctr">
                      <a:solidFill>
                        <a:srgbClr val="586617"/>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a:solidFill>
                            <a:srgbClr val="000000"/>
                          </a:solidFill>
                          <a:effectLst/>
                          <a:latin typeface="Vidaloka" panose="020B0604020202020204" charset="0"/>
                        </a:rPr>
                        <a:t>Function</a:t>
                      </a:r>
                    </a:p>
                  </a:txBody>
                  <a:tcPr marL="82738" marR="82738" marT="82738" marB="82738">
                    <a:lnL w="9525" cap="flat" cmpd="sng" algn="ctr">
                      <a:solidFill>
                        <a:srgbClr val="586617"/>
                      </a:solidFill>
                      <a:prstDash val="solid"/>
                      <a:round/>
                      <a:headEnd type="none" w="med" len="med"/>
                      <a:tailEnd type="none" w="med" len="med"/>
                    </a:lnL>
                    <a:lnR w="9525" cap="flat" cmpd="sng" algn="ctr">
                      <a:solidFill>
                        <a:srgbClr val="586617"/>
                      </a:solidFill>
                      <a:prstDash val="solid"/>
                      <a:round/>
                      <a:headEnd type="none" w="med" len="med"/>
                      <a:tailEnd type="none" w="med" len="med"/>
                    </a:lnR>
                    <a:lnT w="9525" cap="flat" cmpd="sng" algn="ctr">
                      <a:solidFill>
                        <a:srgbClr val="586617"/>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a:solidFill>
                            <a:srgbClr val="000000"/>
                          </a:solidFill>
                          <a:effectLst/>
                          <a:latin typeface="Vidaloka" panose="020B0604020202020204" charset="0"/>
                        </a:rPr>
                        <a:t>Description</a:t>
                      </a:r>
                    </a:p>
                  </a:txBody>
                  <a:tcPr marL="82738" marR="82738" marT="82738" marB="82738">
                    <a:lnL w="9525" cap="flat" cmpd="sng" algn="ctr">
                      <a:solidFill>
                        <a:srgbClr val="586617"/>
                      </a:solidFill>
                      <a:prstDash val="solid"/>
                      <a:round/>
                      <a:headEnd type="none" w="med" len="med"/>
                      <a:tailEnd type="none" w="med" len="med"/>
                    </a:lnL>
                    <a:lnR w="9525" cap="flat" cmpd="sng" algn="ctr">
                      <a:solidFill>
                        <a:srgbClr val="586617"/>
                      </a:solidFill>
                      <a:prstDash val="solid"/>
                      <a:round/>
                      <a:headEnd type="none" w="med" len="med"/>
                      <a:tailEnd type="none" w="med" len="med"/>
                    </a:lnR>
                    <a:lnT w="9525" cap="flat" cmpd="sng" algn="ctr">
                      <a:solidFill>
                        <a:srgbClr val="586617"/>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501402164"/>
                  </a:ext>
                </a:extLst>
              </a:tr>
              <a:tr h="728091">
                <a:tc>
                  <a:txBody>
                    <a:bodyPr/>
                    <a:lstStyle/>
                    <a:p>
                      <a:pPr algn="just" fontAlgn="t"/>
                      <a:r>
                        <a:rPr lang="en-IN" sz="1400">
                          <a:solidFill>
                            <a:srgbClr val="333333"/>
                          </a:solidFill>
                          <a:effectLst/>
                          <a:latin typeface="Vidaloka" panose="020B0604020202020204" charset="0"/>
                        </a:rPr>
                        <a:t>1)</a:t>
                      </a:r>
                    </a:p>
                  </a:txBody>
                  <a:tcPr marL="55158" marR="55158" marT="55158" marB="5515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Vidaloka" panose="020B0604020202020204" charset="0"/>
                        </a:rPr>
                        <a:t>ceil(number)</a:t>
                      </a:r>
                    </a:p>
                  </a:txBody>
                  <a:tcPr marL="55158" marR="55158" marT="55158" marB="5515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Vidaloka" panose="020B0604020202020204" charset="0"/>
                        </a:rPr>
                        <a:t>rounds up the given number. It returns the integer value which is greater than or equal to given number.</a:t>
                      </a:r>
                    </a:p>
                  </a:txBody>
                  <a:tcPr marL="55158" marR="55158" marT="55158" marB="5515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006627110"/>
                  </a:ext>
                </a:extLst>
              </a:tr>
              <a:tr h="728091">
                <a:tc>
                  <a:txBody>
                    <a:bodyPr/>
                    <a:lstStyle/>
                    <a:p>
                      <a:pPr algn="just" fontAlgn="t"/>
                      <a:r>
                        <a:rPr lang="en-IN" sz="1400">
                          <a:solidFill>
                            <a:srgbClr val="333333"/>
                          </a:solidFill>
                          <a:effectLst/>
                          <a:latin typeface="Vidaloka" panose="020B0604020202020204" charset="0"/>
                        </a:rPr>
                        <a:t>2)</a:t>
                      </a:r>
                    </a:p>
                  </a:txBody>
                  <a:tcPr marL="55158" marR="55158" marT="55158" marB="5515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Vidaloka" panose="020B0604020202020204" charset="0"/>
                        </a:rPr>
                        <a:t>floor(number)</a:t>
                      </a:r>
                    </a:p>
                  </a:txBody>
                  <a:tcPr marL="55158" marR="55158" marT="55158" marB="5515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400">
                          <a:solidFill>
                            <a:srgbClr val="333333"/>
                          </a:solidFill>
                          <a:effectLst/>
                          <a:latin typeface="Vidaloka" panose="020B0604020202020204" charset="0"/>
                        </a:rPr>
                        <a:t>rounds down the given number. It returns the integer value which is less than or equal to given number.</a:t>
                      </a:r>
                    </a:p>
                  </a:txBody>
                  <a:tcPr marL="55158" marR="55158" marT="55158" marB="5515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386266182"/>
                  </a:ext>
                </a:extLst>
              </a:tr>
              <a:tr h="419204">
                <a:tc>
                  <a:txBody>
                    <a:bodyPr/>
                    <a:lstStyle/>
                    <a:p>
                      <a:pPr algn="just" fontAlgn="t"/>
                      <a:r>
                        <a:rPr lang="en-IN" sz="1400">
                          <a:solidFill>
                            <a:srgbClr val="333333"/>
                          </a:solidFill>
                          <a:effectLst/>
                          <a:latin typeface="Vidaloka" panose="020B0604020202020204" charset="0"/>
                        </a:rPr>
                        <a:t>3)</a:t>
                      </a:r>
                    </a:p>
                  </a:txBody>
                  <a:tcPr marL="55158" marR="55158" marT="55158" marB="5515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Vidaloka" panose="020B0604020202020204" charset="0"/>
                        </a:rPr>
                        <a:t>sqrt(number)</a:t>
                      </a:r>
                    </a:p>
                  </a:txBody>
                  <a:tcPr marL="55158" marR="55158" marT="55158" marB="5515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Vidaloka" panose="020B0604020202020204" charset="0"/>
                        </a:rPr>
                        <a:t>returns the square root of given number.</a:t>
                      </a:r>
                    </a:p>
                  </a:txBody>
                  <a:tcPr marL="55158" marR="55158" marT="55158" marB="5515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877472665"/>
                  </a:ext>
                </a:extLst>
              </a:tr>
              <a:tr h="419204">
                <a:tc>
                  <a:txBody>
                    <a:bodyPr/>
                    <a:lstStyle/>
                    <a:p>
                      <a:pPr algn="just" fontAlgn="t"/>
                      <a:r>
                        <a:rPr lang="en-IN" sz="1400">
                          <a:solidFill>
                            <a:srgbClr val="333333"/>
                          </a:solidFill>
                          <a:effectLst/>
                          <a:latin typeface="Vidaloka" panose="020B0604020202020204" charset="0"/>
                        </a:rPr>
                        <a:t>4)</a:t>
                      </a:r>
                    </a:p>
                  </a:txBody>
                  <a:tcPr marL="55158" marR="55158" marT="55158" marB="5515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Vidaloka" panose="020B0604020202020204" charset="0"/>
                        </a:rPr>
                        <a:t>pow(base, exponent)</a:t>
                      </a:r>
                    </a:p>
                  </a:txBody>
                  <a:tcPr marL="55158" marR="55158" marT="55158" marB="5515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400">
                          <a:solidFill>
                            <a:srgbClr val="333333"/>
                          </a:solidFill>
                          <a:effectLst/>
                          <a:latin typeface="Vidaloka" panose="020B0604020202020204" charset="0"/>
                        </a:rPr>
                        <a:t>returns the power of given number.</a:t>
                      </a:r>
                    </a:p>
                  </a:txBody>
                  <a:tcPr marL="55158" marR="55158" marT="55158" marB="5515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4148858548"/>
                  </a:ext>
                </a:extLst>
              </a:tr>
              <a:tr h="419204">
                <a:tc>
                  <a:txBody>
                    <a:bodyPr/>
                    <a:lstStyle/>
                    <a:p>
                      <a:pPr algn="just" fontAlgn="t"/>
                      <a:r>
                        <a:rPr lang="en-IN" sz="1400">
                          <a:solidFill>
                            <a:srgbClr val="333333"/>
                          </a:solidFill>
                          <a:effectLst/>
                          <a:latin typeface="Vidaloka" panose="020B0604020202020204" charset="0"/>
                        </a:rPr>
                        <a:t>5)</a:t>
                      </a:r>
                    </a:p>
                  </a:txBody>
                  <a:tcPr marL="55158" marR="55158" marT="55158" marB="5515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Vidaloka" panose="020B0604020202020204" charset="0"/>
                        </a:rPr>
                        <a:t>abs(number)</a:t>
                      </a:r>
                    </a:p>
                  </a:txBody>
                  <a:tcPr marL="55158" marR="55158" marT="55158" marB="5515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dirty="0">
                          <a:solidFill>
                            <a:srgbClr val="333333"/>
                          </a:solidFill>
                          <a:effectLst/>
                          <a:latin typeface="Vidaloka" panose="020B0604020202020204" charset="0"/>
                        </a:rPr>
                        <a:t>returns the absolute value of given number.</a:t>
                      </a:r>
                    </a:p>
                  </a:txBody>
                  <a:tcPr marL="55158" marR="55158" marT="55158" marB="5515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601703574"/>
                  </a:ext>
                </a:extLst>
              </a:tr>
            </a:tbl>
          </a:graphicData>
        </a:graphic>
      </p:graphicFrame>
    </p:spTree>
    <p:extLst>
      <p:ext uri="{BB962C8B-B14F-4D97-AF65-F5344CB8AC3E}">
        <p14:creationId xmlns:p14="http://schemas.microsoft.com/office/powerpoint/2010/main" val="33484986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16150"/>
            <a:ext cx="6943469" cy="396300"/>
          </a:xfrm>
        </p:spPr>
        <p:txBody>
          <a:bodyPr/>
          <a:lstStyle/>
          <a:p>
            <a:pPr algn="ctr"/>
            <a:r>
              <a:rPr lang="en-IN" sz="2400" dirty="0"/>
              <a:t>Date and Time Functions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37</a:t>
            </a:fld>
            <a:endParaRPr lang="en"/>
          </a:p>
        </p:txBody>
      </p:sp>
      <p:sp>
        <p:nvSpPr>
          <p:cNvPr id="9" name="TextBox 8">
            <a:extLst>
              <a:ext uri="{FF2B5EF4-FFF2-40B4-BE49-F238E27FC236}">
                <a16:creationId xmlns:a16="http://schemas.microsoft.com/office/drawing/2014/main" id="{3084ADF7-DB03-2575-9092-9363ECFA1F95}"/>
              </a:ext>
            </a:extLst>
          </p:cNvPr>
          <p:cNvSpPr txBox="1"/>
          <p:nvPr/>
        </p:nvSpPr>
        <p:spPr>
          <a:xfrm>
            <a:off x="663436" y="333070"/>
            <a:ext cx="7740947" cy="456343"/>
          </a:xfrm>
          <a:prstGeom prst="rect">
            <a:avLst/>
          </a:prstGeom>
          <a:noFill/>
        </p:spPr>
        <p:txBody>
          <a:bodyPr wrap="square">
            <a:spAutoFit/>
          </a:bodyPr>
          <a:lstStyle/>
          <a:p>
            <a:pPr algn="just">
              <a:lnSpc>
                <a:spcPct val="200000"/>
              </a:lnSpc>
            </a:pPr>
            <a:r>
              <a:rPr lang="en-US" dirty="0">
                <a:solidFill>
                  <a:schemeClr val="tx1"/>
                </a:solidFill>
              </a:rPr>
              <a:t>Date and Time predefined functions are</a:t>
            </a:r>
            <a:endParaRPr lang="en-IN" dirty="0">
              <a:solidFill>
                <a:schemeClr val="tx1"/>
              </a:solidFill>
            </a:endParaRPr>
          </a:p>
        </p:txBody>
      </p:sp>
      <p:pic>
        <p:nvPicPr>
          <p:cNvPr id="4" name="Picture 3">
            <a:extLst>
              <a:ext uri="{FF2B5EF4-FFF2-40B4-BE49-F238E27FC236}">
                <a16:creationId xmlns:a16="http://schemas.microsoft.com/office/drawing/2014/main" id="{AF222DF7-0DA0-A7CC-ED12-87C877D9F32C}"/>
              </a:ext>
            </a:extLst>
          </p:cNvPr>
          <p:cNvPicPr>
            <a:picLocks noChangeAspect="1"/>
          </p:cNvPicPr>
          <p:nvPr/>
        </p:nvPicPr>
        <p:blipFill>
          <a:blip r:embed="rId2"/>
          <a:stretch>
            <a:fillRect/>
          </a:stretch>
        </p:blipFill>
        <p:spPr>
          <a:xfrm>
            <a:off x="546478" y="1138633"/>
            <a:ext cx="5355274" cy="1987343"/>
          </a:xfrm>
          <a:prstGeom prst="rect">
            <a:avLst/>
          </a:prstGeom>
        </p:spPr>
      </p:pic>
    </p:spTree>
    <p:extLst>
      <p:ext uri="{BB962C8B-B14F-4D97-AF65-F5344CB8AC3E}">
        <p14:creationId xmlns:p14="http://schemas.microsoft.com/office/powerpoint/2010/main" val="15280740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16150"/>
            <a:ext cx="6943469" cy="396300"/>
          </a:xfrm>
        </p:spPr>
        <p:txBody>
          <a:bodyPr/>
          <a:lstStyle/>
          <a:p>
            <a:pPr algn="ctr"/>
            <a:r>
              <a:rPr lang="en-IN" sz="2400" dirty="0"/>
              <a:t>Date and Time Functions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38</a:t>
            </a:fld>
            <a:endParaRPr lang="en"/>
          </a:p>
        </p:txBody>
      </p:sp>
      <p:sp>
        <p:nvSpPr>
          <p:cNvPr id="9" name="TextBox 8">
            <a:extLst>
              <a:ext uri="{FF2B5EF4-FFF2-40B4-BE49-F238E27FC236}">
                <a16:creationId xmlns:a16="http://schemas.microsoft.com/office/drawing/2014/main" id="{3084ADF7-DB03-2575-9092-9363ECFA1F95}"/>
              </a:ext>
            </a:extLst>
          </p:cNvPr>
          <p:cNvSpPr txBox="1"/>
          <p:nvPr/>
        </p:nvSpPr>
        <p:spPr>
          <a:xfrm>
            <a:off x="478465" y="189612"/>
            <a:ext cx="7740947" cy="456343"/>
          </a:xfrm>
          <a:prstGeom prst="rect">
            <a:avLst/>
          </a:prstGeom>
          <a:noFill/>
        </p:spPr>
        <p:txBody>
          <a:bodyPr wrap="square">
            <a:spAutoFit/>
          </a:bodyPr>
          <a:lstStyle/>
          <a:p>
            <a:pPr algn="just">
              <a:lnSpc>
                <a:spcPct val="200000"/>
              </a:lnSpc>
            </a:pPr>
            <a:r>
              <a:rPr lang="en-US" b="1" dirty="0">
                <a:solidFill>
                  <a:schemeClr val="tx1"/>
                </a:solidFill>
              </a:rPr>
              <a:t>Example</a:t>
            </a:r>
            <a:endParaRPr lang="en-IN" b="1" dirty="0">
              <a:solidFill>
                <a:schemeClr val="tx1"/>
              </a:solidFill>
            </a:endParaRPr>
          </a:p>
        </p:txBody>
      </p:sp>
      <p:pic>
        <p:nvPicPr>
          <p:cNvPr id="5" name="Picture 4">
            <a:extLst>
              <a:ext uri="{FF2B5EF4-FFF2-40B4-BE49-F238E27FC236}">
                <a16:creationId xmlns:a16="http://schemas.microsoft.com/office/drawing/2014/main" id="{1DD32930-284F-3A99-12B8-E9499AB91692}"/>
              </a:ext>
            </a:extLst>
          </p:cNvPr>
          <p:cNvPicPr>
            <a:picLocks noChangeAspect="1"/>
          </p:cNvPicPr>
          <p:nvPr/>
        </p:nvPicPr>
        <p:blipFill>
          <a:blip r:embed="rId2"/>
          <a:stretch>
            <a:fillRect/>
          </a:stretch>
        </p:blipFill>
        <p:spPr>
          <a:xfrm>
            <a:off x="378333" y="729370"/>
            <a:ext cx="3785634" cy="3234739"/>
          </a:xfrm>
          <a:prstGeom prst="rect">
            <a:avLst/>
          </a:prstGeom>
        </p:spPr>
      </p:pic>
      <p:pic>
        <p:nvPicPr>
          <p:cNvPr id="6" name="Picture 5">
            <a:extLst>
              <a:ext uri="{FF2B5EF4-FFF2-40B4-BE49-F238E27FC236}">
                <a16:creationId xmlns:a16="http://schemas.microsoft.com/office/drawing/2014/main" id="{40B6A2FC-9411-E487-F4CB-2D7C8F6E9D7D}"/>
              </a:ext>
            </a:extLst>
          </p:cNvPr>
          <p:cNvPicPr>
            <a:picLocks noChangeAspect="1"/>
          </p:cNvPicPr>
          <p:nvPr/>
        </p:nvPicPr>
        <p:blipFill>
          <a:blip r:embed="rId3"/>
          <a:stretch>
            <a:fillRect/>
          </a:stretch>
        </p:blipFill>
        <p:spPr>
          <a:xfrm>
            <a:off x="4533909" y="794761"/>
            <a:ext cx="2338941" cy="1776988"/>
          </a:xfrm>
          <a:prstGeom prst="rect">
            <a:avLst/>
          </a:prstGeom>
        </p:spPr>
      </p:pic>
    </p:spTree>
    <p:extLst>
      <p:ext uri="{BB962C8B-B14F-4D97-AF65-F5344CB8AC3E}">
        <p14:creationId xmlns:p14="http://schemas.microsoft.com/office/powerpoint/2010/main" val="29934590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16150"/>
            <a:ext cx="6943469" cy="396300"/>
          </a:xfrm>
        </p:spPr>
        <p:txBody>
          <a:bodyPr/>
          <a:lstStyle/>
          <a:p>
            <a:pPr algn="ctr"/>
            <a:r>
              <a:rPr lang="en-IN" sz="2400" dirty="0"/>
              <a:t>Date and Time Functions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39</a:t>
            </a:fld>
            <a:endParaRPr lang="en"/>
          </a:p>
        </p:txBody>
      </p:sp>
      <p:sp>
        <p:nvSpPr>
          <p:cNvPr id="9" name="TextBox 8">
            <a:extLst>
              <a:ext uri="{FF2B5EF4-FFF2-40B4-BE49-F238E27FC236}">
                <a16:creationId xmlns:a16="http://schemas.microsoft.com/office/drawing/2014/main" id="{3084ADF7-DB03-2575-9092-9363ECFA1F95}"/>
              </a:ext>
            </a:extLst>
          </p:cNvPr>
          <p:cNvSpPr txBox="1"/>
          <p:nvPr/>
        </p:nvSpPr>
        <p:spPr>
          <a:xfrm>
            <a:off x="478465" y="189612"/>
            <a:ext cx="7740947" cy="456343"/>
          </a:xfrm>
          <a:prstGeom prst="rect">
            <a:avLst/>
          </a:prstGeom>
          <a:noFill/>
        </p:spPr>
        <p:txBody>
          <a:bodyPr wrap="square">
            <a:spAutoFit/>
          </a:bodyPr>
          <a:lstStyle/>
          <a:p>
            <a:pPr algn="just">
              <a:lnSpc>
                <a:spcPct val="200000"/>
              </a:lnSpc>
            </a:pPr>
            <a:r>
              <a:rPr lang="en-US" b="1" dirty="0">
                <a:solidFill>
                  <a:schemeClr val="tx1"/>
                </a:solidFill>
              </a:rPr>
              <a:t>Example</a:t>
            </a:r>
            <a:endParaRPr lang="en-IN" b="1" dirty="0">
              <a:solidFill>
                <a:schemeClr val="tx1"/>
              </a:solidFill>
            </a:endParaRPr>
          </a:p>
        </p:txBody>
      </p:sp>
      <p:sp>
        <p:nvSpPr>
          <p:cNvPr id="7" name="TextBox 6">
            <a:extLst>
              <a:ext uri="{FF2B5EF4-FFF2-40B4-BE49-F238E27FC236}">
                <a16:creationId xmlns:a16="http://schemas.microsoft.com/office/drawing/2014/main" id="{BEB97F69-CB72-EF96-6F1E-8D5A1BCA2307}"/>
              </a:ext>
            </a:extLst>
          </p:cNvPr>
          <p:cNvSpPr txBox="1"/>
          <p:nvPr/>
        </p:nvSpPr>
        <p:spPr>
          <a:xfrm>
            <a:off x="1100264" y="851717"/>
            <a:ext cx="5332433" cy="2960875"/>
          </a:xfrm>
          <a:prstGeom prst="rect">
            <a:avLst/>
          </a:prstGeom>
          <a:noFill/>
        </p:spPr>
        <p:txBody>
          <a:bodyPr wrap="square">
            <a:spAutoFit/>
          </a:bodyPr>
          <a:lstStyle/>
          <a:p>
            <a:pPr>
              <a:lnSpc>
                <a:spcPct val="150000"/>
              </a:lnSpc>
            </a:pPr>
            <a:r>
              <a:rPr lang="en-IN" dirty="0">
                <a:solidFill>
                  <a:schemeClr val="tx1"/>
                </a:solidFill>
              </a:rPr>
              <a:t>#include &lt;</a:t>
            </a:r>
            <a:r>
              <a:rPr lang="en-IN" dirty="0" err="1">
                <a:solidFill>
                  <a:schemeClr val="tx1"/>
                </a:solidFill>
              </a:rPr>
              <a:t>dos.h</a:t>
            </a:r>
            <a:r>
              <a:rPr lang="en-IN" dirty="0">
                <a:solidFill>
                  <a:schemeClr val="tx1"/>
                </a:solidFill>
              </a:rPr>
              <a:t>&gt;</a:t>
            </a:r>
          </a:p>
          <a:p>
            <a:pPr>
              <a:lnSpc>
                <a:spcPct val="150000"/>
              </a:lnSpc>
            </a:pPr>
            <a:r>
              <a:rPr lang="en-IN" dirty="0">
                <a:solidFill>
                  <a:schemeClr val="tx1"/>
                </a:solidFill>
              </a:rPr>
              <a:t>#include &lt;</a:t>
            </a:r>
            <a:r>
              <a:rPr lang="en-IN" dirty="0" err="1">
                <a:solidFill>
                  <a:schemeClr val="tx1"/>
                </a:solidFill>
              </a:rPr>
              <a:t>stdio.h</a:t>
            </a:r>
            <a:r>
              <a:rPr lang="en-IN" dirty="0">
                <a:solidFill>
                  <a:schemeClr val="tx1"/>
                </a:solidFill>
              </a:rPr>
              <a:t>&gt;</a:t>
            </a:r>
          </a:p>
          <a:p>
            <a:pPr>
              <a:lnSpc>
                <a:spcPct val="150000"/>
              </a:lnSpc>
            </a:pPr>
            <a:r>
              <a:rPr lang="en-IN" dirty="0">
                <a:solidFill>
                  <a:schemeClr val="tx1"/>
                </a:solidFill>
              </a:rPr>
              <a:t>void main()</a:t>
            </a:r>
          </a:p>
          <a:p>
            <a:pPr>
              <a:lnSpc>
                <a:spcPct val="150000"/>
              </a:lnSpc>
            </a:pPr>
            <a:r>
              <a:rPr lang="en-IN" dirty="0">
                <a:solidFill>
                  <a:schemeClr val="tx1"/>
                </a:solidFill>
              </a:rPr>
              <a:t>{</a:t>
            </a:r>
          </a:p>
          <a:p>
            <a:pPr>
              <a:lnSpc>
                <a:spcPct val="150000"/>
              </a:lnSpc>
            </a:pPr>
            <a:r>
              <a:rPr lang="en-IN" dirty="0">
                <a:solidFill>
                  <a:schemeClr val="tx1"/>
                </a:solidFill>
              </a:rPr>
              <a:t>    struct date dt;</a:t>
            </a:r>
          </a:p>
          <a:p>
            <a:pPr>
              <a:lnSpc>
                <a:spcPct val="150000"/>
              </a:lnSpc>
            </a:pPr>
            <a:r>
              <a:rPr lang="en-IN" dirty="0">
                <a:solidFill>
                  <a:schemeClr val="tx1"/>
                </a:solidFill>
              </a:rPr>
              <a:t>     </a:t>
            </a:r>
            <a:r>
              <a:rPr lang="en-IN" dirty="0" err="1">
                <a:solidFill>
                  <a:schemeClr val="tx1"/>
                </a:solidFill>
              </a:rPr>
              <a:t>getdate</a:t>
            </a:r>
            <a:r>
              <a:rPr lang="en-IN" dirty="0">
                <a:solidFill>
                  <a:schemeClr val="tx1"/>
                </a:solidFill>
              </a:rPr>
              <a:t>(&amp;dt);</a:t>
            </a:r>
          </a:p>
          <a:p>
            <a:pPr>
              <a:lnSpc>
                <a:spcPct val="150000"/>
              </a:lnSpc>
            </a:pPr>
            <a:r>
              <a:rPr lang="en-IN" dirty="0">
                <a:solidFill>
                  <a:schemeClr val="tx1"/>
                </a:solidFill>
              </a:rPr>
              <a:t>     </a:t>
            </a:r>
            <a:r>
              <a:rPr lang="en-IN" dirty="0" err="1">
                <a:solidFill>
                  <a:schemeClr val="tx1"/>
                </a:solidFill>
              </a:rPr>
              <a:t>printf</a:t>
            </a:r>
            <a:r>
              <a:rPr lang="en-IN" dirty="0">
                <a:solidFill>
                  <a:schemeClr val="tx1"/>
                </a:solidFill>
              </a:rPr>
              <a:t>("System's current date\n");</a:t>
            </a:r>
          </a:p>
          <a:p>
            <a:pPr>
              <a:lnSpc>
                <a:spcPct val="150000"/>
              </a:lnSpc>
            </a:pPr>
            <a:r>
              <a:rPr lang="en-IN" dirty="0">
                <a:solidFill>
                  <a:schemeClr val="tx1"/>
                </a:solidFill>
              </a:rPr>
              <a:t>     </a:t>
            </a:r>
            <a:r>
              <a:rPr lang="en-IN" dirty="0" err="1">
                <a:solidFill>
                  <a:schemeClr val="tx1"/>
                </a:solidFill>
              </a:rPr>
              <a:t>printf</a:t>
            </a:r>
            <a:r>
              <a:rPr lang="en-IN" dirty="0">
                <a:solidFill>
                  <a:schemeClr val="tx1"/>
                </a:solidFill>
              </a:rPr>
              <a:t>("%d/%d/%d", </a:t>
            </a:r>
            <a:r>
              <a:rPr lang="en-IN" dirty="0" err="1">
                <a:solidFill>
                  <a:schemeClr val="tx1"/>
                </a:solidFill>
              </a:rPr>
              <a:t>dt.da_day</a:t>
            </a:r>
            <a:r>
              <a:rPr lang="en-IN" dirty="0">
                <a:solidFill>
                  <a:schemeClr val="tx1"/>
                </a:solidFill>
              </a:rPr>
              <a:t>, </a:t>
            </a:r>
            <a:r>
              <a:rPr lang="en-IN" dirty="0" err="1">
                <a:solidFill>
                  <a:schemeClr val="tx1"/>
                </a:solidFill>
              </a:rPr>
              <a:t>dt.da_mon</a:t>
            </a:r>
            <a:r>
              <a:rPr lang="en-IN" dirty="0">
                <a:solidFill>
                  <a:schemeClr val="tx1"/>
                </a:solidFill>
              </a:rPr>
              <a:t>, </a:t>
            </a:r>
            <a:r>
              <a:rPr lang="en-IN" dirty="0" err="1">
                <a:solidFill>
                  <a:schemeClr val="tx1"/>
                </a:solidFill>
              </a:rPr>
              <a:t>dt.da_year</a:t>
            </a:r>
            <a:r>
              <a:rPr lang="en-IN" dirty="0">
                <a:solidFill>
                  <a:schemeClr val="tx1"/>
                </a:solidFill>
              </a:rPr>
              <a:t>);</a:t>
            </a:r>
          </a:p>
          <a:p>
            <a:pPr>
              <a:lnSpc>
                <a:spcPct val="150000"/>
              </a:lnSpc>
            </a:pPr>
            <a:r>
              <a:rPr lang="en-IN" dirty="0">
                <a:solidFill>
                  <a:schemeClr val="tx1"/>
                </a:solidFill>
              </a:rPr>
              <a:t>}</a:t>
            </a:r>
          </a:p>
        </p:txBody>
      </p:sp>
      <p:pic>
        <p:nvPicPr>
          <p:cNvPr id="7170" name="Picture 2">
            <a:extLst>
              <a:ext uri="{FF2B5EF4-FFF2-40B4-BE49-F238E27FC236}">
                <a16:creationId xmlns:a16="http://schemas.microsoft.com/office/drawing/2014/main" id="{F25B46CD-237A-B8D6-EE2A-8A181A2BA8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2037" y="3812592"/>
            <a:ext cx="2525949" cy="6949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63978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140107"/>
            <a:ext cx="6943469" cy="396300"/>
          </a:xfrm>
        </p:spPr>
        <p:txBody>
          <a:bodyPr/>
          <a:lstStyle/>
          <a:p>
            <a:pPr algn="ctr"/>
            <a:r>
              <a:rPr lang="en-IN" sz="2400" dirty="0"/>
              <a:t>Error Handling in C</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40</a:t>
            </a:fld>
            <a:endParaRPr lang="en"/>
          </a:p>
        </p:txBody>
      </p:sp>
      <p:sp>
        <p:nvSpPr>
          <p:cNvPr id="7" name="TextBox 6">
            <a:extLst>
              <a:ext uri="{FF2B5EF4-FFF2-40B4-BE49-F238E27FC236}">
                <a16:creationId xmlns:a16="http://schemas.microsoft.com/office/drawing/2014/main" id="{BEB97F69-CB72-EF96-6F1E-8D5A1BCA2307}"/>
              </a:ext>
            </a:extLst>
          </p:cNvPr>
          <p:cNvSpPr txBox="1"/>
          <p:nvPr/>
        </p:nvSpPr>
        <p:spPr>
          <a:xfrm>
            <a:off x="375049" y="536407"/>
            <a:ext cx="8211901" cy="1668214"/>
          </a:xfrm>
          <a:prstGeom prst="rect">
            <a:avLst/>
          </a:prstGeom>
          <a:noFill/>
        </p:spPr>
        <p:txBody>
          <a:bodyPr wrap="square">
            <a:spAutoFit/>
          </a:bodyPr>
          <a:lstStyle/>
          <a:p>
            <a:pPr algn="just">
              <a:lnSpc>
                <a:spcPct val="150000"/>
              </a:lnSpc>
            </a:pPr>
            <a:r>
              <a:rPr lang="en-US" dirty="0">
                <a:solidFill>
                  <a:schemeClr val="tx1"/>
                </a:solidFill>
              </a:rPr>
              <a:t>C language does not provide any direct support for error handling. However a few methods and variables defined in </a:t>
            </a:r>
            <a:r>
              <a:rPr lang="en-US" dirty="0" err="1">
                <a:solidFill>
                  <a:schemeClr val="tx1"/>
                </a:solidFill>
              </a:rPr>
              <a:t>error.h</a:t>
            </a:r>
            <a:r>
              <a:rPr lang="en-US" dirty="0">
                <a:solidFill>
                  <a:schemeClr val="tx1"/>
                </a:solidFill>
              </a:rPr>
              <a:t> header file can be used to point out error using the return statement in a function. </a:t>
            </a:r>
          </a:p>
          <a:p>
            <a:pPr algn="just">
              <a:lnSpc>
                <a:spcPct val="150000"/>
              </a:lnSpc>
            </a:pPr>
            <a:r>
              <a:rPr lang="en-US" dirty="0">
                <a:solidFill>
                  <a:schemeClr val="tx1"/>
                </a:solidFill>
              </a:rPr>
              <a:t>In C language, a function returns -1 or NULL value in case of any error and a global variable </a:t>
            </a:r>
            <a:r>
              <a:rPr lang="en-US" dirty="0" err="1">
                <a:solidFill>
                  <a:schemeClr val="tx1"/>
                </a:solidFill>
              </a:rPr>
              <a:t>errno</a:t>
            </a:r>
            <a:r>
              <a:rPr lang="en-US" dirty="0">
                <a:solidFill>
                  <a:schemeClr val="tx1"/>
                </a:solidFill>
              </a:rPr>
              <a:t> is set with the error code. So the return value can be used to check error while programming.</a:t>
            </a:r>
            <a:endParaRPr lang="en-IN" dirty="0">
              <a:solidFill>
                <a:schemeClr val="tx1"/>
              </a:solidFill>
            </a:endParaRPr>
          </a:p>
        </p:txBody>
      </p:sp>
    </p:spTree>
    <p:extLst>
      <p:ext uri="{BB962C8B-B14F-4D97-AF65-F5344CB8AC3E}">
        <p14:creationId xmlns:p14="http://schemas.microsoft.com/office/powerpoint/2010/main" val="11036392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140107"/>
            <a:ext cx="6943469" cy="396300"/>
          </a:xfrm>
        </p:spPr>
        <p:txBody>
          <a:bodyPr/>
          <a:lstStyle/>
          <a:p>
            <a:pPr algn="ctr"/>
            <a:r>
              <a:rPr lang="en-IN" sz="2400" dirty="0"/>
              <a:t>Error No (Code)</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41</a:t>
            </a:fld>
            <a:endParaRPr lang="en"/>
          </a:p>
        </p:txBody>
      </p:sp>
      <p:sp>
        <p:nvSpPr>
          <p:cNvPr id="7" name="TextBox 6">
            <a:extLst>
              <a:ext uri="{FF2B5EF4-FFF2-40B4-BE49-F238E27FC236}">
                <a16:creationId xmlns:a16="http://schemas.microsoft.com/office/drawing/2014/main" id="{BEB97F69-CB72-EF96-6F1E-8D5A1BCA2307}"/>
              </a:ext>
            </a:extLst>
          </p:cNvPr>
          <p:cNvSpPr txBox="1"/>
          <p:nvPr/>
        </p:nvSpPr>
        <p:spPr>
          <a:xfrm>
            <a:off x="375049" y="469038"/>
            <a:ext cx="8211901" cy="1021883"/>
          </a:xfrm>
          <a:prstGeom prst="rect">
            <a:avLst/>
          </a:prstGeom>
          <a:noFill/>
        </p:spPr>
        <p:txBody>
          <a:bodyPr wrap="square">
            <a:spAutoFit/>
          </a:bodyPr>
          <a:lstStyle/>
          <a:p>
            <a:pPr algn="just">
              <a:lnSpc>
                <a:spcPct val="150000"/>
              </a:lnSpc>
            </a:pPr>
            <a:r>
              <a:rPr lang="en-US" dirty="0">
                <a:solidFill>
                  <a:schemeClr val="tx1"/>
                </a:solidFill>
              </a:rPr>
              <a:t>Whenever a function call is made in C language, a variable named </a:t>
            </a:r>
            <a:r>
              <a:rPr lang="en-US" dirty="0" err="1">
                <a:solidFill>
                  <a:schemeClr val="tx1"/>
                </a:solidFill>
              </a:rPr>
              <a:t>errno</a:t>
            </a:r>
            <a:r>
              <a:rPr lang="en-US" dirty="0">
                <a:solidFill>
                  <a:schemeClr val="tx1"/>
                </a:solidFill>
              </a:rPr>
              <a:t> is associated with it. </a:t>
            </a:r>
          </a:p>
          <a:p>
            <a:pPr algn="just">
              <a:lnSpc>
                <a:spcPct val="150000"/>
              </a:lnSpc>
            </a:pPr>
            <a:r>
              <a:rPr lang="en-US" dirty="0">
                <a:solidFill>
                  <a:schemeClr val="tx1"/>
                </a:solidFill>
              </a:rPr>
              <a:t>It is a global variable, which can be used to identify which type of error was encountered while function execution, based on its value. Below we have the list of Error numbers and what does they mean.</a:t>
            </a:r>
            <a:endParaRPr lang="en-IN" dirty="0">
              <a:solidFill>
                <a:schemeClr val="tx1"/>
              </a:solidFill>
            </a:endParaRPr>
          </a:p>
        </p:txBody>
      </p:sp>
      <p:graphicFrame>
        <p:nvGraphicFramePr>
          <p:cNvPr id="4" name="Table 3">
            <a:extLst>
              <a:ext uri="{FF2B5EF4-FFF2-40B4-BE49-F238E27FC236}">
                <a16:creationId xmlns:a16="http://schemas.microsoft.com/office/drawing/2014/main" id="{4F59D1A3-C3F4-CA10-B4C6-4B9589D61743}"/>
              </a:ext>
            </a:extLst>
          </p:cNvPr>
          <p:cNvGraphicFramePr>
            <a:graphicFrameLocks noGrp="1"/>
          </p:cNvGraphicFramePr>
          <p:nvPr>
            <p:extLst>
              <p:ext uri="{D42A27DB-BD31-4B8C-83A1-F6EECF244321}">
                <p14:modId xmlns:p14="http://schemas.microsoft.com/office/powerpoint/2010/main" val="3538026740"/>
              </p:ext>
            </p:extLst>
          </p:nvPr>
        </p:nvGraphicFramePr>
        <p:xfrm>
          <a:off x="673666" y="1532961"/>
          <a:ext cx="5048814" cy="3470432"/>
        </p:xfrm>
        <a:graphic>
          <a:graphicData uri="http://schemas.openxmlformats.org/drawingml/2006/table">
            <a:tbl>
              <a:tblPr/>
              <a:tblGrid>
                <a:gridCol w="2524407">
                  <a:extLst>
                    <a:ext uri="{9D8B030D-6E8A-4147-A177-3AD203B41FA5}">
                      <a16:colId xmlns:a16="http://schemas.microsoft.com/office/drawing/2014/main" val="3019314038"/>
                    </a:ext>
                  </a:extLst>
                </a:gridCol>
                <a:gridCol w="2524407">
                  <a:extLst>
                    <a:ext uri="{9D8B030D-6E8A-4147-A177-3AD203B41FA5}">
                      <a16:colId xmlns:a16="http://schemas.microsoft.com/office/drawing/2014/main" val="2319265418"/>
                    </a:ext>
                  </a:extLst>
                </a:gridCol>
              </a:tblGrid>
              <a:tr h="216694">
                <a:tc>
                  <a:txBody>
                    <a:bodyPr/>
                    <a:lstStyle/>
                    <a:p>
                      <a:pPr algn="ctr"/>
                      <a:r>
                        <a:rPr lang="en-IN" sz="1200" b="1">
                          <a:solidFill>
                            <a:schemeClr val="bg1"/>
                          </a:solidFill>
                          <a:effectLst/>
                        </a:rPr>
                        <a:t>errno value</a:t>
                      </a:r>
                    </a:p>
                  </a:txBody>
                  <a:tcPr marL="65008" marR="65008" marT="32504" marB="32504">
                    <a:lnL w="9525" cap="flat" cmpd="sng" algn="ctr">
                      <a:solidFill>
                        <a:srgbClr val="2024CC"/>
                      </a:solidFill>
                      <a:prstDash val="solid"/>
                      <a:round/>
                      <a:headEnd type="none" w="med" len="med"/>
                      <a:tailEnd type="none" w="med" len="med"/>
                    </a:lnL>
                    <a:lnR w="9525" cap="flat" cmpd="sng" algn="ctr">
                      <a:solidFill>
                        <a:srgbClr val="5825CC"/>
                      </a:solidFill>
                      <a:prstDash val="solid"/>
                      <a:round/>
                      <a:headEnd type="none" w="med" len="med"/>
                      <a:tailEnd type="none" w="med" len="med"/>
                    </a:lnR>
                    <a:lnT w="9525" cap="flat" cmpd="sng" algn="ctr">
                      <a:solidFill>
                        <a:srgbClr val="2024CC"/>
                      </a:solidFill>
                      <a:prstDash val="solid"/>
                      <a:round/>
                      <a:headEnd type="none" w="med" len="med"/>
                      <a:tailEnd type="none" w="med" len="med"/>
                    </a:lnT>
                    <a:lnB w="9525" cap="flat" cmpd="sng" algn="ctr">
                      <a:solidFill>
                        <a:srgbClr val="6824CC"/>
                      </a:solidFill>
                      <a:prstDash val="solid"/>
                      <a:round/>
                      <a:headEnd type="none" w="med" len="med"/>
                      <a:tailEnd type="none" w="med" len="med"/>
                    </a:lnB>
                    <a:solidFill>
                      <a:srgbClr val="FFFFFF"/>
                    </a:solidFill>
                  </a:tcPr>
                </a:tc>
                <a:tc>
                  <a:txBody>
                    <a:bodyPr/>
                    <a:lstStyle/>
                    <a:p>
                      <a:pPr algn="ctr"/>
                      <a:r>
                        <a:rPr lang="en-IN" sz="1200" b="1" dirty="0">
                          <a:solidFill>
                            <a:schemeClr val="bg1"/>
                          </a:solidFill>
                          <a:effectLst/>
                        </a:rPr>
                        <a:t>Error</a:t>
                      </a:r>
                    </a:p>
                  </a:txBody>
                  <a:tcPr marL="65008" marR="65008" marT="32504" marB="32504">
                    <a:lnL w="9525" cap="flat" cmpd="sng" algn="ctr">
                      <a:solidFill>
                        <a:srgbClr val="5825CC"/>
                      </a:solidFill>
                      <a:prstDash val="solid"/>
                      <a:round/>
                      <a:headEnd type="none" w="med" len="med"/>
                      <a:tailEnd type="none" w="med" len="med"/>
                    </a:lnL>
                    <a:lnR w="9525" cap="flat" cmpd="sng" algn="ctr">
                      <a:solidFill>
                        <a:srgbClr val="5825CC"/>
                      </a:solidFill>
                      <a:prstDash val="solid"/>
                      <a:round/>
                      <a:headEnd type="none" w="med" len="med"/>
                      <a:tailEnd type="none" w="med" len="med"/>
                    </a:lnR>
                    <a:lnT w="9525" cap="flat" cmpd="sng" algn="ctr">
                      <a:solidFill>
                        <a:srgbClr val="5825CC"/>
                      </a:solidFill>
                      <a:prstDash val="solid"/>
                      <a:round/>
                      <a:headEnd type="none" w="med" len="med"/>
                      <a:tailEnd type="none" w="med" len="med"/>
                    </a:lnT>
                    <a:lnB w="9525" cap="flat" cmpd="sng" algn="ctr">
                      <a:solidFill>
                        <a:srgbClr val="5024CC"/>
                      </a:solidFill>
                      <a:prstDash val="solid"/>
                      <a:round/>
                      <a:headEnd type="none" w="med" len="med"/>
                      <a:tailEnd type="none" w="med" len="med"/>
                    </a:lnB>
                    <a:solidFill>
                      <a:srgbClr val="FFFFFF"/>
                    </a:solidFill>
                  </a:tcPr>
                </a:tc>
                <a:extLst>
                  <a:ext uri="{0D108BD9-81ED-4DB2-BD59-A6C34878D82A}">
                    <a16:rowId xmlns:a16="http://schemas.microsoft.com/office/drawing/2014/main" val="4092107449"/>
                  </a:ext>
                </a:extLst>
              </a:tr>
              <a:tr h="216694">
                <a:tc>
                  <a:txBody>
                    <a:bodyPr/>
                    <a:lstStyle/>
                    <a:p>
                      <a:r>
                        <a:rPr lang="en-IN" sz="1200">
                          <a:solidFill>
                            <a:schemeClr val="bg1"/>
                          </a:solidFill>
                          <a:effectLst/>
                        </a:rPr>
                        <a:t>1</a:t>
                      </a:r>
                    </a:p>
                  </a:txBody>
                  <a:tcPr marL="65008" marR="65008" marT="32504" marB="32504">
                    <a:lnL w="9525" cap="flat" cmpd="sng" algn="ctr">
                      <a:solidFill>
                        <a:srgbClr val="6824CC"/>
                      </a:solidFill>
                      <a:prstDash val="solid"/>
                      <a:round/>
                      <a:headEnd type="none" w="med" len="med"/>
                      <a:tailEnd type="none" w="med" len="med"/>
                    </a:lnL>
                    <a:lnR w="9525" cap="flat" cmpd="sng" algn="ctr">
                      <a:solidFill>
                        <a:srgbClr val="5024CC"/>
                      </a:solidFill>
                      <a:prstDash val="solid"/>
                      <a:round/>
                      <a:headEnd type="none" w="med" len="med"/>
                      <a:tailEnd type="none" w="med" len="med"/>
                    </a:lnR>
                    <a:lnT w="9525" cap="flat" cmpd="sng" algn="ctr">
                      <a:solidFill>
                        <a:srgbClr val="6824CC"/>
                      </a:solidFill>
                      <a:prstDash val="solid"/>
                      <a:round/>
                      <a:headEnd type="none" w="med" len="med"/>
                      <a:tailEnd type="none" w="med" len="med"/>
                    </a:lnT>
                    <a:lnB w="9525" cap="flat" cmpd="sng" algn="ctr">
                      <a:solidFill>
                        <a:srgbClr val="6824CC"/>
                      </a:solidFill>
                      <a:prstDash val="solid"/>
                      <a:round/>
                      <a:headEnd type="none" w="med" len="med"/>
                      <a:tailEnd type="none" w="med" len="med"/>
                    </a:lnB>
                    <a:solidFill>
                      <a:srgbClr val="FFFFFF"/>
                    </a:solidFill>
                  </a:tcPr>
                </a:tc>
                <a:tc>
                  <a:txBody>
                    <a:bodyPr/>
                    <a:lstStyle/>
                    <a:p>
                      <a:r>
                        <a:rPr lang="en-IN" sz="1200">
                          <a:solidFill>
                            <a:schemeClr val="bg1"/>
                          </a:solidFill>
                          <a:effectLst/>
                        </a:rPr>
                        <a:t>Operation not permitted</a:t>
                      </a:r>
                    </a:p>
                  </a:txBody>
                  <a:tcPr marL="65008" marR="65008" marT="32504" marB="32504">
                    <a:lnL w="9525" cap="flat" cmpd="sng" algn="ctr">
                      <a:solidFill>
                        <a:srgbClr val="5024CC"/>
                      </a:solidFill>
                      <a:prstDash val="solid"/>
                      <a:round/>
                      <a:headEnd type="none" w="med" len="med"/>
                      <a:tailEnd type="none" w="med" len="med"/>
                    </a:lnL>
                    <a:lnR w="9525" cap="flat" cmpd="sng" algn="ctr">
                      <a:solidFill>
                        <a:srgbClr val="5024CC"/>
                      </a:solidFill>
                      <a:prstDash val="solid"/>
                      <a:round/>
                      <a:headEnd type="none" w="med" len="med"/>
                      <a:tailEnd type="none" w="med" len="med"/>
                    </a:lnR>
                    <a:lnT w="9525" cap="flat" cmpd="sng" algn="ctr">
                      <a:solidFill>
                        <a:srgbClr val="5024CC"/>
                      </a:solidFill>
                      <a:prstDash val="solid"/>
                      <a:round/>
                      <a:headEnd type="none" w="med" len="med"/>
                      <a:tailEnd type="none" w="med" len="med"/>
                    </a:lnT>
                    <a:lnB w="9525" cap="flat" cmpd="sng" algn="ctr">
                      <a:solidFill>
                        <a:srgbClr val="1025CC"/>
                      </a:solidFill>
                      <a:prstDash val="solid"/>
                      <a:round/>
                      <a:headEnd type="none" w="med" len="med"/>
                      <a:tailEnd type="none" w="med" len="med"/>
                    </a:lnB>
                    <a:solidFill>
                      <a:srgbClr val="FFFFFF"/>
                    </a:solidFill>
                  </a:tcPr>
                </a:tc>
                <a:extLst>
                  <a:ext uri="{0D108BD9-81ED-4DB2-BD59-A6C34878D82A}">
                    <a16:rowId xmlns:a16="http://schemas.microsoft.com/office/drawing/2014/main" val="3966783985"/>
                  </a:ext>
                </a:extLst>
              </a:tr>
              <a:tr h="216694">
                <a:tc>
                  <a:txBody>
                    <a:bodyPr/>
                    <a:lstStyle/>
                    <a:p>
                      <a:r>
                        <a:rPr lang="en-IN" sz="1200">
                          <a:solidFill>
                            <a:schemeClr val="bg1"/>
                          </a:solidFill>
                          <a:effectLst/>
                        </a:rPr>
                        <a:t>2</a:t>
                      </a:r>
                    </a:p>
                  </a:txBody>
                  <a:tcPr marL="65008" marR="65008" marT="32504" marB="32504">
                    <a:lnL w="9525" cap="flat" cmpd="sng" algn="ctr">
                      <a:solidFill>
                        <a:srgbClr val="6824CC"/>
                      </a:solidFill>
                      <a:prstDash val="solid"/>
                      <a:round/>
                      <a:headEnd type="none" w="med" len="med"/>
                      <a:tailEnd type="none" w="med" len="med"/>
                    </a:lnL>
                    <a:lnR w="9525" cap="flat" cmpd="sng" algn="ctr">
                      <a:solidFill>
                        <a:srgbClr val="1025CC"/>
                      </a:solidFill>
                      <a:prstDash val="solid"/>
                      <a:round/>
                      <a:headEnd type="none" w="med" len="med"/>
                      <a:tailEnd type="none" w="med" len="med"/>
                    </a:lnR>
                    <a:lnT w="9525" cap="flat" cmpd="sng" algn="ctr">
                      <a:solidFill>
                        <a:srgbClr val="6824CC"/>
                      </a:solidFill>
                      <a:prstDash val="solid"/>
                      <a:round/>
                      <a:headEnd type="none" w="med" len="med"/>
                      <a:tailEnd type="none" w="med" len="med"/>
                    </a:lnT>
                    <a:lnB w="9525" cap="flat" cmpd="sng" algn="ctr">
                      <a:solidFill>
                        <a:srgbClr val="5825CC"/>
                      </a:solidFill>
                      <a:prstDash val="solid"/>
                      <a:round/>
                      <a:headEnd type="none" w="med" len="med"/>
                      <a:tailEnd type="none" w="med" len="med"/>
                    </a:lnB>
                    <a:solidFill>
                      <a:srgbClr val="FFFFFF"/>
                    </a:solidFill>
                  </a:tcPr>
                </a:tc>
                <a:tc>
                  <a:txBody>
                    <a:bodyPr/>
                    <a:lstStyle/>
                    <a:p>
                      <a:r>
                        <a:rPr lang="en-US" sz="1200">
                          <a:solidFill>
                            <a:schemeClr val="bg1"/>
                          </a:solidFill>
                          <a:effectLst/>
                        </a:rPr>
                        <a:t>No such file or directory</a:t>
                      </a:r>
                    </a:p>
                  </a:txBody>
                  <a:tcPr marL="65008" marR="65008" marT="32504" marB="32504">
                    <a:lnL w="9525" cap="flat" cmpd="sng" algn="ctr">
                      <a:solidFill>
                        <a:srgbClr val="1025CC"/>
                      </a:solidFill>
                      <a:prstDash val="solid"/>
                      <a:round/>
                      <a:headEnd type="none" w="med" len="med"/>
                      <a:tailEnd type="none" w="med" len="med"/>
                    </a:lnL>
                    <a:lnR w="9525" cap="flat" cmpd="sng" algn="ctr">
                      <a:solidFill>
                        <a:srgbClr val="1025CC"/>
                      </a:solidFill>
                      <a:prstDash val="solid"/>
                      <a:round/>
                      <a:headEnd type="none" w="med" len="med"/>
                      <a:tailEnd type="none" w="med" len="med"/>
                    </a:lnR>
                    <a:lnT w="9525" cap="flat" cmpd="sng" algn="ctr">
                      <a:solidFill>
                        <a:srgbClr val="1025CC"/>
                      </a:solidFill>
                      <a:prstDash val="solid"/>
                      <a:round/>
                      <a:headEnd type="none" w="med" len="med"/>
                      <a:tailEnd type="none" w="med" len="med"/>
                    </a:lnT>
                    <a:lnB w="9525" cap="flat" cmpd="sng" algn="ctr">
                      <a:solidFill>
                        <a:srgbClr val="7025CC"/>
                      </a:solidFill>
                      <a:prstDash val="solid"/>
                      <a:round/>
                      <a:headEnd type="none" w="med" len="med"/>
                      <a:tailEnd type="none" w="med" len="med"/>
                    </a:lnB>
                    <a:solidFill>
                      <a:srgbClr val="FFFFFF"/>
                    </a:solidFill>
                  </a:tcPr>
                </a:tc>
                <a:extLst>
                  <a:ext uri="{0D108BD9-81ED-4DB2-BD59-A6C34878D82A}">
                    <a16:rowId xmlns:a16="http://schemas.microsoft.com/office/drawing/2014/main" val="4141703972"/>
                  </a:ext>
                </a:extLst>
              </a:tr>
              <a:tr h="216694">
                <a:tc>
                  <a:txBody>
                    <a:bodyPr/>
                    <a:lstStyle/>
                    <a:p>
                      <a:r>
                        <a:rPr lang="en-IN" sz="1200">
                          <a:solidFill>
                            <a:schemeClr val="bg1"/>
                          </a:solidFill>
                          <a:effectLst/>
                        </a:rPr>
                        <a:t>3</a:t>
                      </a:r>
                    </a:p>
                  </a:txBody>
                  <a:tcPr marL="65008" marR="65008" marT="32504" marB="32504">
                    <a:lnL w="9525" cap="flat" cmpd="sng" algn="ctr">
                      <a:solidFill>
                        <a:srgbClr val="5825CC"/>
                      </a:solidFill>
                      <a:prstDash val="solid"/>
                      <a:round/>
                      <a:headEnd type="none" w="med" len="med"/>
                      <a:tailEnd type="none" w="med" len="med"/>
                    </a:lnL>
                    <a:lnR w="9525" cap="flat" cmpd="sng" algn="ctr">
                      <a:solidFill>
                        <a:srgbClr val="7025CC"/>
                      </a:solidFill>
                      <a:prstDash val="solid"/>
                      <a:round/>
                      <a:headEnd type="none" w="med" len="med"/>
                      <a:tailEnd type="none" w="med" len="med"/>
                    </a:lnR>
                    <a:lnT w="9525" cap="flat" cmpd="sng" algn="ctr">
                      <a:solidFill>
                        <a:srgbClr val="5825CC"/>
                      </a:solidFill>
                      <a:prstDash val="solid"/>
                      <a:round/>
                      <a:headEnd type="none" w="med" len="med"/>
                      <a:tailEnd type="none" w="med" len="med"/>
                    </a:lnT>
                    <a:lnB w="9525" cap="flat" cmpd="sng" algn="ctr">
                      <a:solidFill>
                        <a:srgbClr val="6827CC"/>
                      </a:solidFill>
                      <a:prstDash val="solid"/>
                      <a:round/>
                      <a:headEnd type="none" w="med" len="med"/>
                      <a:tailEnd type="none" w="med" len="med"/>
                    </a:lnB>
                    <a:solidFill>
                      <a:srgbClr val="FFFFFF"/>
                    </a:solidFill>
                  </a:tcPr>
                </a:tc>
                <a:tc>
                  <a:txBody>
                    <a:bodyPr/>
                    <a:lstStyle/>
                    <a:p>
                      <a:r>
                        <a:rPr lang="en-IN" sz="1200">
                          <a:solidFill>
                            <a:schemeClr val="bg1"/>
                          </a:solidFill>
                          <a:effectLst/>
                        </a:rPr>
                        <a:t>No such process</a:t>
                      </a:r>
                    </a:p>
                  </a:txBody>
                  <a:tcPr marL="65008" marR="65008" marT="32504" marB="32504">
                    <a:lnL w="9525" cap="flat" cmpd="sng" algn="ctr">
                      <a:solidFill>
                        <a:srgbClr val="7025CC"/>
                      </a:solidFill>
                      <a:prstDash val="solid"/>
                      <a:round/>
                      <a:headEnd type="none" w="med" len="med"/>
                      <a:tailEnd type="none" w="med" len="med"/>
                    </a:lnL>
                    <a:lnR w="9525" cap="flat" cmpd="sng" algn="ctr">
                      <a:solidFill>
                        <a:srgbClr val="7025CC"/>
                      </a:solidFill>
                      <a:prstDash val="solid"/>
                      <a:round/>
                      <a:headEnd type="none" w="med" len="med"/>
                      <a:tailEnd type="none" w="med" len="med"/>
                    </a:lnR>
                    <a:lnT w="9525" cap="flat" cmpd="sng" algn="ctr">
                      <a:solidFill>
                        <a:srgbClr val="7025CC"/>
                      </a:solidFill>
                      <a:prstDash val="solid"/>
                      <a:round/>
                      <a:headEnd type="none" w="med" len="med"/>
                      <a:tailEnd type="none" w="med" len="med"/>
                    </a:lnT>
                    <a:lnB w="9525" cap="flat" cmpd="sng" algn="ctr">
                      <a:solidFill>
                        <a:srgbClr val="1028CC"/>
                      </a:solidFill>
                      <a:prstDash val="solid"/>
                      <a:round/>
                      <a:headEnd type="none" w="med" len="med"/>
                      <a:tailEnd type="none" w="med" len="med"/>
                    </a:lnB>
                    <a:solidFill>
                      <a:srgbClr val="FFFFFF"/>
                    </a:solidFill>
                  </a:tcPr>
                </a:tc>
                <a:extLst>
                  <a:ext uri="{0D108BD9-81ED-4DB2-BD59-A6C34878D82A}">
                    <a16:rowId xmlns:a16="http://schemas.microsoft.com/office/drawing/2014/main" val="1311671598"/>
                  </a:ext>
                </a:extLst>
              </a:tr>
              <a:tr h="216694">
                <a:tc>
                  <a:txBody>
                    <a:bodyPr/>
                    <a:lstStyle/>
                    <a:p>
                      <a:r>
                        <a:rPr lang="en-IN" sz="1200">
                          <a:solidFill>
                            <a:schemeClr val="bg1"/>
                          </a:solidFill>
                          <a:effectLst/>
                        </a:rPr>
                        <a:t>4</a:t>
                      </a:r>
                    </a:p>
                  </a:txBody>
                  <a:tcPr marL="65008" marR="65008" marT="32504" marB="32504">
                    <a:lnL w="9525" cap="flat" cmpd="sng" algn="ctr">
                      <a:solidFill>
                        <a:srgbClr val="6827CC"/>
                      </a:solidFill>
                      <a:prstDash val="solid"/>
                      <a:round/>
                      <a:headEnd type="none" w="med" len="med"/>
                      <a:tailEnd type="none" w="med" len="med"/>
                    </a:lnL>
                    <a:lnR w="9525" cap="flat" cmpd="sng" algn="ctr">
                      <a:solidFill>
                        <a:srgbClr val="1028CC"/>
                      </a:solidFill>
                      <a:prstDash val="solid"/>
                      <a:round/>
                      <a:headEnd type="none" w="med" len="med"/>
                      <a:tailEnd type="none" w="med" len="med"/>
                    </a:lnR>
                    <a:lnT w="9525" cap="flat" cmpd="sng" algn="ctr">
                      <a:solidFill>
                        <a:srgbClr val="6827CC"/>
                      </a:solidFill>
                      <a:prstDash val="solid"/>
                      <a:round/>
                      <a:headEnd type="none" w="med" len="med"/>
                      <a:tailEnd type="none" w="med" len="med"/>
                    </a:lnT>
                    <a:lnB w="9525" cap="flat" cmpd="sng" algn="ctr">
                      <a:solidFill>
                        <a:srgbClr val="D826CC"/>
                      </a:solidFill>
                      <a:prstDash val="solid"/>
                      <a:round/>
                      <a:headEnd type="none" w="med" len="med"/>
                      <a:tailEnd type="none" w="med" len="med"/>
                    </a:lnB>
                    <a:solidFill>
                      <a:srgbClr val="FFFFFF"/>
                    </a:solidFill>
                  </a:tcPr>
                </a:tc>
                <a:tc>
                  <a:txBody>
                    <a:bodyPr/>
                    <a:lstStyle/>
                    <a:p>
                      <a:r>
                        <a:rPr lang="en-IN" sz="1200">
                          <a:solidFill>
                            <a:schemeClr val="bg1"/>
                          </a:solidFill>
                          <a:effectLst/>
                        </a:rPr>
                        <a:t>Interrupted system call</a:t>
                      </a:r>
                    </a:p>
                  </a:txBody>
                  <a:tcPr marL="65008" marR="65008" marT="32504" marB="32504">
                    <a:lnL w="9525" cap="flat" cmpd="sng" algn="ctr">
                      <a:solidFill>
                        <a:srgbClr val="1028CC"/>
                      </a:solidFill>
                      <a:prstDash val="solid"/>
                      <a:round/>
                      <a:headEnd type="none" w="med" len="med"/>
                      <a:tailEnd type="none" w="med" len="med"/>
                    </a:lnL>
                    <a:lnR w="9525" cap="flat" cmpd="sng" algn="ctr">
                      <a:solidFill>
                        <a:srgbClr val="1028CC"/>
                      </a:solidFill>
                      <a:prstDash val="solid"/>
                      <a:round/>
                      <a:headEnd type="none" w="med" len="med"/>
                      <a:tailEnd type="none" w="med" len="med"/>
                    </a:lnR>
                    <a:lnT w="9525" cap="flat" cmpd="sng" algn="ctr">
                      <a:solidFill>
                        <a:srgbClr val="1028CC"/>
                      </a:solidFill>
                      <a:prstDash val="solid"/>
                      <a:round/>
                      <a:headEnd type="none" w="med" len="med"/>
                      <a:tailEnd type="none" w="med" len="med"/>
                    </a:lnT>
                    <a:lnB w="9525" cap="flat" cmpd="sng" algn="ctr">
                      <a:solidFill>
                        <a:srgbClr val="A025CC"/>
                      </a:solidFill>
                      <a:prstDash val="solid"/>
                      <a:round/>
                      <a:headEnd type="none" w="med" len="med"/>
                      <a:tailEnd type="none" w="med" len="med"/>
                    </a:lnB>
                    <a:solidFill>
                      <a:srgbClr val="FFFFFF"/>
                    </a:solidFill>
                  </a:tcPr>
                </a:tc>
                <a:extLst>
                  <a:ext uri="{0D108BD9-81ED-4DB2-BD59-A6C34878D82A}">
                    <a16:rowId xmlns:a16="http://schemas.microsoft.com/office/drawing/2014/main" val="73884457"/>
                  </a:ext>
                </a:extLst>
              </a:tr>
              <a:tr h="216694">
                <a:tc>
                  <a:txBody>
                    <a:bodyPr/>
                    <a:lstStyle/>
                    <a:p>
                      <a:r>
                        <a:rPr lang="en-IN" sz="1200">
                          <a:solidFill>
                            <a:schemeClr val="bg1"/>
                          </a:solidFill>
                          <a:effectLst/>
                        </a:rPr>
                        <a:t>5</a:t>
                      </a:r>
                    </a:p>
                  </a:txBody>
                  <a:tcPr marL="65008" marR="65008" marT="32504" marB="32504">
                    <a:lnL w="9525" cap="flat" cmpd="sng" algn="ctr">
                      <a:solidFill>
                        <a:srgbClr val="D826CC"/>
                      </a:solidFill>
                      <a:prstDash val="solid"/>
                      <a:round/>
                      <a:headEnd type="none" w="med" len="med"/>
                      <a:tailEnd type="none" w="med" len="med"/>
                    </a:lnL>
                    <a:lnR w="9525" cap="flat" cmpd="sng" algn="ctr">
                      <a:solidFill>
                        <a:srgbClr val="A025CC"/>
                      </a:solidFill>
                      <a:prstDash val="solid"/>
                      <a:round/>
                      <a:headEnd type="none" w="med" len="med"/>
                      <a:tailEnd type="none" w="med" len="med"/>
                    </a:lnR>
                    <a:lnT w="9525" cap="flat" cmpd="sng" algn="ctr">
                      <a:solidFill>
                        <a:srgbClr val="D826CC"/>
                      </a:solidFill>
                      <a:prstDash val="solid"/>
                      <a:round/>
                      <a:headEnd type="none" w="med" len="med"/>
                      <a:tailEnd type="none" w="med" len="med"/>
                    </a:lnT>
                    <a:lnB w="9525" cap="flat" cmpd="sng" algn="ctr">
                      <a:solidFill>
                        <a:srgbClr val="9026CC"/>
                      </a:solidFill>
                      <a:prstDash val="solid"/>
                      <a:round/>
                      <a:headEnd type="none" w="med" len="med"/>
                      <a:tailEnd type="none" w="med" len="med"/>
                    </a:lnB>
                    <a:solidFill>
                      <a:srgbClr val="FFFFFF"/>
                    </a:solidFill>
                  </a:tcPr>
                </a:tc>
                <a:tc>
                  <a:txBody>
                    <a:bodyPr/>
                    <a:lstStyle/>
                    <a:p>
                      <a:r>
                        <a:rPr lang="en-IN" sz="1200">
                          <a:solidFill>
                            <a:schemeClr val="bg1"/>
                          </a:solidFill>
                          <a:effectLst/>
                        </a:rPr>
                        <a:t>I/O error</a:t>
                      </a:r>
                    </a:p>
                  </a:txBody>
                  <a:tcPr marL="65008" marR="65008" marT="32504" marB="32504">
                    <a:lnL w="9525" cap="flat" cmpd="sng" algn="ctr">
                      <a:solidFill>
                        <a:srgbClr val="A025CC"/>
                      </a:solidFill>
                      <a:prstDash val="solid"/>
                      <a:round/>
                      <a:headEnd type="none" w="med" len="med"/>
                      <a:tailEnd type="none" w="med" len="med"/>
                    </a:lnL>
                    <a:lnR w="9525" cap="flat" cmpd="sng" algn="ctr">
                      <a:solidFill>
                        <a:srgbClr val="A025CC"/>
                      </a:solidFill>
                      <a:prstDash val="solid"/>
                      <a:round/>
                      <a:headEnd type="none" w="med" len="med"/>
                      <a:tailEnd type="none" w="med" len="med"/>
                    </a:lnR>
                    <a:lnT w="9525" cap="flat" cmpd="sng" algn="ctr">
                      <a:solidFill>
                        <a:srgbClr val="A025CC"/>
                      </a:solidFill>
                      <a:prstDash val="solid"/>
                      <a:round/>
                      <a:headEnd type="none" w="med" len="med"/>
                      <a:tailEnd type="none" w="med" len="med"/>
                    </a:lnT>
                    <a:lnB w="9525" cap="flat" cmpd="sng" algn="ctr">
                      <a:solidFill>
                        <a:srgbClr val="8027CC"/>
                      </a:solidFill>
                      <a:prstDash val="solid"/>
                      <a:round/>
                      <a:headEnd type="none" w="med" len="med"/>
                      <a:tailEnd type="none" w="med" len="med"/>
                    </a:lnB>
                    <a:solidFill>
                      <a:srgbClr val="FFFFFF"/>
                    </a:solidFill>
                  </a:tcPr>
                </a:tc>
                <a:extLst>
                  <a:ext uri="{0D108BD9-81ED-4DB2-BD59-A6C34878D82A}">
                    <a16:rowId xmlns:a16="http://schemas.microsoft.com/office/drawing/2014/main" val="601204305"/>
                  </a:ext>
                </a:extLst>
              </a:tr>
              <a:tr h="216694">
                <a:tc>
                  <a:txBody>
                    <a:bodyPr/>
                    <a:lstStyle/>
                    <a:p>
                      <a:r>
                        <a:rPr lang="en-IN" sz="1200">
                          <a:solidFill>
                            <a:schemeClr val="bg1"/>
                          </a:solidFill>
                          <a:effectLst/>
                        </a:rPr>
                        <a:t>6</a:t>
                      </a:r>
                    </a:p>
                  </a:txBody>
                  <a:tcPr marL="65008" marR="65008" marT="32504" marB="32504">
                    <a:lnL w="9525" cap="flat" cmpd="sng" algn="ctr">
                      <a:solidFill>
                        <a:srgbClr val="9026CC"/>
                      </a:solidFill>
                      <a:prstDash val="solid"/>
                      <a:round/>
                      <a:headEnd type="none" w="med" len="med"/>
                      <a:tailEnd type="none" w="med" len="med"/>
                    </a:lnL>
                    <a:lnR w="9525" cap="flat" cmpd="sng" algn="ctr">
                      <a:solidFill>
                        <a:srgbClr val="8027CC"/>
                      </a:solidFill>
                      <a:prstDash val="solid"/>
                      <a:round/>
                      <a:headEnd type="none" w="med" len="med"/>
                      <a:tailEnd type="none" w="med" len="med"/>
                    </a:lnR>
                    <a:lnT w="9525" cap="flat" cmpd="sng" algn="ctr">
                      <a:solidFill>
                        <a:srgbClr val="9026CC"/>
                      </a:solidFill>
                      <a:prstDash val="solid"/>
                      <a:round/>
                      <a:headEnd type="none" w="med" len="med"/>
                      <a:tailEnd type="none" w="med" len="med"/>
                    </a:lnT>
                    <a:lnB w="9525" cap="flat" cmpd="sng" algn="ctr">
                      <a:solidFill>
                        <a:srgbClr val="D826CC"/>
                      </a:solidFill>
                      <a:prstDash val="solid"/>
                      <a:round/>
                      <a:headEnd type="none" w="med" len="med"/>
                      <a:tailEnd type="none" w="med" len="med"/>
                    </a:lnB>
                    <a:solidFill>
                      <a:srgbClr val="FFFFFF"/>
                    </a:solidFill>
                  </a:tcPr>
                </a:tc>
                <a:tc>
                  <a:txBody>
                    <a:bodyPr/>
                    <a:lstStyle/>
                    <a:p>
                      <a:r>
                        <a:rPr lang="en-US" sz="1200">
                          <a:solidFill>
                            <a:schemeClr val="bg1"/>
                          </a:solidFill>
                          <a:effectLst/>
                        </a:rPr>
                        <a:t>No such device or address</a:t>
                      </a:r>
                    </a:p>
                  </a:txBody>
                  <a:tcPr marL="65008" marR="65008" marT="32504" marB="32504">
                    <a:lnL w="9525" cap="flat" cmpd="sng" algn="ctr">
                      <a:solidFill>
                        <a:srgbClr val="8027CC"/>
                      </a:solidFill>
                      <a:prstDash val="solid"/>
                      <a:round/>
                      <a:headEnd type="none" w="med" len="med"/>
                      <a:tailEnd type="none" w="med" len="med"/>
                    </a:lnL>
                    <a:lnR w="9525" cap="flat" cmpd="sng" algn="ctr">
                      <a:solidFill>
                        <a:srgbClr val="8027CC"/>
                      </a:solidFill>
                      <a:prstDash val="solid"/>
                      <a:round/>
                      <a:headEnd type="none" w="med" len="med"/>
                      <a:tailEnd type="none" w="med" len="med"/>
                    </a:lnR>
                    <a:lnT w="9525" cap="flat" cmpd="sng" algn="ctr">
                      <a:solidFill>
                        <a:srgbClr val="8027CC"/>
                      </a:solidFill>
                      <a:prstDash val="solid"/>
                      <a:round/>
                      <a:headEnd type="none" w="med" len="med"/>
                      <a:tailEnd type="none" w="med" len="med"/>
                    </a:lnT>
                    <a:lnB w="9525" cap="flat" cmpd="sng" algn="ctr">
                      <a:solidFill>
                        <a:srgbClr val="E825CC"/>
                      </a:solidFill>
                      <a:prstDash val="solid"/>
                      <a:round/>
                      <a:headEnd type="none" w="med" len="med"/>
                      <a:tailEnd type="none" w="med" len="med"/>
                    </a:lnB>
                    <a:solidFill>
                      <a:srgbClr val="FFFFFF"/>
                    </a:solidFill>
                  </a:tcPr>
                </a:tc>
                <a:extLst>
                  <a:ext uri="{0D108BD9-81ED-4DB2-BD59-A6C34878D82A}">
                    <a16:rowId xmlns:a16="http://schemas.microsoft.com/office/drawing/2014/main" val="295354865"/>
                  </a:ext>
                </a:extLst>
              </a:tr>
              <a:tr h="216694">
                <a:tc>
                  <a:txBody>
                    <a:bodyPr/>
                    <a:lstStyle/>
                    <a:p>
                      <a:r>
                        <a:rPr lang="en-IN" sz="1200">
                          <a:solidFill>
                            <a:schemeClr val="bg1"/>
                          </a:solidFill>
                          <a:effectLst/>
                        </a:rPr>
                        <a:t>7</a:t>
                      </a:r>
                    </a:p>
                  </a:txBody>
                  <a:tcPr marL="65008" marR="65008" marT="32504" marB="32504">
                    <a:lnL w="9525" cap="flat" cmpd="sng" algn="ctr">
                      <a:solidFill>
                        <a:srgbClr val="D826CC"/>
                      </a:solidFill>
                      <a:prstDash val="solid"/>
                      <a:round/>
                      <a:headEnd type="none" w="med" len="med"/>
                      <a:tailEnd type="none" w="med" len="med"/>
                    </a:lnL>
                    <a:lnR w="9525" cap="flat" cmpd="sng" algn="ctr">
                      <a:solidFill>
                        <a:srgbClr val="E825CC"/>
                      </a:solidFill>
                      <a:prstDash val="solid"/>
                      <a:round/>
                      <a:headEnd type="none" w="med" len="med"/>
                      <a:tailEnd type="none" w="med" len="med"/>
                    </a:lnR>
                    <a:lnT w="9525" cap="flat" cmpd="sng" algn="ctr">
                      <a:solidFill>
                        <a:srgbClr val="D826CC"/>
                      </a:solidFill>
                      <a:prstDash val="solid"/>
                      <a:round/>
                      <a:headEnd type="none" w="med" len="med"/>
                      <a:tailEnd type="none" w="med" len="med"/>
                    </a:lnT>
                    <a:lnB w="9525" cap="flat" cmpd="sng" algn="ctr">
                      <a:solidFill>
                        <a:srgbClr val="9026CC"/>
                      </a:solidFill>
                      <a:prstDash val="solid"/>
                      <a:round/>
                      <a:headEnd type="none" w="med" len="med"/>
                      <a:tailEnd type="none" w="med" len="med"/>
                    </a:lnB>
                    <a:solidFill>
                      <a:srgbClr val="FFFFFF"/>
                    </a:solidFill>
                  </a:tcPr>
                </a:tc>
                <a:tc>
                  <a:txBody>
                    <a:bodyPr/>
                    <a:lstStyle/>
                    <a:p>
                      <a:r>
                        <a:rPr lang="en-IN" sz="1200">
                          <a:solidFill>
                            <a:schemeClr val="bg1"/>
                          </a:solidFill>
                          <a:effectLst/>
                        </a:rPr>
                        <a:t>Argument list too long</a:t>
                      </a:r>
                    </a:p>
                  </a:txBody>
                  <a:tcPr marL="65008" marR="65008" marT="32504" marB="32504">
                    <a:lnL w="9525" cap="flat" cmpd="sng" algn="ctr">
                      <a:solidFill>
                        <a:srgbClr val="E825CC"/>
                      </a:solidFill>
                      <a:prstDash val="solid"/>
                      <a:round/>
                      <a:headEnd type="none" w="med" len="med"/>
                      <a:tailEnd type="none" w="med" len="med"/>
                    </a:lnL>
                    <a:lnR w="9525" cap="flat" cmpd="sng" algn="ctr">
                      <a:solidFill>
                        <a:srgbClr val="E825CC"/>
                      </a:solidFill>
                      <a:prstDash val="solid"/>
                      <a:round/>
                      <a:headEnd type="none" w="med" len="med"/>
                      <a:tailEnd type="none" w="med" len="med"/>
                    </a:lnR>
                    <a:lnT w="9525" cap="flat" cmpd="sng" algn="ctr">
                      <a:solidFill>
                        <a:srgbClr val="E825CC"/>
                      </a:solidFill>
                      <a:prstDash val="solid"/>
                      <a:round/>
                      <a:headEnd type="none" w="med" len="med"/>
                      <a:tailEnd type="none" w="med" len="med"/>
                    </a:lnT>
                    <a:lnB w="9525" cap="flat" cmpd="sng" algn="ctr">
                      <a:solidFill>
                        <a:srgbClr val="0827CC"/>
                      </a:solidFill>
                      <a:prstDash val="solid"/>
                      <a:round/>
                      <a:headEnd type="none" w="med" len="med"/>
                      <a:tailEnd type="none" w="med" len="med"/>
                    </a:lnB>
                    <a:solidFill>
                      <a:srgbClr val="FFFFFF"/>
                    </a:solidFill>
                  </a:tcPr>
                </a:tc>
                <a:extLst>
                  <a:ext uri="{0D108BD9-81ED-4DB2-BD59-A6C34878D82A}">
                    <a16:rowId xmlns:a16="http://schemas.microsoft.com/office/drawing/2014/main" val="1678782765"/>
                  </a:ext>
                </a:extLst>
              </a:tr>
              <a:tr h="216694">
                <a:tc>
                  <a:txBody>
                    <a:bodyPr/>
                    <a:lstStyle/>
                    <a:p>
                      <a:r>
                        <a:rPr lang="en-IN" sz="1200">
                          <a:solidFill>
                            <a:schemeClr val="bg1"/>
                          </a:solidFill>
                          <a:effectLst/>
                        </a:rPr>
                        <a:t>8</a:t>
                      </a:r>
                    </a:p>
                  </a:txBody>
                  <a:tcPr marL="65008" marR="65008" marT="32504" marB="32504">
                    <a:lnL w="9525" cap="flat" cmpd="sng" algn="ctr">
                      <a:solidFill>
                        <a:srgbClr val="9026CC"/>
                      </a:solidFill>
                      <a:prstDash val="solid"/>
                      <a:round/>
                      <a:headEnd type="none" w="med" len="med"/>
                      <a:tailEnd type="none" w="med" len="med"/>
                    </a:lnL>
                    <a:lnR w="9525" cap="flat" cmpd="sng" algn="ctr">
                      <a:solidFill>
                        <a:srgbClr val="0827CC"/>
                      </a:solidFill>
                      <a:prstDash val="solid"/>
                      <a:round/>
                      <a:headEnd type="none" w="med" len="med"/>
                      <a:tailEnd type="none" w="med" len="med"/>
                    </a:lnR>
                    <a:lnT w="9525" cap="flat" cmpd="sng" algn="ctr">
                      <a:solidFill>
                        <a:srgbClr val="9026CC"/>
                      </a:solidFill>
                      <a:prstDash val="solid"/>
                      <a:round/>
                      <a:headEnd type="none" w="med" len="med"/>
                      <a:tailEnd type="none" w="med" len="med"/>
                    </a:lnT>
                    <a:lnB w="9525" cap="flat" cmpd="sng" algn="ctr">
                      <a:solidFill>
                        <a:srgbClr val="9827CC"/>
                      </a:solidFill>
                      <a:prstDash val="solid"/>
                      <a:round/>
                      <a:headEnd type="none" w="med" len="med"/>
                      <a:tailEnd type="none" w="med" len="med"/>
                    </a:lnB>
                    <a:solidFill>
                      <a:srgbClr val="FFFFFF"/>
                    </a:solidFill>
                  </a:tcPr>
                </a:tc>
                <a:tc>
                  <a:txBody>
                    <a:bodyPr/>
                    <a:lstStyle/>
                    <a:p>
                      <a:r>
                        <a:rPr lang="en-IN" sz="1200">
                          <a:solidFill>
                            <a:schemeClr val="bg1"/>
                          </a:solidFill>
                          <a:effectLst/>
                        </a:rPr>
                        <a:t>Exec format error</a:t>
                      </a:r>
                    </a:p>
                  </a:txBody>
                  <a:tcPr marL="65008" marR="65008" marT="32504" marB="32504">
                    <a:lnL w="9525" cap="flat" cmpd="sng" algn="ctr">
                      <a:solidFill>
                        <a:srgbClr val="0827CC"/>
                      </a:solidFill>
                      <a:prstDash val="solid"/>
                      <a:round/>
                      <a:headEnd type="none" w="med" len="med"/>
                      <a:tailEnd type="none" w="med" len="med"/>
                    </a:lnL>
                    <a:lnR w="9525" cap="flat" cmpd="sng" algn="ctr">
                      <a:solidFill>
                        <a:srgbClr val="0827CC"/>
                      </a:solidFill>
                      <a:prstDash val="solid"/>
                      <a:round/>
                      <a:headEnd type="none" w="med" len="med"/>
                      <a:tailEnd type="none" w="med" len="med"/>
                    </a:lnR>
                    <a:lnT w="9525" cap="flat" cmpd="sng" algn="ctr">
                      <a:solidFill>
                        <a:srgbClr val="0827CC"/>
                      </a:solidFill>
                      <a:prstDash val="solid"/>
                      <a:round/>
                      <a:headEnd type="none" w="med" len="med"/>
                      <a:tailEnd type="none" w="med" len="med"/>
                    </a:lnT>
                    <a:lnB w="9525" cap="flat" cmpd="sng" algn="ctr">
                      <a:solidFill>
                        <a:srgbClr val="9827CC"/>
                      </a:solidFill>
                      <a:prstDash val="solid"/>
                      <a:round/>
                      <a:headEnd type="none" w="med" len="med"/>
                      <a:tailEnd type="none" w="med" len="med"/>
                    </a:lnB>
                    <a:solidFill>
                      <a:srgbClr val="FFFFFF"/>
                    </a:solidFill>
                  </a:tcPr>
                </a:tc>
                <a:extLst>
                  <a:ext uri="{0D108BD9-81ED-4DB2-BD59-A6C34878D82A}">
                    <a16:rowId xmlns:a16="http://schemas.microsoft.com/office/drawing/2014/main" val="199937152"/>
                  </a:ext>
                </a:extLst>
              </a:tr>
              <a:tr h="216694">
                <a:tc>
                  <a:txBody>
                    <a:bodyPr/>
                    <a:lstStyle/>
                    <a:p>
                      <a:r>
                        <a:rPr lang="en-IN" sz="1200">
                          <a:solidFill>
                            <a:schemeClr val="bg1"/>
                          </a:solidFill>
                          <a:effectLst/>
                        </a:rPr>
                        <a:t>9</a:t>
                      </a:r>
                    </a:p>
                  </a:txBody>
                  <a:tcPr marL="65008" marR="65008" marT="32504" marB="32504">
                    <a:lnL w="9525" cap="flat" cmpd="sng" algn="ctr">
                      <a:solidFill>
                        <a:srgbClr val="9827CC"/>
                      </a:solidFill>
                      <a:prstDash val="solid"/>
                      <a:round/>
                      <a:headEnd type="none" w="med" len="med"/>
                      <a:tailEnd type="none" w="med" len="med"/>
                    </a:lnL>
                    <a:lnR w="9525" cap="flat" cmpd="sng" algn="ctr">
                      <a:solidFill>
                        <a:srgbClr val="9827CC"/>
                      </a:solidFill>
                      <a:prstDash val="solid"/>
                      <a:round/>
                      <a:headEnd type="none" w="med" len="med"/>
                      <a:tailEnd type="none" w="med" len="med"/>
                    </a:lnR>
                    <a:lnT w="9525" cap="flat" cmpd="sng" algn="ctr">
                      <a:solidFill>
                        <a:srgbClr val="9827CC"/>
                      </a:solidFill>
                      <a:prstDash val="solid"/>
                      <a:round/>
                      <a:headEnd type="none" w="med" len="med"/>
                      <a:tailEnd type="none" w="med" len="med"/>
                    </a:lnT>
                    <a:lnB w="9525" cap="flat" cmpd="sng" algn="ctr">
                      <a:solidFill>
                        <a:srgbClr val="1826CC"/>
                      </a:solidFill>
                      <a:prstDash val="solid"/>
                      <a:round/>
                      <a:headEnd type="none" w="med" len="med"/>
                      <a:tailEnd type="none" w="med" len="med"/>
                    </a:lnB>
                    <a:solidFill>
                      <a:srgbClr val="FFFFFF"/>
                    </a:solidFill>
                  </a:tcPr>
                </a:tc>
                <a:tc>
                  <a:txBody>
                    <a:bodyPr/>
                    <a:lstStyle/>
                    <a:p>
                      <a:r>
                        <a:rPr lang="en-IN" sz="1200">
                          <a:solidFill>
                            <a:schemeClr val="bg1"/>
                          </a:solidFill>
                          <a:effectLst/>
                        </a:rPr>
                        <a:t>Bad file number</a:t>
                      </a:r>
                    </a:p>
                  </a:txBody>
                  <a:tcPr marL="65008" marR="65008" marT="32504" marB="32504">
                    <a:lnL w="9525" cap="flat" cmpd="sng" algn="ctr">
                      <a:solidFill>
                        <a:srgbClr val="9827CC"/>
                      </a:solidFill>
                      <a:prstDash val="solid"/>
                      <a:round/>
                      <a:headEnd type="none" w="med" len="med"/>
                      <a:tailEnd type="none" w="med" len="med"/>
                    </a:lnL>
                    <a:lnR w="9525" cap="flat" cmpd="sng" algn="ctr">
                      <a:solidFill>
                        <a:srgbClr val="9827CC"/>
                      </a:solidFill>
                      <a:prstDash val="solid"/>
                      <a:round/>
                      <a:headEnd type="none" w="med" len="med"/>
                      <a:tailEnd type="none" w="med" len="med"/>
                    </a:lnR>
                    <a:lnT w="9525" cap="flat" cmpd="sng" algn="ctr">
                      <a:solidFill>
                        <a:srgbClr val="9827CC"/>
                      </a:solidFill>
                      <a:prstDash val="solid"/>
                      <a:round/>
                      <a:headEnd type="none" w="med" len="med"/>
                      <a:tailEnd type="none" w="med" len="med"/>
                    </a:lnT>
                    <a:lnB w="9525" cap="flat" cmpd="sng" algn="ctr">
                      <a:solidFill>
                        <a:srgbClr val="9827CC"/>
                      </a:solidFill>
                      <a:prstDash val="solid"/>
                      <a:round/>
                      <a:headEnd type="none" w="med" len="med"/>
                      <a:tailEnd type="none" w="med" len="med"/>
                    </a:lnB>
                    <a:solidFill>
                      <a:srgbClr val="FFFFFF"/>
                    </a:solidFill>
                  </a:tcPr>
                </a:tc>
                <a:extLst>
                  <a:ext uri="{0D108BD9-81ED-4DB2-BD59-A6C34878D82A}">
                    <a16:rowId xmlns:a16="http://schemas.microsoft.com/office/drawing/2014/main" val="2734575116"/>
                  </a:ext>
                </a:extLst>
              </a:tr>
              <a:tr h="216694">
                <a:tc>
                  <a:txBody>
                    <a:bodyPr/>
                    <a:lstStyle/>
                    <a:p>
                      <a:r>
                        <a:rPr lang="en-IN" sz="1200">
                          <a:solidFill>
                            <a:schemeClr val="bg1"/>
                          </a:solidFill>
                          <a:effectLst/>
                        </a:rPr>
                        <a:t>10</a:t>
                      </a:r>
                    </a:p>
                  </a:txBody>
                  <a:tcPr marL="65008" marR="65008" marT="32504" marB="32504">
                    <a:lnL w="9525" cap="flat" cmpd="sng" algn="ctr">
                      <a:solidFill>
                        <a:srgbClr val="1826CC"/>
                      </a:solidFill>
                      <a:prstDash val="solid"/>
                      <a:round/>
                      <a:headEnd type="none" w="med" len="med"/>
                      <a:tailEnd type="none" w="med" len="med"/>
                    </a:lnL>
                    <a:lnR w="9525" cap="flat" cmpd="sng" algn="ctr">
                      <a:solidFill>
                        <a:srgbClr val="9827CC"/>
                      </a:solidFill>
                      <a:prstDash val="solid"/>
                      <a:round/>
                      <a:headEnd type="none" w="med" len="med"/>
                      <a:tailEnd type="none" w="med" len="med"/>
                    </a:lnR>
                    <a:lnT w="9525" cap="flat" cmpd="sng" algn="ctr">
                      <a:solidFill>
                        <a:srgbClr val="1826CC"/>
                      </a:solidFill>
                      <a:prstDash val="solid"/>
                      <a:round/>
                      <a:headEnd type="none" w="med" len="med"/>
                      <a:tailEnd type="none" w="med" len="med"/>
                    </a:lnT>
                    <a:lnB w="9525" cap="flat" cmpd="sng" algn="ctr">
                      <a:solidFill>
                        <a:srgbClr val="3026CC"/>
                      </a:solidFill>
                      <a:prstDash val="solid"/>
                      <a:round/>
                      <a:headEnd type="none" w="med" len="med"/>
                      <a:tailEnd type="none" w="med" len="med"/>
                    </a:lnB>
                    <a:solidFill>
                      <a:srgbClr val="FFFFFF"/>
                    </a:solidFill>
                  </a:tcPr>
                </a:tc>
                <a:tc>
                  <a:txBody>
                    <a:bodyPr/>
                    <a:lstStyle/>
                    <a:p>
                      <a:r>
                        <a:rPr lang="en-IN" sz="1200">
                          <a:solidFill>
                            <a:schemeClr val="bg1"/>
                          </a:solidFill>
                          <a:effectLst/>
                        </a:rPr>
                        <a:t>No child processes</a:t>
                      </a:r>
                    </a:p>
                  </a:txBody>
                  <a:tcPr marL="65008" marR="65008" marT="32504" marB="32504">
                    <a:lnL w="9525" cap="flat" cmpd="sng" algn="ctr">
                      <a:solidFill>
                        <a:srgbClr val="9827CC"/>
                      </a:solidFill>
                      <a:prstDash val="solid"/>
                      <a:round/>
                      <a:headEnd type="none" w="med" len="med"/>
                      <a:tailEnd type="none" w="med" len="med"/>
                    </a:lnL>
                    <a:lnR w="9525" cap="flat" cmpd="sng" algn="ctr">
                      <a:solidFill>
                        <a:srgbClr val="9827CC"/>
                      </a:solidFill>
                      <a:prstDash val="solid"/>
                      <a:round/>
                      <a:headEnd type="none" w="med" len="med"/>
                      <a:tailEnd type="none" w="med" len="med"/>
                    </a:lnR>
                    <a:lnT w="9525" cap="flat" cmpd="sng" algn="ctr">
                      <a:solidFill>
                        <a:srgbClr val="9827CC"/>
                      </a:solidFill>
                      <a:prstDash val="solid"/>
                      <a:round/>
                      <a:headEnd type="none" w="med" len="med"/>
                      <a:tailEnd type="none" w="med" len="med"/>
                    </a:lnT>
                    <a:lnB w="9525" cap="flat" cmpd="sng" algn="ctr">
                      <a:solidFill>
                        <a:srgbClr val="3026CC"/>
                      </a:solidFill>
                      <a:prstDash val="solid"/>
                      <a:round/>
                      <a:headEnd type="none" w="med" len="med"/>
                      <a:tailEnd type="none" w="med" len="med"/>
                    </a:lnB>
                    <a:solidFill>
                      <a:srgbClr val="FFFFFF"/>
                    </a:solidFill>
                  </a:tcPr>
                </a:tc>
                <a:extLst>
                  <a:ext uri="{0D108BD9-81ED-4DB2-BD59-A6C34878D82A}">
                    <a16:rowId xmlns:a16="http://schemas.microsoft.com/office/drawing/2014/main" val="3977883220"/>
                  </a:ext>
                </a:extLst>
              </a:tr>
              <a:tr h="216694">
                <a:tc>
                  <a:txBody>
                    <a:bodyPr/>
                    <a:lstStyle/>
                    <a:p>
                      <a:r>
                        <a:rPr lang="en-IN" sz="1200">
                          <a:solidFill>
                            <a:schemeClr val="bg1"/>
                          </a:solidFill>
                          <a:effectLst/>
                        </a:rPr>
                        <a:t>11</a:t>
                      </a:r>
                    </a:p>
                  </a:txBody>
                  <a:tcPr marL="65008" marR="65008" marT="32504" marB="32504">
                    <a:lnL w="9525" cap="flat" cmpd="sng" algn="ctr">
                      <a:solidFill>
                        <a:srgbClr val="3026CC"/>
                      </a:solidFill>
                      <a:prstDash val="solid"/>
                      <a:round/>
                      <a:headEnd type="none" w="med" len="med"/>
                      <a:tailEnd type="none" w="med" len="med"/>
                    </a:lnL>
                    <a:lnR w="9525" cap="flat" cmpd="sng" algn="ctr">
                      <a:solidFill>
                        <a:srgbClr val="3026CC"/>
                      </a:solidFill>
                      <a:prstDash val="solid"/>
                      <a:round/>
                      <a:headEnd type="none" w="med" len="med"/>
                      <a:tailEnd type="none" w="med" len="med"/>
                    </a:lnR>
                    <a:lnT w="9525" cap="flat" cmpd="sng" algn="ctr">
                      <a:solidFill>
                        <a:srgbClr val="3026CC"/>
                      </a:solidFill>
                      <a:prstDash val="solid"/>
                      <a:round/>
                      <a:headEnd type="none" w="med" len="med"/>
                      <a:tailEnd type="none" w="med" len="med"/>
                    </a:lnT>
                    <a:lnB w="9525" cap="flat" cmpd="sng" algn="ctr">
                      <a:solidFill>
                        <a:srgbClr val="E027CC"/>
                      </a:solidFill>
                      <a:prstDash val="solid"/>
                      <a:round/>
                      <a:headEnd type="none" w="med" len="med"/>
                      <a:tailEnd type="none" w="med" len="med"/>
                    </a:lnB>
                    <a:solidFill>
                      <a:srgbClr val="FFFFFF"/>
                    </a:solidFill>
                  </a:tcPr>
                </a:tc>
                <a:tc>
                  <a:txBody>
                    <a:bodyPr/>
                    <a:lstStyle/>
                    <a:p>
                      <a:r>
                        <a:rPr lang="en-IN" sz="1200">
                          <a:solidFill>
                            <a:schemeClr val="bg1"/>
                          </a:solidFill>
                          <a:effectLst/>
                        </a:rPr>
                        <a:t>Try again</a:t>
                      </a:r>
                    </a:p>
                  </a:txBody>
                  <a:tcPr marL="65008" marR="65008" marT="32504" marB="32504">
                    <a:lnL w="9525" cap="flat" cmpd="sng" algn="ctr">
                      <a:solidFill>
                        <a:srgbClr val="3026CC"/>
                      </a:solidFill>
                      <a:prstDash val="solid"/>
                      <a:round/>
                      <a:headEnd type="none" w="med" len="med"/>
                      <a:tailEnd type="none" w="med" len="med"/>
                    </a:lnL>
                    <a:lnR w="9525" cap="flat" cmpd="sng" algn="ctr">
                      <a:solidFill>
                        <a:srgbClr val="3026CC"/>
                      </a:solidFill>
                      <a:prstDash val="solid"/>
                      <a:round/>
                      <a:headEnd type="none" w="med" len="med"/>
                      <a:tailEnd type="none" w="med" len="med"/>
                    </a:lnR>
                    <a:lnT w="9525" cap="flat" cmpd="sng" algn="ctr">
                      <a:solidFill>
                        <a:srgbClr val="3026CC"/>
                      </a:solidFill>
                      <a:prstDash val="solid"/>
                      <a:round/>
                      <a:headEnd type="none" w="med" len="med"/>
                      <a:tailEnd type="none" w="med" len="med"/>
                    </a:lnT>
                    <a:lnB w="9525" cap="flat" cmpd="sng" algn="ctr">
                      <a:solidFill>
                        <a:srgbClr val="3026CC"/>
                      </a:solidFill>
                      <a:prstDash val="solid"/>
                      <a:round/>
                      <a:headEnd type="none" w="med" len="med"/>
                      <a:tailEnd type="none" w="med" len="med"/>
                    </a:lnB>
                    <a:solidFill>
                      <a:srgbClr val="FFFFFF"/>
                    </a:solidFill>
                  </a:tcPr>
                </a:tc>
                <a:extLst>
                  <a:ext uri="{0D108BD9-81ED-4DB2-BD59-A6C34878D82A}">
                    <a16:rowId xmlns:a16="http://schemas.microsoft.com/office/drawing/2014/main" val="2083256876"/>
                  </a:ext>
                </a:extLst>
              </a:tr>
              <a:tr h="216694">
                <a:tc>
                  <a:txBody>
                    <a:bodyPr/>
                    <a:lstStyle/>
                    <a:p>
                      <a:r>
                        <a:rPr lang="en-IN" sz="1200">
                          <a:solidFill>
                            <a:schemeClr val="bg1"/>
                          </a:solidFill>
                          <a:effectLst/>
                        </a:rPr>
                        <a:t>12</a:t>
                      </a:r>
                    </a:p>
                  </a:txBody>
                  <a:tcPr marL="65008" marR="65008" marT="32504" marB="32504">
                    <a:lnL w="9525" cap="flat" cmpd="sng" algn="ctr">
                      <a:solidFill>
                        <a:srgbClr val="E027CC"/>
                      </a:solidFill>
                      <a:prstDash val="solid"/>
                      <a:round/>
                      <a:headEnd type="none" w="med" len="med"/>
                      <a:tailEnd type="none" w="med" len="med"/>
                    </a:lnL>
                    <a:lnR w="9525" cap="flat" cmpd="sng" algn="ctr">
                      <a:solidFill>
                        <a:srgbClr val="3026CC"/>
                      </a:solidFill>
                      <a:prstDash val="solid"/>
                      <a:round/>
                      <a:headEnd type="none" w="med" len="med"/>
                      <a:tailEnd type="none" w="med" len="med"/>
                    </a:lnR>
                    <a:lnT w="9525" cap="flat" cmpd="sng" algn="ctr">
                      <a:solidFill>
                        <a:srgbClr val="E027CC"/>
                      </a:solidFill>
                      <a:prstDash val="solid"/>
                      <a:round/>
                      <a:headEnd type="none" w="med" len="med"/>
                      <a:tailEnd type="none" w="med" len="med"/>
                    </a:lnT>
                    <a:lnB w="9525" cap="flat" cmpd="sng" algn="ctr">
                      <a:solidFill>
                        <a:srgbClr val="3026CC"/>
                      </a:solidFill>
                      <a:prstDash val="solid"/>
                      <a:round/>
                      <a:headEnd type="none" w="med" len="med"/>
                      <a:tailEnd type="none" w="med" len="med"/>
                    </a:lnB>
                    <a:solidFill>
                      <a:srgbClr val="FFFFFF"/>
                    </a:solidFill>
                  </a:tcPr>
                </a:tc>
                <a:tc>
                  <a:txBody>
                    <a:bodyPr/>
                    <a:lstStyle/>
                    <a:p>
                      <a:r>
                        <a:rPr lang="en-IN" sz="1200">
                          <a:solidFill>
                            <a:schemeClr val="bg1"/>
                          </a:solidFill>
                          <a:effectLst/>
                        </a:rPr>
                        <a:t>Out of memory</a:t>
                      </a:r>
                    </a:p>
                  </a:txBody>
                  <a:tcPr marL="65008" marR="65008" marT="32504" marB="32504">
                    <a:lnL w="9525" cap="flat" cmpd="sng" algn="ctr">
                      <a:solidFill>
                        <a:srgbClr val="3026CC"/>
                      </a:solidFill>
                      <a:prstDash val="solid"/>
                      <a:round/>
                      <a:headEnd type="none" w="med" len="med"/>
                      <a:tailEnd type="none" w="med" len="med"/>
                    </a:lnL>
                    <a:lnR w="9525" cap="flat" cmpd="sng" algn="ctr">
                      <a:solidFill>
                        <a:srgbClr val="3026CC"/>
                      </a:solidFill>
                      <a:prstDash val="solid"/>
                      <a:round/>
                      <a:headEnd type="none" w="med" len="med"/>
                      <a:tailEnd type="none" w="med" len="med"/>
                    </a:lnR>
                    <a:lnT w="9525" cap="flat" cmpd="sng" algn="ctr">
                      <a:solidFill>
                        <a:srgbClr val="3026CC"/>
                      </a:solidFill>
                      <a:prstDash val="solid"/>
                      <a:round/>
                      <a:headEnd type="none" w="med" len="med"/>
                      <a:tailEnd type="none" w="med" len="med"/>
                    </a:lnT>
                    <a:lnB w="9525" cap="flat" cmpd="sng" algn="ctr">
                      <a:solidFill>
                        <a:srgbClr val="4826CC"/>
                      </a:solidFill>
                      <a:prstDash val="solid"/>
                      <a:round/>
                      <a:headEnd type="none" w="med" len="med"/>
                      <a:tailEnd type="none" w="med" len="med"/>
                    </a:lnB>
                    <a:solidFill>
                      <a:srgbClr val="FFFFFF"/>
                    </a:solidFill>
                  </a:tcPr>
                </a:tc>
                <a:extLst>
                  <a:ext uri="{0D108BD9-81ED-4DB2-BD59-A6C34878D82A}">
                    <a16:rowId xmlns:a16="http://schemas.microsoft.com/office/drawing/2014/main" val="3108003996"/>
                  </a:ext>
                </a:extLst>
              </a:tr>
              <a:tr h="216694">
                <a:tc>
                  <a:txBody>
                    <a:bodyPr/>
                    <a:lstStyle/>
                    <a:p>
                      <a:r>
                        <a:rPr lang="en-IN" sz="1200">
                          <a:solidFill>
                            <a:schemeClr val="bg1"/>
                          </a:solidFill>
                          <a:effectLst/>
                        </a:rPr>
                        <a:t>13</a:t>
                      </a:r>
                    </a:p>
                  </a:txBody>
                  <a:tcPr marL="65008" marR="65008" marT="32504" marB="32504">
                    <a:lnL w="9525" cap="flat" cmpd="sng" algn="ctr">
                      <a:solidFill>
                        <a:srgbClr val="3026CC"/>
                      </a:solidFill>
                      <a:prstDash val="solid"/>
                      <a:round/>
                      <a:headEnd type="none" w="med" len="med"/>
                      <a:tailEnd type="none" w="med" len="med"/>
                    </a:lnL>
                    <a:lnR w="9525" cap="flat" cmpd="sng" algn="ctr">
                      <a:solidFill>
                        <a:srgbClr val="4826CC"/>
                      </a:solidFill>
                      <a:prstDash val="solid"/>
                      <a:round/>
                      <a:headEnd type="none" w="med" len="med"/>
                      <a:tailEnd type="none" w="med" len="med"/>
                    </a:lnR>
                    <a:lnT w="9525" cap="flat" cmpd="sng" algn="ctr">
                      <a:solidFill>
                        <a:srgbClr val="3026CC"/>
                      </a:solidFill>
                      <a:prstDash val="solid"/>
                      <a:round/>
                      <a:headEnd type="none" w="med" len="med"/>
                      <a:tailEnd type="none" w="med" len="med"/>
                    </a:lnT>
                    <a:lnB w="9525" cap="flat" cmpd="sng" algn="ctr">
                      <a:solidFill>
                        <a:srgbClr val="3026CC"/>
                      </a:solidFill>
                      <a:prstDash val="solid"/>
                      <a:round/>
                      <a:headEnd type="none" w="med" len="med"/>
                      <a:tailEnd type="none" w="med" len="med"/>
                    </a:lnB>
                    <a:solidFill>
                      <a:srgbClr val="FFFFFF"/>
                    </a:solidFill>
                  </a:tcPr>
                </a:tc>
                <a:tc>
                  <a:txBody>
                    <a:bodyPr/>
                    <a:lstStyle/>
                    <a:p>
                      <a:r>
                        <a:rPr lang="en-IN" sz="1200" dirty="0">
                          <a:solidFill>
                            <a:schemeClr val="bg1"/>
                          </a:solidFill>
                          <a:effectLst/>
                        </a:rPr>
                        <a:t>Permission denied</a:t>
                      </a:r>
                    </a:p>
                  </a:txBody>
                  <a:tcPr marL="65008" marR="65008" marT="32504" marB="32504">
                    <a:lnL w="9525" cap="flat" cmpd="sng" algn="ctr">
                      <a:solidFill>
                        <a:srgbClr val="4826CC"/>
                      </a:solidFill>
                      <a:prstDash val="solid"/>
                      <a:round/>
                      <a:headEnd type="none" w="med" len="med"/>
                      <a:tailEnd type="none" w="med" len="med"/>
                    </a:lnL>
                    <a:lnR w="9525" cap="flat" cmpd="sng" algn="ctr">
                      <a:solidFill>
                        <a:srgbClr val="4826CC"/>
                      </a:solidFill>
                      <a:prstDash val="solid"/>
                      <a:round/>
                      <a:headEnd type="none" w="med" len="med"/>
                      <a:tailEnd type="none" w="med" len="med"/>
                    </a:lnR>
                    <a:lnT w="9525" cap="flat" cmpd="sng" algn="ctr">
                      <a:solidFill>
                        <a:srgbClr val="4826CC"/>
                      </a:solidFill>
                      <a:prstDash val="solid"/>
                      <a:round/>
                      <a:headEnd type="none" w="med" len="med"/>
                      <a:tailEnd type="none" w="med" len="med"/>
                    </a:lnT>
                    <a:lnB w="9525" cap="flat" cmpd="sng" algn="ctr">
                      <a:solidFill>
                        <a:srgbClr val="4826CC"/>
                      </a:solidFill>
                      <a:prstDash val="solid"/>
                      <a:round/>
                      <a:headEnd type="none" w="med" len="med"/>
                      <a:tailEnd type="none" w="med" len="med"/>
                    </a:lnB>
                    <a:solidFill>
                      <a:srgbClr val="FFFFFF"/>
                    </a:solidFill>
                  </a:tcPr>
                </a:tc>
                <a:extLst>
                  <a:ext uri="{0D108BD9-81ED-4DB2-BD59-A6C34878D82A}">
                    <a16:rowId xmlns:a16="http://schemas.microsoft.com/office/drawing/2014/main" val="2839431669"/>
                  </a:ext>
                </a:extLst>
              </a:tr>
            </a:tbl>
          </a:graphicData>
        </a:graphic>
      </p:graphicFrame>
    </p:spTree>
    <p:extLst>
      <p:ext uri="{BB962C8B-B14F-4D97-AF65-F5344CB8AC3E}">
        <p14:creationId xmlns:p14="http://schemas.microsoft.com/office/powerpoint/2010/main" val="36615644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140107"/>
            <a:ext cx="6943469" cy="396300"/>
          </a:xfrm>
        </p:spPr>
        <p:txBody>
          <a:bodyPr/>
          <a:lstStyle/>
          <a:p>
            <a:pPr algn="ctr"/>
            <a:r>
              <a:rPr lang="en-IN" sz="2400" dirty="0"/>
              <a:t>Error Functions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42</a:t>
            </a:fld>
            <a:endParaRPr lang="en"/>
          </a:p>
        </p:txBody>
      </p:sp>
      <p:pic>
        <p:nvPicPr>
          <p:cNvPr id="6" name="Picture 5">
            <a:extLst>
              <a:ext uri="{FF2B5EF4-FFF2-40B4-BE49-F238E27FC236}">
                <a16:creationId xmlns:a16="http://schemas.microsoft.com/office/drawing/2014/main" id="{957F6D50-9329-D4BB-0B93-C046B9A96765}"/>
              </a:ext>
            </a:extLst>
          </p:cNvPr>
          <p:cNvPicPr>
            <a:picLocks noChangeAspect="1"/>
          </p:cNvPicPr>
          <p:nvPr/>
        </p:nvPicPr>
        <p:blipFill>
          <a:blip r:embed="rId2"/>
          <a:stretch>
            <a:fillRect/>
          </a:stretch>
        </p:blipFill>
        <p:spPr>
          <a:xfrm>
            <a:off x="121526" y="536407"/>
            <a:ext cx="6210300" cy="2133600"/>
          </a:xfrm>
          <a:prstGeom prst="rect">
            <a:avLst/>
          </a:prstGeom>
        </p:spPr>
      </p:pic>
    </p:spTree>
    <p:extLst>
      <p:ext uri="{BB962C8B-B14F-4D97-AF65-F5344CB8AC3E}">
        <p14:creationId xmlns:p14="http://schemas.microsoft.com/office/powerpoint/2010/main" val="17496211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140107"/>
            <a:ext cx="6943469" cy="396300"/>
          </a:xfrm>
        </p:spPr>
        <p:txBody>
          <a:bodyPr/>
          <a:lstStyle/>
          <a:p>
            <a:pPr algn="ctr"/>
            <a:r>
              <a:rPr lang="en-IN" sz="2400" dirty="0"/>
              <a:t>Error Functions</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43</a:t>
            </a:fld>
            <a:endParaRPr lang="en"/>
          </a:p>
        </p:txBody>
      </p:sp>
      <p:sp>
        <p:nvSpPr>
          <p:cNvPr id="7" name="TextBox 6">
            <a:extLst>
              <a:ext uri="{FF2B5EF4-FFF2-40B4-BE49-F238E27FC236}">
                <a16:creationId xmlns:a16="http://schemas.microsoft.com/office/drawing/2014/main" id="{D35FA2AD-B8F2-72A3-A44B-5EF7A2975453}"/>
              </a:ext>
            </a:extLst>
          </p:cNvPr>
          <p:cNvSpPr txBox="1"/>
          <p:nvPr/>
        </p:nvSpPr>
        <p:spPr>
          <a:xfrm>
            <a:off x="275896" y="536407"/>
            <a:ext cx="5767552" cy="4185761"/>
          </a:xfrm>
          <a:prstGeom prst="rect">
            <a:avLst/>
          </a:prstGeom>
          <a:noFill/>
        </p:spPr>
        <p:txBody>
          <a:bodyPr wrap="square">
            <a:spAutoFit/>
          </a:bodyPr>
          <a:lstStyle/>
          <a:p>
            <a:r>
              <a:rPr lang="en-IN" dirty="0">
                <a:solidFill>
                  <a:schemeClr val="tx1"/>
                </a:solidFill>
              </a:rPr>
              <a:t>#include &lt;</a:t>
            </a:r>
            <a:r>
              <a:rPr lang="en-IN" dirty="0" err="1">
                <a:solidFill>
                  <a:schemeClr val="tx1"/>
                </a:solidFill>
              </a:rPr>
              <a:t>stdio.h</a:t>
            </a:r>
            <a:r>
              <a:rPr lang="en-IN" dirty="0">
                <a:solidFill>
                  <a:schemeClr val="tx1"/>
                </a:solidFill>
              </a:rPr>
              <a:t>&gt;</a:t>
            </a:r>
          </a:p>
          <a:p>
            <a:r>
              <a:rPr lang="en-IN" dirty="0">
                <a:solidFill>
                  <a:schemeClr val="tx1"/>
                </a:solidFill>
              </a:rPr>
              <a:t>#include &lt;</a:t>
            </a:r>
            <a:r>
              <a:rPr lang="en-IN" dirty="0" err="1">
                <a:solidFill>
                  <a:schemeClr val="tx1"/>
                </a:solidFill>
              </a:rPr>
              <a:t>errno.h</a:t>
            </a:r>
            <a:r>
              <a:rPr lang="en-IN" dirty="0">
                <a:solidFill>
                  <a:schemeClr val="tx1"/>
                </a:solidFill>
              </a:rPr>
              <a:t>&gt;</a:t>
            </a:r>
          </a:p>
          <a:p>
            <a:r>
              <a:rPr lang="en-IN" dirty="0">
                <a:solidFill>
                  <a:schemeClr val="tx1"/>
                </a:solidFill>
              </a:rPr>
              <a:t>#include &lt;</a:t>
            </a:r>
            <a:r>
              <a:rPr lang="en-IN" dirty="0" err="1">
                <a:solidFill>
                  <a:schemeClr val="tx1"/>
                </a:solidFill>
              </a:rPr>
              <a:t>string.h</a:t>
            </a:r>
            <a:r>
              <a:rPr lang="en-IN" dirty="0">
                <a:solidFill>
                  <a:schemeClr val="tx1"/>
                </a:solidFill>
              </a:rPr>
              <a:t>&gt;</a:t>
            </a:r>
          </a:p>
          <a:p>
            <a:r>
              <a:rPr lang="en-IN" dirty="0">
                <a:solidFill>
                  <a:schemeClr val="tx1"/>
                </a:solidFill>
              </a:rPr>
              <a:t>extern int </a:t>
            </a:r>
            <a:r>
              <a:rPr lang="en-IN" dirty="0" err="1">
                <a:solidFill>
                  <a:schemeClr val="tx1"/>
                </a:solidFill>
              </a:rPr>
              <a:t>errno</a:t>
            </a:r>
            <a:r>
              <a:rPr lang="en-IN" dirty="0">
                <a:solidFill>
                  <a:schemeClr val="tx1"/>
                </a:solidFill>
              </a:rPr>
              <a:t> ;</a:t>
            </a:r>
          </a:p>
          <a:p>
            <a:r>
              <a:rPr lang="en-IN" dirty="0">
                <a:solidFill>
                  <a:schemeClr val="tx1"/>
                </a:solidFill>
              </a:rPr>
              <a:t>Void main () </a:t>
            </a:r>
          </a:p>
          <a:p>
            <a:r>
              <a:rPr lang="en-IN" dirty="0">
                <a:solidFill>
                  <a:schemeClr val="tx1"/>
                </a:solidFill>
              </a:rPr>
              <a:t>{</a:t>
            </a:r>
          </a:p>
          <a:p>
            <a:r>
              <a:rPr lang="en-IN" dirty="0">
                <a:solidFill>
                  <a:schemeClr val="tx1"/>
                </a:solidFill>
              </a:rPr>
              <a:t>   FILE * pf;</a:t>
            </a:r>
          </a:p>
          <a:p>
            <a:r>
              <a:rPr lang="en-IN" dirty="0">
                <a:solidFill>
                  <a:schemeClr val="tx1"/>
                </a:solidFill>
              </a:rPr>
              <a:t>   int </a:t>
            </a:r>
            <a:r>
              <a:rPr lang="en-IN" dirty="0" err="1">
                <a:solidFill>
                  <a:schemeClr val="tx1"/>
                </a:solidFill>
              </a:rPr>
              <a:t>errnum</a:t>
            </a:r>
            <a:r>
              <a:rPr lang="en-IN" dirty="0">
                <a:solidFill>
                  <a:schemeClr val="tx1"/>
                </a:solidFill>
              </a:rPr>
              <a:t>;</a:t>
            </a:r>
          </a:p>
          <a:p>
            <a:r>
              <a:rPr lang="en-IN" dirty="0">
                <a:solidFill>
                  <a:schemeClr val="tx1"/>
                </a:solidFill>
              </a:rPr>
              <a:t>   pf = </a:t>
            </a:r>
            <a:r>
              <a:rPr lang="en-IN" dirty="0" err="1">
                <a:solidFill>
                  <a:schemeClr val="tx1"/>
                </a:solidFill>
              </a:rPr>
              <a:t>fopen</a:t>
            </a:r>
            <a:r>
              <a:rPr lang="en-IN" dirty="0">
                <a:solidFill>
                  <a:schemeClr val="tx1"/>
                </a:solidFill>
              </a:rPr>
              <a:t> ("unexist.txt", "</a:t>
            </a:r>
            <a:r>
              <a:rPr lang="en-IN" dirty="0" err="1">
                <a:solidFill>
                  <a:schemeClr val="tx1"/>
                </a:solidFill>
              </a:rPr>
              <a:t>rb</a:t>
            </a:r>
            <a:r>
              <a:rPr lang="en-IN" dirty="0">
                <a:solidFill>
                  <a:schemeClr val="tx1"/>
                </a:solidFill>
              </a:rPr>
              <a:t>");</a:t>
            </a:r>
          </a:p>
          <a:p>
            <a:r>
              <a:rPr lang="en-IN" dirty="0">
                <a:solidFill>
                  <a:schemeClr val="tx1"/>
                </a:solidFill>
              </a:rPr>
              <a:t>   if (pf == NULL) {</a:t>
            </a:r>
          </a:p>
          <a:p>
            <a:r>
              <a:rPr lang="en-IN" dirty="0">
                <a:solidFill>
                  <a:schemeClr val="tx1"/>
                </a:solidFill>
              </a:rPr>
              <a:t>         </a:t>
            </a:r>
            <a:r>
              <a:rPr lang="en-IN" dirty="0" err="1">
                <a:solidFill>
                  <a:schemeClr val="tx1"/>
                </a:solidFill>
              </a:rPr>
              <a:t>errnum</a:t>
            </a:r>
            <a:r>
              <a:rPr lang="en-IN" dirty="0">
                <a:solidFill>
                  <a:schemeClr val="tx1"/>
                </a:solidFill>
              </a:rPr>
              <a:t> = </a:t>
            </a:r>
            <a:r>
              <a:rPr lang="en-IN" dirty="0" err="1">
                <a:solidFill>
                  <a:schemeClr val="tx1"/>
                </a:solidFill>
              </a:rPr>
              <a:t>errno</a:t>
            </a:r>
            <a:r>
              <a:rPr lang="en-IN" dirty="0">
                <a:solidFill>
                  <a:schemeClr val="tx1"/>
                </a:solidFill>
              </a:rPr>
              <a:t>;</a:t>
            </a:r>
          </a:p>
          <a:p>
            <a:r>
              <a:rPr lang="en-IN" dirty="0">
                <a:solidFill>
                  <a:schemeClr val="tx1"/>
                </a:solidFill>
              </a:rPr>
              <a:t>      </a:t>
            </a:r>
            <a:r>
              <a:rPr lang="en-IN" dirty="0" err="1">
                <a:solidFill>
                  <a:schemeClr val="tx1"/>
                </a:solidFill>
              </a:rPr>
              <a:t>fprintf</a:t>
            </a:r>
            <a:r>
              <a:rPr lang="en-IN" dirty="0">
                <a:solidFill>
                  <a:schemeClr val="tx1"/>
                </a:solidFill>
              </a:rPr>
              <a:t>(stderr, "Value of </a:t>
            </a:r>
            <a:r>
              <a:rPr lang="en-IN" dirty="0" err="1">
                <a:solidFill>
                  <a:schemeClr val="tx1"/>
                </a:solidFill>
              </a:rPr>
              <a:t>errno</a:t>
            </a:r>
            <a:r>
              <a:rPr lang="en-IN" dirty="0">
                <a:solidFill>
                  <a:schemeClr val="tx1"/>
                </a:solidFill>
              </a:rPr>
              <a:t>: %d\n", </a:t>
            </a:r>
            <a:r>
              <a:rPr lang="en-IN" dirty="0" err="1">
                <a:solidFill>
                  <a:schemeClr val="tx1"/>
                </a:solidFill>
              </a:rPr>
              <a:t>errno</a:t>
            </a:r>
            <a:r>
              <a:rPr lang="en-IN" dirty="0">
                <a:solidFill>
                  <a:schemeClr val="tx1"/>
                </a:solidFill>
              </a:rPr>
              <a:t>);</a:t>
            </a:r>
          </a:p>
          <a:p>
            <a:r>
              <a:rPr lang="en-IN" dirty="0">
                <a:solidFill>
                  <a:schemeClr val="tx1"/>
                </a:solidFill>
              </a:rPr>
              <a:t>      </a:t>
            </a:r>
            <a:r>
              <a:rPr lang="en-IN" dirty="0" err="1">
                <a:solidFill>
                  <a:schemeClr val="tx1"/>
                </a:solidFill>
              </a:rPr>
              <a:t>perror</a:t>
            </a:r>
            <a:r>
              <a:rPr lang="en-IN" dirty="0">
                <a:solidFill>
                  <a:schemeClr val="tx1"/>
                </a:solidFill>
              </a:rPr>
              <a:t>("Error printed by </a:t>
            </a:r>
            <a:r>
              <a:rPr lang="en-IN" dirty="0" err="1">
                <a:solidFill>
                  <a:schemeClr val="tx1"/>
                </a:solidFill>
              </a:rPr>
              <a:t>perror</a:t>
            </a:r>
            <a:r>
              <a:rPr lang="en-IN" dirty="0">
                <a:solidFill>
                  <a:schemeClr val="tx1"/>
                </a:solidFill>
              </a:rPr>
              <a:t>");</a:t>
            </a:r>
          </a:p>
          <a:p>
            <a:r>
              <a:rPr lang="en-IN" dirty="0">
                <a:solidFill>
                  <a:schemeClr val="tx1"/>
                </a:solidFill>
              </a:rPr>
              <a:t>      </a:t>
            </a:r>
            <a:r>
              <a:rPr lang="en-IN" dirty="0" err="1">
                <a:solidFill>
                  <a:schemeClr val="tx1"/>
                </a:solidFill>
              </a:rPr>
              <a:t>fprintf</a:t>
            </a:r>
            <a:r>
              <a:rPr lang="en-IN" dirty="0">
                <a:solidFill>
                  <a:schemeClr val="tx1"/>
                </a:solidFill>
              </a:rPr>
              <a:t>(stderr, "Error opening file: %s\n", </a:t>
            </a:r>
            <a:r>
              <a:rPr lang="en-IN" dirty="0" err="1">
                <a:solidFill>
                  <a:schemeClr val="tx1"/>
                </a:solidFill>
              </a:rPr>
              <a:t>strerror</a:t>
            </a:r>
            <a:r>
              <a:rPr lang="en-IN" dirty="0">
                <a:solidFill>
                  <a:schemeClr val="tx1"/>
                </a:solidFill>
              </a:rPr>
              <a:t>( </a:t>
            </a:r>
            <a:r>
              <a:rPr lang="en-IN" dirty="0" err="1">
                <a:solidFill>
                  <a:schemeClr val="tx1"/>
                </a:solidFill>
              </a:rPr>
              <a:t>errnum</a:t>
            </a:r>
            <a:r>
              <a:rPr lang="en-IN" dirty="0">
                <a:solidFill>
                  <a:schemeClr val="tx1"/>
                </a:solidFill>
              </a:rPr>
              <a:t> ));</a:t>
            </a:r>
          </a:p>
          <a:p>
            <a:r>
              <a:rPr lang="en-IN" dirty="0">
                <a:solidFill>
                  <a:schemeClr val="tx1"/>
                </a:solidFill>
              </a:rPr>
              <a:t>   } else {</a:t>
            </a:r>
          </a:p>
          <a:p>
            <a:r>
              <a:rPr lang="en-IN" dirty="0">
                <a:solidFill>
                  <a:schemeClr val="tx1"/>
                </a:solidFill>
              </a:rPr>
              <a:t>         </a:t>
            </a:r>
            <a:r>
              <a:rPr lang="en-IN" dirty="0" err="1">
                <a:solidFill>
                  <a:schemeClr val="tx1"/>
                </a:solidFill>
              </a:rPr>
              <a:t>fclose</a:t>
            </a:r>
            <a:r>
              <a:rPr lang="en-IN" dirty="0">
                <a:solidFill>
                  <a:schemeClr val="tx1"/>
                </a:solidFill>
              </a:rPr>
              <a:t> (pf);</a:t>
            </a:r>
          </a:p>
          <a:p>
            <a:r>
              <a:rPr lang="en-IN" dirty="0">
                <a:solidFill>
                  <a:schemeClr val="tx1"/>
                </a:solidFill>
              </a:rPr>
              <a:t>   }</a:t>
            </a:r>
          </a:p>
          <a:p>
            <a:r>
              <a:rPr lang="en-IN" dirty="0">
                <a:solidFill>
                  <a:schemeClr val="tx1"/>
                </a:solidFill>
              </a:rPr>
              <a:t>}</a:t>
            </a:r>
          </a:p>
          <a:p>
            <a:endParaRPr lang="en-IN" dirty="0">
              <a:solidFill>
                <a:schemeClr val="tx1"/>
              </a:solidFill>
            </a:endParaRPr>
          </a:p>
        </p:txBody>
      </p:sp>
      <p:sp>
        <p:nvSpPr>
          <p:cNvPr id="10" name="TextBox 9">
            <a:extLst>
              <a:ext uri="{FF2B5EF4-FFF2-40B4-BE49-F238E27FC236}">
                <a16:creationId xmlns:a16="http://schemas.microsoft.com/office/drawing/2014/main" id="{40F1FCE3-01F9-7991-8239-765C6CBC65A3}"/>
              </a:ext>
            </a:extLst>
          </p:cNvPr>
          <p:cNvSpPr txBox="1"/>
          <p:nvPr/>
        </p:nvSpPr>
        <p:spPr>
          <a:xfrm>
            <a:off x="4280340" y="1170433"/>
            <a:ext cx="4587764" cy="954107"/>
          </a:xfrm>
          <a:prstGeom prst="rect">
            <a:avLst/>
          </a:prstGeom>
          <a:noFill/>
        </p:spPr>
        <p:txBody>
          <a:bodyPr wrap="square">
            <a:spAutoFit/>
          </a:bodyPr>
          <a:lstStyle/>
          <a:p>
            <a:r>
              <a:rPr lang="en-IN" b="1" dirty="0">
                <a:solidFill>
                  <a:srgbClr val="FFFF00"/>
                </a:solidFill>
              </a:rPr>
              <a:t>Output</a:t>
            </a:r>
          </a:p>
          <a:p>
            <a:r>
              <a:rPr lang="en-IN" dirty="0">
                <a:solidFill>
                  <a:srgbClr val="FFFF00"/>
                </a:solidFill>
              </a:rPr>
              <a:t>Value of </a:t>
            </a:r>
            <a:r>
              <a:rPr lang="en-IN" dirty="0" err="1">
                <a:solidFill>
                  <a:srgbClr val="FFFF00"/>
                </a:solidFill>
              </a:rPr>
              <a:t>errno</a:t>
            </a:r>
            <a:r>
              <a:rPr lang="en-IN" dirty="0">
                <a:solidFill>
                  <a:srgbClr val="FFFF00"/>
                </a:solidFill>
              </a:rPr>
              <a:t>: 2</a:t>
            </a:r>
          </a:p>
          <a:p>
            <a:r>
              <a:rPr lang="en-IN" dirty="0">
                <a:solidFill>
                  <a:srgbClr val="FFFF00"/>
                </a:solidFill>
              </a:rPr>
              <a:t>Error printed by </a:t>
            </a:r>
            <a:r>
              <a:rPr lang="en-IN" dirty="0" err="1">
                <a:solidFill>
                  <a:srgbClr val="FFFF00"/>
                </a:solidFill>
              </a:rPr>
              <a:t>perror</a:t>
            </a:r>
            <a:r>
              <a:rPr lang="en-IN" dirty="0">
                <a:solidFill>
                  <a:srgbClr val="FFFF00"/>
                </a:solidFill>
              </a:rPr>
              <a:t>: No such file or directory</a:t>
            </a:r>
          </a:p>
          <a:p>
            <a:r>
              <a:rPr lang="en-IN" dirty="0">
                <a:solidFill>
                  <a:srgbClr val="FFFF00"/>
                </a:solidFill>
              </a:rPr>
              <a:t>Error opening file: No such file or directory</a:t>
            </a:r>
          </a:p>
        </p:txBody>
      </p:sp>
    </p:spTree>
    <p:extLst>
      <p:ext uri="{BB962C8B-B14F-4D97-AF65-F5344CB8AC3E}">
        <p14:creationId xmlns:p14="http://schemas.microsoft.com/office/powerpoint/2010/main" val="17934439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5665-1099-FE6A-C57F-187049D89A7B}"/>
              </a:ext>
            </a:extLst>
          </p:cNvPr>
          <p:cNvSpPr>
            <a:spLocks noGrp="1"/>
          </p:cNvSpPr>
          <p:nvPr>
            <p:ph type="title"/>
          </p:nvPr>
        </p:nvSpPr>
        <p:spPr>
          <a:xfrm>
            <a:off x="1100265" y="140107"/>
            <a:ext cx="6943469" cy="396300"/>
          </a:xfrm>
        </p:spPr>
        <p:txBody>
          <a:bodyPr/>
          <a:lstStyle/>
          <a:p>
            <a:pPr algn="ctr"/>
            <a:r>
              <a:rPr lang="en-IN" sz="2400" dirty="0"/>
              <a:t>Divide by Zero</a:t>
            </a:r>
          </a:p>
        </p:txBody>
      </p:sp>
      <p:sp>
        <p:nvSpPr>
          <p:cNvPr id="3" name="Slide Number Placeholder 2">
            <a:extLst>
              <a:ext uri="{FF2B5EF4-FFF2-40B4-BE49-F238E27FC236}">
                <a16:creationId xmlns:a16="http://schemas.microsoft.com/office/drawing/2014/main" id="{24E3FBFB-2D72-AB60-F3EB-D2946542BB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44</a:t>
            </a:fld>
            <a:endParaRPr lang="en"/>
          </a:p>
        </p:txBody>
      </p:sp>
      <p:sp>
        <p:nvSpPr>
          <p:cNvPr id="7" name="TextBox 6">
            <a:extLst>
              <a:ext uri="{FF2B5EF4-FFF2-40B4-BE49-F238E27FC236}">
                <a16:creationId xmlns:a16="http://schemas.microsoft.com/office/drawing/2014/main" id="{D35FA2AD-B8F2-72A3-A44B-5EF7A2975453}"/>
              </a:ext>
            </a:extLst>
          </p:cNvPr>
          <p:cNvSpPr txBox="1"/>
          <p:nvPr/>
        </p:nvSpPr>
        <p:spPr>
          <a:xfrm>
            <a:off x="275896" y="536407"/>
            <a:ext cx="8128488" cy="523220"/>
          </a:xfrm>
          <a:prstGeom prst="rect">
            <a:avLst/>
          </a:prstGeom>
          <a:noFill/>
        </p:spPr>
        <p:txBody>
          <a:bodyPr wrap="square">
            <a:spAutoFit/>
          </a:bodyPr>
          <a:lstStyle/>
          <a:p>
            <a:pPr algn="just"/>
            <a:r>
              <a:rPr lang="en-US" dirty="0">
                <a:solidFill>
                  <a:schemeClr val="tx1"/>
                </a:solidFill>
              </a:rPr>
              <a:t>It is a common problem that at the time of dividing any number, programmers do not check if a divisor is zero and finally it creates a runtime error.</a:t>
            </a:r>
            <a:endParaRPr lang="en-IN" dirty="0">
              <a:solidFill>
                <a:schemeClr val="tx1"/>
              </a:solidFill>
            </a:endParaRPr>
          </a:p>
        </p:txBody>
      </p:sp>
      <p:sp>
        <p:nvSpPr>
          <p:cNvPr id="5" name="TextBox 4">
            <a:extLst>
              <a:ext uri="{FF2B5EF4-FFF2-40B4-BE49-F238E27FC236}">
                <a16:creationId xmlns:a16="http://schemas.microsoft.com/office/drawing/2014/main" id="{AAA125A8-6AF8-1884-C0F7-6133807B705B}"/>
              </a:ext>
            </a:extLst>
          </p:cNvPr>
          <p:cNvSpPr txBox="1"/>
          <p:nvPr/>
        </p:nvSpPr>
        <p:spPr>
          <a:xfrm>
            <a:off x="740066" y="1115577"/>
            <a:ext cx="5432134" cy="3539430"/>
          </a:xfrm>
          <a:prstGeom prst="rect">
            <a:avLst/>
          </a:prstGeom>
          <a:noFill/>
        </p:spPr>
        <p:txBody>
          <a:bodyPr wrap="square">
            <a:spAutoFit/>
          </a:bodyPr>
          <a:lstStyle/>
          <a:p>
            <a:r>
              <a:rPr lang="en-IN" dirty="0">
                <a:solidFill>
                  <a:schemeClr val="tx1"/>
                </a:solidFill>
              </a:rPr>
              <a:t>#include&lt;stdio.h&gt;</a:t>
            </a:r>
          </a:p>
          <a:p>
            <a:r>
              <a:rPr lang="en-IN" dirty="0">
                <a:solidFill>
                  <a:schemeClr val="tx1"/>
                </a:solidFill>
              </a:rPr>
              <a:t>void main() </a:t>
            </a:r>
          </a:p>
          <a:p>
            <a:r>
              <a:rPr lang="en-IN" dirty="0">
                <a:solidFill>
                  <a:schemeClr val="tx1"/>
                </a:solidFill>
              </a:rPr>
              <a:t>{</a:t>
            </a:r>
          </a:p>
          <a:p>
            <a:r>
              <a:rPr lang="en-IN" dirty="0">
                <a:solidFill>
                  <a:schemeClr val="tx1"/>
                </a:solidFill>
              </a:rPr>
              <a:t> int </a:t>
            </a:r>
            <a:r>
              <a:rPr lang="en-IN" dirty="0" err="1">
                <a:solidFill>
                  <a:schemeClr val="tx1"/>
                </a:solidFill>
              </a:rPr>
              <a:t>a,b</a:t>
            </a:r>
            <a:r>
              <a:rPr lang="en-IN" dirty="0">
                <a:solidFill>
                  <a:schemeClr val="tx1"/>
                </a:solidFill>
              </a:rPr>
              <a:t>;</a:t>
            </a:r>
          </a:p>
          <a:p>
            <a:r>
              <a:rPr lang="en-IN" dirty="0">
                <a:solidFill>
                  <a:schemeClr val="tx1"/>
                </a:solidFill>
              </a:rPr>
              <a:t> float z;</a:t>
            </a:r>
          </a:p>
          <a:p>
            <a:r>
              <a:rPr lang="en-IN" dirty="0">
                <a:solidFill>
                  <a:schemeClr val="tx1"/>
                </a:solidFill>
              </a:rPr>
              <a:t> </a:t>
            </a:r>
            <a:r>
              <a:rPr lang="en-IN" dirty="0" err="1">
                <a:solidFill>
                  <a:schemeClr val="tx1"/>
                </a:solidFill>
              </a:rPr>
              <a:t>printf</a:t>
            </a:r>
            <a:r>
              <a:rPr lang="en-IN" dirty="0">
                <a:solidFill>
                  <a:schemeClr val="tx1"/>
                </a:solidFill>
              </a:rPr>
              <a:t>("Enter the Value of a :\n");</a:t>
            </a:r>
          </a:p>
          <a:p>
            <a:r>
              <a:rPr lang="en-IN" dirty="0">
                <a:solidFill>
                  <a:schemeClr val="tx1"/>
                </a:solidFill>
              </a:rPr>
              <a:t> </a:t>
            </a:r>
            <a:r>
              <a:rPr lang="en-IN" dirty="0" err="1">
                <a:solidFill>
                  <a:schemeClr val="tx1"/>
                </a:solidFill>
              </a:rPr>
              <a:t>scanf</a:t>
            </a:r>
            <a:r>
              <a:rPr lang="en-IN" dirty="0">
                <a:solidFill>
                  <a:schemeClr val="tx1"/>
                </a:solidFill>
              </a:rPr>
              <a:t>("%</a:t>
            </a:r>
            <a:r>
              <a:rPr lang="en-IN" dirty="0" err="1">
                <a:solidFill>
                  <a:schemeClr val="tx1"/>
                </a:solidFill>
              </a:rPr>
              <a:t>d",&amp;a</a:t>
            </a:r>
            <a:r>
              <a:rPr lang="en-IN" dirty="0">
                <a:solidFill>
                  <a:schemeClr val="tx1"/>
                </a:solidFill>
              </a:rPr>
              <a:t>);</a:t>
            </a:r>
          </a:p>
          <a:p>
            <a:r>
              <a:rPr lang="en-IN" dirty="0">
                <a:solidFill>
                  <a:schemeClr val="tx1"/>
                </a:solidFill>
              </a:rPr>
              <a:t> </a:t>
            </a:r>
            <a:r>
              <a:rPr lang="en-IN" dirty="0" err="1">
                <a:solidFill>
                  <a:schemeClr val="tx1"/>
                </a:solidFill>
              </a:rPr>
              <a:t>printf</a:t>
            </a:r>
            <a:r>
              <a:rPr lang="en-IN" dirty="0">
                <a:solidFill>
                  <a:schemeClr val="tx1"/>
                </a:solidFill>
              </a:rPr>
              <a:t>("Enter the Value of b :\n");</a:t>
            </a:r>
          </a:p>
          <a:p>
            <a:r>
              <a:rPr lang="en-IN" dirty="0">
                <a:solidFill>
                  <a:schemeClr val="tx1"/>
                </a:solidFill>
              </a:rPr>
              <a:t> </a:t>
            </a:r>
            <a:r>
              <a:rPr lang="en-IN" dirty="0" err="1">
                <a:solidFill>
                  <a:schemeClr val="tx1"/>
                </a:solidFill>
              </a:rPr>
              <a:t>scanf</a:t>
            </a:r>
            <a:r>
              <a:rPr lang="en-IN" dirty="0">
                <a:solidFill>
                  <a:schemeClr val="tx1"/>
                </a:solidFill>
              </a:rPr>
              <a:t>("%</a:t>
            </a:r>
            <a:r>
              <a:rPr lang="en-IN" dirty="0" err="1">
                <a:solidFill>
                  <a:schemeClr val="tx1"/>
                </a:solidFill>
              </a:rPr>
              <a:t>d",&amp;b</a:t>
            </a:r>
            <a:r>
              <a:rPr lang="en-IN" dirty="0">
                <a:solidFill>
                  <a:schemeClr val="tx1"/>
                </a:solidFill>
              </a:rPr>
              <a:t>);</a:t>
            </a:r>
          </a:p>
          <a:p>
            <a:r>
              <a:rPr lang="en-IN" dirty="0">
                <a:solidFill>
                  <a:schemeClr val="tx1"/>
                </a:solidFill>
              </a:rPr>
              <a:t> if (b == 0)</a:t>
            </a:r>
          </a:p>
          <a:p>
            <a:r>
              <a:rPr lang="en-IN" dirty="0">
                <a:solidFill>
                  <a:schemeClr val="tx1"/>
                </a:solidFill>
              </a:rPr>
              <a:t>         </a:t>
            </a:r>
            <a:r>
              <a:rPr lang="en-IN" dirty="0" err="1">
                <a:solidFill>
                  <a:schemeClr val="tx1"/>
                </a:solidFill>
              </a:rPr>
              <a:t>printf</a:t>
            </a:r>
            <a:r>
              <a:rPr lang="en-IN" dirty="0">
                <a:solidFill>
                  <a:schemeClr val="tx1"/>
                </a:solidFill>
              </a:rPr>
              <a:t>("Division by zero\n");</a:t>
            </a:r>
          </a:p>
          <a:p>
            <a:r>
              <a:rPr lang="en-IN" dirty="0">
                <a:solidFill>
                  <a:schemeClr val="tx1"/>
                </a:solidFill>
              </a:rPr>
              <a:t> else  </a:t>
            </a:r>
          </a:p>
          <a:p>
            <a:r>
              <a:rPr lang="en-IN" dirty="0">
                <a:solidFill>
                  <a:schemeClr val="tx1"/>
                </a:solidFill>
              </a:rPr>
              <a:t>         z = a / b;</a:t>
            </a:r>
          </a:p>
          <a:p>
            <a:r>
              <a:rPr lang="en-IN" dirty="0">
                <a:solidFill>
                  <a:schemeClr val="tx1"/>
                </a:solidFill>
              </a:rPr>
              <a:t>         </a:t>
            </a:r>
            <a:r>
              <a:rPr lang="en-IN" dirty="0" err="1">
                <a:solidFill>
                  <a:schemeClr val="tx1"/>
                </a:solidFill>
              </a:rPr>
              <a:t>printf</a:t>
            </a:r>
            <a:r>
              <a:rPr lang="en-IN" dirty="0">
                <a:solidFill>
                  <a:schemeClr val="tx1"/>
                </a:solidFill>
              </a:rPr>
              <a:t> ("%f", z);</a:t>
            </a:r>
          </a:p>
          <a:p>
            <a:r>
              <a:rPr lang="en-IN" dirty="0">
                <a:solidFill>
                  <a:schemeClr val="tx1"/>
                </a:solidFill>
              </a:rPr>
              <a:t>  </a:t>
            </a:r>
            <a:r>
              <a:rPr lang="en-IN" dirty="0" err="1">
                <a:solidFill>
                  <a:schemeClr val="tx1"/>
                </a:solidFill>
              </a:rPr>
              <a:t>getch</a:t>
            </a:r>
            <a:r>
              <a:rPr lang="en-IN" dirty="0">
                <a:solidFill>
                  <a:schemeClr val="tx1"/>
                </a:solidFill>
              </a:rPr>
              <a:t>();</a:t>
            </a:r>
          </a:p>
          <a:p>
            <a:r>
              <a:rPr lang="en-IN" dirty="0">
                <a:solidFill>
                  <a:schemeClr val="tx1"/>
                </a:solidFill>
              </a:rPr>
              <a:t>}</a:t>
            </a:r>
          </a:p>
        </p:txBody>
      </p:sp>
      <p:pic>
        <p:nvPicPr>
          <p:cNvPr id="1026" name="Picture 2" descr="C Program division without causing a division by zero error">
            <a:extLst>
              <a:ext uri="{FF2B5EF4-FFF2-40B4-BE49-F238E27FC236}">
                <a16:creationId xmlns:a16="http://schemas.microsoft.com/office/drawing/2014/main" id="{0F0BD1EA-E992-93A2-493C-790A61F1F7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8845" y="966286"/>
            <a:ext cx="3115089" cy="1534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43428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6"/>
          <p:cNvSpPr txBox="1">
            <a:spLocks noGrp="1"/>
          </p:cNvSpPr>
          <p:nvPr>
            <p:ph type="body" idx="1"/>
          </p:nvPr>
        </p:nvSpPr>
        <p:spPr>
          <a:xfrm>
            <a:off x="257584" y="716637"/>
            <a:ext cx="8886416" cy="2993400"/>
          </a:xfrm>
          <a:prstGeom prst="rect">
            <a:avLst/>
          </a:prstGeom>
        </p:spPr>
        <p:txBody>
          <a:bodyPr spcFirstLastPara="1" wrap="square" lIns="0" tIns="0" rIns="0" bIns="0" anchor="t" anchorCtr="0">
            <a:noAutofit/>
          </a:bodyPr>
          <a:lstStyle/>
          <a:p>
            <a:pPr marL="285750" indent="-285750" algn="just"/>
            <a:r>
              <a:rPr lang="en-IN" sz="1800" dirty="0">
                <a:hlinkClick r:id="rId3"/>
              </a:rPr>
              <a:t>https://www.javatpoint.com/file-handling-in-c</a:t>
            </a:r>
            <a:endParaRPr lang="en-IN" sz="1800" dirty="0"/>
          </a:p>
          <a:p>
            <a:pPr marL="285750" indent="-285750" algn="just"/>
            <a:r>
              <a:rPr lang="en-IN" sz="1800" dirty="0">
                <a:hlinkClick r:id="rId4"/>
              </a:rPr>
              <a:t>https://www.tutorialspoint.com/cprogramming/c_preprocessors.htm</a:t>
            </a:r>
            <a:r>
              <a:rPr lang="en-IN" sz="1800" dirty="0"/>
              <a:t> </a:t>
            </a:r>
          </a:p>
          <a:p>
            <a:pPr marL="285750" indent="-285750" algn="just"/>
            <a:r>
              <a:rPr lang="en-IN" sz="1800" dirty="0">
                <a:hlinkClick r:id="rId5"/>
              </a:rPr>
              <a:t>https://www.javatpoint.com/c-preprocessor-include</a:t>
            </a:r>
            <a:r>
              <a:rPr lang="en-IN" sz="1800" dirty="0"/>
              <a:t> </a:t>
            </a:r>
          </a:p>
          <a:p>
            <a:pPr marL="285750" indent="-285750" algn="just"/>
            <a:r>
              <a:rPr lang="en-IN" sz="1800" dirty="0">
                <a:hlinkClick r:id="rId6"/>
              </a:rPr>
              <a:t>https://www.javatpoint.com/c-preprocessor-undef</a:t>
            </a:r>
            <a:r>
              <a:rPr lang="en-IN" sz="1800" dirty="0"/>
              <a:t> </a:t>
            </a:r>
          </a:p>
          <a:p>
            <a:pPr marL="285750" indent="-285750" algn="just"/>
            <a:r>
              <a:rPr lang="en-IN" sz="1800" dirty="0">
                <a:hlinkClick r:id="rId7"/>
              </a:rPr>
              <a:t>https://www.geeksforgeeks.org/getdate-and-setdate-function-in-c-with-examples/</a:t>
            </a:r>
            <a:r>
              <a:rPr lang="en-IN" sz="1800" dirty="0"/>
              <a:t>  </a:t>
            </a:r>
          </a:p>
          <a:p>
            <a:pPr marL="285750" indent="-285750" algn="just"/>
            <a:r>
              <a:rPr lang="en-IN" sz="1800" dirty="0">
                <a:hlinkClick r:id="rId8"/>
              </a:rPr>
              <a:t>https://www.javatpoint.com/c-string-functions</a:t>
            </a:r>
            <a:r>
              <a:rPr lang="en-IN" sz="1800" dirty="0"/>
              <a:t> </a:t>
            </a:r>
          </a:p>
          <a:p>
            <a:pPr marL="285750" indent="-285750" algn="just"/>
            <a:r>
              <a:rPr lang="en-IN" sz="1800" dirty="0">
                <a:hlinkClick r:id="rId9"/>
              </a:rPr>
              <a:t>https://www.javatpoint.com/c-math</a:t>
            </a:r>
            <a:r>
              <a:rPr lang="en-IN" sz="1800" dirty="0"/>
              <a:t> </a:t>
            </a:r>
          </a:p>
          <a:p>
            <a:pPr marL="285750" indent="-285750" algn="just"/>
            <a:endParaRPr sz="1800" dirty="0"/>
          </a:p>
        </p:txBody>
      </p:sp>
      <p:sp>
        <p:nvSpPr>
          <p:cNvPr id="316" name="Google Shape;316;p36"/>
          <p:cNvSpPr txBox="1">
            <a:spLocks noGrp="1"/>
          </p:cNvSpPr>
          <p:nvPr>
            <p:ph type="title"/>
          </p:nvPr>
        </p:nvSpPr>
        <p:spPr>
          <a:xfrm>
            <a:off x="4010116" y="155950"/>
            <a:ext cx="5462700" cy="396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Credits</a:t>
            </a:r>
            <a:endParaRPr dirty="0"/>
          </a:p>
        </p:txBody>
      </p:sp>
      <p:sp>
        <p:nvSpPr>
          <p:cNvPr id="317" name="Google Shape;317;p36"/>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40"/>
          <p:cNvSpPr txBox="1">
            <a:spLocks noGrp="1"/>
          </p:cNvSpPr>
          <p:nvPr>
            <p:ph type="title"/>
          </p:nvPr>
        </p:nvSpPr>
        <p:spPr>
          <a:xfrm>
            <a:off x="1984939" y="483419"/>
            <a:ext cx="5462700" cy="396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Roadmap for Unit V</a:t>
            </a:r>
            <a:endParaRPr dirty="0"/>
          </a:p>
        </p:txBody>
      </p:sp>
      <p:sp>
        <p:nvSpPr>
          <p:cNvPr id="380" name="Google Shape;380;p40"/>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solidFill>
                  <a:schemeClr val="accent5"/>
                </a:solidFill>
              </a:rPr>
              <a:t>46</a:t>
            </a:fld>
            <a:endParaRPr>
              <a:solidFill>
                <a:schemeClr val="accent5"/>
              </a:solidFill>
            </a:endParaRPr>
          </a:p>
        </p:txBody>
      </p:sp>
      <p:sp>
        <p:nvSpPr>
          <p:cNvPr id="381" name="Google Shape;381;p40"/>
          <p:cNvSpPr/>
          <p:nvPr/>
        </p:nvSpPr>
        <p:spPr>
          <a:xfrm>
            <a:off x="0" y="2523428"/>
            <a:ext cx="9144000" cy="1011043"/>
          </a:xfrm>
          <a:custGeom>
            <a:avLst/>
            <a:gdLst/>
            <a:ahLst/>
            <a:cxnLst/>
            <a:rect l="l" t="t" r="r" b="b"/>
            <a:pathLst>
              <a:path w="12192000" h="1348058" extrusionOk="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228600"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2" name="Google Shape;382;p40"/>
          <p:cNvSpPr/>
          <p:nvPr/>
        </p:nvSpPr>
        <p:spPr>
          <a:xfrm>
            <a:off x="0" y="2523428"/>
            <a:ext cx="9144000" cy="1011043"/>
          </a:xfrm>
          <a:custGeom>
            <a:avLst/>
            <a:gdLst/>
            <a:ahLst/>
            <a:cxnLst/>
            <a:rect l="l" t="t" r="r" b="b"/>
            <a:pathLst>
              <a:path w="12192000" h="1348058" extrusionOk="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19050" cap="flat" cmpd="sng">
            <a:solidFill>
              <a:schemeClr val="dk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grpSp>
        <p:nvGrpSpPr>
          <p:cNvPr id="383" name="Google Shape;383;p40"/>
          <p:cNvGrpSpPr/>
          <p:nvPr/>
        </p:nvGrpSpPr>
        <p:grpSpPr>
          <a:xfrm>
            <a:off x="1786339" y="1855801"/>
            <a:ext cx="473400" cy="473400"/>
            <a:chOff x="1786339" y="1703401"/>
            <a:chExt cx="473400" cy="473400"/>
          </a:xfrm>
        </p:grpSpPr>
        <p:sp>
          <p:nvSpPr>
            <p:cNvPr id="384" name="Google Shape;384;p40"/>
            <p:cNvSpPr/>
            <p:nvPr/>
          </p:nvSpPr>
          <p:spPr>
            <a:xfrm rot="8100000">
              <a:off x="1855667" y="1772729"/>
              <a:ext cx="334744" cy="334744"/>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385" name="Google Shape;385;p40"/>
            <p:cNvSpPr/>
            <p:nvPr/>
          </p:nvSpPr>
          <p:spPr>
            <a:xfrm>
              <a:off x="1955989"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1</a:t>
              </a:r>
              <a:endParaRPr sz="600">
                <a:solidFill>
                  <a:schemeClr val="dk2"/>
                </a:solidFill>
                <a:latin typeface="Lora"/>
                <a:ea typeface="Lora"/>
                <a:cs typeface="Lora"/>
                <a:sym typeface="Lora"/>
              </a:endParaRPr>
            </a:p>
          </p:txBody>
        </p:sp>
      </p:grpSp>
      <p:grpSp>
        <p:nvGrpSpPr>
          <p:cNvPr id="386" name="Google Shape;386;p40"/>
          <p:cNvGrpSpPr/>
          <p:nvPr/>
        </p:nvGrpSpPr>
        <p:grpSpPr>
          <a:xfrm>
            <a:off x="3814414" y="1855801"/>
            <a:ext cx="473400" cy="473400"/>
            <a:chOff x="3814414" y="1703401"/>
            <a:chExt cx="473400" cy="473400"/>
          </a:xfrm>
        </p:grpSpPr>
        <p:sp>
          <p:nvSpPr>
            <p:cNvPr id="387" name="Google Shape;387;p40"/>
            <p:cNvSpPr/>
            <p:nvPr/>
          </p:nvSpPr>
          <p:spPr>
            <a:xfrm rot="8100000">
              <a:off x="3883742" y="1772729"/>
              <a:ext cx="334744" cy="334744"/>
            </a:xfrm>
            <a:prstGeom prst="teardrop">
              <a:avLst>
                <a:gd name="adj" fmla="val 10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388" name="Google Shape;388;p40"/>
            <p:cNvSpPr/>
            <p:nvPr/>
          </p:nvSpPr>
          <p:spPr>
            <a:xfrm>
              <a:off x="3984064"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3</a:t>
              </a:r>
              <a:endParaRPr sz="600">
                <a:solidFill>
                  <a:schemeClr val="dk2"/>
                </a:solidFill>
                <a:latin typeface="Lora"/>
                <a:ea typeface="Lora"/>
                <a:cs typeface="Lora"/>
                <a:sym typeface="Lora"/>
              </a:endParaRPr>
            </a:p>
          </p:txBody>
        </p:sp>
      </p:grpSp>
      <p:grpSp>
        <p:nvGrpSpPr>
          <p:cNvPr id="389" name="Google Shape;389;p40"/>
          <p:cNvGrpSpPr/>
          <p:nvPr/>
        </p:nvGrpSpPr>
        <p:grpSpPr>
          <a:xfrm>
            <a:off x="5842489" y="1855801"/>
            <a:ext cx="473400" cy="473400"/>
            <a:chOff x="5842489" y="1703401"/>
            <a:chExt cx="473400" cy="473400"/>
          </a:xfrm>
        </p:grpSpPr>
        <p:sp>
          <p:nvSpPr>
            <p:cNvPr id="390" name="Google Shape;390;p40"/>
            <p:cNvSpPr/>
            <p:nvPr/>
          </p:nvSpPr>
          <p:spPr>
            <a:xfrm rot="8100000">
              <a:off x="5911817" y="1772729"/>
              <a:ext cx="334744" cy="334744"/>
            </a:xfrm>
            <a:prstGeom prst="teardrop">
              <a:avLst>
                <a:gd name="adj" fmla="val 10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391" name="Google Shape;391;p40"/>
            <p:cNvSpPr/>
            <p:nvPr/>
          </p:nvSpPr>
          <p:spPr>
            <a:xfrm>
              <a:off x="6012139"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5</a:t>
              </a:r>
              <a:endParaRPr sz="600">
                <a:solidFill>
                  <a:schemeClr val="dk2"/>
                </a:solidFill>
                <a:latin typeface="Lora"/>
                <a:ea typeface="Lora"/>
                <a:cs typeface="Lora"/>
                <a:sym typeface="Lora"/>
              </a:endParaRPr>
            </a:p>
          </p:txBody>
        </p:sp>
      </p:grpSp>
      <p:grpSp>
        <p:nvGrpSpPr>
          <p:cNvPr id="392" name="Google Shape;392;p40"/>
          <p:cNvGrpSpPr/>
          <p:nvPr/>
        </p:nvGrpSpPr>
        <p:grpSpPr>
          <a:xfrm>
            <a:off x="6880814" y="3728700"/>
            <a:ext cx="473400" cy="473400"/>
            <a:chOff x="6880814" y="3576300"/>
            <a:chExt cx="473400" cy="473400"/>
          </a:xfrm>
        </p:grpSpPr>
        <p:sp>
          <p:nvSpPr>
            <p:cNvPr id="393" name="Google Shape;393;p40"/>
            <p:cNvSpPr/>
            <p:nvPr/>
          </p:nvSpPr>
          <p:spPr>
            <a:xfrm rot="-2700000">
              <a:off x="6950142" y="3645628"/>
              <a:ext cx="334744" cy="334744"/>
            </a:xfrm>
            <a:prstGeom prst="teardrop">
              <a:avLst>
                <a:gd name="adj" fmla="val 10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394" name="Google Shape;394;p40"/>
            <p:cNvSpPr/>
            <p:nvPr/>
          </p:nvSpPr>
          <p:spPr>
            <a:xfrm flipH="1">
              <a:off x="7050464"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6</a:t>
              </a:r>
              <a:endParaRPr sz="600">
                <a:solidFill>
                  <a:schemeClr val="dk2"/>
                </a:solidFill>
                <a:latin typeface="Lora"/>
                <a:ea typeface="Lora"/>
                <a:cs typeface="Lora"/>
                <a:sym typeface="Lora"/>
              </a:endParaRPr>
            </a:p>
          </p:txBody>
        </p:sp>
      </p:grpSp>
      <p:grpSp>
        <p:nvGrpSpPr>
          <p:cNvPr id="395" name="Google Shape;395;p40"/>
          <p:cNvGrpSpPr/>
          <p:nvPr/>
        </p:nvGrpSpPr>
        <p:grpSpPr>
          <a:xfrm>
            <a:off x="4852739" y="3728700"/>
            <a:ext cx="473400" cy="473400"/>
            <a:chOff x="4852739" y="3576300"/>
            <a:chExt cx="473400" cy="473400"/>
          </a:xfrm>
        </p:grpSpPr>
        <p:sp>
          <p:nvSpPr>
            <p:cNvPr id="396" name="Google Shape;396;p40"/>
            <p:cNvSpPr/>
            <p:nvPr/>
          </p:nvSpPr>
          <p:spPr>
            <a:xfrm rot="-2700000">
              <a:off x="4922067" y="3645628"/>
              <a:ext cx="334744" cy="334744"/>
            </a:xfrm>
            <a:prstGeom prst="teardrop">
              <a:avLst>
                <a:gd name="adj" fmla="val 10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397" name="Google Shape;397;p40"/>
            <p:cNvSpPr/>
            <p:nvPr/>
          </p:nvSpPr>
          <p:spPr>
            <a:xfrm flipH="1">
              <a:off x="5022389"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4</a:t>
              </a:r>
              <a:endParaRPr sz="600">
                <a:solidFill>
                  <a:schemeClr val="dk2"/>
                </a:solidFill>
                <a:latin typeface="Lora"/>
                <a:ea typeface="Lora"/>
                <a:cs typeface="Lora"/>
                <a:sym typeface="Lora"/>
              </a:endParaRPr>
            </a:p>
          </p:txBody>
        </p:sp>
      </p:grpSp>
      <p:grpSp>
        <p:nvGrpSpPr>
          <p:cNvPr id="398" name="Google Shape;398;p40"/>
          <p:cNvGrpSpPr/>
          <p:nvPr/>
        </p:nvGrpSpPr>
        <p:grpSpPr>
          <a:xfrm>
            <a:off x="2824664" y="3728700"/>
            <a:ext cx="473400" cy="473400"/>
            <a:chOff x="2824664" y="3576300"/>
            <a:chExt cx="473400" cy="473400"/>
          </a:xfrm>
        </p:grpSpPr>
        <p:sp>
          <p:nvSpPr>
            <p:cNvPr id="399" name="Google Shape;399;p40"/>
            <p:cNvSpPr/>
            <p:nvPr/>
          </p:nvSpPr>
          <p:spPr>
            <a:xfrm rot="-2700000">
              <a:off x="2893992" y="3645628"/>
              <a:ext cx="334744" cy="334744"/>
            </a:xfrm>
            <a:prstGeom prst="teardrop">
              <a:avLst>
                <a:gd name="adj" fmla="val 10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400" name="Google Shape;400;p40"/>
            <p:cNvSpPr/>
            <p:nvPr/>
          </p:nvSpPr>
          <p:spPr>
            <a:xfrm flipH="1">
              <a:off x="2994314"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2</a:t>
              </a:r>
              <a:endParaRPr sz="600">
                <a:solidFill>
                  <a:schemeClr val="dk2"/>
                </a:solidFill>
                <a:latin typeface="Lora"/>
                <a:ea typeface="Lora"/>
                <a:cs typeface="Lora"/>
                <a:sym typeface="Lora"/>
              </a:endParaRPr>
            </a:p>
          </p:txBody>
        </p:sp>
      </p:grpSp>
      <p:sp>
        <p:nvSpPr>
          <p:cNvPr id="401" name="Google Shape;401;p40"/>
          <p:cNvSpPr txBox="1"/>
          <p:nvPr/>
        </p:nvSpPr>
        <p:spPr>
          <a:xfrm>
            <a:off x="1379850" y="1308500"/>
            <a:ext cx="1286400" cy="533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None/>
            </a:pPr>
            <a:r>
              <a:rPr lang="en" sz="900" dirty="0">
                <a:solidFill>
                  <a:schemeClr val="accent3"/>
                </a:solidFill>
                <a:latin typeface="Lora"/>
                <a:ea typeface="Lora"/>
                <a:cs typeface="Lora"/>
                <a:sym typeface="Lora"/>
              </a:rPr>
              <a:t>File Handling</a:t>
            </a:r>
            <a:endParaRPr sz="900" dirty="0">
              <a:solidFill>
                <a:schemeClr val="accent3"/>
              </a:solidFill>
              <a:latin typeface="Lora"/>
              <a:ea typeface="Lora"/>
              <a:cs typeface="Lora"/>
              <a:sym typeface="Lora"/>
            </a:endParaRPr>
          </a:p>
        </p:txBody>
      </p:sp>
      <p:sp>
        <p:nvSpPr>
          <p:cNvPr id="402" name="Google Shape;402;p40"/>
          <p:cNvSpPr txBox="1"/>
          <p:nvPr/>
        </p:nvSpPr>
        <p:spPr>
          <a:xfrm>
            <a:off x="3377205" y="1308500"/>
            <a:ext cx="1286400" cy="533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None/>
            </a:pPr>
            <a:r>
              <a:rPr lang="en" sz="900" b="1" dirty="0">
                <a:solidFill>
                  <a:schemeClr val="accent3"/>
                </a:solidFill>
                <a:latin typeface="Lora"/>
                <a:ea typeface="Lora"/>
                <a:cs typeface="Lora"/>
                <a:sym typeface="Lora"/>
              </a:rPr>
              <a:t>Preprocessor Directives</a:t>
            </a:r>
            <a:endParaRPr sz="900" dirty="0">
              <a:solidFill>
                <a:schemeClr val="dk2"/>
              </a:solidFill>
              <a:latin typeface="Lora"/>
              <a:ea typeface="Lora"/>
              <a:cs typeface="Lora"/>
              <a:sym typeface="Lora"/>
            </a:endParaRPr>
          </a:p>
        </p:txBody>
      </p:sp>
      <p:sp>
        <p:nvSpPr>
          <p:cNvPr id="403" name="Google Shape;403;p40"/>
          <p:cNvSpPr txBox="1"/>
          <p:nvPr/>
        </p:nvSpPr>
        <p:spPr>
          <a:xfrm>
            <a:off x="5436010" y="1308500"/>
            <a:ext cx="1444804" cy="533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None/>
            </a:pPr>
            <a:r>
              <a:rPr lang="en" sz="900" b="1" dirty="0">
                <a:solidFill>
                  <a:schemeClr val="accent3"/>
                </a:solidFill>
                <a:latin typeface="Lora"/>
                <a:ea typeface="Lora"/>
                <a:cs typeface="Lora"/>
                <a:sym typeface="Lora"/>
              </a:rPr>
              <a:t>String, Math and Date Time Functions</a:t>
            </a:r>
            <a:endParaRPr sz="900" dirty="0">
              <a:solidFill>
                <a:schemeClr val="dk2"/>
              </a:solidFill>
              <a:latin typeface="Lora"/>
              <a:ea typeface="Lora"/>
              <a:cs typeface="Lora"/>
              <a:sym typeface="Lora"/>
            </a:endParaRPr>
          </a:p>
        </p:txBody>
      </p:sp>
      <p:sp>
        <p:nvSpPr>
          <p:cNvPr id="404" name="Google Shape;404;p40"/>
          <p:cNvSpPr txBox="1"/>
          <p:nvPr/>
        </p:nvSpPr>
        <p:spPr>
          <a:xfrm>
            <a:off x="2418175" y="4216000"/>
            <a:ext cx="1477964" cy="533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900" b="1" dirty="0">
                <a:solidFill>
                  <a:schemeClr val="accent3"/>
                </a:solidFill>
                <a:latin typeface="Lora"/>
                <a:ea typeface="Lora"/>
                <a:cs typeface="Lora"/>
                <a:sym typeface="Lora"/>
              </a:rPr>
              <a:t>File Pointers and Operations</a:t>
            </a:r>
            <a:endParaRPr sz="900" dirty="0">
              <a:solidFill>
                <a:schemeClr val="dk2"/>
              </a:solidFill>
              <a:latin typeface="Lora"/>
              <a:ea typeface="Lora"/>
              <a:cs typeface="Lora"/>
              <a:sym typeface="Lora"/>
            </a:endParaRPr>
          </a:p>
        </p:txBody>
      </p:sp>
      <p:sp>
        <p:nvSpPr>
          <p:cNvPr id="405" name="Google Shape;405;p40"/>
          <p:cNvSpPr txBox="1"/>
          <p:nvPr/>
        </p:nvSpPr>
        <p:spPr>
          <a:xfrm>
            <a:off x="4446255" y="4216000"/>
            <a:ext cx="1286400" cy="533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900" b="1" dirty="0">
                <a:solidFill>
                  <a:schemeClr val="accent3"/>
                </a:solidFill>
                <a:latin typeface="Lora"/>
                <a:ea typeface="Lora"/>
                <a:cs typeface="Lora"/>
                <a:sym typeface="Lora"/>
              </a:rPr>
              <a:t>Standard Library and Header Files</a:t>
            </a:r>
            <a:endParaRPr sz="900" dirty="0">
              <a:solidFill>
                <a:schemeClr val="dk2"/>
              </a:solidFill>
              <a:latin typeface="Lora"/>
              <a:ea typeface="Lora"/>
              <a:cs typeface="Lora"/>
              <a:sym typeface="Lora"/>
            </a:endParaRPr>
          </a:p>
        </p:txBody>
      </p:sp>
      <p:sp>
        <p:nvSpPr>
          <p:cNvPr id="406" name="Google Shape;406;p40"/>
          <p:cNvSpPr txBox="1"/>
          <p:nvPr/>
        </p:nvSpPr>
        <p:spPr>
          <a:xfrm>
            <a:off x="6474335" y="4216000"/>
            <a:ext cx="1286400" cy="533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900" b="1" dirty="0">
                <a:solidFill>
                  <a:schemeClr val="accent3"/>
                </a:solidFill>
                <a:latin typeface="Lora"/>
                <a:ea typeface="Lora"/>
                <a:cs typeface="Lora"/>
                <a:sym typeface="Lora"/>
              </a:rPr>
              <a:t>Summary</a:t>
            </a:r>
            <a:endParaRPr sz="900" b="1" dirty="0">
              <a:solidFill>
                <a:schemeClr val="accent3"/>
              </a:solidFill>
              <a:latin typeface="Lora"/>
              <a:ea typeface="Lora"/>
              <a:cs typeface="Lora"/>
              <a:sym typeface="Lor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40"/>
          <p:cNvSpPr txBox="1">
            <a:spLocks noGrp="1"/>
          </p:cNvSpPr>
          <p:nvPr>
            <p:ph type="title"/>
          </p:nvPr>
        </p:nvSpPr>
        <p:spPr>
          <a:xfrm>
            <a:off x="2121389" y="230671"/>
            <a:ext cx="5462700" cy="3963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Roadmap to Programming in C</a:t>
            </a:r>
            <a:endParaRPr dirty="0"/>
          </a:p>
        </p:txBody>
      </p:sp>
      <p:sp>
        <p:nvSpPr>
          <p:cNvPr id="380" name="Google Shape;380;p40"/>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solidFill>
                  <a:schemeClr val="accent5"/>
                </a:solidFill>
              </a:rPr>
              <a:t>47</a:t>
            </a:fld>
            <a:endParaRPr>
              <a:solidFill>
                <a:schemeClr val="accent5"/>
              </a:solidFill>
            </a:endParaRPr>
          </a:p>
        </p:txBody>
      </p:sp>
      <p:sp>
        <p:nvSpPr>
          <p:cNvPr id="381" name="Google Shape;381;p40"/>
          <p:cNvSpPr/>
          <p:nvPr/>
        </p:nvSpPr>
        <p:spPr>
          <a:xfrm>
            <a:off x="0" y="2523428"/>
            <a:ext cx="9144000" cy="1011043"/>
          </a:xfrm>
          <a:custGeom>
            <a:avLst/>
            <a:gdLst/>
            <a:ahLst/>
            <a:cxnLst/>
            <a:rect l="l" t="t" r="r" b="b"/>
            <a:pathLst>
              <a:path w="12192000" h="1348058" extrusionOk="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228600"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2" name="Google Shape;382;p40"/>
          <p:cNvSpPr/>
          <p:nvPr/>
        </p:nvSpPr>
        <p:spPr>
          <a:xfrm>
            <a:off x="0" y="2523428"/>
            <a:ext cx="9144000" cy="1011043"/>
          </a:xfrm>
          <a:custGeom>
            <a:avLst/>
            <a:gdLst/>
            <a:ahLst/>
            <a:cxnLst/>
            <a:rect l="l" t="t" r="r" b="b"/>
            <a:pathLst>
              <a:path w="12192000" h="1348058" extrusionOk="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19050" cap="flat" cmpd="sng">
            <a:solidFill>
              <a:schemeClr val="dk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grpSp>
        <p:nvGrpSpPr>
          <p:cNvPr id="383" name="Google Shape;383;p40"/>
          <p:cNvGrpSpPr/>
          <p:nvPr/>
        </p:nvGrpSpPr>
        <p:grpSpPr>
          <a:xfrm>
            <a:off x="1786339" y="1855801"/>
            <a:ext cx="473400" cy="473400"/>
            <a:chOff x="1786339" y="1703401"/>
            <a:chExt cx="473400" cy="473400"/>
          </a:xfrm>
        </p:grpSpPr>
        <p:sp>
          <p:nvSpPr>
            <p:cNvPr id="384" name="Google Shape;384;p40"/>
            <p:cNvSpPr/>
            <p:nvPr/>
          </p:nvSpPr>
          <p:spPr>
            <a:xfrm rot="8100000">
              <a:off x="1855667" y="1772729"/>
              <a:ext cx="334744" cy="334744"/>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385" name="Google Shape;385;p40"/>
            <p:cNvSpPr/>
            <p:nvPr/>
          </p:nvSpPr>
          <p:spPr>
            <a:xfrm>
              <a:off x="1955989"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1</a:t>
              </a:r>
              <a:endParaRPr sz="600">
                <a:solidFill>
                  <a:schemeClr val="dk2"/>
                </a:solidFill>
                <a:latin typeface="Lora"/>
                <a:ea typeface="Lora"/>
                <a:cs typeface="Lora"/>
                <a:sym typeface="Lora"/>
              </a:endParaRPr>
            </a:p>
          </p:txBody>
        </p:sp>
      </p:grpSp>
      <p:grpSp>
        <p:nvGrpSpPr>
          <p:cNvPr id="386" name="Google Shape;386;p40"/>
          <p:cNvGrpSpPr/>
          <p:nvPr/>
        </p:nvGrpSpPr>
        <p:grpSpPr>
          <a:xfrm>
            <a:off x="3814414" y="1855801"/>
            <a:ext cx="473400" cy="473400"/>
            <a:chOff x="3814414" y="1703401"/>
            <a:chExt cx="473400" cy="473400"/>
          </a:xfrm>
        </p:grpSpPr>
        <p:sp>
          <p:nvSpPr>
            <p:cNvPr id="387" name="Google Shape;387;p40"/>
            <p:cNvSpPr/>
            <p:nvPr/>
          </p:nvSpPr>
          <p:spPr>
            <a:xfrm rot="8100000">
              <a:off x="3883742" y="1772729"/>
              <a:ext cx="334744" cy="334744"/>
            </a:xfrm>
            <a:prstGeom prst="teardrop">
              <a:avLst>
                <a:gd name="adj" fmla="val 10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388" name="Google Shape;388;p40"/>
            <p:cNvSpPr/>
            <p:nvPr/>
          </p:nvSpPr>
          <p:spPr>
            <a:xfrm>
              <a:off x="3984064"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3</a:t>
              </a:r>
              <a:endParaRPr sz="600">
                <a:solidFill>
                  <a:schemeClr val="dk2"/>
                </a:solidFill>
                <a:latin typeface="Lora"/>
                <a:ea typeface="Lora"/>
                <a:cs typeface="Lora"/>
                <a:sym typeface="Lora"/>
              </a:endParaRPr>
            </a:p>
          </p:txBody>
        </p:sp>
      </p:grpSp>
      <p:grpSp>
        <p:nvGrpSpPr>
          <p:cNvPr id="389" name="Google Shape;389;p40"/>
          <p:cNvGrpSpPr/>
          <p:nvPr/>
        </p:nvGrpSpPr>
        <p:grpSpPr>
          <a:xfrm>
            <a:off x="5842489" y="1855801"/>
            <a:ext cx="473400" cy="473400"/>
            <a:chOff x="5842489" y="1703401"/>
            <a:chExt cx="473400" cy="473400"/>
          </a:xfrm>
        </p:grpSpPr>
        <p:sp>
          <p:nvSpPr>
            <p:cNvPr id="390" name="Google Shape;390;p40"/>
            <p:cNvSpPr/>
            <p:nvPr/>
          </p:nvSpPr>
          <p:spPr>
            <a:xfrm rot="8100000">
              <a:off x="5911817" y="1772729"/>
              <a:ext cx="334744" cy="334744"/>
            </a:xfrm>
            <a:prstGeom prst="teardrop">
              <a:avLst>
                <a:gd name="adj" fmla="val 10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391" name="Google Shape;391;p40"/>
            <p:cNvSpPr/>
            <p:nvPr/>
          </p:nvSpPr>
          <p:spPr>
            <a:xfrm>
              <a:off x="6012139"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5</a:t>
              </a:r>
              <a:endParaRPr sz="600">
                <a:solidFill>
                  <a:schemeClr val="dk2"/>
                </a:solidFill>
                <a:latin typeface="Lora"/>
                <a:ea typeface="Lora"/>
                <a:cs typeface="Lora"/>
                <a:sym typeface="Lora"/>
              </a:endParaRPr>
            </a:p>
          </p:txBody>
        </p:sp>
      </p:grpSp>
      <p:grpSp>
        <p:nvGrpSpPr>
          <p:cNvPr id="392" name="Google Shape;392;p40"/>
          <p:cNvGrpSpPr/>
          <p:nvPr/>
        </p:nvGrpSpPr>
        <p:grpSpPr>
          <a:xfrm>
            <a:off x="6880814" y="3728700"/>
            <a:ext cx="473400" cy="473400"/>
            <a:chOff x="6880814" y="3576300"/>
            <a:chExt cx="473400" cy="473400"/>
          </a:xfrm>
        </p:grpSpPr>
        <p:sp>
          <p:nvSpPr>
            <p:cNvPr id="393" name="Google Shape;393;p40"/>
            <p:cNvSpPr/>
            <p:nvPr/>
          </p:nvSpPr>
          <p:spPr>
            <a:xfrm rot="-2700000">
              <a:off x="6950142" y="3645628"/>
              <a:ext cx="334744" cy="334744"/>
            </a:xfrm>
            <a:prstGeom prst="teardrop">
              <a:avLst>
                <a:gd name="adj" fmla="val 10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394" name="Google Shape;394;p40"/>
            <p:cNvSpPr/>
            <p:nvPr/>
          </p:nvSpPr>
          <p:spPr>
            <a:xfrm flipH="1">
              <a:off x="7050464"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6</a:t>
              </a:r>
              <a:endParaRPr sz="600">
                <a:solidFill>
                  <a:schemeClr val="dk2"/>
                </a:solidFill>
                <a:latin typeface="Lora"/>
                <a:ea typeface="Lora"/>
                <a:cs typeface="Lora"/>
                <a:sym typeface="Lora"/>
              </a:endParaRPr>
            </a:p>
          </p:txBody>
        </p:sp>
      </p:grpSp>
      <p:grpSp>
        <p:nvGrpSpPr>
          <p:cNvPr id="395" name="Google Shape;395;p40"/>
          <p:cNvGrpSpPr/>
          <p:nvPr/>
        </p:nvGrpSpPr>
        <p:grpSpPr>
          <a:xfrm>
            <a:off x="4852739" y="3728700"/>
            <a:ext cx="473400" cy="473400"/>
            <a:chOff x="4852739" y="3576300"/>
            <a:chExt cx="473400" cy="473400"/>
          </a:xfrm>
        </p:grpSpPr>
        <p:sp>
          <p:nvSpPr>
            <p:cNvPr id="396" name="Google Shape;396;p40"/>
            <p:cNvSpPr/>
            <p:nvPr/>
          </p:nvSpPr>
          <p:spPr>
            <a:xfrm rot="-2700000">
              <a:off x="4922067" y="3645628"/>
              <a:ext cx="334744" cy="334744"/>
            </a:xfrm>
            <a:prstGeom prst="teardrop">
              <a:avLst>
                <a:gd name="adj" fmla="val 10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397" name="Google Shape;397;p40"/>
            <p:cNvSpPr/>
            <p:nvPr/>
          </p:nvSpPr>
          <p:spPr>
            <a:xfrm flipH="1">
              <a:off x="5022389"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4</a:t>
              </a:r>
              <a:endParaRPr sz="600">
                <a:solidFill>
                  <a:schemeClr val="dk2"/>
                </a:solidFill>
                <a:latin typeface="Lora"/>
                <a:ea typeface="Lora"/>
                <a:cs typeface="Lora"/>
                <a:sym typeface="Lora"/>
              </a:endParaRPr>
            </a:p>
          </p:txBody>
        </p:sp>
      </p:grpSp>
      <p:grpSp>
        <p:nvGrpSpPr>
          <p:cNvPr id="398" name="Google Shape;398;p40"/>
          <p:cNvGrpSpPr/>
          <p:nvPr/>
        </p:nvGrpSpPr>
        <p:grpSpPr>
          <a:xfrm>
            <a:off x="2824664" y="3728700"/>
            <a:ext cx="473400" cy="473400"/>
            <a:chOff x="2824664" y="3576300"/>
            <a:chExt cx="473400" cy="473400"/>
          </a:xfrm>
        </p:grpSpPr>
        <p:sp>
          <p:nvSpPr>
            <p:cNvPr id="399" name="Google Shape;399;p40"/>
            <p:cNvSpPr/>
            <p:nvPr/>
          </p:nvSpPr>
          <p:spPr>
            <a:xfrm rot="-2700000">
              <a:off x="2893992" y="3645628"/>
              <a:ext cx="334744" cy="334744"/>
            </a:xfrm>
            <a:prstGeom prst="teardrop">
              <a:avLst>
                <a:gd name="adj" fmla="val 10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ora"/>
                <a:ea typeface="Lora"/>
                <a:cs typeface="Lora"/>
                <a:sym typeface="Lora"/>
              </a:endParaRPr>
            </a:p>
          </p:txBody>
        </p:sp>
        <p:sp>
          <p:nvSpPr>
            <p:cNvPr id="400" name="Google Shape;400;p40"/>
            <p:cNvSpPr/>
            <p:nvPr/>
          </p:nvSpPr>
          <p:spPr>
            <a:xfrm flipH="1">
              <a:off x="2994314"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Lora"/>
                  <a:ea typeface="Lora"/>
                  <a:cs typeface="Lora"/>
                  <a:sym typeface="Lora"/>
                </a:rPr>
                <a:t>2</a:t>
              </a:r>
              <a:endParaRPr sz="600">
                <a:solidFill>
                  <a:schemeClr val="dk2"/>
                </a:solidFill>
                <a:latin typeface="Lora"/>
                <a:ea typeface="Lora"/>
                <a:cs typeface="Lora"/>
                <a:sym typeface="Lora"/>
              </a:endParaRPr>
            </a:p>
          </p:txBody>
        </p:sp>
      </p:grpSp>
      <p:sp>
        <p:nvSpPr>
          <p:cNvPr id="401" name="Google Shape;401;p40"/>
          <p:cNvSpPr txBox="1"/>
          <p:nvPr/>
        </p:nvSpPr>
        <p:spPr>
          <a:xfrm>
            <a:off x="1379850" y="1308500"/>
            <a:ext cx="1286400" cy="533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None/>
            </a:pPr>
            <a:r>
              <a:rPr lang="en" sz="900" b="1" dirty="0">
                <a:solidFill>
                  <a:schemeClr val="accent3"/>
                </a:solidFill>
                <a:latin typeface="Lora"/>
                <a:ea typeface="Lora"/>
                <a:cs typeface="Lora"/>
                <a:sym typeface="Lora"/>
              </a:rPr>
              <a:t>Unit I</a:t>
            </a:r>
            <a:r>
              <a:rPr lang="en" sz="900" b="1" dirty="0">
                <a:solidFill>
                  <a:schemeClr val="dk2"/>
                </a:solidFill>
                <a:latin typeface="Lora"/>
                <a:ea typeface="Lora"/>
                <a:cs typeface="Lora"/>
                <a:sym typeface="Lora"/>
              </a:rPr>
              <a:t> </a:t>
            </a:r>
          </a:p>
          <a:p>
            <a:pPr marL="0" marR="0" lvl="0" indent="0" algn="ctr" rtl="0">
              <a:lnSpc>
                <a:spcPct val="100000"/>
              </a:lnSpc>
              <a:spcBef>
                <a:spcPts val="0"/>
              </a:spcBef>
              <a:spcAft>
                <a:spcPts val="0"/>
              </a:spcAft>
              <a:buNone/>
            </a:pPr>
            <a:r>
              <a:rPr lang="en" sz="900" dirty="0">
                <a:solidFill>
                  <a:schemeClr val="dk2"/>
                </a:solidFill>
                <a:latin typeface="Lora"/>
                <a:ea typeface="Lora"/>
                <a:cs typeface="Lora"/>
                <a:sym typeface="Lora"/>
              </a:rPr>
              <a:t>Computer Based Problem Solvingand Overview of C</a:t>
            </a:r>
            <a:endParaRPr sz="900" dirty="0">
              <a:solidFill>
                <a:schemeClr val="dk2"/>
              </a:solidFill>
              <a:latin typeface="Lora"/>
              <a:ea typeface="Lora"/>
              <a:cs typeface="Lora"/>
              <a:sym typeface="Lora"/>
            </a:endParaRPr>
          </a:p>
        </p:txBody>
      </p:sp>
      <p:sp>
        <p:nvSpPr>
          <p:cNvPr id="402" name="Google Shape;402;p40"/>
          <p:cNvSpPr txBox="1"/>
          <p:nvPr/>
        </p:nvSpPr>
        <p:spPr>
          <a:xfrm>
            <a:off x="3377205" y="1308500"/>
            <a:ext cx="1286400" cy="533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None/>
            </a:pPr>
            <a:r>
              <a:rPr lang="en" sz="900" b="1" dirty="0">
                <a:solidFill>
                  <a:schemeClr val="accent3"/>
                </a:solidFill>
                <a:latin typeface="Lora"/>
                <a:ea typeface="Lora"/>
                <a:cs typeface="Lora"/>
                <a:sym typeface="Lora"/>
              </a:rPr>
              <a:t>Unit III </a:t>
            </a:r>
          </a:p>
          <a:p>
            <a:pPr marL="0" marR="0" lvl="0" indent="0" algn="ctr" rtl="0">
              <a:lnSpc>
                <a:spcPct val="100000"/>
              </a:lnSpc>
              <a:spcBef>
                <a:spcPts val="0"/>
              </a:spcBef>
              <a:spcAft>
                <a:spcPts val="0"/>
              </a:spcAft>
              <a:buNone/>
            </a:pPr>
            <a:r>
              <a:rPr lang="en" sz="900" dirty="0">
                <a:solidFill>
                  <a:schemeClr val="dk2"/>
                </a:solidFill>
                <a:latin typeface="Lora"/>
                <a:ea typeface="Lora"/>
                <a:cs typeface="Lora"/>
                <a:sym typeface="Lora"/>
              </a:rPr>
              <a:t>Functions and Recursions</a:t>
            </a:r>
            <a:endParaRPr sz="900" dirty="0">
              <a:solidFill>
                <a:schemeClr val="dk2"/>
              </a:solidFill>
              <a:latin typeface="Lora"/>
              <a:ea typeface="Lora"/>
              <a:cs typeface="Lora"/>
              <a:sym typeface="Lora"/>
            </a:endParaRPr>
          </a:p>
        </p:txBody>
      </p:sp>
      <p:sp>
        <p:nvSpPr>
          <p:cNvPr id="403" name="Google Shape;403;p40"/>
          <p:cNvSpPr txBox="1"/>
          <p:nvPr/>
        </p:nvSpPr>
        <p:spPr>
          <a:xfrm>
            <a:off x="5436010" y="1308500"/>
            <a:ext cx="1444804" cy="533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None/>
            </a:pPr>
            <a:r>
              <a:rPr lang="en" sz="900" b="1" dirty="0">
                <a:solidFill>
                  <a:schemeClr val="accent3"/>
                </a:solidFill>
                <a:latin typeface="Lora"/>
                <a:ea typeface="Lora"/>
                <a:cs typeface="Lora"/>
                <a:sym typeface="Lora"/>
              </a:rPr>
              <a:t>Unit V </a:t>
            </a:r>
          </a:p>
          <a:p>
            <a:pPr marL="0" marR="0" lvl="0" indent="0" algn="ctr" rtl="0">
              <a:lnSpc>
                <a:spcPct val="100000"/>
              </a:lnSpc>
              <a:spcBef>
                <a:spcPts val="0"/>
              </a:spcBef>
              <a:spcAft>
                <a:spcPts val="0"/>
              </a:spcAft>
              <a:buNone/>
            </a:pPr>
            <a:r>
              <a:rPr lang="en" sz="900" dirty="0">
                <a:solidFill>
                  <a:schemeClr val="dk2"/>
                </a:solidFill>
                <a:latin typeface="Lora"/>
                <a:ea typeface="Lora"/>
                <a:cs typeface="Lora"/>
                <a:sym typeface="Lora"/>
              </a:rPr>
              <a:t>File Handling, Preprocessor, Standard Library and Header Files</a:t>
            </a:r>
            <a:endParaRPr sz="900" dirty="0">
              <a:solidFill>
                <a:schemeClr val="dk2"/>
              </a:solidFill>
              <a:latin typeface="Lora"/>
              <a:ea typeface="Lora"/>
              <a:cs typeface="Lora"/>
              <a:sym typeface="Lora"/>
            </a:endParaRPr>
          </a:p>
        </p:txBody>
      </p:sp>
      <p:sp>
        <p:nvSpPr>
          <p:cNvPr id="404" name="Google Shape;404;p40"/>
          <p:cNvSpPr txBox="1"/>
          <p:nvPr/>
        </p:nvSpPr>
        <p:spPr>
          <a:xfrm>
            <a:off x="2418175" y="4216000"/>
            <a:ext cx="1286400" cy="533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900" b="1" dirty="0">
                <a:solidFill>
                  <a:schemeClr val="accent3"/>
                </a:solidFill>
                <a:latin typeface="Lora"/>
                <a:ea typeface="Lora"/>
                <a:cs typeface="Lora"/>
                <a:sym typeface="Lora"/>
              </a:rPr>
              <a:t>Unit – II</a:t>
            </a:r>
          </a:p>
          <a:p>
            <a:pPr marL="0" marR="0" lvl="0" indent="0" algn="ctr" rtl="0">
              <a:lnSpc>
                <a:spcPct val="100000"/>
              </a:lnSpc>
              <a:spcBef>
                <a:spcPts val="0"/>
              </a:spcBef>
              <a:spcAft>
                <a:spcPts val="0"/>
              </a:spcAft>
              <a:buNone/>
            </a:pPr>
            <a:r>
              <a:rPr lang="en" sz="900" dirty="0">
                <a:solidFill>
                  <a:schemeClr val="dk2"/>
                </a:solidFill>
                <a:latin typeface="Lora"/>
                <a:ea typeface="Lora"/>
                <a:cs typeface="Lora"/>
                <a:sym typeface="Lora"/>
              </a:rPr>
              <a:t>Branching, Looping, Arrays, Strings</a:t>
            </a:r>
            <a:endParaRPr sz="900" dirty="0">
              <a:solidFill>
                <a:schemeClr val="dk2"/>
              </a:solidFill>
              <a:latin typeface="Lora"/>
              <a:ea typeface="Lora"/>
              <a:cs typeface="Lora"/>
              <a:sym typeface="Lora"/>
            </a:endParaRPr>
          </a:p>
        </p:txBody>
      </p:sp>
      <p:sp>
        <p:nvSpPr>
          <p:cNvPr id="405" name="Google Shape;405;p40"/>
          <p:cNvSpPr txBox="1"/>
          <p:nvPr/>
        </p:nvSpPr>
        <p:spPr>
          <a:xfrm>
            <a:off x="4446255" y="4216000"/>
            <a:ext cx="1286400" cy="533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900" b="1" dirty="0">
                <a:solidFill>
                  <a:schemeClr val="accent3"/>
                </a:solidFill>
                <a:latin typeface="Lora"/>
                <a:ea typeface="Lora"/>
                <a:cs typeface="Lora"/>
                <a:sym typeface="Lora"/>
              </a:rPr>
              <a:t>Unit IV </a:t>
            </a:r>
          </a:p>
          <a:p>
            <a:pPr marL="0" marR="0" lvl="0" indent="0" algn="ctr" rtl="0">
              <a:lnSpc>
                <a:spcPct val="100000"/>
              </a:lnSpc>
              <a:spcBef>
                <a:spcPts val="0"/>
              </a:spcBef>
              <a:spcAft>
                <a:spcPts val="0"/>
              </a:spcAft>
              <a:buNone/>
            </a:pPr>
            <a:r>
              <a:rPr lang="en" sz="900" dirty="0">
                <a:solidFill>
                  <a:schemeClr val="dk2"/>
                </a:solidFill>
                <a:latin typeface="Lora"/>
                <a:ea typeface="Lora"/>
                <a:cs typeface="Lora"/>
                <a:sym typeface="Lora"/>
              </a:rPr>
              <a:t>Dynamic Data Structures, Pointers, Union</a:t>
            </a:r>
            <a:endParaRPr sz="900" dirty="0">
              <a:solidFill>
                <a:schemeClr val="dk2"/>
              </a:solidFill>
              <a:latin typeface="Lora"/>
              <a:ea typeface="Lora"/>
              <a:cs typeface="Lora"/>
              <a:sym typeface="Lora"/>
            </a:endParaRPr>
          </a:p>
        </p:txBody>
      </p:sp>
      <p:sp>
        <p:nvSpPr>
          <p:cNvPr id="406" name="Google Shape;406;p40"/>
          <p:cNvSpPr txBox="1"/>
          <p:nvPr/>
        </p:nvSpPr>
        <p:spPr>
          <a:xfrm>
            <a:off x="6474335" y="4216000"/>
            <a:ext cx="1286400" cy="533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900" b="1" dirty="0">
                <a:solidFill>
                  <a:schemeClr val="accent3"/>
                </a:solidFill>
                <a:latin typeface="Lora"/>
                <a:ea typeface="Lora"/>
                <a:cs typeface="Lora"/>
                <a:sym typeface="Lora"/>
              </a:rPr>
              <a:t>Revision</a:t>
            </a:r>
            <a:endParaRPr sz="900" b="1" dirty="0">
              <a:solidFill>
                <a:schemeClr val="accent3"/>
              </a:solidFill>
              <a:latin typeface="Lora"/>
              <a:ea typeface="Lora"/>
              <a:cs typeface="Lora"/>
              <a:sym typeface="Lora"/>
            </a:endParaRPr>
          </a:p>
        </p:txBody>
      </p:sp>
      <p:sp>
        <p:nvSpPr>
          <p:cNvPr id="6" name="Rectangle: Rounded Corners 5">
            <a:extLst>
              <a:ext uri="{FF2B5EF4-FFF2-40B4-BE49-F238E27FC236}">
                <a16:creationId xmlns:a16="http://schemas.microsoft.com/office/drawing/2014/main" id="{8BFC7BCE-A3EE-D5E4-CCAE-3CCC40241D6A}"/>
              </a:ext>
            </a:extLst>
          </p:cNvPr>
          <p:cNvSpPr/>
          <p:nvPr/>
        </p:nvSpPr>
        <p:spPr>
          <a:xfrm flipV="1">
            <a:off x="19878" y="3458932"/>
            <a:ext cx="248478" cy="148971"/>
          </a:xfrm>
          <a:prstGeom prst="roundRect">
            <a:avLst/>
          </a:prstGeom>
          <a:blipFill>
            <a:blip r:embed="rId3"/>
            <a:tile tx="0" ty="0" sx="100000" sy="100000" flip="none" algn="tl"/>
          </a:blip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9347955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5"/>
          <p:cNvSpPr txBox="1">
            <a:spLocks noGrp="1"/>
          </p:cNvSpPr>
          <p:nvPr>
            <p:ph type="sldNum" idx="12"/>
          </p:nvPr>
        </p:nvSpPr>
        <p:spPr>
          <a:xfrm>
            <a:off x="8404384" y="46736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48</a:t>
            </a:fld>
            <a:endParaRPr/>
          </a:p>
        </p:txBody>
      </p:sp>
      <p:sp>
        <p:nvSpPr>
          <p:cNvPr id="307" name="Google Shape;307;p35"/>
          <p:cNvSpPr txBox="1">
            <a:spLocks noGrp="1"/>
          </p:cNvSpPr>
          <p:nvPr>
            <p:ph type="ctrTitle" idx="4294967295"/>
          </p:nvPr>
        </p:nvSpPr>
        <p:spPr>
          <a:xfrm>
            <a:off x="855300" y="1262586"/>
            <a:ext cx="4125300" cy="7449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7200"/>
              <a:t>Thanks!</a:t>
            </a:r>
            <a:endParaRPr sz="7200"/>
          </a:p>
        </p:txBody>
      </p:sp>
      <p:sp>
        <p:nvSpPr>
          <p:cNvPr id="308" name="Google Shape;308;p35"/>
          <p:cNvSpPr txBox="1">
            <a:spLocks noGrp="1"/>
          </p:cNvSpPr>
          <p:nvPr>
            <p:ph type="subTitle" idx="4294967295"/>
          </p:nvPr>
        </p:nvSpPr>
        <p:spPr>
          <a:xfrm>
            <a:off x="855300" y="2109113"/>
            <a:ext cx="4423200" cy="1771800"/>
          </a:xfrm>
          <a:prstGeom prst="rect">
            <a:avLst/>
          </a:prstGeom>
        </p:spPr>
        <p:txBody>
          <a:bodyPr spcFirstLastPara="1" wrap="square" lIns="0" tIns="0" rIns="0" bIns="0" anchor="t" anchorCtr="0">
            <a:noAutofit/>
          </a:bodyPr>
          <a:lstStyle/>
          <a:p>
            <a:pPr marL="0" lvl="0" indent="0" algn="l" rtl="0">
              <a:spcBef>
                <a:spcPts val="600"/>
              </a:spcBef>
              <a:spcAft>
                <a:spcPts val="0"/>
              </a:spcAft>
              <a:buClr>
                <a:schemeClr val="lt1"/>
              </a:buClr>
              <a:buSzPts val="1100"/>
              <a:buFont typeface="Arial"/>
              <a:buNone/>
            </a:pPr>
            <a:r>
              <a:rPr lang="en" b="1" dirty="0"/>
              <a:t>Any questions?</a:t>
            </a:r>
            <a:endParaRPr b="1" dirty="0"/>
          </a:p>
          <a:p>
            <a:pPr marL="0" lvl="0" indent="0" algn="l" rtl="0">
              <a:spcBef>
                <a:spcPts val="600"/>
              </a:spcBef>
              <a:spcAft>
                <a:spcPts val="0"/>
              </a:spcAft>
              <a:buClr>
                <a:schemeClr val="lt1"/>
              </a:buClr>
              <a:buSzPts val="1100"/>
              <a:buFont typeface="Arial"/>
              <a:buNone/>
            </a:pPr>
            <a:r>
              <a:rPr lang="en" dirty="0"/>
              <a:t>You can find me at:</a:t>
            </a:r>
            <a:endParaRPr dirty="0"/>
          </a:p>
          <a:p>
            <a:pPr marL="457200" lvl="0" indent="-355600" algn="l" rtl="0">
              <a:spcBef>
                <a:spcPts val="600"/>
              </a:spcBef>
              <a:spcAft>
                <a:spcPts val="0"/>
              </a:spcAft>
              <a:buSzPts val="2000"/>
              <a:buChar char="✦"/>
            </a:pPr>
            <a:r>
              <a:rPr lang="en-IN" dirty="0"/>
              <a:t>kriti29kausik@gmail.com</a:t>
            </a:r>
            <a:endParaRPr dirty="0"/>
          </a:p>
        </p:txBody>
      </p:sp>
      <p:sp>
        <p:nvSpPr>
          <p:cNvPr id="309" name="Google Shape;309;p35"/>
          <p:cNvSpPr/>
          <p:nvPr/>
        </p:nvSpPr>
        <p:spPr>
          <a:xfrm>
            <a:off x="4365450" y="866725"/>
            <a:ext cx="2538600" cy="1964100"/>
          </a:xfrm>
          <a:prstGeom prst="cloudCallout">
            <a:avLst>
              <a:gd name="adj1" fmla="val 56798"/>
              <a:gd name="adj2" fmla="val 53281"/>
            </a:avLst>
          </a:prstGeom>
          <a:solidFill>
            <a:srgbClr val="0072FF">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5"/>
          <p:cNvSpPr/>
          <p:nvPr/>
        </p:nvSpPr>
        <p:spPr>
          <a:xfrm>
            <a:off x="5272624" y="1414182"/>
            <a:ext cx="724260" cy="869187"/>
          </a:xfrm>
          <a:custGeom>
            <a:avLst/>
            <a:gdLst/>
            <a:ahLst/>
            <a:cxnLst/>
            <a:rect l="l" t="t" r="r" b="b"/>
            <a:pathLst>
              <a:path w="15817" h="18981" extrusionOk="0">
                <a:moveTo>
                  <a:pt x="11364" y="1"/>
                </a:moveTo>
                <a:lnTo>
                  <a:pt x="11242" y="25"/>
                </a:lnTo>
                <a:lnTo>
                  <a:pt x="11169" y="74"/>
                </a:lnTo>
                <a:lnTo>
                  <a:pt x="11096" y="171"/>
                </a:lnTo>
                <a:lnTo>
                  <a:pt x="10780" y="731"/>
                </a:lnTo>
                <a:lnTo>
                  <a:pt x="10634" y="999"/>
                </a:lnTo>
                <a:lnTo>
                  <a:pt x="10537" y="1315"/>
                </a:lnTo>
                <a:lnTo>
                  <a:pt x="10512" y="1388"/>
                </a:lnTo>
                <a:lnTo>
                  <a:pt x="10537" y="1461"/>
                </a:lnTo>
                <a:lnTo>
                  <a:pt x="10585" y="1534"/>
                </a:lnTo>
                <a:lnTo>
                  <a:pt x="10634" y="1583"/>
                </a:lnTo>
                <a:lnTo>
                  <a:pt x="10707" y="1607"/>
                </a:lnTo>
                <a:lnTo>
                  <a:pt x="10804" y="1631"/>
                </a:lnTo>
                <a:lnTo>
                  <a:pt x="10877" y="1607"/>
                </a:lnTo>
                <a:lnTo>
                  <a:pt x="10950" y="1558"/>
                </a:lnTo>
                <a:lnTo>
                  <a:pt x="11145" y="1315"/>
                </a:lnTo>
                <a:lnTo>
                  <a:pt x="11291" y="1047"/>
                </a:lnTo>
                <a:lnTo>
                  <a:pt x="11510" y="731"/>
                </a:lnTo>
                <a:lnTo>
                  <a:pt x="11583" y="682"/>
                </a:lnTo>
                <a:lnTo>
                  <a:pt x="11656" y="609"/>
                </a:lnTo>
                <a:lnTo>
                  <a:pt x="11705" y="463"/>
                </a:lnTo>
                <a:lnTo>
                  <a:pt x="11729" y="342"/>
                </a:lnTo>
                <a:lnTo>
                  <a:pt x="11705" y="220"/>
                </a:lnTo>
                <a:lnTo>
                  <a:pt x="11656" y="123"/>
                </a:lnTo>
                <a:lnTo>
                  <a:pt x="11583" y="50"/>
                </a:lnTo>
                <a:lnTo>
                  <a:pt x="11486" y="25"/>
                </a:lnTo>
                <a:lnTo>
                  <a:pt x="11461" y="1"/>
                </a:lnTo>
                <a:close/>
                <a:moveTo>
                  <a:pt x="3821" y="171"/>
                </a:moveTo>
                <a:lnTo>
                  <a:pt x="3748" y="196"/>
                </a:lnTo>
                <a:lnTo>
                  <a:pt x="3699" y="244"/>
                </a:lnTo>
                <a:lnTo>
                  <a:pt x="3651" y="317"/>
                </a:lnTo>
                <a:lnTo>
                  <a:pt x="3651" y="390"/>
                </a:lnTo>
                <a:lnTo>
                  <a:pt x="3651" y="463"/>
                </a:lnTo>
                <a:lnTo>
                  <a:pt x="3699" y="634"/>
                </a:lnTo>
                <a:lnTo>
                  <a:pt x="3772" y="804"/>
                </a:lnTo>
                <a:lnTo>
                  <a:pt x="3943" y="1120"/>
                </a:lnTo>
                <a:lnTo>
                  <a:pt x="4113" y="1461"/>
                </a:lnTo>
                <a:lnTo>
                  <a:pt x="4259" y="1802"/>
                </a:lnTo>
                <a:lnTo>
                  <a:pt x="4332" y="1923"/>
                </a:lnTo>
                <a:lnTo>
                  <a:pt x="4429" y="1996"/>
                </a:lnTo>
                <a:lnTo>
                  <a:pt x="4527" y="2021"/>
                </a:lnTo>
                <a:lnTo>
                  <a:pt x="4624" y="1996"/>
                </a:lnTo>
                <a:lnTo>
                  <a:pt x="4721" y="1972"/>
                </a:lnTo>
                <a:lnTo>
                  <a:pt x="4794" y="1899"/>
                </a:lnTo>
                <a:lnTo>
                  <a:pt x="4843" y="1777"/>
                </a:lnTo>
                <a:lnTo>
                  <a:pt x="4843" y="1656"/>
                </a:lnTo>
                <a:lnTo>
                  <a:pt x="4794" y="1461"/>
                </a:lnTo>
                <a:lnTo>
                  <a:pt x="4697" y="1266"/>
                </a:lnTo>
                <a:lnTo>
                  <a:pt x="4502" y="901"/>
                </a:lnTo>
                <a:lnTo>
                  <a:pt x="4283" y="536"/>
                </a:lnTo>
                <a:lnTo>
                  <a:pt x="4162" y="390"/>
                </a:lnTo>
                <a:lnTo>
                  <a:pt x="4040" y="244"/>
                </a:lnTo>
                <a:lnTo>
                  <a:pt x="3967" y="196"/>
                </a:lnTo>
                <a:lnTo>
                  <a:pt x="3894" y="171"/>
                </a:lnTo>
                <a:close/>
                <a:moveTo>
                  <a:pt x="15452" y="4405"/>
                </a:moveTo>
                <a:lnTo>
                  <a:pt x="15379" y="4429"/>
                </a:lnTo>
                <a:lnTo>
                  <a:pt x="15306" y="4454"/>
                </a:lnTo>
                <a:lnTo>
                  <a:pt x="15135" y="4551"/>
                </a:lnTo>
                <a:lnTo>
                  <a:pt x="14941" y="4600"/>
                </a:lnTo>
                <a:lnTo>
                  <a:pt x="14551" y="4697"/>
                </a:lnTo>
                <a:lnTo>
                  <a:pt x="14357" y="4746"/>
                </a:lnTo>
                <a:lnTo>
                  <a:pt x="14162" y="4819"/>
                </a:lnTo>
                <a:lnTo>
                  <a:pt x="14016" y="4916"/>
                </a:lnTo>
                <a:lnTo>
                  <a:pt x="13870" y="5062"/>
                </a:lnTo>
                <a:lnTo>
                  <a:pt x="13822" y="5135"/>
                </a:lnTo>
                <a:lnTo>
                  <a:pt x="13822" y="5232"/>
                </a:lnTo>
                <a:lnTo>
                  <a:pt x="13846" y="5330"/>
                </a:lnTo>
                <a:lnTo>
                  <a:pt x="13895" y="5354"/>
                </a:lnTo>
                <a:lnTo>
                  <a:pt x="13943" y="5354"/>
                </a:lnTo>
                <a:lnTo>
                  <a:pt x="14138" y="5378"/>
                </a:lnTo>
                <a:lnTo>
                  <a:pt x="14357" y="5378"/>
                </a:lnTo>
                <a:lnTo>
                  <a:pt x="14600" y="5354"/>
                </a:lnTo>
                <a:lnTo>
                  <a:pt x="14819" y="5330"/>
                </a:lnTo>
                <a:lnTo>
                  <a:pt x="15038" y="5257"/>
                </a:lnTo>
                <a:lnTo>
                  <a:pt x="15257" y="5208"/>
                </a:lnTo>
                <a:lnTo>
                  <a:pt x="15452" y="5111"/>
                </a:lnTo>
                <a:lnTo>
                  <a:pt x="15646" y="5038"/>
                </a:lnTo>
                <a:lnTo>
                  <a:pt x="15719" y="4989"/>
                </a:lnTo>
                <a:lnTo>
                  <a:pt x="15768" y="4940"/>
                </a:lnTo>
                <a:lnTo>
                  <a:pt x="15817" y="4819"/>
                </a:lnTo>
                <a:lnTo>
                  <a:pt x="15792" y="4697"/>
                </a:lnTo>
                <a:lnTo>
                  <a:pt x="15768" y="4575"/>
                </a:lnTo>
                <a:lnTo>
                  <a:pt x="15671" y="4478"/>
                </a:lnTo>
                <a:lnTo>
                  <a:pt x="15573" y="4429"/>
                </a:lnTo>
                <a:lnTo>
                  <a:pt x="15452" y="4405"/>
                </a:lnTo>
                <a:close/>
                <a:moveTo>
                  <a:pt x="317" y="4697"/>
                </a:moveTo>
                <a:lnTo>
                  <a:pt x="220" y="4721"/>
                </a:lnTo>
                <a:lnTo>
                  <a:pt x="122" y="4746"/>
                </a:lnTo>
                <a:lnTo>
                  <a:pt x="25" y="4794"/>
                </a:lnTo>
                <a:lnTo>
                  <a:pt x="1" y="4867"/>
                </a:lnTo>
                <a:lnTo>
                  <a:pt x="1" y="4965"/>
                </a:lnTo>
                <a:lnTo>
                  <a:pt x="49" y="5038"/>
                </a:lnTo>
                <a:lnTo>
                  <a:pt x="195" y="5184"/>
                </a:lnTo>
                <a:lnTo>
                  <a:pt x="390" y="5305"/>
                </a:lnTo>
                <a:lnTo>
                  <a:pt x="779" y="5524"/>
                </a:lnTo>
                <a:lnTo>
                  <a:pt x="1169" y="5743"/>
                </a:lnTo>
                <a:lnTo>
                  <a:pt x="1388" y="5841"/>
                </a:lnTo>
                <a:lnTo>
                  <a:pt x="1582" y="5938"/>
                </a:lnTo>
                <a:lnTo>
                  <a:pt x="1655" y="5962"/>
                </a:lnTo>
                <a:lnTo>
                  <a:pt x="1801" y="5962"/>
                </a:lnTo>
                <a:lnTo>
                  <a:pt x="1850" y="5938"/>
                </a:lnTo>
                <a:lnTo>
                  <a:pt x="1923" y="5841"/>
                </a:lnTo>
                <a:lnTo>
                  <a:pt x="1972" y="5743"/>
                </a:lnTo>
                <a:lnTo>
                  <a:pt x="1996" y="5622"/>
                </a:lnTo>
                <a:lnTo>
                  <a:pt x="1972" y="5476"/>
                </a:lnTo>
                <a:lnTo>
                  <a:pt x="1899" y="5378"/>
                </a:lnTo>
                <a:lnTo>
                  <a:pt x="1826" y="5330"/>
                </a:lnTo>
                <a:lnTo>
                  <a:pt x="1777" y="5305"/>
                </a:lnTo>
                <a:lnTo>
                  <a:pt x="1582" y="5208"/>
                </a:lnTo>
                <a:lnTo>
                  <a:pt x="1388" y="5111"/>
                </a:lnTo>
                <a:lnTo>
                  <a:pt x="974" y="4892"/>
                </a:lnTo>
                <a:lnTo>
                  <a:pt x="755" y="4794"/>
                </a:lnTo>
                <a:lnTo>
                  <a:pt x="536" y="4721"/>
                </a:lnTo>
                <a:lnTo>
                  <a:pt x="317" y="4697"/>
                </a:lnTo>
                <a:close/>
                <a:moveTo>
                  <a:pt x="8809" y="6936"/>
                </a:moveTo>
                <a:lnTo>
                  <a:pt x="8736" y="6984"/>
                </a:lnTo>
                <a:lnTo>
                  <a:pt x="8663" y="7057"/>
                </a:lnTo>
                <a:lnTo>
                  <a:pt x="8566" y="7252"/>
                </a:lnTo>
                <a:lnTo>
                  <a:pt x="8468" y="7495"/>
                </a:lnTo>
                <a:lnTo>
                  <a:pt x="8420" y="7739"/>
                </a:lnTo>
                <a:lnTo>
                  <a:pt x="8395" y="7958"/>
                </a:lnTo>
                <a:lnTo>
                  <a:pt x="8395" y="8128"/>
                </a:lnTo>
                <a:lnTo>
                  <a:pt x="8322" y="8177"/>
                </a:lnTo>
                <a:lnTo>
                  <a:pt x="8201" y="8225"/>
                </a:lnTo>
                <a:lnTo>
                  <a:pt x="8079" y="8250"/>
                </a:lnTo>
                <a:lnTo>
                  <a:pt x="7982" y="8225"/>
                </a:lnTo>
                <a:lnTo>
                  <a:pt x="7909" y="8201"/>
                </a:lnTo>
                <a:lnTo>
                  <a:pt x="7982" y="8079"/>
                </a:lnTo>
                <a:lnTo>
                  <a:pt x="8055" y="7933"/>
                </a:lnTo>
                <a:lnTo>
                  <a:pt x="8103" y="7812"/>
                </a:lnTo>
                <a:lnTo>
                  <a:pt x="8103" y="7666"/>
                </a:lnTo>
                <a:lnTo>
                  <a:pt x="8103" y="7520"/>
                </a:lnTo>
                <a:lnTo>
                  <a:pt x="8055" y="7398"/>
                </a:lnTo>
                <a:lnTo>
                  <a:pt x="7957" y="7252"/>
                </a:lnTo>
                <a:lnTo>
                  <a:pt x="7836" y="7130"/>
                </a:lnTo>
                <a:lnTo>
                  <a:pt x="7763" y="7082"/>
                </a:lnTo>
                <a:lnTo>
                  <a:pt x="7617" y="7082"/>
                </a:lnTo>
                <a:lnTo>
                  <a:pt x="7544" y="7130"/>
                </a:lnTo>
                <a:lnTo>
                  <a:pt x="7446" y="7252"/>
                </a:lnTo>
                <a:lnTo>
                  <a:pt x="7373" y="7374"/>
                </a:lnTo>
                <a:lnTo>
                  <a:pt x="7325" y="7495"/>
                </a:lnTo>
                <a:lnTo>
                  <a:pt x="7300" y="7641"/>
                </a:lnTo>
                <a:lnTo>
                  <a:pt x="7300" y="7787"/>
                </a:lnTo>
                <a:lnTo>
                  <a:pt x="7300" y="7909"/>
                </a:lnTo>
                <a:lnTo>
                  <a:pt x="7325" y="8055"/>
                </a:lnTo>
                <a:lnTo>
                  <a:pt x="7373" y="8177"/>
                </a:lnTo>
                <a:lnTo>
                  <a:pt x="7179" y="8298"/>
                </a:lnTo>
                <a:lnTo>
                  <a:pt x="7081" y="8323"/>
                </a:lnTo>
                <a:lnTo>
                  <a:pt x="6984" y="8347"/>
                </a:lnTo>
                <a:lnTo>
                  <a:pt x="6911" y="8371"/>
                </a:lnTo>
                <a:lnTo>
                  <a:pt x="6814" y="8347"/>
                </a:lnTo>
                <a:lnTo>
                  <a:pt x="6692" y="8298"/>
                </a:lnTo>
                <a:lnTo>
                  <a:pt x="6570" y="8201"/>
                </a:lnTo>
                <a:lnTo>
                  <a:pt x="6497" y="8055"/>
                </a:lnTo>
                <a:lnTo>
                  <a:pt x="6449" y="7909"/>
                </a:lnTo>
                <a:lnTo>
                  <a:pt x="6449" y="7739"/>
                </a:lnTo>
                <a:lnTo>
                  <a:pt x="6497" y="7544"/>
                </a:lnTo>
                <a:lnTo>
                  <a:pt x="6497" y="7520"/>
                </a:lnTo>
                <a:lnTo>
                  <a:pt x="6473" y="7520"/>
                </a:lnTo>
                <a:lnTo>
                  <a:pt x="6449" y="7495"/>
                </a:lnTo>
                <a:lnTo>
                  <a:pt x="6424" y="7520"/>
                </a:lnTo>
                <a:lnTo>
                  <a:pt x="6327" y="7617"/>
                </a:lnTo>
                <a:lnTo>
                  <a:pt x="6254" y="7739"/>
                </a:lnTo>
                <a:lnTo>
                  <a:pt x="6230" y="7836"/>
                </a:lnTo>
                <a:lnTo>
                  <a:pt x="6206" y="7958"/>
                </a:lnTo>
                <a:lnTo>
                  <a:pt x="6206" y="8055"/>
                </a:lnTo>
                <a:lnTo>
                  <a:pt x="6206" y="8177"/>
                </a:lnTo>
                <a:lnTo>
                  <a:pt x="6254" y="8274"/>
                </a:lnTo>
                <a:lnTo>
                  <a:pt x="6303" y="8371"/>
                </a:lnTo>
                <a:lnTo>
                  <a:pt x="6376" y="8469"/>
                </a:lnTo>
                <a:lnTo>
                  <a:pt x="6449" y="8542"/>
                </a:lnTo>
                <a:lnTo>
                  <a:pt x="6546" y="8615"/>
                </a:lnTo>
                <a:lnTo>
                  <a:pt x="6643" y="8663"/>
                </a:lnTo>
                <a:lnTo>
                  <a:pt x="6765" y="8712"/>
                </a:lnTo>
                <a:lnTo>
                  <a:pt x="6862" y="8736"/>
                </a:lnTo>
                <a:lnTo>
                  <a:pt x="7008" y="8736"/>
                </a:lnTo>
                <a:lnTo>
                  <a:pt x="7130" y="8712"/>
                </a:lnTo>
                <a:lnTo>
                  <a:pt x="7349" y="8615"/>
                </a:lnTo>
                <a:lnTo>
                  <a:pt x="7592" y="8493"/>
                </a:lnTo>
                <a:lnTo>
                  <a:pt x="7690" y="8566"/>
                </a:lnTo>
                <a:lnTo>
                  <a:pt x="7836" y="8639"/>
                </a:lnTo>
                <a:lnTo>
                  <a:pt x="7982" y="8663"/>
                </a:lnTo>
                <a:lnTo>
                  <a:pt x="8128" y="8688"/>
                </a:lnTo>
                <a:lnTo>
                  <a:pt x="8225" y="8688"/>
                </a:lnTo>
                <a:lnTo>
                  <a:pt x="8347" y="8663"/>
                </a:lnTo>
                <a:lnTo>
                  <a:pt x="8566" y="8566"/>
                </a:lnTo>
                <a:lnTo>
                  <a:pt x="8639" y="8663"/>
                </a:lnTo>
                <a:lnTo>
                  <a:pt x="8736" y="8736"/>
                </a:lnTo>
                <a:lnTo>
                  <a:pt x="8833" y="8809"/>
                </a:lnTo>
                <a:lnTo>
                  <a:pt x="8931" y="8858"/>
                </a:lnTo>
                <a:lnTo>
                  <a:pt x="9174" y="8907"/>
                </a:lnTo>
                <a:lnTo>
                  <a:pt x="9417" y="8931"/>
                </a:lnTo>
                <a:lnTo>
                  <a:pt x="9661" y="8882"/>
                </a:lnTo>
                <a:lnTo>
                  <a:pt x="9880" y="8809"/>
                </a:lnTo>
                <a:lnTo>
                  <a:pt x="9977" y="8736"/>
                </a:lnTo>
                <a:lnTo>
                  <a:pt x="10074" y="8663"/>
                </a:lnTo>
                <a:lnTo>
                  <a:pt x="10172" y="8566"/>
                </a:lnTo>
                <a:lnTo>
                  <a:pt x="10269" y="8469"/>
                </a:lnTo>
                <a:lnTo>
                  <a:pt x="10293" y="8396"/>
                </a:lnTo>
                <a:lnTo>
                  <a:pt x="10293" y="8347"/>
                </a:lnTo>
                <a:lnTo>
                  <a:pt x="10269" y="8298"/>
                </a:lnTo>
                <a:lnTo>
                  <a:pt x="10245" y="8250"/>
                </a:lnTo>
                <a:lnTo>
                  <a:pt x="10172" y="8225"/>
                </a:lnTo>
                <a:lnTo>
                  <a:pt x="10123" y="8201"/>
                </a:lnTo>
                <a:lnTo>
                  <a:pt x="10001" y="8201"/>
                </a:lnTo>
                <a:lnTo>
                  <a:pt x="9782" y="8323"/>
                </a:lnTo>
                <a:lnTo>
                  <a:pt x="9563" y="8420"/>
                </a:lnTo>
                <a:lnTo>
                  <a:pt x="9442" y="8444"/>
                </a:lnTo>
                <a:lnTo>
                  <a:pt x="9344" y="8469"/>
                </a:lnTo>
                <a:lnTo>
                  <a:pt x="9223" y="8469"/>
                </a:lnTo>
                <a:lnTo>
                  <a:pt x="9101" y="8420"/>
                </a:lnTo>
                <a:lnTo>
                  <a:pt x="9004" y="8347"/>
                </a:lnTo>
                <a:lnTo>
                  <a:pt x="8931" y="8274"/>
                </a:lnTo>
                <a:lnTo>
                  <a:pt x="9052" y="8128"/>
                </a:lnTo>
                <a:lnTo>
                  <a:pt x="9150" y="7982"/>
                </a:lnTo>
                <a:lnTo>
                  <a:pt x="9247" y="7836"/>
                </a:lnTo>
                <a:lnTo>
                  <a:pt x="9296" y="7666"/>
                </a:lnTo>
                <a:lnTo>
                  <a:pt x="9320" y="7495"/>
                </a:lnTo>
                <a:lnTo>
                  <a:pt x="9296" y="7349"/>
                </a:lnTo>
                <a:lnTo>
                  <a:pt x="9247" y="7203"/>
                </a:lnTo>
                <a:lnTo>
                  <a:pt x="9150" y="7057"/>
                </a:lnTo>
                <a:lnTo>
                  <a:pt x="9052" y="6984"/>
                </a:lnTo>
                <a:lnTo>
                  <a:pt x="8955" y="6936"/>
                </a:lnTo>
                <a:close/>
                <a:moveTo>
                  <a:pt x="1947" y="9710"/>
                </a:moveTo>
                <a:lnTo>
                  <a:pt x="1801" y="9758"/>
                </a:lnTo>
                <a:lnTo>
                  <a:pt x="1582" y="9856"/>
                </a:lnTo>
                <a:lnTo>
                  <a:pt x="1363" y="10002"/>
                </a:lnTo>
                <a:lnTo>
                  <a:pt x="925" y="10294"/>
                </a:lnTo>
                <a:lnTo>
                  <a:pt x="706" y="10415"/>
                </a:lnTo>
                <a:lnTo>
                  <a:pt x="585" y="10513"/>
                </a:lnTo>
                <a:lnTo>
                  <a:pt x="463" y="10610"/>
                </a:lnTo>
                <a:lnTo>
                  <a:pt x="366" y="10707"/>
                </a:lnTo>
                <a:lnTo>
                  <a:pt x="317" y="10829"/>
                </a:lnTo>
                <a:lnTo>
                  <a:pt x="317" y="10878"/>
                </a:lnTo>
                <a:lnTo>
                  <a:pt x="341" y="10926"/>
                </a:lnTo>
                <a:lnTo>
                  <a:pt x="366" y="10999"/>
                </a:lnTo>
                <a:lnTo>
                  <a:pt x="439" y="11048"/>
                </a:lnTo>
                <a:lnTo>
                  <a:pt x="536" y="11097"/>
                </a:lnTo>
                <a:lnTo>
                  <a:pt x="633" y="11097"/>
                </a:lnTo>
                <a:lnTo>
                  <a:pt x="755" y="11072"/>
                </a:lnTo>
                <a:lnTo>
                  <a:pt x="877" y="11048"/>
                </a:lnTo>
                <a:lnTo>
                  <a:pt x="1120" y="10926"/>
                </a:lnTo>
                <a:lnTo>
                  <a:pt x="1315" y="10829"/>
                </a:lnTo>
                <a:lnTo>
                  <a:pt x="1728" y="10610"/>
                </a:lnTo>
                <a:lnTo>
                  <a:pt x="1947" y="10488"/>
                </a:lnTo>
                <a:lnTo>
                  <a:pt x="2142" y="10342"/>
                </a:lnTo>
                <a:lnTo>
                  <a:pt x="2264" y="10245"/>
                </a:lnTo>
                <a:lnTo>
                  <a:pt x="2312" y="10123"/>
                </a:lnTo>
                <a:lnTo>
                  <a:pt x="2312" y="10002"/>
                </a:lnTo>
                <a:lnTo>
                  <a:pt x="2264" y="9880"/>
                </a:lnTo>
                <a:lnTo>
                  <a:pt x="2191" y="9783"/>
                </a:lnTo>
                <a:lnTo>
                  <a:pt x="2069" y="9734"/>
                </a:lnTo>
                <a:lnTo>
                  <a:pt x="1947" y="9710"/>
                </a:lnTo>
                <a:close/>
                <a:moveTo>
                  <a:pt x="14065" y="10026"/>
                </a:moveTo>
                <a:lnTo>
                  <a:pt x="13895" y="10050"/>
                </a:lnTo>
                <a:lnTo>
                  <a:pt x="13846" y="10075"/>
                </a:lnTo>
                <a:lnTo>
                  <a:pt x="13797" y="10123"/>
                </a:lnTo>
                <a:lnTo>
                  <a:pt x="13773" y="10172"/>
                </a:lnTo>
                <a:lnTo>
                  <a:pt x="13749" y="10221"/>
                </a:lnTo>
                <a:lnTo>
                  <a:pt x="13773" y="10318"/>
                </a:lnTo>
                <a:lnTo>
                  <a:pt x="13797" y="10367"/>
                </a:lnTo>
                <a:lnTo>
                  <a:pt x="13846" y="10415"/>
                </a:lnTo>
                <a:lnTo>
                  <a:pt x="14138" y="10586"/>
                </a:lnTo>
                <a:lnTo>
                  <a:pt x="14454" y="10756"/>
                </a:lnTo>
                <a:lnTo>
                  <a:pt x="14624" y="10878"/>
                </a:lnTo>
                <a:lnTo>
                  <a:pt x="14819" y="10975"/>
                </a:lnTo>
                <a:lnTo>
                  <a:pt x="15014" y="11048"/>
                </a:lnTo>
                <a:lnTo>
                  <a:pt x="15208" y="11097"/>
                </a:lnTo>
                <a:lnTo>
                  <a:pt x="15379" y="11097"/>
                </a:lnTo>
                <a:lnTo>
                  <a:pt x="15427" y="11072"/>
                </a:lnTo>
                <a:lnTo>
                  <a:pt x="15500" y="11024"/>
                </a:lnTo>
                <a:lnTo>
                  <a:pt x="15573" y="10951"/>
                </a:lnTo>
                <a:lnTo>
                  <a:pt x="15598" y="10829"/>
                </a:lnTo>
                <a:lnTo>
                  <a:pt x="15598" y="10707"/>
                </a:lnTo>
                <a:lnTo>
                  <a:pt x="15549" y="10586"/>
                </a:lnTo>
                <a:lnTo>
                  <a:pt x="15500" y="10537"/>
                </a:lnTo>
                <a:lnTo>
                  <a:pt x="15452" y="10513"/>
                </a:lnTo>
                <a:lnTo>
                  <a:pt x="15379" y="10464"/>
                </a:lnTo>
                <a:lnTo>
                  <a:pt x="15306" y="10464"/>
                </a:lnTo>
                <a:lnTo>
                  <a:pt x="15135" y="10415"/>
                </a:lnTo>
                <a:lnTo>
                  <a:pt x="14965" y="10367"/>
                </a:lnTo>
                <a:lnTo>
                  <a:pt x="14600" y="10196"/>
                </a:lnTo>
                <a:lnTo>
                  <a:pt x="14430" y="10099"/>
                </a:lnTo>
                <a:lnTo>
                  <a:pt x="14260" y="10050"/>
                </a:lnTo>
                <a:lnTo>
                  <a:pt x="14065" y="10026"/>
                </a:lnTo>
                <a:close/>
                <a:moveTo>
                  <a:pt x="8468" y="2605"/>
                </a:moveTo>
                <a:lnTo>
                  <a:pt x="8760" y="2629"/>
                </a:lnTo>
                <a:lnTo>
                  <a:pt x="9052" y="2678"/>
                </a:lnTo>
                <a:lnTo>
                  <a:pt x="9344" y="2726"/>
                </a:lnTo>
                <a:lnTo>
                  <a:pt x="9125" y="2799"/>
                </a:lnTo>
                <a:lnTo>
                  <a:pt x="9101" y="2824"/>
                </a:lnTo>
                <a:lnTo>
                  <a:pt x="9101" y="2848"/>
                </a:lnTo>
                <a:lnTo>
                  <a:pt x="9101" y="2872"/>
                </a:lnTo>
                <a:lnTo>
                  <a:pt x="9125" y="2897"/>
                </a:lnTo>
                <a:lnTo>
                  <a:pt x="9223" y="2945"/>
                </a:lnTo>
                <a:lnTo>
                  <a:pt x="9320" y="2970"/>
                </a:lnTo>
                <a:lnTo>
                  <a:pt x="9442" y="2945"/>
                </a:lnTo>
                <a:lnTo>
                  <a:pt x="9563" y="2921"/>
                </a:lnTo>
                <a:lnTo>
                  <a:pt x="9855" y="2872"/>
                </a:lnTo>
                <a:lnTo>
                  <a:pt x="10269" y="3043"/>
                </a:lnTo>
                <a:lnTo>
                  <a:pt x="10074" y="3067"/>
                </a:lnTo>
                <a:lnTo>
                  <a:pt x="9855" y="3116"/>
                </a:lnTo>
                <a:lnTo>
                  <a:pt x="9685" y="3189"/>
                </a:lnTo>
                <a:lnTo>
                  <a:pt x="9515" y="3262"/>
                </a:lnTo>
                <a:lnTo>
                  <a:pt x="9515" y="3286"/>
                </a:lnTo>
                <a:lnTo>
                  <a:pt x="9490" y="3310"/>
                </a:lnTo>
                <a:lnTo>
                  <a:pt x="9515" y="3335"/>
                </a:lnTo>
                <a:lnTo>
                  <a:pt x="9539" y="3359"/>
                </a:lnTo>
                <a:lnTo>
                  <a:pt x="9953" y="3335"/>
                </a:lnTo>
                <a:lnTo>
                  <a:pt x="10342" y="3310"/>
                </a:lnTo>
                <a:lnTo>
                  <a:pt x="10780" y="3310"/>
                </a:lnTo>
                <a:lnTo>
                  <a:pt x="11048" y="3505"/>
                </a:lnTo>
                <a:lnTo>
                  <a:pt x="10756" y="3578"/>
                </a:lnTo>
                <a:lnTo>
                  <a:pt x="10464" y="3675"/>
                </a:lnTo>
                <a:lnTo>
                  <a:pt x="10245" y="3797"/>
                </a:lnTo>
                <a:lnTo>
                  <a:pt x="10099" y="3918"/>
                </a:lnTo>
                <a:lnTo>
                  <a:pt x="10074" y="3943"/>
                </a:lnTo>
                <a:lnTo>
                  <a:pt x="10099" y="3943"/>
                </a:lnTo>
                <a:lnTo>
                  <a:pt x="10391" y="3918"/>
                </a:lnTo>
                <a:lnTo>
                  <a:pt x="10683" y="3870"/>
                </a:lnTo>
                <a:lnTo>
                  <a:pt x="10975" y="3821"/>
                </a:lnTo>
                <a:lnTo>
                  <a:pt x="11291" y="3773"/>
                </a:lnTo>
                <a:lnTo>
                  <a:pt x="11364" y="3773"/>
                </a:lnTo>
                <a:lnTo>
                  <a:pt x="11583" y="3967"/>
                </a:lnTo>
                <a:lnTo>
                  <a:pt x="11778" y="4186"/>
                </a:lnTo>
                <a:lnTo>
                  <a:pt x="11388" y="4210"/>
                </a:lnTo>
                <a:lnTo>
                  <a:pt x="10829" y="4259"/>
                </a:lnTo>
                <a:lnTo>
                  <a:pt x="10561" y="4283"/>
                </a:lnTo>
                <a:lnTo>
                  <a:pt x="10318" y="4381"/>
                </a:lnTo>
                <a:lnTo>
                  <a:pt x="10293" y="4405"/>
                </a:lnTo>
                <a:lnTo>
                  <a:pt x="10293" y="4429"/>
                </a:lnTo>
                <a:lnTo>
                  <a:pt x="10318" y="4454"/>
                </a:lnTo>
                <a:lnTo>
                  <a:pt x="10585" y="4527"/>
                </a:lnTo>
                <a:lnTo>
                  <a:pt x="11705" y="4527"/>
                </a:lnTo>
                <a:lnTo>
                  <a:pt x="11997" y="4502"/>
                </a:lnTo>
                <a:lnTo>
                  <a:pt x="12216" y="4867"/>
                </a:lnTo>
                <a:lnTo>
                  <a:pt x="11851" y="4867"/>
                </a:lnTo>
                <a:lnTo>
                  <a:pt x="11267" y="4892"/>
                </a:lnTo>
                <a:lnTo>
                  <a:pt x="10658" y="4940"/>
                </a:lnTo>
                <a:lnTo>
                  <a:pt x="10634" y="4940"/>
                </a:lnTo>
                <a:lnTo>
                  <a:pt x="10634" y="4965"/>
                </a:lnTo>
                <a:lnTo>
                  <a:pt x="10634" y="4989"/>
                </a:lnTo>
                <a:lnTo>
                  <a:pt x="10658" y="5013"/>
                </a:lnTo>
                <a:lnTo>
                  <a:pt x="10902" y="5086"/>
                </a:lnTo>
                <a:lnTo>
                  <a:pt x="11169" y="5111"/>
                </a:lnTo>
                <a:lnTo>
                  <a:pt x="12021" y="5111"/>
                </a:lnTo>
                <a:lnTo>
                  <a:pt x="12362" y="5135"/>
                </a:lnTo>
                <a:lnTo>
                  <a:pt x="12556" y="5622"/>
                </a:lnTo>
                <a:lnTo>
                  <a:pt x="11461" y="5622"/>
                </a:lnTo>
                <a:lnTo>
                  <a:pt x="11291" y="5646"/>
                </a:lnTo>
                <a:lnTo>
                  <a:pt x="11145" y="5695"/>
                </a:lnTo>
                <a:lnTo>
                  <a:pt x="10999" y="5768"/>
                </a:lnTo>
                <a:lnTo>
                  <a:pt x="10975" y="5792"/>
                </a:lnTo>
                <a:lnTo>
                  <a:pt x="10999" y="5841"/>
                </a:lnTo>
                <a:lnTo>
                  <a:pt x="11267" y="5889"/>
                </a:lnTo>
                <a:lnTo>
                  <a:pt x="11534" y="5889"/>
                </a:lnTo>
                <a:lnTo>
                  <a:pt x="12070" y="5914"/>
                </a:lnTo>
                <a:lnTo>
                  <a:pt x="12654" y="5938"/>
                </a:lnTo>
                <a:lnTo>
                  <a:pt x="12702" y="6060"/>
                </a:lnTo>
                <a:lnTo>
                  <a:pt x="12727" y="6181"/>
                </a:lnTo>
                <a:lnTo>
                  <a:pt x="12386" y="6181"/>
                </a:lnTo>
                <a:lnTo>
                  <a:pt x="11729" y="6254"/>
                </a:lnTo>
                <a:lnTo>
                  <a:pt x="11413" y="6279"/>
                </a:lnTo>
                <a:lnTo>
                  <a:pt x="11121" y="6352"/>
                </a:lnTo>
                <a:lnTo>
                  <a:pt x="11096" y="6352"/>
                </a:lnTo>
                <a:lnTo>
                  <a:pt x="11096" y="6376"/>
                </a:lnTo>
                <a:lnTo>
                  <a:pt x="11096" y="6400"/>
                </a:lnTo>
                <a:lnTo>
                  <a:pt x="11121" y="6425"/>
                </a:lnTo>
                <a:lnTo>
                  <a:pt x="11388" y="6473"/>
                </a:lnTo>
                <a:lnTo>
                  <a:pt x="11656" y="6498"/>
                </a:lnTo>
                <a:lnTo>
                  <a:pt x="12508" y="6498"/>
                </a:lnTo>
                <a:lnTo>
                  <a:pt x="12824" y="6522"/>
                </a:lnTo>
                <a:lnTo>
                  <a:pt x="12873" y="6838"/>
                </a:lnTo>
                <a:lnTo>
                  <a:pt x="12556" y="6838"/>
                </a:lnTo>
                <a:lnTo>
                  <a:pt x="12240" y="6863"/>
                </a:lnTo>
                <a:lnTo>
                  <a:pt x="11753" y="6887"/>
                </a:lnTo>
                <a:lnTo>
                  <a:pt x="11510" y="6911"/>
                </a:lnTo>
                <a:lnTo>
                  <a:pt x="11267" y="6936"/>
                </a:lnTo>
                <a:lnTo>
                  <a:pt x="11242" y="6936"/>
                </a:lnTo>
                <a:lnTo>
                  <a:pt x="11242" y="6960"/>
                </a:lnTo>
                <a:lnTo>
                  <a:pt x="11242" y="7009"/>
                </a:lnTo>
                <a:lnTo>
                  <a:pt x="11267" y="7009"/>
                </a:lnTo>
                <a:lnTo>
                  <a:pt x="11461" y="7082"/>
                </a:lnTo>
                <a:lnTo>
                  <a:pt x="11680" y="7130"/>
                </a:lnTo>
                <a:lnTo>
                  <a:pt x="12727" y="7130"/>
                </a:lnTo>
                <a:lnTo>
                  <a:pt x="12921" y="7106"/>
                </a:lnTo>
                <a:lnTo>
                  <a:pt x="12994" y="7593"/>
                </a:lnTo>
                <a:lnTo>
                  <a:pt x="12994" y="7593"/>
                </a:lnTo>
                <a:lnTo>
                  <a:pt x="12848" y="7568"/>
                </a:lnTo>
                <a:lnTo>
                  <a:pt x="12702" y="7568"/>
                </a:lnTo>
                <a:lnTo>
                  <a:pt x="12435" y="7593"/>
                </a:lnTo>
                <a:lnTo>
                  <a:pt x="11997" y="7593"/>
                </a:lnTo>
                <a:lnTo>
                  <a:pt x="11778" y="7617"/>
                </a:lnTo>
                <a:lnTo>
                  <a:pt x="11559" y="7690"/>
                </a:lnTo>
                <a:lnTo>
                  <a:pt x="11534" y="7690"/>
                </a:lnTo>
                <a:lnTo>
                  <a:pt x="11534" y="7739"/>
                </a:lnTo>
                <a:lnTo>
                  <a:pt x="11534" y="7763"/>
                </a:lnTo>
                <a:lnTo>
                  <a:pt x="11559" y="7787"/>
                </a:lnTo>
                <a:lnTo>
                  <a:pt x="11778" y="7836"/>
                </a:lnTo>
                <a:lnTo>
                  <a:pt x="11997" y="7860"/>
                </a:lnTo>
                <a:lnTo>
                  <a:pt x="12435" y="7860"/>
                </a:lnTo>
                <a:lnTo>
                  <a:pt x="12702" y="7885"/>
                </a:lnTo>
                <a:lnTo>
                  <a:pt x="12848" y="7885"/>
                </a:lnTo>
                <a:lnTo>
                  <a:pt x="12994" y="7860"/>
                </a:lnTo>
                <a:lnTo>
                  <a:pt x="12994" y="7909"/>
                </a:lnTo>
                <a:lnTo>
                  <a:pt x="12994" y="8250"/>
                </a:lnTo>
                <a:lnTo>
                  <a:pt x="12873" y="8201"/>
                </a:lnTo>
                <a:lnTo>
                  <a:pt x="12775" y="8201"/>
                </a:lnTo>
                <a:lnTo>
                  <a:pt x="12532" y="8177"/>
                </a:lnTo>
                <a:lnTo>
                  <a:pt x="12094" y="8177"/>
                </a:lnTo>
                <a:lnTo>
                  <a:pt x="11875" y="8201"/>
                </a:lnTo>
                <a:lnTo>
                  <a:pt x="11656" y="8250"/>
                </a:lnTo>
                <a:lnTo>
                  <a:pt x="11656" y="8274"/>
                </a:lnTo>
                <a:lnTo>
                  <a:pt x="11632" y="8298"/>
                </a:lnTo>
                <a:lnTo>
                  <a:pt x="11656" y="8298"/>
                </a:lnTo>
                <a:lnTo>
                  <a:pt x="11656" y="8323"/>
                </a:lnTo>
                <a:lnTo>
                  <a:pt x="12045" y="8396"/>
                </a:lnTo>
                <a:lnTo>
                  <a:pt x="12410" y="8444"/>
                </a:lnTo>
                <a:lnTo>
                  <a:pt x="12702" y="8469"/>
                </a:lnTo>
                <a:lnTo>
                  <a:pt x="12824" y="8493"/>
                </a:lnTo>
                <a:lnTo>
                  <a:pt x="12970" y="8469"/>
                </a:lnTo>
                <a:lnTo>
                  <a:pt x="12873" y="8858"/>
                </a:lnTo>
                <a:lnTo>
                  <a:pt x="12654" y="8809"/>
                </a:lnTo>
                <a:lnTo>
                  <a:pt x="12483" y="8785"/>
                </a:lnTo>
                <a:lnTo>
                  <a:pt x="12264" y="8736"/>
                </a:lnTo>
                <a:lnTo>
                  <a:pt x="11826" y="8736"/>
                </a:lnTo>
                <a:lnTo>
                  <a:pt x="11607" y="8809"/>
                </a:lnTo>
                <a:lnTo>
                  <a:pt x="11583" y="8834"/>
                </a:lnTo>
                <a:lnTo>
                  <a:pt x="11583" y="8858"/>
                </a:lnTo>
                <a:lnTo>
                  <a:pt x="11583" y="8882"/>
                </a:lnTo>
                <a:lnTo>
                  <a:pt x="11851" y="8882"/>
                </a:lnTo>
                <a:lnTo>
                  <a:pt x="12094" y="8931"/>
                </a:lnTo>
                <a:lnTo>
                  <a:pt x="12556" y="9053"/>
                </a:lnTo>
                <a:lnTo>
                  <a:pt x="12775" y="9126"/>
                </a:lnTo>
                <a:lnTo>
                  <a:pt x="12654" y="9345"/>
                </a:lnTo>
                <a:lnTo>
                  <a:pt x="12508" y="9296"/>
                </a:lnTo>
                <a:lnTo>
                  <a:pt x="12313" y="9272"/>
                </a:lnTo>
                <a:lnTo>
                  <a:pt x="12143" y="9223"/>
                </a:lnTo>
                <a:lnTo>
                  <a:pt x="11972" y="9199"/>
                </a:lnTo>
                <a:lnTo>
                  <a:pt x="11607" y="9199"/>
                </a:lnTo>
                <a:lnTo>
                  <a:pt x="11583" y="9223"/>
                </a:lnTo>
                <a:lnTo>
                  <a:pt x="11583" y="9247"/>
                </a:lnTo>
                <a:lnTo>
                  <a:pt x="11583" y="9272"/>
                </a:lnTo>
                <a:lnTo>
                  <a:pt x="11924" y="9418"/>
                </a:lnTo>
                <a:lnTo>
                  <a:pt x="12240" y="9564"/>
                </a:lnTo>
                <a:lnTo>
                  <a:pt x="12532" y="9637"/>
                </a:lnTo>
                <a:lnTo>
                  <a:pt x="12337" y="9929"/>
                </a:lnTo>
                <a:lnTo>
                  <a:pt x="12337" y="9977"/>
                </a:lnTo>
                <a:lnTo>
                  <a:pt x="12167" y="9904"/>
                </a:lnTo>
                <a:lnTo>
                  <a:pt x="11997" y="9880"/>
                </a:lnTo>
                <a:lnTo>
                  <a:pt x="11802" y="9831"/>
                </a:lnTo>
                <a:lnTo>
                  <a:pt x="11242" y="9831"/>
                </a:lnTo>
                <a:lnTo>
                  <a:pt x="11218" y="9856"/>
                </a:lnTo>
                <a:lnTo>
                  <a:pt x="11218" y="9880"/>
                </a:lnTo>
                <a:lnTo>
                  <a:pt x="11242" y="9880"/>
                </a:lnTo>
                <a:lnTo>
                  <a:pt x="11534" y="10002"/>
                </a:lnTo>
                <a:lnTo>
                  <a:pt x="11851" y="10123"/>
                </a:lnTo>
                <a:lnTo>
                  <a:pt x="12167" y="10245"/>
                </a:lnTo>
                <a:lnTo>
                  <a:pt x="11972" y="10513"/>
                </a:lnTo>
                <a:lnTo>
                  <a:pt x="11826" y="10488"/>
                </a:lnTo>
                <a:lnTo>
                  <a:pt x="11413" y="10391"/>
                </a:lnTo>
                <a:lnTo>
                  <a:pt x="11023" y="10342"/>
                </a:lnTo>
                <a:lnTo>
                  <a:pt x="10975" y="10342"/>
                </a:lnTo>
                <a:lnTo>
                  <a:pt x="10975" y="10367"/>
                </a:lnTo>
                <a:lnTo>
                  <a:pt x="10975" y="10391"/>
                </a:lnTo>
                <a:lnTo>
                  <a:pt x="10999" y="10440"/>
                </a:lnTo>
                <a:lnTo>
                  <a:pt x="11145" y="10537"/>
                </a:lnTo>
                <a:lnTo>
                  <a:pt x="11315" y="10610"/>
                </a:lnTo>
                <a:lnTo>
                  <a:pt x="11632" y="10732"/>
                </a:lnTo>
                <a:lnTo>
                  <a:pt x="11802" y="10780"/>
                </a:lnTo>
                <a:lnTo>
                  <a:pt x="11656" y="10999"/>
                </a:lnTo>
                <a:lnTo>
                  <a:pt x="11510" y="10951"/>
                </a:lnTo>
                <a:lnTo>
                  <a:pt x="11364" y="10926"/>
                </a:lnTo>
                <a:lnTo>
                  <a:pt x="11072" y="10853"/>
                </a:lnTo>
                <a:lnTo>
                  <a:pt x="10950" y="10853"/>
                </a:lnTo>
                <a:lnTo>
                  <a:pt x="10804" y="10902"/>
                </a:lnTo>
                <a:lnTo>
                  <a:pt x="10780" y="10926"/>
                </a:lnTo>
                <a:lnTo>
                  <a:pt x="10756" y="10951"/>
                </a:lnTo>
                <a:lnTo>
                  <a:pt x="10756" y="10999"/>
                </a:lnTo>
                <a:lnTo>
                  <a:pt x="10780" y="11048"/>
                </a:lnTo>
                <a:lnTo>
                  <a:pt x="10902" y="11121"/>
                </a:lnTo>
                <a:lnTo>
                  <a:pt x="11023" y="11170"/>
                </a:lnTo>
                <a:lnTo>
                  <a:pt x="11267" y="11243"/>
                </a:lnTo>
                <a:lnTo>
                  <a:pt x="11461" y="11291"/>
                </a:lnTo>
                <a:lnTo>
                  <a:pt x="11242" y="11583"/>
                </a:lnTo>
                <a:lnTo>
                  <a:pt x="11072" y="11535"/>
                </a:lnTo>
                <a:lnTo>
                  <a:pt x="10877" y="11535"/>
                </a:lnTo>
                <a:lnTo>
                  <a:pt x="10683" y="11583"/>
                </a:lnTo>
                <a:lnTo>
                  <a:pt x="10658" y="11608"/>
                </a:lnTo>
                <a:lnTo>
                  <a:pt x="10683" y="11632"/>
                </a:lnTo>
                <a:lnTo>
                  <a:pt x="10829" y="11681"/>
                </a:lnTo>
                <a:lnTo>
                  <a:pt x="10975" y="11729"/>
                </a:lnTo>
                <a:lnTo>
                  <a:pt x="11096" y="11778"/>
                </a:lnTo>
                <a:lnTo>
                  <a:pt x="10877" y="12143"/>
                </a:lnTo>
                <a:lnTo>
                  <a:pt x="10829" y="12118"/>
                </a:lnTo>
                <a:lnTo>
                  <a:pt x="10658" y="12045"/>
                </a:lnTo>
                <a:lnTo>
                  <a:pt x="10561" y="11997"/>
                </a:lnTo>
                <a:lnTo>
                  <a:pt x="10464" y="11972"/>
                </a:lnTo>
                <a:lnTo>
                  <a:pt x="10439" y="11997"/>
                </a:lnTo>
                <a:lnTo>
                  <a:pt x="10439" y="12045"/>
                </a:lnTo>
                <a:lnTo>
                  <a:pt x="10488" y="12118"/>
                </a:lnTo>
                <a:lnTo>
                  <a:pt x="10585" y="12191"/>
                </a:lnTo>
                <a:lnTo>
                  <a:pt x="10756" y="12313"/>
                </a:lnTo>
                <a:lnTo>
                  <a:pt x="10561" y="12654"/>
                </a:lnTo>
                <a:lnTo>
                  <a:pt x="10415" y="12629"/>
                </a:lnTo>
                <a:lnTo>
                  <a:pt x="10172" y="12629"/>
                </a:lnTo>
                <a:lnTo>
                  <a:pt x="10026" y="12654"/>
                </a:lnTo>
                <a:lnTo>
                  <a:pt x="10026" y="12678"/>
                </a:lnTo>
                <a:lnTo>
                  <a:pt x="10026" y="12702"/>
                </a:lnTo>
                <a:lnTo>
                  <a:pt x="10245" y="12800"/>
                </a:lnTo>
                <a:lnTo>
                  <a:pt x="10439" y="12897"/>
                </a:lnTo>
                <a:lnTo>
                  <a:pt x="10196" y="13384"/>
                </a:lnTo>
                <a:lnTo>
                  <a:pt x="9880" y="13384"/>
                </a:lnTo>
                <a:lnTo>
                  <a:pt x="9904" y="13432"/>
                </a:lnTo>
                <a:lnTo>
                  <a:pt x="10147" y="13505"/>
                </a:lnTo>
                <a:lnTo>
                  <a:pt x="10074" y="13700"/>
                </a:lnTo>
                <a:lnTo>
                  <a:pt x="10026" y="13895"/>
                </a:lnTo>
                <a:lnTo>
                  <a:pt x="9953" y="14284"/>
                </a:lnTo>
                <a:lnTo>
                  <a:pt x="9880" y="14673"/>
                </a:lnTo>
                <a:lnTo>
                  <a:pt x="9807" y="15087"/>
                </a:lnTo>
                <a:lnTo>
                  <a:pt x="9101" y="15111"/>
                </a:lnTo>
                <a:lnTo>
                  <a:pt x="9247" y="14673"/>
                </a:lnTo>
                <a:lnTo>
                  <a:pt x="9344" y="14235"/>
                </a:lnTo>
                <a:lnTo>
                  <a:pt x="9539" y="13359"/>
                </a:lnTo>
                <a:lnTo>
                  <a:pt x="9734" y="12459"/>
                </a:lnTo>
                <a:lnTo>
                  <a:pt x="9855" y="12021"/>
                </a:lnTo>
                <a:lnTo>
                  <a:pt x="9977" y="11583"/>
                </a:lnTo>
                <a:lnTo>
                  <a:pt x="10269" y="10659"/>
                </a:lnTo>
                <a:lnTo>
                  <a:pt x="10537" y="9734"/>
                </a:lnTo>
                <a:lnTo>
                  <a:pt x="10658" y="9320"/>
                </a:lnTo>
                <a:lnTo>
                  <a:pt x="10756" y="8858"/>
                </a:lnTo>
                <a:lnTo>
                  <a:pt x="10780" y="8639"/>
                </a:lnTo>
                <a:lnTo>
                  <a:pt x="10780" y="8396"/>
                </a:lnTo>
                <a:lnTo>
                  <a:pt x="10756" y="8177"/>
                </a:lnTo>
                <a:lnTo>
                  <a:pt x="10707" y="7958"/>
                </a:lnTo>
                <a:lnTo>
                  <a:pt x="10683" y="7933"/>
                </a:lnTo>
                <a:lnTo>
                  <a:pt x="10634" y="7933"/>
                </a:lnTo>
                <a:lnTo>
                  <a:pt x="10610" y="7958"/>
                </a:lnTo>
                <a:lnTo>
                  <a:pt x="10537" y="8177"/>
                </a:lnTo>
                <a:lnTo>
                  <a:pt x="10464" y="8420"/>
                </a:lnTo>
                <a:lnTo>
                  <a:pt x="10366" y="8882"/>
                </a:lnTo>
                <a:lnTo>
                  <a:pt x="10293" y="9369"/>
                </a:lnTo>
                <a:lnTo>
                  <a:pt x="10172" y="9831"/>
                </a:lnTo>
                <a:lnTo>
                  <a:pt x="9904" y="10756"/>
                </a:lnTo>
                <a:lnTo>
                  <a:pt x="9588" y="11656"/>
                </a:lnTo>
                <a:lnTo>
                  <a:pt x="9466" y="12094"/>
                </a:lnTo>
                <a:lnTo>
                  <a:pt x="9369" y="12532"/>
                </a:lnTo>
                <a:lnTo>
                  <a:pt x="9174" y="13384"/>
                </a:lnTo>
                <a:lnTo>
                  <a:pt x="8979" y="14260"/>
                </a:lnTo>
                <a:lnTo>
                  <a:pt x="8858" y="14698"/>
                </a:lnTo>
                <a:lnTo>
                  <a:pt x="8736" y="15111"/>
                </a:lnTo>
                <a:lnTo>
                  <a:pt x="8128" y="15136"/>
                </a:lnTo>
                <a:lnTo>
                  <a:pt x="7519" y="15087"/>
                </a:lnTo>
                <a:lnTo>
                  <a:pt x="7179" y="15063"/>
                </a:lnTo>
                <a:lnTo>
                  <a:pt x="7154" y="15038"/>
                </a:lnTo>
                <a:lnTo>
                  <a:pt x="7081" y="14698"/>
                </a:lnTo>
                <a:lnTo>
                  <a:pt x="7033" y="14357"/>
                </a:lnTo>
                <a:lnTo>
                  <a:pt x="6935" y="13651"/>
                </a:lnTo>
                <a:lnTo>
                  <a:pt x="6765" y="12605"/>
                </a:lnTo>
                <a:lnTo>
                  <a:pt x="6570" y="11583"/>
                </a:lnTo>
                <a:lnTo>
                  <a:pt x="6230" y="9880"/>
                </a:lnTo>
                <a:lnTo>
                  <a:pt x="6060" y="9028"/>
                </a:lnTo>
                <a:lnTo>
                  <a:pt x="5841" y="8177"/>
                </a:lnTo>
                <a:lnTo>
                  <a:pt x="5816" y="8152"/>
                </a:lnTo>
                <a:lnTo>
                  <a:pt x="5768" y="8128"/>
                </a:lnTo>
                <a:lnTo>
                  <a:pt x="5743" y="8128"/>
                </a:lnTo>
                <a:lnTo>
                  <a:pt x="5695" y="8152"/>
                </a:lnTo>
                <a:lnTo>
                  <a:pt x="5646" y="8298"/>
                </a:lnTo>
                <a:lnTo>
                  <a:pt x="5646" y="8420"/>
                </a:lnTo>
                <a:lnTo>
                  <a:pt x="5646" y="8542"/>
                </a:lnTo>
                <a:lnTo>
                  <a:pt x="5646" y="8663"/>
                </a:lnTo>
                <a:lnTo>
                  <a:pt x="5719" y="8931"/>
                </a:lnTo>
                <a:lnTo>
                  <a:pt x="5768" y="9199"/>
                </a:lnTo>
                <a:lnTo>
                  <a:pt x="5865" y="9734"/>
                </a:lnTo>
                <a:lnTo>
                  <a:pt x="5962" y="10245"/>
                </a:lnTo>
                <a:lnTo>
                  <a:pt x="6035" y="10780"/>
                </a:lnTo>
                <a:lnTo>
                  <a:pt x="6133" y="11316"/>
                </a:lnTo>
                <a:lnTo>
                  <a:pt x="6327" y="12337"/>
                </a:lnTo>
                <a:lnTo>
                  <a:pt x="6522" y="13384"/>
                </a:lnTo>
                <a:lnTo>
                  <a:pt x="6570" y="13773"/>
                </a:lnTo>
                <a:lnTo>
                  <a:pt x="6619" y="14211"/>
                </a:lnTo>
                <a:lnTo>
                  <a:pt x="6668" y="14625"/>
                </a:lnTo>
                <a:lnTo>
                  <a:pt x="6716" y="14819"/>
                </a:lnTo>
                <a:lnTo>
                  <a:pt x="6765" y="15014"/>
                </a:lnTo>
                <a:lnTo>
                  <a:pt x="6497" y="15038"/>
                </a:lnTo>
                <a:lnTo>
                  <a:pt x="6473" y="14625"/>
                </a:lnTo>
                <a:lnTo>
                  <a:pt x="6400" y="14235"/>
                </a:lnTo>
                <a:lnTo>
                  <a:pt x="6279" y="13846"/>
                </a:lnTo>
                <a:lnTo>
                  <a:pt x="6133" y="13481"/>
                </a:lnTo>
                <a:lnTo>
                  <a:pt x="5938" y="13116"/>
                </a:lnTo>
                <a:lnTo>
                  <a:pt x="5743" y="12775"/>
                </a:lnTo>
                <a:lnTo>
                  <a:pt x="5281" y="12070"/>
                </a:lnTo>
                <a:lnTo>
                  <a:pt x="4746" y="11267"/>
                </a:lnTo>
                <a:lnTo>
                  <a:pt x="4210" y="10415"/>
                </a:lnTo>
                <a:lnTo>
                  <a:pt x="3967" y="9977"/>
                </a:lnTo>
                <a:lnTo>
                  <a:pt x="3724" y="9539"/>
                </a:lnTo>
                <a:lnTo>
                  <a:pt x="3529" y="9077"/>
                </a:lnTo>
                <a:lnTo>
                  <a:pt x="3359" y="8615"/>
                </a:lnTo>
                <a:lnTo>
                  <a:pt x="3286" y="8396"/>
                </a:lnTo>
                <a:lnTo>
                  <a:pt x="3261" y="8152"/>
                </a:lnTo>
                <a:lnTo>
                  <a:pt x="3237" y="7909"/>
                </a:lnTo>
                <a:lnTo>
                  <a:pt x="3237" y="7666"/>
                </a:lnTo>
                <a:lnTo>
                  <a:pt x="3261" y="7155"/>
                </a:lnTo>
                <a:lnTo>
                  <a:pt x="3310" y="6668"/>
                </a:lnTo>
                <a:lnTo>
                  <a:pt x="3334" y="6376"/>
                </a:lnTo>
                <a:lnTo>
                  <a:pt x="3407" y="6108"/>
                </a:lnTo>
                <a:lnTo>
                  <a:pt x="3480" y="5841"/>
                </a:lnTo>
                <a:lnTo>
                  <a:pt x="3578" y="5597"/>
                </a:lnTo>
                <a:lnTo>
                  <a:pt x="3699" y="5354"/>
                </a:lnTo>
                <a:lnTo>
                  <a:pt x="3845" y="5111"/>
                </a:lnTo>
                <a:lnTo>
                  <a:pt x="4016" y="4892"/>
                </a:lnTo>
                <a:lnTo>
                  <a:pt x="4186" y="4673"/>
                </a:lnTo>
                <a:lnTo>
                  <a:pt x="4648" y="4162"/>
                </a:lnTo>
                <a:lnTo>
                  <a:pt x="5062" y="3748"/>
                </a:lnTo>
                <a:lnTo>
                  <a:pt x="5403" y="3432"/>
                </a:lnTo>
                <a:lnTo>
                  <a:pt x="5743" y="3189"/>
                </a:lnTo>
                <a:lnTo>
                  <a:pt x="6060" y="3018"/>
                </a:lnTo>
                <a:lnTo>
                  <a:pt x="6352" y="2872"/>
                </a:lnTo>
                <a:lnTo>
                  <a:pt x="6668" y="2775"/>
                </a:lnTo>
                <a:lnTo>
                  <a:pt x="6984" y="2702"/>
                </a:lnTo>
                <a:lnTo>
                  <a:pt x="7276" y="2653"/>
                </a:lnTo>
                <a:lnTo>
                  <a:pt x="7568" y="2629"/>
                </a:lnTo>
                <a:lnTo>
                  <a:pt x="7860" y="2605"/>
                </a:lnTo>
                <a:close/>
                <a:moveTo>
                  <a:pt x="6716" y="15525"/>
                </a:moveTo>
                <a:lnTo>
                  <a:pt x="6619" y="15720"/>
                </a:lnTo>
                <a:lnTo>
                  <a:pt x="6352" y="16158"/>
                </a:lnTo>
                <a:lnTo>
                  <a:pt x="6279" y="16109"/>
                </a:lnTo>
                <a:lnTo>
                  <a:pt x="6230" y="16060"/>
                </a:lnTo>
                <a:lnTo>
                  <a:pt x="6206" y="15963"/>
                </a:lnTo>
                <a:lnTo>
                  <a:pt x="6206" y="15866"/>
                </a:lnTo>
                <a:lnTo>
                  <a:pt x="6206" y="15768"/>
                </a:lnTo>
                <a:lnTo>
                  <a:pt x="6230" y="15695"/>
                </a:lnTo>
                <a:lnTo>
                  <a:pt x="6279" y="15598"/>
                </a:lnTo>
                <a:lnTo>
                  <a:pt x="6327" y="15549"/>
                </a:lnTo>
                <a:lnTo>
                  <a:pt x="6595" y="15525"/>
                </a:lnTo>
                <a:close/>
                <a:moveTo>
                  <a:pt x="6887" y="15525"/>
                </a:moveTo>
                <a:lnTo>
                  <a:pt x="7276" y="15549"/>
                </a:lnTo>
                <a:lnTo>
                  <a:pt x="7641" y="15598"/>
                </a:lnTo>
                <a:lnTo>
                  <a:pt x="8225" y="15647"/>
                </a:lnTo>
                <a:lnTo>
                  <a:pt x="8809" y="15671"/>
                </a:lnTo>
                <a:lnTo>
                  <a:pt x="8541" y="15963"/>
                </a:lnTo>
                <a:lnTo>
                  <a:pt x="8298" y="16255"/>
                </a:lnTo>
                <a:lnTo>
                  <a:pt x="7909" y="16231"/>
                </a:lnTo>
                <a:lnTo>
                  <a:pt x="8249" y="15744"/>
                </a:lnTo>
                <a:lnTo>
                  <a:pt x="8249" y="15720"/>
                </a:lnTo>
                <a:lnTo>
                  <a:pt x="8225" y="15695"/>
                </a:lnTo>
                <a:lnTo>
                  <a:pt x="8201" y="15671"/>
                </a:lnTo>
                <a:lnTo>
                  <a:pt x="8176" y="15695"/>
                </a:lnTo>
                <a:lnTo>
                  <a:pt x="7690" y="16231"/>
                </a:lnTo>
                <a:lnTo>
                  <a:pt x="7179" y="16182"/>
                </a:lnTo>
                <a:lnTo>
                  <a:pt x="7325" y="15939"/>
                </a:lnTo>
                <a:lnTo>
                  <a:pt x="7471" y="15671"/>
                </a:lnTo>
                <a:lnTo>
                  <a:pt x="7471" y="15647"/>
                </a:lnTo>
                <a:lnTo>
                  <a:pt x="7446" y="15622"/>
                </a:lnTo>
                <a:lnTo>
                  <a:pt x="7422" y="15647"/>
                </a:lnTo>
                <a:lnTo>
                  <a:pt x="7203" y="15890"/>
                </a:lnTo>
                <a:lnTo>
                  <a:pt x="6935" y="16182"/>
                </a:lnTo>
                <a:lnTo>
                  <a:pt x="6741" y="16206"/>
                </a:lnTo>
                <a:lnTo>
                  <a:pt x="6570" y="16255"/>
                </a:lnTo>
                <a:lnTo>
                  <a:pt x="6668" y="16060"/>
                </a:lnTo>
                <a:lnTo>
                  <a:pt x="6814" y="15817"/>
                </a:lnTo>
                <a:lnTo>
                  <a:pt x="6862" y="15671"/>
                </a:lnTo>
                <a:lnTo>
                  <a:pt x="6887" y="15525"/>
                </a:lnTo>
                <a:close/>
                <a:moveTo>
                  <a:pt x="9661" y="15622"/>
                </a:moveTo>
                <a:lnTo>
                  <a:pt x="9734" y="15671"/>
                </a:lnTo>
                <a:lnTo>
                  <a:pt x="9807" y="15695"/>
                </a:lnTo>
                <a:lnTo>
                  <a:pt x="9953" y="15695"/>
                </a:lnTo>
                <a:lnTo>
                  <a:pt x="9782" y="15793"/>
                </a:lnTo>
                <a:lnTo>
                  <a:pt x="9661" y="15939"/>
                </a:lnTo>
                <a:lnTo>
                  <a:pt x="9539" y="16085"/>
                </a:lnTo>
                <a:lnTo>
                  <a:pt x="9417" y="16279"/>
                </a:lnTo>
                <a:lnTo>
                  <a:pt x="9271" y="16279"/>
                </a:lnTo>
                <a:lnTo>
                  <a:pt x="9612" y="15817"/>
                </a:lnTo>
                <a:lnTo>
                  <a:pt x="9612" y="15793"/>
                </a:lnTo>
                <a:lnTo>
                  <a:pt x="9612" y="15768"/>
                </a:lnTo>
                <a:lnTo>
                  <a:pt x="9563" y="15768"/>
                </a:lnTo>
                <a:lnTo>
                  <a:pt x="9320" y="16012"/>
                </a:lnTo>
                <a:lnTo>
                  <a:pt x="9077" y="16255"/>
                </a:lnTo>
                <a:lnTo>
                  <a:pt x="8517" y="16255"/>
                </a:lnTo>
                <a:lnTo>
                  <a:pt x="8882" y="15720"/>
                </a:lnTo>
                <a:lnTo>
                  <a:pt x="8906" y="15695"/>
                </a:lnTo>
                <a:lnTo>
                  <a:pt x="8882" y="15671"/>
                </a:lnTo>
                <a:lnTo>
                  <a:pt x="9271" y="15671"/>
                </a:lnTo>
                <a:lnTo>
                  <a:pt x="9661" y="15622"/>
                </a:lnTo>
                <a:close/>
                <a:moveTo>
                  <a:pt x="10074" y="15768"/>
                </a:moveTo>
                <a:lnTo>
                  <a:pt x="10074" y="15841"/>
                </a:lnTo>
                <a:lnTo>
                  <a:pt x="10099" y="15939"/>
                </a:lnTo>
                <a:lnTo>
                  <a:pt x="10074" y="16060"/>
                </a:lnTo>
                <a:lnTo>
                  <a:pt x="10050" y="16182"/>
                </a:lnTo>
                <a:lnTo>
                  <a:pt x="9977" y="16304"/>
                </a:lnTo>
                <a:lnTo>
                  <a:pt x="9758" y="16279"/>
                </a:lnTo>
                <a:lnTo>
                  <a:pt x="9880" y="16012"/>
                </a:lnTo>
                <a:lnTo>
                  <a:pt x="9977" y="15890"/>
                </a:lnTo>
                <a:lnTo>
                  <a:pt x="10074" y="15768"/>
                </a:lnTo>
                <a:close/>
                <a:moveTo>
                  <a:pt x="6522" y="16571"/>
                </a:moveTo>
                <a:lnTo>
                  <a:pt x="6595" y="16620"/>
                </a:lnTo>
                <a:lnTo>
                  <a:pt x="6424" y="16888"/>
                </a:lnTo>
                <a:lnTo>
                  <a:pt x="6376" y="17034"/>
                </a:lnTo>
                <a:lnTo>
                  <a:pt x="6327" y="17180"/>
                </a:lnTo>
                <a:lnTo>
                  <a:pt x="6254" y="17082"/>
                </a:lnTo>
                <a:lnTo>
                  <a:pt x="6230" y="16985"/>
                </a:lnTo>
                <a:lnTo>
                  <a:pt x="6206" y="16912"/>
                </a:lnTo>
                <a:lnTo>
                  <a:pt x="6230" y="16815"/>
                </a:lnTo>
                <a:lnTo>
                  <a:pt x="6254" y="16839"/>
                </a:lnTo>
                <a:lnTo>
                  <a:pt x="6303" y="16839"/>
                </a:lnTo>
                <a:lnTo>
                  <a:pt x="6352" y="16815"/>
                </a:lnTo>
                <a:lnTo>
                  <a:pt x="6376" y="16766"/>
                </a:lnTo>
                <a:lnTo>
                  <a:pt x="6424" y="16596"/>
                </a:lnTo>
                <a:lnTo>
                  <a:pt x="6449" y="16596"/>
                </a:lnTo>
                <a:lnTo>
                  <a:pt x="6522" y="16571"/>
                </a:lnTo>
                <a:close/>
                <a:moveTo>
                  <a:pt x="7884" y="16693"/>
                </a:moveTo>
                <a:lnTo>
                  <a:pt x="7957" y="16717"/>
                </a:lnTo>
                <a:lnTo>
                  <a:pt x="7787" y="16985"/>
                </a:lnTo>
                <a:lnTo>
                  <a:pt x="7617" y="17253"/>
                </a:lnTo>
                <a:lnTo>
                  <a:pt x="7592" y="17326"/>
                </a:lnTo>
                <a:lnTo>
                  <a:pt x="7300" y="17326"/>
                </a:lnTo>
                <a:lnTo>
                  <a:pt x="7398" y="17107"/>
                </a:lnTo>
                <a:lnTo>
                  <a:pt x="7519" y="16888"/>
                </a:lnTo>
                <a:lnTo>
                  <a:pt x="7617" y="16717"/>
                </a:lnTo>
                <a:lnTo>
                  <a:pt x="7884" y="16693"/>
                </a:lnTo>
                <a:close/>
                <a:moveTo>
                  <a:pt x="8225" y="16717"/>
                </a:moveTo>
                <a:lnTo>
                  <a:pt x="8736" y="16742"/>
                </a:lnTo>
                <a:lnTo>
                  <a:pt x="8541" y="17034"/>
                </a:lnTo>
                <a:lnTo>
                  <a:pt x="8371" y="17326"/>
                </a:lnTo>
                <a:lnTo>
                  <a:pt x="7909" y="17326"/>
                </a:lnTo>
                <a:lnTo>
                  <a:pt x="7933" y="17277"/>
                </a:lnTo>
                <a:lnTo>
                  <a:pt x="8225" y="16717"/>
                </a:lnTo>
                <a:close/>
                <a:moveTo>
                  <a:pt x="9223" y="16742"/>
                </a:moveTo>
                <a:lnTo>
                  <a:pt x="8979" y="17350"/>
                </a:lnTo>
                <a:lnTo>
                  <a:pt x="8663" y="17350"/>
                </a:lnTo>
                <a:lnTo>
                  <a:pt x="8979" y="16742"/>
                </a:lnTo>
                <a:close/>
                <a:moveTo>
                  <a:pt x="9928" y="16742"/>
                </a:moveTo>
                <a:lnTo>
                  <a:pt x="9661" y="17253"/>
                </a:lnTo>
                <a:lnTo>
                  <a:pt x="9612" y="17350"/>
                </a:lnTo>
                <a:lnTo>
                  <a:pt x="9320" y="17350"/>
                </a:lnTo>
                <a:lnTo>
                  <a:pt x="9563" y="16742"/>
                </a:lnTo>
                <a:close/>
                <a:moveTo>
                  <a:pt x="10147" y="16839"/>
                </a:moveTo>
                <a:lnTo>
                  <a:pt x="10220" y="16961"/>
                </a:lnTo>
                <a:lnTo>
                  <a:pt x="10245" y="17107"/>
                </a:lnTo>
                <a:lnTo>
                  <a:pt x="10220" y="17228"/>
                </a:lnTo>
                <a:lnTo>
                  <a:pt x="10147" y="17350"/>
                </a:lnTo>
                <a:lnTo>
                  <a:pt x="9928" y="17350"/>
                </a:lnTo>
                <a:lnTo>
                  <a:pt x="9953" y="17277"/>
                </a:lnTo>
                <a:lnTo>
                  <a:pt x="10050" y="17082"/>
                </a:lnTo>
                <a:lnTo>
                  <a:pt x="10147" y="16839"/>
                </a:lnTo>
                <a:close/>
                <a:moveTo>
                  <a:pt x="6862" y="16693"/>
                </a:moveTo>
                <a:lnTo>
                  <a:pt x="7081" y="16717"/>
                </a:lnTo>
                <a:lnTo>
                  <a:pt x="7300" y="16717"/>
                </a:lnTo>
                <a:lnTo>
                  <a:pt x="7106" y="17009"/>
                </a:lnTo>
                <a:lnTo>
                  <a:pt x="6935" y="17326"/>
                </a:lnTo>
                <a:lnTo>
                  <a:pt x="6741" y="17350"/>
                </a:lnTo>
                <a:lnTo>
                  <a:pt x="6570" y="17399"/>
                </a:lnTo>
                <a:lnTo>
                  <a:pt x="6619" y="17204"/>
                </a:lnTo>
                <a:lnTo>
                  <a:pt x="6692" y="17034"/>
                </a:lnTo>
                <a:lnTo>
                  <a:pt x="6862" y="16693"/>
                </a:lnTo>
                <a:close/>
                <a:moveTo>
                  <a:pt x="6473" y="17618"/>
                </a:moveTo>
                <a:lnTo>
                  <a:pt x="6643" y="17691"/>
                </a:lnTo>
                <a:lnTo>
                  <a:pt x="6814" y="17715"/>
                </a:lnTo>
                <a:lnTo>
                  <a:pt x="6789" y="17910"/>
                </a:lnTo>
                <a:lnTo>
                  <a:pt x="6765" y="18080"/>
                </a:lnTo>
                <a:lnTo>
                  <a:pt x="6643" y="17983"/>
                </a:lnTo>
                <a:lnTo>
                  <a:pt x="6546" y="17861"/>
                </a:lnTo>
                <a:lnTo>
                  <a:pt x="6352" y="17642"/>
                </a:lnTo>
                <a:lnTo>
                  <a:pt x="6376" y="17618"/>
                </a:lnTo>
                <a:lnTo>
                  <a:pt x="6424" y="17642"/>
                </a:lnTo>
                <a:lnTo>
                  <a:pt x="6473" y="17618"/>
                </a:lnTo>
                <a:close/>
                <a:moveTo>
                  <a:pt x="7398" y="17739"/>
                </a:moveTo>
                <a:lnTo>
                  <a:pt x="7300" y="18031"/>
                </a:lnTo>
                <a:lnTo>
                  <a:pt x="7252" y="18177"/>
                </a:lnTo>
                <a:lnTo>
                  <a:pt x="7252" y="18299"/>
                </a:lnTo>
                <a:lnTo>
                  <a:pt x="7008" y="18202"/>
                </a:lnTo>
                <a:lnTo>
                  <a:pt x="7154" y="17739"/>
                </a:lnTo>
                <a:close/>
                <a:moveTo>
                  <a:pt x="8833" y="17715"/>
                </a:moveTo>
                <a:lnTo>
                  <a:pt x="8785" y="17837"/>
                </a:lnTo>
                <a:lnTo>
                  <a:pt x="8736" y="17983"/>
                </a:lnTo>
                <a:lnTo>
                  <a:pt x="8712" y="18104"/>
                </a:lnTo>
                <a:lnTo>
                  <a:pt x="8736" y="18153"/>
                </a:lnTo>
                <a:lnTo>
                  <a:pt x="8736" y="18202"/>
                </a:lnTo>
                <a:lnTo>
                  <a:pt x="8809" y="18250"/>
                </a:lnTo>
                <a:lnTo>
                  <a:pt x="8882" y="18250"/>
                </a:lnTo>
                <a:lnTo>
                  <a:pt x="8931" y="18226"/>
                </a:lnTo>
                <a:lnTo>
                  <a:pt x="9004" y="18153"/>
                </a:lnTo>
                <a:lnTo>
                  <a:pt x="9125" y="17958"/>
                </a:lnTo>
                <a:lnTo>
                  <a:pt x="9198" y="17739"/>
                </a:lnTo>
                <a:lnTo>
                  <a:pt x="9393" y="17739"/>
                </a:lnTo>
                <a:lnTo>
                  <a:pt x="9369" y="17861"/>
                </a:lnTo>
                <a:lnTo>
                  <a:pt x="9369" y="18007"/>
                </a:lnTo>
                <a:lnTo>
                  <a:pt x="9125" y="18153"/>
                </a:lnTo>
                <a:lnTo>
                  <a:pt x="8833" y="18275"/>
                </a:lnTo>
                <a:lnTo>
                  <a:pt x="8566" y="18372"/>
                </a:lnTo>
                <a:lnTo>
                  <a:pt x="8249" y="18421"/>
                </a:lnTo>
                <a:lnTo>
                  <a:pt x="8274" y="18275"/>
                </a:lnTo>
                <a:lnTo>
                  <a:pt x="8371" y="17983"/>
                </a:lnTo>
                <a:lnTo>
                  <a:pt x="8468" y="17715"/>
                </a:lnTo>
                <a:close/>
                <a:moveTo>
                  <a:pt x="8176" y="17715"/>
                </a:moveTo>
                <a:lnTo>
                  <a:pt x="8030" y="18056"/>
                </a:lnTo>
                <a:lnTo>
                  <a:pt x="7957" y="18250"/>
                </a:lnTo>
                <a:lnTo>
                  <a:pt x="7933" y="18445"/>
                </a:lnTo>
                <a:lnTo>
                  <a:pt x="7738" y="18421"/>
                </a:lnTo>
                <a:lnTo>
                  <a:pt x="7568" y="18396"/>
                </a:lnTo>
                <a:lnTo>
                  <a:pt x="7568" y="18226"/>
                </a:lnTo>
                <a:lnTo>
                  <a:pt x="7641" y="17983"/>
                </a:lnTo>
                <a:lnTo>
                  <a:pt x="7738" y="17715"/>
                </a:lnTo>
                <a:close/>
                <a:moveTo>
                  <a:pt x="8128" y="2094"/>
                </a:moveTo>
                <a:lnTo>
                  <a:pt x="7714" y="2142"/>
                </a:lnTo>
                <a:lnTo>
                  <a:pt x="7325" y="2191"/>
                </a:lnTo>
                <a:lnTo>
                  <a:pt x="6935" y="2264"/>
                </a:lnTo>
                <a:lnTo>
                  <a:pt x="6546" y="2386"/>
                </a:lnTo>
                <a:lnTo>
                  <a:pt x="6181" y="2507"/>
                </a:lnTo>
                <a:lnTo>
                  <a:pt x="5841" y="2653"/>
                </a:lnTo>
                <a:lnTo>
                  <a:pt x="5500" y="2824"/>
                </a:lnTo>
                <a:lnTo>
                  <a:pt x="5184" y="3018"/>
                </a:lnTo>
                <a:lnTo>
                  <a:pt x="4892" y="3237"/>
                </a:lnTo>
                <a:lnTo>
                  <a:pt x="4551" y="3554"/>
                </a:lnTo>
                <a:lnTo>
                  <a:pt x="4210" y="3918"/>
                </a:lnTo>
                <a:lnTo>
                  <a:pt x="3918" y="4332"/>
                </a:lnTo>
                <a:lnTo>
                  <a:pt x="3626" y="4746"/>
                </a:lnTo>
                <a:lnTo>
                  <a:pt x="3383" y="5159"/>
                </a:lnTo>
                <a:lnTo>
                  <a:pt x="3164" y="5549"/>
                </a:lnTo>
                <a:lnTo>
                  <a:pt x="3018" y="5889"/>
                </a:lnTo>
                <a:lnTo>
                  <a:pt x="2921" y="6157"/>
                </a:lnTo>
                <a:lnTo>
                  <a:pt x="2823" y="6595"/>
                </a:lnTo>
                <a:lnTo>
                  <a:pt x="2775" y="7057"/>
                </a:lnTo>
                <a:lnTo>
                  <a:pt x="2750" y="7495"/>
                </a:lnTo>
                <a:lnTo>
                  <a:pt x="2775" y="7958"/>
                </a:lnTo>
                <a:lnTo>
                  <a:pt x="2823" y="8396"/>
                </a:lnTo>
                <a:lnTo>
                  <a:pt x="2921" y="8834"/>
                </a:lnTo>
                <a:lnTo>
                  <a:pt x="3067" y="9272"/>
                </a:lnTo>
                <a:lnTo>
                  <a:pt x="3237" y="9685"/>
                </a:lnTo>
                <a:lnTo>
                  <a:pt x="3602" y="10367"/>
                </a:lnTo>
                <a:lnTo>
                  <a:pt x="3991" y="11024"/>
                </a:lnTo>
                <a:lnTo>
                  <a:pt x="4843" y="12337"/>
                </a:lnTo>
                <a:lnTo>
                  <a:pt x="5281" y="13019"/>
                </a:lnTo>
                <a:lnTo>
                  <a:pt x="5476" y="13384"/>
                </a:lnTo>
                <a:lnTo>
                  <a:pt x="5646" y="13724"/>
                </a:lnTo>
                <a:lnTo>
                  <a:pt x="5792" y="14089"/>
                </a:lnTo>
                <a:lnTo>
                  <a:pt x="5914" y="14454"/>
                </a:lnTo>
                <a:lnTo>
                  <a:pt x="5987" y="14844"/>
                </a:lnTo>
                <a:lnTo>
                  <a:pt x="5987" y="15282"/>
                </a:lnTo>
                <a:lnTo>
                  <a:pt x="5962" y="15379"/>
                </a:lnTo>
                <a:lnTo>
                  <a:pt x="5962" y="15428"/>
                </a:lnTo>
                <a:lnTo>
                  <a:pt x="5889" y="15525"/>
                </a:lnTo>
                <a:lnTo>
                  <a:pt x="5841" y="15647"/>
                </a:lnTo>
                <a:lnTo>
                  <a:pt x="5816" y="15768"/>
                </a:lnTo>
                <a:lnTo>
                  <a:pt x="5792" y="15914"/>
                </a:lnTo>
                <a:lnTo>
                  <a:pt x="5816" y="16036"/>
                </a:lnTo>
                <a:lnTo>
                  <a:pt x="5841" y="16158"/>
                </a:lnTo>
                <a:lnTo>
                  <a:pt x="5889" y="16279"/>
                </a:lnTo>
                <a:lnTo>
                  <a:pt x="5962" y="16377"/>
                </a:lnTo>
                <a:lnTo>
                  <a:pt x="5865" y="16474"/>
                </a:lnTo>
                <a:lnTo>
                  <a:pt x="5792" y="16620"/>
                </a:lnTo>
                <a:lnTo>
                  <a:pt x="5768" y="16766"/>
                </a:lnTo>
                <a:lnTo>
                  <a:pt x="5768" y="16912"/>
                </a:lnTo>
                <a:lnTo>
                  <a:pt x="5768" y="17058"/>
                </a:lnTo>
                <a:lnTo>
                  <a:pt x="5816" y="17204"/>
                </a:lnTo>
                <a:lnTo>
                  <a:pt x="5889" y="17350"/>
                </a:lnTo>
                <a:lnTo>
                  <a:pt x="5987" y="17472"/>
                </a:lnTo>
                <a:lnTo>
                  <a:pt x="5962" y="17496"/>
                </a:lnTo>
                <a:lnTo>
                  <a:pt x="5914" y="17618"/>
                </a:lnTo>
                <a:lnTo>
                  <a:pt x="5914" y="17715"/>
                </a:lnTo>
                <a:lnTo>
                  <a:pt x="5938" y="17837"/>
                </a:lnTo>
                <a:lnTo>
                  <a:pt x="5987" y="17934"/>
                </a:lnTo>
                <a:lnTo>
                  <a:pt x="6133" y="18129"/>
                </a:lnTo>
                <a:lnTo>
                  <a:pt x="6303" y="18299"/>
                </a:lnTo>
                <a:lnTo>
                  <a:pt x="6424" y="18421"/>
                </a:lnTo>
                <a:lnTo>
                  <a:pt x="6570" y="18518"/>
                </a:lnTo>
                <a:lnTo>
                  <a:pt x="6862" y="18688"/>
                </a:lnTo>
                <a:lnTo>
                  <a:pt x="7179" y="18810"/>
                </a:lnTo>
                <a:lnTo>
                  <a:pt x="7495" y="18859"/>
                </a:lnTo>
                <a:lnTo>
                  <a:pt x="7738" y="18883"/>
                </a:lnTo>
                <a:lnTo>
                  <a:pt x="7982" y="18883"/>
                </a:lnTo>
                <a:lnTo>
                  <a:pt x="8030" y="18956"/>
                </a:lnTo>
                <a:lnTo>
                  <a:pt x="8079" y="18980"/>
                </a:lnTo>
                <a:lnTo>
                  <a:pt x="8128" y="18980"/>
                </a:lnTo>
                <a:lnTo>
                  <a:pt x="8176" y="18956"/>
                </a:lnTo>
                <a:lnTo>
                  <a:pt x="8201" y="18907"/>
                </a:lnTo>
                <a:lnTo>
                  <a:pt x="8201" y="18883"/>
                </a:lnTo>
                <a:lnTo>
                  <a:pt x="8493" y="18834"/>
                </a:lnTo>
                <a:lnTo>
                  <a:pt x="8785" y="18761"/>
                </a:lnTo>
                <a:lnTo>
                  <a:pt x="9052" y="18664"/>
                </a:lnTo>
                <a:lnTo>
                  <a:pt x="9320" y="18542"/>
                </a:lnTo>
                <a:lnTo>
                  <a:pt x="9563" y="18396"/>
                </a:lnTo>
                <a:lnTo>
                  <a:pt x="9807" y="18226"/>
                </a:lnTo>
                <a:lnTo>
                  <a:pt x="10050" y="18056"/>
                </a:lnTo>
                <a:lnTo>
                  <a:pt x="10269" y="17837"/>
                </a:lnTo>
                <a:lnTo>
                  <a:pt x="10318" y="17764"/>
                </a:lnTo>
                <a:lnTo>
                  <a:pt x="10342" y="17691"/>
                </a:lnTo>
                <a:lnTo>
                  <a:pt x="10464" y="17593"/>
                </a:lnTo>
                <a:lnTo>
                  <a:pt x="10537" y="17447"/>
                </a:lnTo>
                <a:lnTo>
                  <a:pt x="10585" y="17301"/>
                </a:lnTo>
                <a:lnTo>
                  <a:pt x="10634" y="17107"/>
                </a:lnTo>
                <a:lnTo>
                  <a:pt x="10634" y="16936"/>
                </a:lnTo>
                <a:lnTo>
                  <a:pt x="10585" y="16742"/>
                </a:lnTo>
                <a:lnTo>
                  <a:pt x="10512" y="16596"/>
                </a:lnTo>
                <a:lnTo>
                  <a:pt x="10391" y="16474"/>
                </a:lnTo>
                <a:lnTo>
                  <a:pt x="10488" y="16255"/>
                </a:lnTo>
                <a:lnTo>
                  <a:pt x="10537" y="16036"/>
                </a:lnTo>
                <a:lnTo>
                  <a:pt x="10537" y="15817"/>
                </a:lnTo>
                <a:lnTo>
                  <a:pt x="10488" y="15574"/>
                </a:lnTo>
                <a:lnTo>
                  <a:pt x="10415" y="15476"/>
                </a:lnTo>
                <a:lnTo>
                  <a:pt x="10342" y="15379"/>
                </a:lnTo>
                <a:lnTo>
                  <a:pt x="10342" y="15306"/>
                </a:lnTo>
                <a:lnTo>
                  <a:pt x="10415" y="14965"/>
                </a:lnTo>
                <a:lnTo>
                  <a:pt x="10464" y="14625"/>
                </a:lnTo>
                <a:lnTo>
                  <a:pt x="10512" y="14284"/>
                </a:lnTo>
                <a:lnTo>
                  <a:pt x="10585" y="13943"/>
                </a:lnTo>
                <a:lnTo>
                  <a:pt x="10658" y="13700"/>
                </a:lnTo>
                <a:lnTo>
                  <a:pt x="10756" y="13457"/>
                </a:lnTo>
                <a:lnTo>
                  <a:pt x="10999" y="12994"/>
                </a:lnTo>
                <a:lnTo>
                  <a:pt x="11023" y="12970"/>
                </a:lnTo>
                <a:lnTo>
                  <a:pt x="11023" y="12946"/>
                </a:lnTo>
                <a:lnTo>
                  <a:pt x="11340" y="12459"/>
                </a:lnTo>
                <a:lnTo>
                  <a:pt x="11632" y="11972"/>
                </a:lnTo>
                <a:lnTo>
                  <a:pt x="12191" y="11194"/>
                </a:lnTo>
                <a:lnTo>
                  <a:pt x="12483" y="10780"/>
                </a:lnTo>
                <a:lnTo>
                  <a:pt x="12751" y="10367"/>
                </a:lnTo>
                <a:lnTo>
                  <a:pt x="12994" y="9953"/>
                </a:lnTo>
                <a:lnTo>
                  <a:pt x="13213" y="9515"/>
                </a:lnTo>
                <a:lnTo>
                  <a:pt x="13384" y="9053"/>
                </a:lnTo>
                <a:lnTo>
                  <a:pt x="13457" y="8809"/>
                </a:lnTo>
                <a:lnTo>
                  <a:pt x="13505" y="8590"/>
                </a:lnTo>
                <a:lnTo>
                  <a:pt x="13554" y="8152"/>
                </a:lnTo>
                <a:lnTo>
                  <a:pt x="13554" y="7714"/>
                </a:lnTo>
                <a:lnTo>
                  <a:pt x="13505" y="7276"/>
                </a:lnTo>
                <a:lnTo>
                  <a:pt x="13432" y="6838"/>
                </a:lnTo>
                <a:lnTo>
                  <a:pt x="13335" y="6400"/>
                </a:lnTo>
                <a:lnTo>
                  <a:pt x="13213" y="5962"/>
                </a:lnTo>
                <a:lnTo>
                  <a:pt x="12946" y="5135"/>
                </a:lnTo>
                <a:lnTo>
                  <a:pt x="12800" y="4770"/>
                </a:lnTo>
                <a:lnTo>
                  <a:pt x="12605" y="4429"/>
                </a:lnTo>
                <a:lnTo>
                  <a:pt x="12386" y="4113"/>
                </a:lnTo>
                <a:lnTo>
                  <a:pt x="12143" y="3797"/>
                </a:lnTo>
                <a:lnTo>
                  <a:pt x="12143" y="3773"/>
                </a:lnTo>
                <a:lnTo>
                  <a:pt x="12094" y="3675"/>
                </a:lnTo>
                <a:lnTo>
                  <a:pt x="12021" y="3602"/>
                </a:lnTo>
                <a:lnTo>
                  <a:pt x="11948" y="3554"/>
                </a:lnTo>
                <a:lnTo>
                  <a:pt x="11851" y="3505"/>
                </a:lnTo>
                <a:lnTo>
                  <a:pt x="11607" y="3286"/>
                </a:lnTo>
                <a:lnTo>
                  <a:pt x="11340" y="3091"/>
                </a:lnTo>
                <a:lnTo>
                  <a:pt x="11072" y="2897"/>
                </a:lnTo>
                <a:lnTo>
                  <a:pt x="10804" y="2726"/>
                </a:lnTo>
                <a:lnTo>
                  <a:pt x="10464" y="2556"/>
                </a:lnTo>
                <a:lnTo>
                  <a:pt x="10099" y="2386"/>
                </a:lnTo>
                <a:lnTo>
                  <a:pt x="9709" y="2264"/>
                </a:lnTo>
                <a:lnTo>
                  <a:pt x="9320" y="2191"/>
                </a:lnTo>
                <a:lnTo>
                  <a:pt x="8931" y="2142"/>
                </a:lnTo>
                <a:lnTo>
                  <a:pt x="8517" y="209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Brabantio template">
  <a:themeElements>
    <a:clrScheme name="Custom 347">
      <a:dk1>
        <a:srgbClr val="FFFFFF"/>
      </a:dk1>
      <a:lt1>
        <a:srgbClr val="000000"/>
      </a:lt1>
      <a:dk2>
        <a:srgbClr val="D3D9DF"/>
      </a:dk2>
      <a:lt2>
        <a:srgbClr val="496175"/>
      </a:lt2>
      <a:accent1>
        <a:srgbClr val="1456BB"/>
      </a:accent1>
      <a:accent2>
        <a:srgbClr val="971D4D"/>
      </a:accent2>
      <a:accent3>
        <a:srgbClr val="C92126"/>
      </a:accent3>
      <a:accent4>
        <a:srgbClr val="E4682F"/>
      </a:accent4>
      <a:accent5>
        <a:srgbClr val="EEAD12"/>
      </a:accent5>
      <a:accent6>
        <a:srgbClr val="328EFF"/>
      </a:accent6>
      <a:hlink>
        <a:srgbClr val="7CAEFA"/>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7130</TotalTime>
  <Words>3355</Words>
  <Application>Microsoft Office PowerPoint</Application>
  <PresentationFormat>On-screen Show (16:9)</PresentationFormat>
  <Paragraphs>609</Paragraphs>
  <Slides>48</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Lora</vt:lpstr>
      <vt:lpstr>Arial Unicode MS</vt:lpstr>
      <vt:lpstr>Calibri</vt:lpstr>
      <vt:lpstr>Arial</vt:lpstr>
      <vt:lpstr>Arial</vt:lpstr>
      <vt:lpstr>Vidaloka</vt:lpstr>
      <vt:lpstr>Brabantio template</vt:lpstr>
      <vt:lpstr>  Programming in C</vt:lpstr>
      <vt:lpstr>Additional Features</vt:lpstr>
      <vt:lpstr>Contents</vt:lpstr>
      <vt:lpstr>File Concepts</vt:lpstr>
      <vt:lpstr>File Handling</vt:lpstr>
      <vt:lpstr>File Concepts</vt:lpstr>
      <vt:lpstr>File Accessing (Operations) - Functions</vt:lpstr>
      <vt:lpstr>File Operation Modes </vt:lpstr>
      <vt:lpstr>File Creation</vt:lpstr>
      <vt:lpstr>fopen() – File Open</vt:lpstr>
      <vt:lpstr>getc() – Function in File</vt:lpstr>
      <vt:lpstr>putc() – Function in File</vt:lpstr>
      <vt:lpstr>Example for getc() and putc()</vt:lpstr>
      <vt:lpstr>fprintf()  function</vt:lpstr>
      <vt:lpstr>fscanf()  function</vt:lpstr>
      <vt:lpstr>Example program for File Read</vt:lpstr>
      <vt:lpstr>Example program for File Write</vt:lpstr>
      <vt:lpstr>C Preprocessor</vt:lpstr>
      <vt:lpstr>C Preprocessor</vt:lpstr>
      <vt:lpstr>C Preprocessor</vt:lpstr>
      <vt:lpstr>#inlcude</vt:lpstr>
      <vt:lpstr>#inlcude</vt:lpstr>
      <vt:lpstr>#define</vt:lpstr>
      <vt:lpstr>#undef</vt:lpstr>
      <vt:lpstr>#undef Example</vt:lpstr>
      <vt:lpstr>Conditional Directives</vt:lpstr>
      <vt:lpstr>#if directive</vt:lpstr>
      <vt:lpstr>#elif directive</vt:lpstr>
      <vt:lpstr>#elif directive</vt:lpstr>
      <vt:lpstr>#ifdef directive</vt:lpstr>
      <vt:lpstr>#ifndef directive</vt:lpstr>
      <vt:lpstr>#error directive</vt:lpstr>
      <vt:lpstr>#error directive</vt:lpstr>
      <vt:lpstr>Standard Library Header Files in C</vt:lpstr>
      <vt:lpstr>String Functions</vt:lpstr>
      <vt:lpstr>Mathematical Functions</vt:lpstr>
      <vt:lpstr>Date and Time Functions</vt:lpstr>
      <vt:lpstr>Date and Time Functions</vt:lpstr>
      <vt:lpstr>Date and Time Functions</vt:lpstr>
      <vt:lpstr>Error Handling in C</vt:lpstr>
      <vt:lpstr>Error No (Code)</vt:lpstr>
      <vt:lpstr>Error Functions</vt:lpstr>
      <vt:lpstr>Error Functions</vt:lpstr>
      <vt:lpstr>Divide by Zero</vt:lpstr>
      <vt:lpstr>Credits</vt:lpstr>
      <vt:lpstr>Roadmap for Unit V</vt:lpstr>
      <vt:lpstr>Roadmap to Programming in C</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COMPUTER APPLICATIONS</dc:title>
  <dc:creator>ram</dc:creator>
  <cp:lastModifiedBy>KRITI KAUSIK</cp:lastModifiedBy>
  <cp:revision>132</cp:revision>
  <dcterms:modified xsi:type="dcterms:W3CDTF">2023-10-14T17:41:10Z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2023-10-14T17:40:57Z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2d5e1975-ab36-484d-8c13-33bddcce1615</vt:lpwstr>
  </property>
  <property fmtid="{D5CDD505-2E9C-101B-9397-08002B2CF9AE}" pid="7" name="MSIP_Label_defa4170-0d19-0005-0004-bc88714345d2_ActionId">
    <vt:lpwstr>76334756-70b9-4e3e-9055-cca510ae94df</vt:lpwstr>
  </property>
  <property fmtid="{D5CDD505-2E9C-101B-9397-08002B2CF9AE}" pid="8" name="MSIP_Label_defa4170-0d19-0005-0004-bc88714345d2_ContentBits">
    <vt:lpwstr>0</vt:lpwstr>
  </property>
</Properties>
</file>