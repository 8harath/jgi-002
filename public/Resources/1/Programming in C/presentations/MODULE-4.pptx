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62"/>
  </p:notesMasterIdLst>
  <p:sldIdLst>
    <p:sldId id="256" r:id="rId2"/>
    <p:sldId id="259" r:id="rId3"/>
    <p:sldId id="257" r:id="rId4"/>
    <p:sldId id="438" r:id="rId5"/>
    <p:sldId id="520" r:id="rId6"/>
    <p:sldId id="526" r:id="rId7"/>
    <p:sldId id="519" r:id="rId8"/>
    <p:sldId id="521" r:id="rId9"/>
    <p:sldId id="518" r:id="rId10"/>
    <p:sldId id="524" r:id="rId11"/>
    <p:sldId id="525" r:id="rId12"/>
    <p:sldId id="523" r:id="rId13"/>
    <p:sldId id="527" r:id="rId14"/>
    <p:sldId id="528" r:id="rId15"/>
    <p:sldId id="529" r:id="rId16"/>
    <p:sldId id="530" r:id="rId17"/>
    <p:sldId id="531" r:id="rId18"/>
    <p:sldId id="532" r:id="rId19"/>
    <p:sldId id="533" r:id="rId20"/>
    <p:sldId id="535" r:id="rId21"/>
    <p:sldId id="536" r:id="rId22"/>
    <p:sldId id="534" r:id="rId23"/>
    <p:sldId id="537" r:id="rId24"/>
    <p:sldId id="538" r:id="rId25"/>
    <p:sldId id="540" r:id="rId26"/>
    <p:sldId id="539" r:id="rId27"/>
    <p:sldId id="541" r:id="rId28"/>
    <p:sldId id="542" r:id="rId29"/>
    <p:sldId id="543" r:id="rId30"/>
    <p:sldId id="544" r:id="rId31"/>
    <p:sldId id="522" r:id="rId32"/>
    <p:sldId id="545" r:id="rId33"/>
    <p:sldId id="546" r:id="rId34"/>
    <p:sldId id="547" r:id="rId35"/>
    <p:sldId id="548" r:id="rId36"/>
    <p:sldId id="549" r:id="rId37"/>
    <p:sldId id="550" r:id="rId38"/>
    <p:sldId id="551" r:id="rId39"/>
    <p:sldId id="552" r:id="rId40"/>
    <p:sldId id="553" r:id="rId41"/>
    <p:sldId id="554" r:id="rId42"/>
    <p:sldId id="555" r:id="rId43"/>
    <p:sldId id="556" r:id="rId44"/>
    <p:sldId id="557" r:id="rId45"/>
    <p:sldId id="558" r:id="rId46"/>
    <p:sldId id="559" r:id="rId47"/>
    <p:sldId id="560" r:id="rId48"/>
    <p:sldId id="561" r:id="rId49"/>
    <p:sldId id="563" r:id="rId50"/>
    <p:sldId id="562" r:id="rId51"/>
    <p:sldId id="565" r:id="rId52"/>
    <p:sldId id="564" r:id="rId53"/>
    <p:sldId id="566" r:id="rId54"/>
    <p:sldId id="567" r:id="rId55"/>
    <p:sldId id="568" r:id="rId56"/>
    <p:sldId id="487" r:id="rId57"/>
    <p:sldId id="488" r:id="rId58"/>
    <p:sldId id="489" r:id="rId59"/>
    <p:sldId id="490" r:id="rId60"/>
    <p:sldId id="491" r:id="rId61"/>
  </p:sldIdLst>
  <p:sldSz cx="9144000" cy="5143500" type="screen16x9"/>
  <p:notesSz cx="6858000" cy="9144000"/>
  <p:embeddedFontLst>
    <p:embeddedFont>
      <p:font typeface="Calibri" panose="020F0502020204030204" pitchFamily="34" charset="0"/>
      <p:regular r:id="rId63"/>
      <p:bold r:id="rId64"/>
      <p:italic r:id="rId65"/>
      <p:boldItalic r:id="rId66"/>
    </p:embeddedFont>
    <p:embeddedFont>
      <p:font typeface="Lora" pitchFamily="2" charset="0"/>
      <p:regular r:id="rId67"/>
      <p:bold r:id="rId68"/>
      <p:italic r:id="rId69"/>
      <p:boldItalic r:id="rId70"/>
    </p:embeddedFont>
    <p:embeddedFont>
      <p:font typeface="Vidaloka" panose="020B0604020202020204" charset="0"/>
      <p:regular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4F6C5D-1427-41C1-A197-041D8283ABD9}">
  <a:tblStyle styleId="{544F6C5D-1427-41C1-A197-041D8283ABD9}"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8245370-B4C5-4E26-848E-422DCF613502}"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68" autoAdjust="0"/>
    <p:restoredTop sz="94660"/>
  </p:normalViewPr>
  <p:slideViewPr>
    <p:cSldViewPr snapToGrid="0">
      <p:cViewPr varScale="1">
        <p:scale>
          <a:sx n="109" d="100"/>
          <a:sy n="109" d="100"/>
        </p:scale>
        <p:origin x="83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fntdata"/><Relationship Id="rId68"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font" Target="fonts/font8.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4572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65938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6711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1524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5ed75ccf_0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5ed75ccf_0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bd924ddcd4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bd924ddcd4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bd924ddcd4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bd924ddcd4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2670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bd924ddcd4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bd924ddcd4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855300" y="1117300"/>
            <a:ext cx="4230600" cy="2908800"/>
          </a:xfrm>
          <a:prstGeom prst="rect">
            <a:avLst/>
          </a:prstGeom>
          <a:effectLst>
            <a:outerShdw blurRad="142875" algn="bl" rotWithShape="0">
              <a:srgbClr val="0072FF"/>
            </a:outerShdw>
          </a:effectLst>
        </p:spPr>
        <p:txBody>
          <a:bodyPr spcFirstLastPara="1" wrap="square" lIns="0" tIns="0" rIns="0" bIns="0" anchor="ctr" anchorCtr="0">
            <a:noAutofit/>
          </a:bodyPr>
          <a:lstStyle>
            <a:lvl1pPr lvl="0" rtl="0">
              <a:spcBef>
                <a:spcPts val="0"/>
              </a:spcBef>
              <a:spcAft>
                <a:spcPts val="0"/>
              </a:spcAft>
              <a:buSzPts val="5200"/>
              <a:buNone/>
              <a:defRPr sz="52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855300" y="2183363"/>
            <a:ext cx="4728600" cy="496500"/>
          </a:xfrm>
          <a:prstGeom prst="rect">
            <a:avLst/>
          </a:prstGeom>
        </p:spPr>
        <p:txBody>
          <a:bodyPr spcFirstLastPara="1" wrap="square" lIns="0" tIns="0" rIns="0" bIns="0" anchor="b" anchorCtr="0">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
        <p:nvSpPr>
          <p:cNvPr id="13" name="Google Shape;13;p3"/>
          <p:cNvSpPr txBox="1">
            <a:spLocks noGrp="1"/>
          </p:cNvSpPr>
          <p:nvPr>
            <p:ph type="subTitle" idx="1"/>
          </p:nvPr>
        </p:nvSpPr>
        <p:spPr>
          <a:xfrm>
            <a:off x="855300" y="2700338"/>
            <a:ext cx="4728600" cy="336000"/>
          </a:xfrm>
          <a:prstGeom prst="rect">
            <a:avLst/>
          </a:prstGeom>
        </p:spPr>
        <p:txBody>
          <a:bodyPr spcFirstLastPara="1" wrap="square" lIns="0" tIns="0" rIns="0" bIns="0" anchor="t" anchorCtr="0">
            <a:noAutofit/>
          </a:bodyPr>
          <a:lstStyle>
            <a:lvl1pPr lvl="0" rtl="0">
              <a:spcBef>
                <a:spcPts val="0"/>
              </a:spcBef>
              <a:spcAft>
                <a:spcPts val="0"/>
              </a:spcAft>
              <a:buClr>
                <a:schemeClr val="accent6"/>
              </a:buClr>
              <a:buSzPts val="1800"/>
              <a:buNone/>
              <a:defRPr sz="1800">
                <a:solidFill>
                  <a:schemeClr val="accent6"/>
                </a:solidFill>
              </a:defRPr>
            </a:lvl1pPr>
            <a:lvl2pPr lvl="1" rtl="0">
              <a:spcBef>
                <a:spcPts val="0"/>
              </a:spcBef>
              <a:spcAft>
                <a:spcPts val="0"/>
              </a:spcAft>
              <a:buClr>
                <a:schemeClr val="accent6"/>
              </a:buClr>
              <a:buSzPts val="1800"/>
              <a:buNone/>
              <a:defRPr sz="1800">
                <a:solidFill>
                  <a:schemeClr val="accent6"/>
                </a:solidFill>
              </a:defRPr>
            </a:lvl2pPr>
            <a:lvl3pPr lvl="2" rtl="0">
              <a:spcBef>
                <a:spcPts val="0"/>
              </a:spcBef>
              <a:spcAft>
                <a:spcPts val="0"/>
              </a:spcAft>
              <a:buClr>
                <a:schemeClr val="accent6"/>
              </a:buClr>
              <a:buSzPts val="1800"/>
              <a:buNone/>
              <a:defRPr sz="1800">
                <a:solidFill>
                  <a:schemeClr val="accent6"/>
                </a:solidFill>
              </a:defRPr>
            </a:lvl3pPr>
            <a:lvl4pPr lvl="3" rtl="0">
              <a:spcBef>
                <a:spcPts val="0"/>
              </a:spcBef>
              <a:spcAft>
                <a:spcPts val="0"/>
              </a:spcAft>
              <a:buClr>
                <a:schemeClr val="accent6"/>
              </a:buClr>
              <a:buSzPts val="1800"/>
              <a:buNone/>
              <a:defRPr sz="1800">
                <a:solidFill>
                  <a:schemeClr val="accent6"/>
                </a:solidFill>
              </a:defRPr>
            </a:lvl4pPr>
            <a:lvl5pPr lvl="4" rtl="0">
              <a:spcBef>
                <a:spcPts val="0"/>
              </a:spcBef>
              <a:spcAft>
                <a:spcPts val="0"/>
              </a:spcAft>
              <a:buClr>
                <a:schemeClr val="accent6"/>
              </a:buClr>
              <a:buSzPts val="1800"/>
              <a:buNone/>
              <a:defRPr sz="1800">
                <a:solidFill>
                  <a:schemeClr val="accent6"/>
                </a:solidFill>
              </a:defRPr>
            </a:lvl5pPr>
            <a:lvl6pPr lvl="5" rtl="0">
              <a:spcBef>
                <a:spcPts val="0"/>
              </a:spcBef>
              <a:spcAft>
                <a:spcPts val="0"/>
              </a:spcAft>
              <a:buClr>
                <a:schemeClr val="accent6"/>
              </a:buClr>
              <a:buSzPts val="1800"/>
              <a:buNone/>
              <a:defRPr sz="1800">
                <a:solidFill>
                  <a:schemeClr val="accent6"/>
                </a:solidFill>
              </a:defRPr>
            </a:lvl6pPr>
            <a:lvl7pPr lvl="6" rtl="0">
              <a:spcBef>
                <a:spcPts val="0"/>
              </a:spcBef>
              <a:spcAft>
                <a:spcPts val="0"/>
              </a:spcAft>
              <a:buClr>
                <a:schemeClr val="accent6"/>
              </a:buClr>
              <a:buSzPts val="1800"/>
              <a:buNone/>
              <a:defRPr sz="1800">
                <a:solidFill>
                  <a:schemeClr val="accent6"/>
                </a:solidFill>
              </a:defRPr>
            </a:lvl7pPr>
            <a:lvl8pPr lvl="7" rtl="0">
              <a:spcBef>
                <a:spcPts val="0"/>
              </a:spcBef>
              <a:spcAft>
                <a:spcPts val="0"/>
              </a:spcAft>
              <a:buClr>
                <a:schemeClr val="accent6"/>
              </a:buClr>
              <a:buSzPts val="1800"/>
              <a:buNone/>
              <a:defRPr sz="1800">
                <a:solidFill>
                  <a:schemeClr val="accent6"/>
                </a:solidFill>
              </a:defRPr>
            </a:lvl8pPr>
            <a:lvl9pPr lvl="8" rtl="0">
              <a:spcBef>
                <a:spcPts val="0"/>
              </a:spcBef>
              <a:spcAft>
                <a:spcPts val="0"/>
              </a:spcAft>
              <a:buClr>
                <a:schemeClr val="accent6"/>
              </a:buClr>
              <a:buSzPts val="1800"/>
              <a:buNone/>
              <a:defRPr sz="1800">
                <a:solidFill>
                  <a:schemeClr val="accent6"/>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855300" y="836000"/>
            <a:ext cx="5462700" cy="396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0" name="Google Shape;20;p5"/>
          <p:cNvSpPr txBox="1">
            <a:spLocks noGrp="1"/>
          </p:cNvSpPr>
          <p:nvPr>
            <p:ph type="body" idx="1"/>
          </p:nvPr>
        </p:nvSpPr>
        <p:spPr>
          <a:xfrm>
            <a:off x="855300" y="1353948"/>
            <a:ext cx="5462700" cy="3033900"/>
          </a:xfrm>
          <a:prstGeom prst="rect">
            <a:avLst/>
          </a:prstGeom>
        </p:spPr>
        <p:txBody>
          <a:bodyPr spcFirstLastPara="1" wrap="square" lIns="0" tIns="0" rIns="0" bIns="0" anchor="t" anchorCtr="0">
            <a:noAutofit/>
          </a:bodyPr>
          <a:lstStyle>
            <a:lvl1pPr marL="457200" lvl="0" indent="-355600" rtl="0">
              <a:spcBef>
                <a:spcPts val="600"/>
              </a:spcBef>
              <a:spcAft>
                <a:spcPts val="0"/>
              </a:spcAft>
              <a:buSzPts val="2000"/>
              <a:buChar char="✦"/>
              <a:defRPr/>
            </a:lvl1pPr>
            <a:lvl2pPr marL="914400" lvl="1" indent="-355600" rtl="0">
              <a:spcBef>
                <a:spcPts val="0"/>
              </a:spcBef>
              <a:spcAft>
                <a:spcPts val="0"/>
              </a:spcAft>
              <a:buSzPts val="2000"/>
              <a:buChar char="✧"/>
              <a:defRPr/>
            </a:lvl2pPr>
            <a:lvl3pPr marL="1371600" lvl="2" indent="-381000" rtl="0">
              <a:spcBef>
                <a:spcPts val="0"/>
              </a:spcBef>
              <a:spcAft>
                <a:spcPts val="0"/>
              </a:spcAft>
              <a:buSzPts val="2400"/>
              <a:buChar char="■"/>
              <a:defRPr/>
            </a:lvl3pPr>
            <a:lvl4pPr marL="1828800" lvl="3" indent="-381000" rtl="0">
              <a:spcBef>
                <a:spcPts val="0"/>
              </a:spcBef>
              <a:spcAft>
                <a:spcPts val="0"/>
              </a:spcAft>
              <a:buSzPts val="2400"/>
              <a:buChar char="●"/>
              <a:defRPr/>
            </a:lvl4pPr>
            <a:lvl5pPr marL="2286000" lvl="4" indent="-381000" rtl="0">
              <a:spcBef>
                <a:spcPts val="0"/>
              </a:spcBef>
              <a:spcAft>
                <a:spcPts val="0"/>
              </a:spcAft>
              <a:buSzPts val="2400"/>
              <a:buChar char="○"/>
              <a:defRPr/>
            </a:lvl5pPr>
            <a:lvl6pPr marL="2743200" lvl="5" indent="-381000" rtl="0">
              <a:spcBef>
                <a:spcPts val="0"/>
              </a:spcBef>
              <a:spcAft>
                <a:spcPts val="0"/>
              </a:spcAft>
              <a:buSzPts val="2400"/>
              <a:buChar char="■"/>
              <a:defRPr/>
            </a:lvl6pPr>
            <a:lvl7pPr marL="3200400" lvl="6" indent="-381000" rtl="0">
              <a:spcBef>
                <a:spcPts val="0"/>
              </a:spcBef>
              <a:spcAft>
                <a:spcPts val="0"/>
              </a:spcAft>
              <a:buSzPts val="2400"/>
              <a:buChar char="●"/>
              <a:defRPr/>
            </a:lvl7pPr>
            <a:lvl8pPr marL="3657600" lvl="7" indent="-381000" rtl="0">
              <a:spcBef>
                <a:spcPts val="0"/>
              </a:spcBef>
              <a:spcAft>
                <a:spcPts val="0"/>
              </a:spcAft>
              <a:buSzPts val="2400"/>
              <a:buChar char="○"/>
              <a:defRPr/>
            </a:lvl8pPr>
            <a:lvl9pPr marL="4114800" lvl="8" indent="-381000" rtl="0">
              <a:spcBef>
                <a:spcPts val="0"/>
              </a:spcBef>
              <a:spcAft>
                <a:spcPts val="0"/>
              </a:spcAft>
              <a:buSzPts val="2400"/>
              <a:buChar char="■"/>
              <a:defRPr/>
            </a:lvl9pPr>
          </a:lstStyle>
          <a:p>
            <a:endParaRPr/>
          </a:p>
        </p:txBody>
      </p:sp>
      <p:sp>
        <p:nvSpPr>
          <p:cNvPr id="21" name="Google Shape;21;p5"/>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855300" y="836000"/>
            <a:ext cx="5462700" cy="396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4" name="Google Shape;24;p6"/>
          <p:cNvSpPr txBox="1">
            <a:spLocks noGrp="1"/>
          </p:cNvSpPr>
          <p:nvPr>
            <p:ph type="body" idx="1"/>
          </p:nvPr>
        </p:nvSpPr>
        <p:spPr>
          <a:xfrm>
            <a:off x="855275" y="1353950"/>
            <a:ext cx="2552400" cy="2953500"/>
          </a:xfrm>
          <a:prstGeom prst="rect">
            <a:avLst/>
          </a:prstGeom>
        </p:spPr>
        <p:txBody>
          <a:bodyPr spcFirstLastPara="1" wrap="square" lIns="0" tIns="0" rIns="0" bIns="0" anchor="t" anchorCtr="0">
            <a:noAutofit/>
          </a:bodyPr>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sp>
        <p:nvSpPr>
          <p:cNvPr id="25" name="Google Shape;25;p6"/>
          <p:cNvSpPr txBox="1">
            <a:spLocks noGrp="1"/>
          </p:cNvSpPr>
          <p:nvPr>
            <p:ph type="body" idx="2"/>
          </p:nvPr>
        </p:nvSpPr>
        <p:spPr>
          <a:xfrm>
            <a:off x="3765650" y="1353950"/>
            <a:ext cx="2552400" cy="2953500"/>
          </a:xfrm>
          <a:prstGeom prst="rect">
            <a:avLst/>
          </a:prstGeom>
        </p:spPr>
        <p:txBody>
          <a:bodyPr spcFirstLastPara="1" wrap="square" lIns="0" tIns="0" rIns="0" bIns="0" anchor="t" anchorCtr="0">
            <a:noAutofit/>
          </a:bodyPr>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sp>
        <p:nvSpPr>
          <p:cNvPr id="26" name="Google Shape;26;p6"/>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855300" y="836000"/>
            <a:ext cx="5462700" cy="396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35" name="Google Shape;35;p8"/>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9"/>
        <p:cNvGrpSpPr/>
        <p:nvPr/>
      </p:nvGrpSpPr>
      <p:grpSpPr>
        <a:xfrm>
          <a:off x="0" y="0"/>
          <a:ext cx="0" cy="0"/>
          <a:chOff x="0" y="0"/>
          <a:chExt cx="0" cy="0"/>
        </a:xfrm>
      </p:grpSpPr>
      <p:sp>
        <p:nvSpPr>
          <p:cNvPr id="40" name="Google Shape;40;p10"/>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blipFill>
          <a:blip r:embed="rId8">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55300" y="836000"/>
            <a:ext cx="5462700" cy="396300"/>
          </a:xfrm>
          <a:prstGeom prst="rect">
            <a:avLst/>
          </a:prstGeom>
          <a:noFill/>
          <a:ln>
            <a:noFill/>
          </a:ln>
          <a:effectLst>
            <a:outerShdw blurRad="142875" algn="bl" rotWithShape="0">
              <a:srgbClr val="0072FF"/>
            </a:outerShdw>
          </a:effectLst>
        </p:spPr>
        <p:txBody>
          <a:bodyPr spcFirstLastPara="1" wrap="square" lIns="0" tIns="0" rIns="0" bIns="0" anchor="ctr" anchorCtr="0">
            <a:noAutofit/>
          </a:bodyPr>
          <a:lstStyle>
            <a:lvl1pPr marL="0" marR="0" lvl="0" indent="0" algn="l"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1pPr>
            <a:lvl2pPr lvl="1"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2pPr>
            <a:lvl3pPr lvl="2"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3pPr>
            <a:lvl4pPr lvl="3"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4pPr>
            <a:lvl5pPr lvl="4"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5pPr>
            <a:lvl6pPr lvl="5"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6pPr>
            <a:lvl7pPr lvl="6"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7pPr>
            <a:lvl8pPr lvl="7"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8pPr>
            <a:lvl9pPr lvl="8"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9pPr>
          </a:lstStyle>
          <a:p>
            <a:endParaRPr/>
          </a:p>
        </p:txBody>
      </p:sp>
      <p:sp>
        <p:nvSpPr>
          <p:cNvPr id="7" name="Google Shape;7;p1"/>
          <p:cNvSpPr txBox="1">
            <a:spLocks noGrp="1"/>
          </p:cNvSpPr>
          <p:nvPr>
            <p:ph type="body" idx="1"/>
          </p:nvPr>
        </p:nvSpPr>
        <p:spPr>
          <a:xfrm>
            <a:off x="855300" y="1353948"/>
            <a:ext cx="5462700" cy="3033900"/>
          </a:xfrm>
          <a:prstGeom prst="rect">
            <a:avLst/>
          </a:prstGeom>
          <a:noFill/>
          <a:ln>
            <a:noFill/>
          </a:ln>
        </p:spPr>
        <p:txBody>
          <a:bodyPr spcFirstLastPara="1" wrap="square" lIns="0" tIns="0" rIns="0" bIns="0" anchor="t" anchorCtr="0">
            <a:noAutofit/>
          </a:bodyPr>
          <a:lstStyle>
            <a:lvl1pPr marL="457200" lvl="0" indent="-355600" rtl="0">
              <a:spcBef>
                <a:spcPts val="600"/>
              </a:spcBef>
              <a:spcAft>
                <a:spcPts val="0"/>
              </a:spcAft>
              <a:buClr>
                <a:schemeClr val="accent6"/>
              </a:buClr>
              <a:buSzPts val="2000"/>
              <a:buFont typeface="Lora"/>
              <a:buChar char="✦"/>
              <a:defRPr sz="2400">
                <a:solidFill>
                  <a:schemeClr val="dk1"/>
                </a:solidFill>
                <a:latin typeface="Lora"/>
                <a:ea typeface="Lora"/>
                <a:cs typeface="Lora"/>
                <a:sym typeface="Lora"/>
              </a:defRPr>
            </a:lvl1pPr>
            <a:lvl2pPr marL="914400" lvl="1" indent="-355600" rtl="0">
              <a:spcBef>
                <a:spcPts val="0"/>
              </a:spcBef>
              <a:spcAft>
                <a:spcPts val="0"/>
              </a:spcAft>
              <a:buClr>
                <a:schemeClr val="accent4"/>
              </a:buClr>
              <a:buSzPts val="2000"/>
              <a:buFont typeface="Lora"/>
              <a:buChar char="✧"/>
              <a:defRPr sz="2400">
                <a:solidFill>
                  <a:schemeClr val="dk1"/>
                </a:solidFill>
                <a:latin typeface="Lora"/>
                <a:ea typeface="Lora"/>
                <a:cs typeface="Lora"/>
                <a:sym typeface="Lora"/>
              </a:defRPr>
            </a:lvl2pPr>
            <a:lvl3pPr marL="1371600" lvl="2" indent="-381000" rtl="0">
              <a:spcBef>
                <a:spcPts val="0"/>
              </a:spcBef>
              <a:spcAft>
                <a:spcPts val="0"/>
              </a:spcAft>
              <a:buClr>
                <a:schemeClr val="accent5"/>
              </a:buClr>
              <a:buSzPts val="2400"/>
              <a:buFont typeface="Lora"/>
              <a:buChar char="■"/>
              <a:defRPr sz="2400">
                <a:solidFill>
                  <a:schemeClr val="dk1"/>
                </a:solidFill>
                <a:latin typeface="Lora"/>
                <a:ea typeface="Lora"/>
                <a:cs typeface="Lora"/>
                <a:sym typeface="Lora"/>
              </a:defRPr>
            </a:lvl3pPr>
            <a:lvl4pPr marL="1828800" lvl="3" indent="-381000" rtl="0">
              <a:spcBef>
                <a:spcPts val="0"/>
              </a:spcBef>
              <a:spcAft>
                <a:spcPts val="0"/>
              </a:spcAft>
              <a:buClr>
                <a:schemeClr val="dk1"/>
              </a:buClr>
              <a:buSzPts val="2400"/>
              <a:buFont typeface="Lora"/>
              <a:buChar char="●"/>
              <a:defRPr sz="2400">
                <a:solidFill>
                  <a:schemeClr val="dk1"/>
                </a:solidFill>
                <a:latin typeface="Lora"/>
                <a:ea typeface="Lora"/>
                <a:cs typeface="Lora"/>
                <a:sym typeface="Lora"/>
              </a:defRPr>
            </a:lvl4pPr>
            <a:lvl5pPr marL="2286000" lvl="4" indent="-381000" rtl="0">
              <a:spcBef>
                <a:spcPts val="0"/>
              </a:spcBef>
              <a:spcAft>
                <a:spcPts val="0"/>
              </a:spcAft>
              <a:buClr>
                <a:schemeClr val="dk1"/>
              </a:buClr>
              <a:buSzPts val="2400"/>
              <a:buFont typeface="Lora"/>
              <a:buChar char="○"/>
              <a:defRPr sz="2400">
                <a:solidFill>
                  <a:schemeClr val="dk1"/>
                </a:solidFill>
                <a:latin typeface="Lora"/>
                <a:ea typeface="Lora"/>
                <a:cs typeface="Lora"/>
                <a:sym typeface="Lora"/>
              </a:defRPr>
            </a:lvl5pPr>
            <a:lvl6pPr marL="2743200" lvl="5" indent="-381000" rtl="0">
              <a:spcBef>
                <a:spcPts val="0"/>
              </a:spcBef>
              <a:spcAft>
                <a:spcPts val="0"/>
              </a:spcAft>
              <a:buClr>
                <a:schemeClr val="dk1"/>
              </a:buClr>
              <a:buSzPts val="2400"/>
              <a:buFont typeface="Lora"/>
              <a:buChar char="■"/>
              <a:defRPr sz="2400">
                <a:solidFill>
                  <a:schemeClr val="dk1"/>
                </a:solidFill>
                <a:latin typeface="Lora"/>
                <a:ea typeface="Lora"/>
                <a:cs typeface="Lora"/>
                <a:sym typeface="Lora"/>
              </a:defRPr>
            </a:lvl6pPr>
            <a:lvl7pPr marL="3200400" lvl="6" indent="-381000" rtl="0">
              <a:spcBef>
                <a:spcPts val="0"/>
              </a:spcBef>
              <a:spcAft>
                <a:spcPts val="0"/>
              </a:spcAft>
              <a:buClr>
                <a:schemeClr val="dk1"/>
              </a:buClr>
              <a:buSzPts val="2400"/>
              <a:buFont typeface="Lora"/>
              <a:buChar char="●"/>
              <a:defRPr sz="2400">
                <a:solidFill>
                  <a:schemeClr val="dk1"/>
                </a:solidFill>
                <a:latin typeface="Lora"/>
                <a:ea typeface="Lora"/>
                <a:cs typeface="Lora"/>
                <a:sym typeface="Lora"/>
              </a:defRPr>
            </a:lvl7pPr>
            <a:lvl8pPr marL="3657600" lvl="7" indent="-381000" rtl="0">
              <a:spcBef>
                <a:spcPts val="0"/>
              </a:spcBef>
              <a:spcAft>
                <a:spcPts val="0"/>
              </a:spcAft>
              <a:buClr>
                <a:schemeClr val="dk1"/>
              </a:buClr>
              <a:buSzPts val="2400"/>
              <a:buFont typeface="Lora"/>
              <a:buChar char="○"/>
              <a:defRPr sz="2400">
                <a:solidFill>
                  <a:schemeClr val="dk1"/>
                </a:solidFill>
                <a:latin typeface="Lora"/>
                <a:ea typeface="Lora"/>
                <a:cs typeface="Lora"/>
                <a:sym typeface="Lora"/>
              </a:defRPr>
            </a:lvl8pPr>
            <a:lvl9pPr marL="4114800" lvl="8" indent="-381000" rtl="0">
              <a:spcBef>
                <a:spcPts val="0"/>
              </a:spcBef>
              <a:spcAft>
                <a:spcPts val="0"/>
              </a:spcAft>
              <a:buClr>
                <a:schemeClr val="dk1"/>
              </a:buClr>
              <a:buSzPts val="2400"/>
              <a:buFont typeface="Lora"/>
              <a:buChar char="■"/>
              <a:defRPr sz="2400">
                <a:solidFill>
                  <a:schemeClr val="dk1"/>
                </a:solidFill>
                <a:latin typeface="Lora"/>
                <a:ea typeface="Lora"/>
                <a:cs typeface="Lora"/>
                <a:sym typeface="Lora"/>
              </a:defRPr>
            </a:lvl9pPr>
          </a:lstStyle>
          <a:p>
            <a:endParaRPr/>
          </a:p>
        </p:txBody>
      </p:sp>
      <p:sp>
        <p:nvSpPr>
          <p:cNvPr id="8" name="Google Shape;8;p1"/>
          <p:cNvSpPr txBox="1">
            <a:spLocks noGrp="1"/>
          </p:cNvSpPr>
          <p:nvPr>
            <p:ph type="sldNum" idx="12"/>
          </p:nvPr>
        </p:nvSpPr>
        <p:spPr>
          <a:xfrm>
            <a:off x="8404384" y="4673651"/>
            <a:ext cx="548700" cy="393600"/>
          </a:xfrm>
          <a:prstGeom prst="rect">
            <a:avLst/>
          </a:prstGeom>
          <a:noFill/>
          <a:ln>
            <a:noFill/>
          </a:ln>
          <a:effectLst>
            <a:outerShdw blurRad="114300" algn="bl" rotWithShape="0">
              <a:srgbClr val="FFFF00"/>
            </a:outerShdw>
          </a:effectLst>
        </p:spPr>
        <p:txBody>
          <a:bodyPr spcFirstLastPara="1" wrap="square" lIns="0" tIns="0" rIns="0" bIns="0" anchor="ctr" anchorCtr="0">
            <a:noAutofit/>
          </a:bodyPr>
          <a:lstStyle>
            <a:lvl1pPr lvl="0" algn="r" rtl="0">
              <a:buNone/>
              <a:defRPr sz="1300">
                <a:solidFill>
                  <a:schemeClr val="accent5"/>
                </a:solidFill>
                <a:latin typeface="Vidaloka"/>
                <a:ea typeface="Vidaloka"/>
                <a:cs typeface="Vidaloka"/>
                <a:sym typeface="Vidaloka"/>
              </a:defRPr>
            </a:lvl1pPr>
            <a:lvl2pPr lvl="1" algn="r" rtl="0">
              <a:buNone/>
              <a:defRPr sz="1300">
                <a:solidFill>
                  <a:schemeClr val="accent5"/>
                </a:solidFill>
                <a:latin typeface="Vidaloka"/>
                <a:ea typeface="Vidaloka"/>
                <a:cs typeface="Vidaloka"/>
                <a:sym typeface="Vidaloka"/>
              </a:defRPr>
            </a:lvl2pPr>
            <a:lvl3pPr lvl="2" algn="r" rtl="0">
              <a:buNone/>
              <a:defRPr sz="1300">
                <a:solidFill>
                  <a:schemeClr val="accent5"/>
                </a:solidFill>
                <a:latin typeface="Vidaloka"/>
                <a:ea typeface="Vidaloka"/>
                <a:cs typeface="Vidaloka"/>
                <a:sym typeface="Vidaloka"/>
              </a:defRPr>
            </a:lvl3pPr>
            <a:lvl4pPr lvl="3" algn="r" rtl="0">
              <a:buNone/>
              <a:defRPr sz="1300">
                <a:solidFill>
                  <a:schemeClr val="accent5"/>
                </a:solidFill>
                <a:latin typeface="Vidaloka"/>
                <a:ea typeface="Vidaloka"/>
                <a:cs typeface="Vidaloka"/>
                <a:sym typeface="Vidaloka"/>
              </a:defRPr>
            </a:lvl4pPr>
            <a:lvl5pPr lvl="4" algn="r" rtl="0">
              <a:buNone/>
              <a:defRPr sz="1300">
                <a:solidFill>
                  <a:schemeClr val="accent5"/>
                </a:solidFill>
                <a:latin typeface="Vidaloka"/>
                <a:ea typeface="Vidaloka"/>
                <a:cs typeface="Vidaloka"/>
                <a:sym typeface="Vidaloka"/>
              </a:defRPr>
            </a:lvl5pPr>
            <a:lvl6pPr lvl="5" algn="r" rtl="0">
              <a:buNone/>
              <a:defRPr sz="1300">
                <a:solidFill>
                  <a:schemeClr val="accent5"/>
                </a:solidFill>
                <a:latin typeface="Vidaloka"/>
                <a:ea typeface="Vidaloka"/>
                <a:cs typeface="Vidaloka"/>
                <a:sym typeface="Vidaloka"/>
              </a:defRPr>
            </a:lvl6pPr>
            <a:lvl7pPr lvl="6" algn="r" rtl="0">
              <a:buNone/>
              <a:defRPr sz="1300">
                <a:solidFill>
                  <a:schemeClr val="accent5"/>
                </a:solidFill>
                <a:latin typeface="Vidaloka"/>
                <a:ea typeface="Vidaloka"/>
                <a:cs typeface="Vidaloka"/>
                <a:sym typeface="Vidaloka"/>
              </a:defRPr>
            </a:lvl7pPr>
            <a:lvl8pPr lvl="7" algn="r" rtl="0">
              <a:buNone/>
              <a:defRPr sz="1300">
                <a:solidFill>
                  <a:schemeClr val="accent5"/>
                </a:solidFill>
                <a:latin typeface="Vidaloka"/>
                <a:ea typeface="Vidaloka"/>
                <a:cs typeface="Vidaloka"/>
                <a:sym typeface="Vidaloka"/>
              </a:defRPr>
            </a:lvl8pPr>
            <a:lvl9pPr lvl="8" algn="r" rtl="0">
              <a:buNone/>
              <a:defRPr sz="1300">
                <a:solidFill>
                  <a:schemeClr val="accent5"/>
                </a:solidFill>
                <a:latin typeface="Vidaloka"/>
                <a:ea typeface="Vidaloka"/>
                <a:cs typeface="Vidaloka"/>
                <a:sym typeface="Vidalok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6"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hyperlink" Target="https://www.tutorialspoint.com/cprogramming/c_pointers.htm"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hyperlink" Target="https://www.log2base2.com/C/pointer/pointer-to-pointer-in-c.html" TargetMode="External"/><Relationship Id="rId5" Type="http://schemas.openxmlformats.org/officeDocument/2006/relationships/hyperlink" Target="https://www.guru99.com/difference-between-malloc-and-calloc.html" TargetMode="External"/><Relationship Id="rId4" Type="http://schemas.openxmlformats.org/officeDocument/2006/relationships/hyperlink" Target="https://www.javatpoint.com/malloc-in-c" TargetMode="Externa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3"/>
          <p:cNvSpPr txBox="1">
            <a:spLocks noGrp="1"/>
          </p:cNvSpPr>
          <p:nvPr>
            <p:ph type="ctrTitle"/>
          </p:nvPr>
        </p:nvSpPr>
        <p:spPr>
          <a:xfrm>
            <a:off x="291774" y="-209460"/>
            <a:ext cx="4573239" cy="2908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IN" sz="3600" dirty="0"/>
              <a:t>  </a:t>
            </a:r>
            <a:r>
              <a:rPr lang="en-IN" sz="4000" dirty="0"/>
              <a:t>Programming in C</a:t>
            </a:r>
          </a:p>
        </p:txBody>
      </p:sp>
      <p:sp>
        <p:nvSpPr>
          <p:cNvPr id="4" name="Google Shape;66;p15">
            <a:extLst>
              <a:ext uri="{FF2B5EF4-FFF2-40B4-BE49-F238E27FC236}">
                <a16:creationId xmlns:a16="http://schemas.microsoft.com/office/drawing/2014/main" id="{3190AF45-04F2-8E7F-0036-300548EC208B}"/>
              </a:ext>
            </a:extLst>
          </p:cNvPr>
          <p:cNvSpPr txBox="1">
            <a:spLocks/>
          </p:cNvSpPr>
          <p:nvPr/>
        </p:nvSpPr>
        <p:spPr>
          <a:xfrm>
            <a:off x="291774" y="2155174"/>
            <a:ext cx="4769323" cy="17718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6"/>
              </a:buClr>
              <a:buSzPts val="2000"/>
              <a:buFont typeface="Lora"/>
              <a:buChar char="✦"/>
              <a:defRPr sz="2400" b="0" i="0" u="none" strike="noStrike" cap="none">
                <a:solidFill>
                  <a:schemeClr val="dk1"/>
                </a:solidFill>
                <a:latin typeface="Lora"/>
                <a:ea typeface="Lora"/>
                <a:cs typeface="Lora"/>
                <a:sym typeface="Lora"/>
              </a:defRPr>
            </a:lvl1pPr>
            <a:lvl2pPr marL="914400" marR="0" lvl="1" indent="-355600" algn="l" rtl="0">
              <a:lnSpc>
                <a:spcPct val="100000"/>
              </a:lnSpc>
              <a:spcBef>
                <a:spcPts val="0"/>
              </a:spcBef>
              <a:spcAft>
                <a:spcPts val="0"/>
              </a:spcAft>
              <a:buClr>
                <a:schemeClr val="accent4"/>
              </a:buClr>
              <a:buSzPts val="2000"/>
              <a:buFont typeface="Lora"/>
              <a:buChar char="✧"/>
              <a:defRPr sz="2400" b="0" i="0" u="none" strike="noStrike" cap="none">
                <a:solidFill>
                  <a:schemeClr val="dk1"/>
                </a:solidFill>
                <a:latin typeface="Lora"/>
                <a:ea typeface="Lora"/>
                <a:cs typeface="Lora"/>
                <a:sym typeface="Lora"/>
              </a:defRPr>
            </a:lvl2pPr>
            <a:lvl3pPr marL="1371600" marR="0" lvl="2" indent="-381000" algn="l" rtl="0">
              <a:lnSpc>
                <a:spcPct val="100000"/>
              </a:lnSpc>
              <a:spcBef>
                <a:spcPts val="0"/>
              </a:spcBef>
              <a:spcAft>
                <a:spcPts val="0"/>
              </a:spcAft>
              <a:buClr>
                <a:schemeClr val="accent5"/>
              </a:buClr>
              <a:buSzPts val="2400"/>
              <a:buFont typeface="Lora"/>
              <a:buChar char="■"/>
              <a:defRPr sz="2400" b="0" i="0" u="none" strike="noStrike" cap="none">
                <a:solidFill>
                  <a:schemeClr val="dk1"/>
                </a:solidFill>
                <a:latin typeface="Lora"/>
                <a:ea typeface="Lora"/>
                <a:cs typeface="Lora"/>
                <a:sym typeface="Lora"/>
              </a:defRPr>
            </a:lvl3pPr>
            <a:lvl4pPr marL="1828800" marR="0" lvl="3" indent="-381000" algn="l" rtl="0">
              <a:lnSpc>
                <a:spcPct val="100000"/>
              </a:lnSpc>
              <a:spcBef>
                <a:spcPts val="0"/>
              </a:spcBef>
              <a:spcAft>
                <a:spcPts val="0"/>
              </a:spcAft>
              <a:buClr>
                <a:schemeClr val="dk1"/>
              </a:buClr>
              <a:buSzPts val="2400"/>
              <a:buFont typeface="Lora"/>
              <a:buChar char="●"/>
              <a:defRPr sz="2400" b="0" i="0" u="none" strike="noStrike" cap="none">
                <a:solidFill>
                  <a:schemeClr val="dk1"/>
                </a:solidFill>
                <a:latin typeface="Lora"/>
                <a:ea typeface="Lora"/>
                <a:cs typeface="Lora"/>
                <a:sym typeface="Lora"/>
              </a:defRPr>
            </a:lvl4pPr>
            <a:lvl5pPr marL="2286000" marR="0" lvl="4" indent="-381000" algn="l" rtl="0">
              <a:lnSpc>
                <a:spcPct val="100000"/>
              </a:lnSpc>
              <a:spcBef>
                <a:spcPts val="0"/>
              </a:spcBef>
              <a:spcAft>
                <a:spcPts val="0"/>
              </a:spcAft>
              <a:buClr>
                <a:schemeClr val="dk1"/>
              </a:buClr>
              <a:buSzPts val="2400"/>
              <a:buFont typeface="Lora"/>
              <a:buChar char="○"/>
              <a:defRPr sz="2400" b="0" i="0" u="none" strike="noStrike" cap="none">
                <a:solidFill>
                  <a:schemeClr val="dk1"/>
                </a:solidFill>
                <a:latin typeface="Lora"/>
                <a:ea typeface="Lora"/>
                <a:cs typeface="Lora"/>
                <a:sym typeface="Lora"/>
              </a:defRPr>
            </a:lvl5pPr>
            <a:lvl6pPr marL="2743200" marR="0" lvl="5" indent="-381000" algn="l" rtl="0">
              <a:lnSpc>
                <a:spcPct val="100000"/>
              </a:lnSpc>
              <a:spcBef>
                <a:spcPts val="0"/>
              </a:spcBef>
              <a:spcAft>
                <a:spcPts val="0"/>
              </a:spcAft>
              <a:buClr>
                <a:schemeClr val="dk1"/>
              </a:buClr>
              <a:buSzPts val="2400"/>
              <a:buFont typeface="Lora"/>
              <a:buChar char="■"/>
              <a:defRPr sz="2400" b="0" i="0" u="none" strike="noStrike" cap="none">
                <a:solidFill>
                  <a:schemeClr val="dk1"/>
                </a:solidFill>
                <a:latin typeface="Lora"/>
                <a:ea typeface="Lora"/>
                <a:cs typeface="Lora"/>
                <a:sym typeface="Lora"/>
              </a:defRPr>
            </a:lvl6pPr>
            <a:lvl7pPr marL="3200400" marR="0" lvl="6" indent="-381000" algn="l" rtl="0">
              <a:lnSpc>
                <a:spcPct val="100000"/>
              </a:lnSpc>
              <a:spcBef>
                <a:spcPts val="0"/>
              </a:spcBef>
              <a:spcAft>
                <a:spcPts val="0"/>
              </a:spcAft>
              <a:buClr>
                <a:schemeClr val="dk1"/>
              </a:buClr>
              <a:buSzPts val="2400"/>
              <a:buFont typeface="Lora"/>
              <a:buChar char="●"/>
              <a:defRPr sz="2400" b="0" i="0" u="none" strike="noStrike" cap="none">
                <a:solidFill>
                  <a:schemeClr val="dk1"/>
                </a:solidFill>
                <a:latin typeface="Lora"/>
                <a:ea typeface="Lora"/>
                <a:cs typeface="Lora"/>
                <a:sym typeface="Lora"/>
              </a:defRPr>
            </a:lvl7pPr>
            <a:lvl8pPr marL="3657600" marR="0" lvl="7" indent="-381000" algn="l" rtl="0">
              <a:lnSpc>
                <a:spcPct val="100000"/>
              </a:lnSpc>
              <a:spcBef>
                <a:spcPts val="0"/>
              </a:spcBef>
              <a:spcAft>
                <a:spcPts val="0"/>
              </a:spcAft>
              <a:buClr>
                <a:schemeClr val="dk1"/>
              </a:buClr>
              <a:buSzPts val="2400"/>
              <a:buFont typeface="Lora"/>
              <a:buChar char="○"/>
              <a:defRPr sz="2400" b="0" i="0" u="none" strike="noStrike" cap="none">
                <a:solidFill>
                  <a:schemeClr val="dk1"/>
                </a:solidFill>
                <a:latin typeface="Lora"/>
                <a:ea typeface="Lora"/>
                <a:cs typeface="Lora"/>
                <a:sym typeface="Lora"/>
              </a:defRPr>
            </a:lvl8pPr>
            <a:lvl9pPr marL="4114800" marR="0" lvl="8" indent="-381000" algn="l" rtl="0">
              <a:lnSpc>
                <a:spcPct val="100000"/>
              </a:lnSpc>
              <a:spcBef>
                <a:spcPts val="0"/>
              </a:spcBef>
              <a:spcAft>
                <a:spcPts val="0"/>
              </a:spcAft>
              <a:buClr>
                <a:schemeClr val="dk1"/>
              </a:buClr>
              <a:buSzPts val="2400"/>
              <a:buFont typeface="Lora"/>
              <a:buChar char="■"/>
              <a:defRPr sz="2400" b="0" i="0" u="none" strike="noStrike" cap="none">
                <a:solidFill>
                  <a:schemeClr val="dk1"/>
                </a:solidFill>
                <a:latin typeface="Lora"/>
                <a:ea typeface="Lora"/>
                <a:cs typeface="Lora"/>
                <a:sym typeface="Lora"/>
              </a:defRPr>
            </a:lvl9pPr>
          </a:lstStyle>
          <a:p>
            <a:pPr marL="0" indent="0" algn="ctr">
              <a:buFont typeface="Lora"/>
              <a:buNone/>
            </a:pPr>
            <a:r>
              <a:rPr lang="en-US" b="1" dirty="0"/>
              <a:t>By</a:t>
            </a:r>
          </a:p>
          <a:p>
            <a:pPr marL="0" indent="0">
              <a:buFont typeface="Lora"/>
              <a:buNone/>
            </a:pPr>
            <a:r>
              <a:rPr lang="en-US" b="1" dirty="0">
                <a:solidFill>
                  <a:schemeClr val="accent3"/>
                </a:solidFill>
              </a:rPr>
              <a:t>             MS KRITI KAUSIK</a:t>
            </a:r>
          </a:p>
          <a:p>
            <a:pPr marL="0" indent="0">
              <a:buClr>
                <a:schemeClr val="dk1"/>
              </a:buClr>
              <a:buSzPts val="1100"/>
              <a:buFont typeface="Arial"/>
              <a:buNone/>
            </a:pPr>
            <a:r>
              <a:rPr lang="en-US" dirty="0"/>
              <a:t>        kriti29kausik@gmail.com</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ctrTitle"/>
          </p:nvPr>
        </p:nvSpPr>
        <p:spPr>
          <a:xfrm>
            <a:off x="232302" y="693683"/>
            <a:ext cx="4728600" cy="198618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IN" dirty="0"/>
              <a:t>Dynamic </a:t>
            </a:r>
            <a:br>
              <a:rPr lang="en-IN" dirty="0"/>
            </a:br>
            <a:r>
              <a:rPr lang="en-IN" dirty="0"/>
              <a:t>Data structures - Pointers</a:t>
            </a:r>
            <a:endParaRPr dirty="0"/>
          </a:p>
        </p:txBody>
      </p:sp>
      <p:sp>
        <p:nvSpPr>
          <p:cNvPr id="74" name="Google Shape;74;p16"/>
          <p:cNvSpPr txBox="1">
            <a:spLocks noGrp="1"/>
          </p:cNvSpPr>
          <p:nvPr>
            <p:ph type="subTitle" idx="1"/>
          </p:nvPr>
        </p:nvSpPr>
        <p:spPr>
          <a:xfrm>
            <a:off x="91625" y="2679863"/>
            <a:ext cx="4728600" cy="3360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dirty="0"/>
              <a:t>Unit IV</a:t>
            </a:r>
            <a:endParaRPr dirty="0"/>
          </a:p>
        </p:txBody>
      </p:sp>
      <p:sp>
        <p:nvSpPr>
          <p:cNvPr id="3" name="TextBox 2">
            <a:extLst>
              <a:ext uri="{FF2B5EF4-FFF2-40B4-BE49-F238E27FC236}">
                <a16:creationId xmlns:a16="http://schemas.microsoft.com/office/drawing/2014/main" id="{41A27643-9471-5782-8C9E-5CE90C312A0B}"/>
              </a:ext>
            </a:extLst>
          </p:cNvPr>
          <p:cNvSpPr txBox="1"/>
          <p:nvPr/>
        </p:nvSpPr>
        <p:spPr>
          <a:xfrm>
            <a:off x="248225" y="3204586"/>
            <a:ext cx="4572000" cy="307777"/>
          </a:xfrm>
          <a:prstGeom prst="rect">
            <a:avLst/>
          </a:prstGeom>
          <a:noFill/>
        </p:spPr>
        <p:txBody>
          <a:bodyPr wrap="square">
            <a:spAutoFit/>
          </a:bodyPr>
          <a:lstStyle/>
          <a:p>
            <a:pPr marL="0" lvl="0" indent="0" algn="ctr" rtl="0">
              <a:spcBef>
                <a:spcPts val="0"/>
              </a:spcBef>
              <a:spcAft>
                <a:spcPts val="0"/>
              </a:spcAft>
              <a:buNone/>
            </a:pPr>
            <a:r>
              <a:rPr lang="en-IN" b="1" dirty="0">
                <a:solidFill>
                  <a:srgbClr val="FFFF00"/>
                </a:solidFill>
              </a:rPr>
              <a:t>Chapter 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4"/>
          <p:cNvSpPr txBox="1">
            <a:spLocks noGrp="1"/>
          </p:cNvSpPr>
          <p:nvPr>
            <p:ph type="title"/>
          </p:nvPr>
        </p:nvSpPr>
        <p:spPr>
          <a:xfrm>
            <a:off x="855275" y="439750"/>
            <a:ext cx="5462700" cy="396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Contents</a:t>
            </a:r>
            <a:endParaRPr dirty="0"/>
          </a:p>
        </p:txBody>
      </p:sp>
      <p:sp>
        <p:nvSpPr>
          <p:cNvPr id="58" name="Google Shape;58;p14"/>
          <p:cNvSpPr txBox="1">
            <a:spLocks noGrp="1"/>
          </p:cNvSpPr>
          <p:nvPr>
            <p:ph type="body" idx="1"/>
          </p:nvPr>
        </p:nvSpPr>
        <p:spPr>
          <a:xfrm>
            <a:off x="483641" y="1174514"/>
            <a:ext cx="3138657" cy="2953500"/>
          </a:xfrm>
          <a:prstGeom prst="rect">
            <a:avLst/>
          </a:prstGeom>
        </p:spPr>
        <p:txBody>
          <a:bodyPr spcFirstLastPara="1" wrap="square" lIns="0" tIns="0" rIns="0" bIns="0" anchor="t" anchorCtr="0">
            <a:noAutofit/>
          </a:bodyPr>
          <a:lstStyle/>
          <a:p>
            <a:pPr marL="0" lvl="0" indent="0" algn="l" rtl="0">
              <a:spcBef>
                <a:spcPts val="600"/>
              </a:spcBef>
              <a:spcAft>
                <a:spcPts val="0"/>
              </a:spcAft>
              <a:buClr>
                <a:schemeClr val="dk1"/>
              </a:buClr>
              <a:buSzPts val="1100"/>
              <a:buFont typeface="Arial"/>
              <a:buNone/>
            </a:pPr>
            <a:r>
              <a:rPr lang="en-IN" sz="1200" b="1" dirty="0"/>
              <a:t>Introduction to</a:t>
            </a:r>
          </a:p>
          <a:p>
            <a:pPr marL="0" lvl="0" indent="0" algn="l" rtl="0">
              <a:spcBef>
                <a:spcPts val="600"/>
              </a:spcBef>
              <a:spcAft>
                <a:spcPts val="0"/>
              </a:spcAft>
              <a:buClr>
                <a:schemeClr val="dk1"/>
              </a:buClr>
              <a:buSzPts val="1100"/>
              <a:buFont typeface="Arial"/>
              <a:buNone/>
            </a:pPr>
            <a:r>
              <a:rPr lang="en-IN" sz="1200" b="1" dirty="0"/>
              <a:t>	Pointers </a:t>
            </a:r>
          </a:p>
          <a:p>
            <a:pPr marL="0" lvl="0" indent="0" algn="l" rtl="0">
              <a:spcBef>
                <a:spcPts val="600"/>
              </a:spcBef>
              <a:spcAft>
                <a:spcPts val="0"/>
              </a:spcAft>
              <a:buClr>
                <a:schemeClr val="dk1"/>
              </a:buClr>
              <a:buSzPts val="1100"/>
              <a:buFont typeface="Arial"/>
              <a:buNone/>
            </a:pPr>
            <a:r>
              <a:rPr lang="en-IN" sz="1200" b="1" dirty="0"/>
              <a:t> 	Declaration and Initialization</a:t>
            </a:r>
          </a:p>
          <a:p>
            <a:pPr marL="0" lvl="0" indent="0" algn="l" rtl="0">
              <a:spcBef>
                <a:spcPts val="600"/>
              </a:spcBef>
              <a:spcAft>
                <a:spcPts val="0"/>
              </a:spcAft>
              <a:buClr>
                <a:schemeClr val="dk1"/>
              </a:buClr>
              <a:buSzPts val="1100"/>
              <a:buFont typeface="Arial"/>
              <a:buNone/>
            </a:pPr>
            <a:r>
              <a:rPr lang="en-IN" sz="1200" b="1" dirty="0"/>
              <a:t>Pointer Expression</a:t>
            </a:r>
          </a:p>
          <a:p>
            <a:pPr marL="0" lvl="0" indent="0" algn="l" rtl="0">
              <a:spcBef>
                <a:spcPts val="600"/>
              </a:spcBef>
              <a:spcAft>
                <a:spcPts val="0"/>
              </a:spcAft>
              <a:buClr>
                <a:schemeClr val="dk1"/>
              </a:buClr>
              <a:buSzPts val="1100"/>
              <a:buFont typeface="Arial"/>
              <a:buNone/>
            </a:pPr>
            <a:r>
              <a:rPr lang="en-IN" sz="1200" b="1" dirty="0"/>
              <a:t>Arithmetic, Comparison</a:t>
            </a:r>
          </a:p>
          <a:p>
            <a:pPr marL="0" lvl="0" indent="0" algn="l" rtl="0">
              <a:spcBef>
                <a:spcPts val="600"/>
              </a:spcBef>
              <a:spcAft>
                <a:spcPts val="0"/>
              </a:spcAft>
              <a:buClr>
                <a:schemeClr val="dk1"/>
              </a:buClr>
              <a:buSzPts val="1100"/>
              <a:buFont typeface="Arial"/>
              <a:buNone/>
            </a:pPr>
            <a:r>
              <a:rPr lang="en-IN" sz="1200" b="1" dirty="0"/>
              <a:t>Malloc vs. </a:t>
            </a:r>
            <a:r>
              <a:rPr lang="en-IN" sz="1200" b="1" dirty="0" err="1"/>
              <a:t>Calloc</a:t>
            </a:r>
            <a:endParaRPr lang="en-IN" sz="1200" b="1" dirty="0"/>
          </a:p>
          <a:p>
            <a:pPr marL="0" lvl="0" indent="0" algn="l" rtl="0">
              <a:spcBef>
                <a:spcPts val="600"/>
              </a:spcBef>
              <a:spcAft>
                <a:spcPts val="0"/>
              </a:spcAft>
              <a:buClr>
                <a:schemeClr val="dk1"/>
              </a:buClr>
              <a:buSzPts val="1100"/>
              <a:buFont typeface="Arial"/>
              <a:buNone/>
            </a:pPr>
            <a:r>
              <a:rPr lang="en-IN" sz="1200" b="1" dirty="0"/>
              <a:t>Arrays of Pointers</a:t>
            </a:r>
          </a:p>
          <a:p>
            <a:pPr marL="0" lvl="0" indent="0" algn="l" rtl="0">
              <a:spcBef>
                <a:spcPts val="600"/>
              </a:spcBef>
              <a:spcAft>
                <a:spcPts val="0"/>
              </a:spcAft>
              <a:buClr>
                <a:schemeClr val="dk1"/>
              </a:buClr>
              <a:buSzPts val="1100"/>
              <a:buFont typeface="Arial"/>
              <a:buNone/>
            </a:pPr>
            <a:r>
              <a:rPr lang="en-IN" sz="1200" b="1" dirty="0"/>
              <a:t>Pointers to Pointers</a:t>
            </a:r>
          </a:p>
          <a:p>
            <a:pPr marL="0" lvl="0" indent="0" algn="l" rtl="0">
              <a:spcBef>
                <a:spcPts val="600"/>
              </a:spcBef>
              <a:spcAft>
                <a:spcPts val="0"/>
              </a:spcAft>
              <a:buClr>
                <a:schemeClr val="dk1"/>
              </a:buClr>
              <a:buSzPts val="1100"/>
              <a:buFont typeface="Arial"/>
              <a:buNone/>
            </a:pPr>
            <a:r>
              <a:rPr lang="en-IN" sz="1200" b="1" dirty="0"/>
              <a:t>Pointers to Functions</a:t>
            </a:r>
          </a:p>
          <a:p>
            <a:pPr marL="0" lvl="0" indent="0" algn="l" rtl="0">
              <a:spcBef>
                <a:spcPts val="600"/>
              </a:spcBef>
              <a:spcAft>
                <a:spcPts val="0"/>
              </a:spcAft>
              <a:buClr>
                <a:schemeClr val="dk1"/>
              </a:buClr>
              <a:buSzPts val="1100"/>
              <a:buFont typeface="Arial"/>
              <a:buNone/>
            </a:pPr>
            <a:r>
              <a:rPr lang="en-IN" sz="1200" b="1" dirty="0"/>
              <a:t>Function Returning Pointers</a:t>
            </a:r>
          </a:p>
          <a:p>
            <a:pPr marL="0" lvl="0" indent="0" algn="l" rtl="0">
              <a:spcBef>
                <a:spcPts val="600"/>
              </a:spcBef>
              <a:spcAft>
                <a:spcPts val="0"/>
              </a:spcAft>
              <a:buClr>
                <a:schemeClr val="dk1"/>
              </a:buClr>
              <a:buSzPts val="1100"/>
              <a:buFont typeface="Arial"/>
              <a:buNone/>
            </a:pPr>
            <a:endParaRPr lang="en-IN" sz="1200" b="1" dirty="0"/>
          </a:p>
          <a:p>
            <a:pPr marL="0" lvl="0" indent="0" algn="l" rtl="0">
              <a:spcBef>
                <a:spcPts val="600"/>
              </a:spcBef>
              <a:spcAft>
                <a:spcPts val="0"/>
              </a:spcAft>
              <a:buClr>
                <a:schemeClr val="dk1"/>
              </a:buClr>
              <a:buSzPts val="1100"/>
              <a:buFont typeface="Arial"/>
              <a:buNone/>
            </a:pPr>
            <a:endParaRPr lang="en-IN" sz="1200" b="1" dirty="0"/>
          </a:p>
          <a:p>
            <a:pPr marL="0" lvl="0" indent="0" algn="l" rtl="0">
              <a:spcBef>
                <a:spcPts val="600"/>
              </a:spcBef>
              <a:spcAft>
                <a:spcPts val="0"/>
              </a:spcAft>
              <a:buClr>
                <a:schemeClr val="dk1"/>
              </a:buClr>
              <a:buSzPts val="1100"/>
              <a:buFont typeface="Arial"/>
              <a:buNone/>
            </a:pPr>
            <a:endParaRPr lang="en-IN" sz="1200" b="1" dirty="0"/>
          </a:p>
          <a:p>
            <a:pPr marL="0" lvl="0" indent="0" algn="l" rtl="0">
              <a:spcBef>
                <a:spcPts val="600"/>
              </a:spcBef>
              <a:spcAft>
                <a:spcPts val="0"/>
              </a:spcAft>
              <a:buClr>
                <a:schemeClr val="dk1"/>
              </a:buClr>
              <a:buSzPts val="1100"/>
              <a:buFont typeface="Arial"/>
              <a:buNone/>
            </a:pPr>
            <a:endParaRPr lang="en-IN" sz="1200" b="1" dirty="0"/>
          </a:p>
          <a:p>
            <a:pPr marL="0" lvl="0" indent="0" algn="l" rtl="0">
              <a:spcBef>
                <a:spcPts val="600"/>
              </a:spcBef>
              <a:spcAft>
                <a:spcPts val="0"/>
              </a:spcAft>
              <a:buClr>
                <a:schemeClr val="dk1"/>
              </a:buClr>
              <a:buSzPts val="1100"/>
              <a:buFont typeface="Arial"/>
              <a:buNone/>
            </a:pPr>
            <a:endParaRPr lang="en-IN" sz="1200" b="1" dirty="0"/>
          </a:p>
          <a:p>
            <a:pPr marL="0" lvl="0" indent="0" algn="l" rtl="0">
              <a:spcBef>
                <a:spcPts val="600"/>
              </a:spcBef>
              <a:spcAft>
                <a:spcPts val="0"/>
              </a:spcAft>
              <a:buClr>
                <a:schemeClr val="dk1"/>
              </a:buClr>
              <a:buSzPts val="1100"/>
              <a:buFont typeface="Arial"/>
              <a:buNone/>
            </a:pPr>
            <a:endParaRPr lang="en-IN" sz="1200" b="1" dirty="0"/>
          </a:p>
          <a:p>
            <a:pPr marL="0" lvl="0" indent="0" algn="l" rtl="0">
              <a:spcBef>
                <a:spcPts val="600"/>
              </a:spcBef>
              <a:spcAft>
                <a:spcPts val="0"/>
              </a:spcAft>
              <a:buClr>
                <a:schemeClr val="dk1"/>
              </a:buClr>
              <a:buSzPts val="1100"/>
              <a:buFont typeface="Arial"/>
              <a:buNone/>
            </a:pPr>
            <a:endParaRPr lang="en-IN" sz="1200" b="1" dirty="0"/>
          </a:p>
        </p:txBody>
      </p:sp>
      <p:sp>
        <p:nvSpPr>
          <p:cNvPr id="60" name="Google Shape;60;p14"/>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2" name="Google Shape;58;p14">
            <a:extLst>
              <a:ext uri="{FF2B5EF4-FFF2-40B4-BE49-F238E27FC236}">
                <a16:creationId xmlns:a16="http://schemas.microsoft.com/office/drawing/2014/main" id="{32F77AB2-9A7D-CB5F-386B-99C4FA68B672}"/>
              </a:ext>
            </a:extLst>
          </p:cNvPr>
          <p:cNvSpPr txBox="1">
            <a:spLocks/>
          </p:cNvSpPr>
          <p:nvPr/>
        </p:nvSpPr>
        <p:spPr>
          <a:xfrm>
            <a:off x="3974122" y="1095000"/>
            <a:ext cx="3777175" cy="29535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6"/>
              </a:buClr>
              <a:buSzPts val="2000"/>
              <a:buFont typeface="Lora"/>
              <a:buChar char="✦"/>
              <a:defRPr sz="2000" b="0" i="0" u="none" strike="noStrike" cap="none">
                <a:solidFill>
                  <a:schemeClr val="dk1"/>
                </a:solidFill>
                <a:latin typeface="Lora"/>
                <a:ea typeface="Lora"/>
                <a:cs typeface="Lora"/>
                <a:sym typeface="Lora"/>
              </a:defRPr>
            </a:lvl1pPr>
            <a:lvl2pPr marL="914400" marR="0" lvl="1" indent="-355600" algn="l" rtl="0">
              <a:lnSpc>
                <a:spcPct val="100000"/>
              </a:lnSpc>
              <a:spcBef>
                <a:spcPts val="0"/>
              </a:spcBef>
              <a:spcAft>
                <a:spcPts val="0"/>
              </a:spcAft>
              <a:buClr>
                <a:schemeClr val="accent4"/>
              </a:buClr>
              <a:buSzPts val="2000"/>
              <a:buFont typeface="Lora"/>
              <a:buChar char="✧"/>
              <a:defRPr sz="2000" b="0" i="0" u="none" strike="noStrike" cap="none">
                <a:solidFill>
                  <a:schemeClr val="dk1"/>
                </a:solidFill>
                <a:latin typeface="Lora"/>
                <a:ea typeface="Lora"/>
                <a:cs typeface="Lora"/>
                <a:sym typeface="Lora"/>
              </a:defRPr>
            </a:lvl2pPr>
            <a:lvl3pPr marL="1371600" marR="0" lvl="2" indent="-355600" algn="l" rtl="0">
              <a:lnSpc>
                <a:spcPct val="100000"/>
              </a:lnSpc>
              <a:spcBef>
                <a:spcPts val="0"/>
              </a:spcBef>
              <a:spcAft>
                <a:spcPts val="0"/>
              </a:spcAft>
              <a:buClr>
                <a:schemeClr val="accent5"/>
              </a:buClr>
              <a:buSzPts val="2000"/>
              <a:buFont typeface="Lora"/>
              <a:buChar char="■"/>
              <a:defRPr sz="2000" b="0" i="0" u="none" strike="noStrike" cap="none">
                <a:solidFill>
                  <a:schemeClr val="dk1"/>
                </a:solidFill>
                <a:latin typeface="Lora"/>
                <a:ea typeface="Lora"/>
                <a:cs typeface="Lora"/>
                <a:sym typeface="Lora"/>
              </a:defRPr>
            </a:lvl3pPr>
            <a:lvl4pPr marL="1828800" marR="0" lvl="3" indent="-355600" algn="l" rtl="0">
              <a:lnSpc>
                <a:spcPct val="100000"/>
              </a:lnSpc>
              <a:spcBef>
                <a:spcPts val="0"/>
              </a:spcBef>
              <a:spcAft>
                <a:spcPts val="0"/>
              </a:spcAft>
              <a:buClr>
                <a:schemeClr val="dk1"/>
              </a:buClr>
              <a:buSzPts val="2000"/>
              <a:buFont typeface="Lora"/>
              <a:buChar char="●"/>
              <a:defRPr sz="2000" b="0" i="0" u="none" strike="noStrike" cap="none">
                <a:solidFill>
                  <a:schemeClr val="dk1"/>
                </a:solidFill>
                <a:latin typeface="Lora"/>
                <a:ea typeface="Lora"/>
                <a:cs typeface="Lora"/>
                <a:sym typeface="Lora"/>
              </a:defRPr>
            </a:lvl4pPr>
            <a:lvl5pPr marL="2286000" marR="0" lvl="4" indent="-355600" algn="l" rtl="0">
              <a:lnSpc>
                <a:spcPct val="100000"/>
              </a:lnSpc>
              <a:spcBef>
                <a:spcPts val="0"/>
              </a:spcBef>
              <a:spcAft>
                <a:spcPts val="0"/>
              </a:spcAft>
              <a:buClr>
                <a:schemeClr val="dk1"/>
              </a:buClr>
              <a:buSzPts val="2000"/>
              <a:buFont typeface="Lora"/>
              <a:buChar char="○"/>
              <a:defRPr sz="2000" b="0" i="0" u="none" strike="noStrike" cap="none">
                <a:solidFill>
                  <a:schemeClr val="dk1"/>
                </a:solidFill>
                <a:latin typeface="Lora"/>
                <a:ea typeface="Lora"/>
                <a:cs typeface="Lora"/>
                <a:sym typeface="Lora"/>
              </a:defRPr>
            </a:lvl5pPr>
            <a:lvl6pPr marL="2743200" marR="0" lvl="5" indent="-355600" algn="l" rtl="0">
              <a:lnSpc>
                <a:spcPct val="100000"/>
              </a:lnSpc>
              <a:spcBef>
                <a:spcPts val="0"/>
              </a:spcBef>
              <a:spcAft>
                <a:spcPts val="0"/>
              </a:spcAft>
              <a:buClr>
                <a:schemeClr val="dk1"/>
              </a:buClr>
              <a:buSzPts val="2000"/>
              <a:buFont typeface="Lora"/>
              <a:buChar char="■"/>
              <a:defRPr sz="2000" b="0" i="0" u="none" strike="noStrike" cap="none">
                <a:solidFill>
                  <a:schemeClr val="dk1"/>
                </a:solidFill>
                <a:latin typeface="Lora"/>
                <a:ea typeface="Lora"/>
                <a:cs typeface="Lora"/>
                <a:sym typeface="Lora"/>
              </a:defRPr>
            </a:lvl6pPr>
            <a:lvl7pPr marL="3200400" marR="0" lvl="6" indent="-355600" algn="l" rtl="0">
              <a:lnSpc>
                <a:spcPct val="100000"/>
              </a:lnSpc>
              <a:spcBef>
                <a:spcPts val="0"/>
              </a:spcBef>
              <a:spcAft>
                <a:spcPts val="0"/>
              </a:spcAft>
              <a:buClr>
                <a:schemeClr val="dk1"/>
              </a:buClr>
              <a:buSzPts val="2000"/>
              <a:buFont typeface="Lora"/>
              <a:buChar char="●"/>
              <a:defRPr sz="2000" b="0" i="0" u="none" strike="noStrike" cap="none">
                <a:solidFill>
                  <a:schemeClr val="dk1"/>
                </a:solidFill>
                <a:latin typeface="Lora"/>
                <a:ea typeface="Lora"/>
                <a:cs typeface="Lora"/>
                <a:sym typeface="Lora"/>
              </a:defRPr>
            </a:lvl7pPr>
            <a:lvl8pPr marL="3657600" marR="0" lvl="7" indent="-355600" algn="l" rtl="0">
              <a:lnSpc>
                <a:spcPct val="100000"/>
              </a:lnSpc>
              <a:spcBef>
                <a:spcPts val="0"/>
              </a:spcBef>
              <a:spcAft>
                <a:spcPts val="0"/>
              </a:spcAft>
              <a:buClr>
                <a:schemeClr val="dk1"/>
              </a:buClr>
              <a:buSzPts val="2000"/>
              <a:buFont typeface="Lora"/>
              <a:buChar char="○"/>
              <a:defRPr sz="2000" b="0" i="0" u="none" strike="noStrike" cap="none">
                <a:solidFill>
                  <a:schemeClr val="dk1"/>
                </a:solidFill>
                <a:latin typeface="Lora"/>
                <a:ea typeface="Lora"/>
                <a:cs typeface="Lora"/>
                <a:sym typeface="Lora"/>
              </a:defRPr>
            </a:lvl8pPr>
            <a:lvl9pPr marL="4114800" marR="0" lvl="8" indent="-355600" algn="l" rtl="0">
              <a:lnSpc>
                <a:spcPct val="100000"/>
              </a:lnSpc>
              <a:spcBef>
                <a:spcPts val="0"/>
              </a:spcBef>
              <a:spcAft>
                <a:spcPts val="0"/>
              </a:spcAft>
              <a:buClr>
                <a:schemeClr val="dk1"/>
              </a:buClr>
              <a:buSzPts val="2000"/>
              <a:buFont typeface="Lora"/>
              <a:buChar char="■"/>
              <a:defRPr sz="2000" b="0" i="0" u="none" strike="noStrike" cap="none">
                <a:solidFill>
                  <a:schemeClr val="dk1"/>
                </a:solidFill>
                <a:latin typeface="Lora"/>
                <a:ea typeface="Lora"/>
                <a:cs typeface="Lora"/>
                <a:sym typeface="Lora"/>
              </a:defRPr>
            </a:lvl9pPr>
          </a:lstStyle>
          <a:p>
            <a:pPr marL="0" indent="0">
              <a:buClr>
                <a:schemeClr val="dk1"/>
              </a:buClr>
              <a:buSzPts val="1100"/>
              <a:buFont typeface="Arial"/>
              <a:buNone/>
            </a:pPr>
            <a:r>
              <a:rPr lang="en-IN" sz="1200" b="1" dirty="0"/>
              <a:t>Introduction to</a:t>
            </a:r>
          </a:p>
          <a:p>
            <a:pPr marL="0" indent="0">
              <a:buClr>
                <a:schemeClr val="dk1"/>
              </a:buClr>
              <a:buSzPts val="1100"/>
              <a:buFont typeface="Arial"/>
              <a:buNone/>
            </a:pPr>
            <a:r>
              <a:rPr lang="en-IN" sz="1200" b="1" dirty="0"/>
              <a:t>	Structures</a:t>
            </a:r>
          </a:p>
          <a:p>
            <a:pPr marL="0" indent="0">
              <a:buClr>
                <a:schemeClr val="dk1"/>
              </a:buClr>
              <a:buSzPts val="1100"/>
              <a:buFont typeface="Arial"/>
              <a:buNone/>
            </a:pPr>
            <a:r>
              <a:rPr lang="en-IN" sz="1200" b="1" dirty="0"/>
              <a:t> 	Basics, Referencing Elements</a:t>
            </a:r>
          </a:p>
          <a:p>
            <a:pPr marL="0" indent="0">
              <a:buClr>
                <a:schemeClr val="dk1"/>
              </a:buClr>
              <a:buSzPts val="1100"/>
              <a:buFont typeface="Arial"/>
              <a:buNone/>
            </a:pPr>
            <a:r>
              <a:rPr lang="en-IN" sz="1200" b="1" dirty="0"/>
              <a:t>Arrays of Structures</a:t>
            </a:r>
          </a:p>
          <a:p>
            <a:pPr marL="0" indent="0">
              <a:buClr>
                <a:schemeClr val="dk1"/>
              </a:buClr>
              <a:buSzPts val="1100"/>
              <a:buFont typeface="Arial"/>
              <a:buNone/>
            </a:pPr>
            <a:r>
              <a:rPr lang="en-IN" sz="1200" b="1" dirty="0"/>
              <a:t>Passing Structures to Functions</a:t>
            </a:r>
          </a:p>
          <a:p>
            <a:pPr marL="0" indent="0">
              <a:buClr>
                <a:schemeClr val="dk1"/>
              </a:buClr>
              <a:buSzPts val="1100"/>
              <a:buFont typeface="Arial"/>
              <a:buNone/>
            </a:pPr>
            <a:r>
              <a:rPr lang="en-IN" sz="1200" b="1" dirty="0"/>
              <a:t>Structure Pointers</a:t>
            </a:r>
          </a:p>
          <a:p>
            <a:pPr marL="0" indent="0">
              <a:buClr>
                <a:schemeClr val="dk1"/>
              </a:buClr>
              <a:buSzPts val="1100"/>
              <a:buFont typeface="Arial"/>
              <a:buNone/>
            </a:pPr>
            <a:r>
              <a:rPr lang="en-IN" sz="1200" b="1" dirty="0"/>
              <a:t>Structures with in Structures</a:t>
            </a:r>
          </a:p>
          <a:p>
            <a:pPr marL="0" indent="0">
              <a:buClr>
                <a:schemeClr val="dk1"/>
              </a:buClr>
              <a:buSzPts val="1100"/>
              <a:buFont typeface="Arial"/>
              <a:buNone/>
            </a:pPr>
            <a:r>
              <a:rPr lang="en-IN" sz="1200" b="1" dirty="0"/>
              <a:t>Unions</a:t>
            </a:r>
          </a:p>
          <a:p>
            <a:pPr marL="0" indent="0">
              <a:buClr>
                <a:schemeClr val="dk1"/>
              </a:buClr>
              <a:buSzPts val="1100"/>
              <a:buFont typeface="Arial"/>
              <a:buNone/>
            </a:pPr>
            <a:r>
              <a:rPr lang="en-IN" sz="1200" b="1" dirty="0"/>
              <a:t>	Declarations, Uses</a:t>
            </a:r>
          </a:p>
          <a:p>
            <a:pPr marL="0" indent="0">
              <a:buClr>
                <a:schemeClr val="dk1"/>
              </a:buClr>
              <a:buSzPts val="1100"/>
              <a:buFont typeface="Arial"/>
              <a:buNone/>
            </a:pPr>
            <a:r>
              <a:rPr lang="en-IN" sz="1200" b="1" dirty="0"/>
              <a:t>Enumerated Data types</a:t>
            </a:r>
          </a:p>
          <a:p>
            <a:pPr marL="0" indent="0">
              <a:buClr>
                <a:schemeClr val="dk1"/>
              </a:buClr>
              <a:buSzPts val="1100"/>
              <a:buFont typeface="Arial"/>
              <a:buNone/>
            </a:pPr>
            <a:r>
              <a:rPr lang="en-IN" sz="1200" b="1" dirty="0"/>
              <a:t>	typedef</a:t>
            </a:r>
          </a:p>
          <a:p>
            <a:pPr marL="0" indent="0">
              <a:buClr>
                <a:schemeClr val="dk1"/>
              </a:buClr>
              <a:buSzPts val="1100"/>
              <a:buFont typeface="Arial"/>
              <a:buNone/>
            </a:pPr>
            <a:endParaRPr lang="en-IN" sz="1200" b="1" dirty="0"/>
          </a:p>
          <a:p>
            <a:pPr marL="0" indent="0">
              <a:buClr>
                <a:schemeClr val="dk1"/>
              </a:buClr>
              <a:buSzPts val="1100"/>
              <a:buFont typeface="Arial"/>
              <a:buNone/>
            </a:pPr>
            <a:endParaRPr lang="en-IN" sz="1200" b="1" dirty="0"/>
          </a:p>
          <a:p>
            <a:pPr marL="0" indent="0">
              <a:buClr>
                <a:schemeClr val="dk1"/>
              </a:buClr>
              <a:buSzPts val="1100"/>
              <a:buFont typeface="Arial"/>
              <a:buNone/>
            </a:pPr>
            <a:endParaRPr lang="en-IN" sz="1200" b="1" dirty="0"/>
          </a:p>
          <a:p>
            <a:pPr marL="0" indent="0">
              <a:buClr>
                <a:schemeClr val="dk1"/>
              </a:buClr>
              <a:buSzPts val="1100"/>
              <a:buFont typeface="Arial"/>
              <a:buNone/>
            </a:pPr>
            <a:endParaRPr lang="en-IN" sz="1200" b="1" dirty="0"/>
          </a:p>
          <a:p>
            <a:pPr marL="0" indent="0">
              <a:buClr>
                <a:schemeClr val="dk1"/>
              </a:buClr>
              <a:buSzPts val="1100"/>
              <a:buFont typeface="Arial"/>
              <a:buNone/>
            </a:pPr>
            <a:endParaRPr lang="en-IN" sz="1200" b="1" dirty="0"/>
          </a:p>
          <a:p>
            <a:pPr marL="0" indent="0">
              <a:buClr>
                <a:schemeClr val="dk1"/>
              </a:buClr>
              <a:buSzPts val="1100"/>
              <a:buFont typeface="Arial"/>
              <a:buNone/>
            </a:pPr>
            <a:endParaRPr lang="en-IN" sz="12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580950" y="103214"/>
            <a:ext cx="8097784" cy="396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IN" sz="2800" dirty="0"/>
              <a:t>Pointers</a:t>
            </a:r>
            <a:endParaRPr sz="2800" dirty="0"/>
          </a:p>
        </p:txBody>
      </p:sp>
      <p:sp>
        <p:nvSpPr>
          <p:cNvPr id="136" name="Google Shape;136;p24"/>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3" name="TextBox 2">
            <a:extLst>
              <a:ext uri="{FF2B5EF4-FFF2-40B4-BE49-F238E27FC236}">
                <a16:creationId xmlns:a16="http://schemas.microsoft.com/office/drawing/2014/main" id="{4B003BA1-C995-9884-6927-0A5B2D41BAFC}"/>
              </a:ext>
            </a:extLst>
          </p:cNvPr>
          <p:cNvSpPr txBox="1"/>
          <p:nvPr/>
        </p:nvSpPr>
        <p:spPr>
          <a:xfrm>
            <a:off x="250750" y="678924"/>
            <a:ext cx="8153634" cy="3970318"/>
          </a:xfrm>
          <a:prstGeom prst="rect">
            <a:avLst/>
          </a:prstGeom>
          <a:noFill/>
        </p:spPr>
        <p:txBody>
          <a:bodyPr wrap="square">
            <a:spAutoFit/>
          </a:bodyPr>
          <a:lstStyle/>
          <a:p>
            <a:pPr marL="285750" indent="-285750" algn="just">
              <a:buFont typeface="Arial" panose="020B0604020202020204" pitchFamily="34" charset="0"/>
              <a:buChar char="•"/>
            </a:pPr>
            <a:r>
              <a:rPr lang="en-US" sz="1800" b="1" dirty="0">
                <a:solidFill>
                  <a:srgbClr val="00B050"/>
                </a:solidFill>
              </a:rPr>
              <a:t>Declaration and Initialization</a:t>
            </a:r>
          </a:p>
          <a:p>
            <a:pPr marL="285750" indent="-285750" algn="just">
              <a:buFont typeface="Arial" panose="020B0604020202020204" pitchFamily="34" charset="0"/>
              <a:buChar char="•"/>
            </a:pPr>
            <a:r>
              <a:rPr lang="en-US" sz="1800" dirty="0">
                <a:solidFill>
                  <a:schemeClr val="tx1"/>
                </a:solidFill>
              </a:rPr>
              <a:t>The pointer in C language is a variable which stores the address of another variable. This variable can be of type int, char, array, function, or any other pointer.</a:t>
            </a:r>
          </a:p>
          <a:p>
            <a:pPr marL="285750" indent="-285750" algn="just">
              <a:buFont typeface="Arial" panose="020B0604020202020204" pitchFamily="34" charset="0"/>
              <a:buChar char="•"/>
            </a:pPr>
            <a:endParaRPr lang="en-US" sz="1800" b="1" dirty="0">
              <a:solidFill>
                <a:schemeClr val="tx1"/>
              </a:solidFill>
            </a:endParaRPr>
          </a:p>
          <a:p>
            <a:pPr marL="285750" indent="-285750" algn="just">
              <a:buFont typeface="Arial" panose="020B0604020202020204" pitchFamily="34" charset="0"/>
              <a:buChar char="•"/>
            </a:pPr>
            <a:r>
              <a:rPr lang="en-US" sz="1800" b="1" dirty="0">
                <a:solidFill>
                  <a:schemeClr val="tx1"/>
                </a:solidFill>
              </a:rPr>
              <a:t>Syntax</a:t>
            </a:r>
          </a:p>
          <a:p>
            <a:pPr marL="285750" lvl="1" indent="-285750" algn="just">
              <a:buFont typeface="Arial" panose="020B0604020202020204" pitchFamily="34" charset="0"/>
              <a:buChar char="•"/>
            </a:pPr>
            <a:r>
              <a:rPr lang="en-US" sz="1800" b="1" dirty="0">
                <a:solidFill>
                  <a:schemeClr val="tx1"/>
                </a:solidFill>
              </a:rPr>
              <a:t> 	</a:t>
            </a:r>
            <a:r>
              <a:rPr lang="en-US" sz="1800" b="1" dirty="0">
                <a:solidFill>
                  <a:srgbClr val="FFFF00"/>
                </a:solidFill>
              </a:rPr>
              <a:t>Datatype *</a:t>
            </a:r>
            <a:r>
              <a:rPr lang="en-US" sz="1800" b="1" dirty="0" err="1">
                <a:solidFill>
                  <a:srgbClr val="FFFF00"/>
                </a:solidFill>
              </a:rPr>
              <a:t>varname</a:t>
            </a:r>
            <a:r>
              <a:rPr lang="en-US" sz="1800" b="1" dirty="0">
                <a:solidFill>
                  <a:srgbClr val="FFFF00"/>
                </a:solidFill>
              </a:rPr>
              <a:t>;</a:t>
            </a:r>
          </a:p>
          <a:p>
            <a:pPr marL="285750" lvl="2" indent="-285750" algn="just">
              <a:buFont typeface="Arial" panose="020B0604020202020204" pitchFamily="34" charset="0"/>
              <a:buChar char="•"/>
            </a:pPr>
            <a:r>
              <a:rPr lang="en-US" sz="1800" b="1" dirty="0">
                <a:solidFill>
                  <a:srgbClr val="FFFF00"/>
                </a:solidFill>
              </a:rPr>
              <a:t> 	int *</a:t>
            </a:r>
            <a:r>
              <a:rPr lang="en-US" sz="1800" b="1" dirty="0" err="1">
                <a:solidFill>
                  <a:srgbClr val="FFFF00"/>
                </a:solidFill>
              </a:rPr>
              <a:t>ptr</a:t>
            </a:r>
            <a:r>
              <a:rPr lang="en-US" sz="1800" b="1" dirty="0">
                <a:solidFill>
                  <a:srgbClr val="FFFF00"/>
                </a:solidFill>
              </a:rPr>
              <a:t>;</a:t>
            </a:r>
          </a:p>
          <a:p>
            <a:pPr marL="285750" indent="-285750" algn="just">
              <a:buFont typeface="Arial" panose="020B0604020202020204" pitchFamily="34" charset="0"/>
              <a:buChar char="•"/>
            </a:pPr>
            <a:r>
              <a:rPr lang="en-US" sz="1800" b="1" dirty="0">
                <a:solidFill>
                  <a:schemeClr val="tx1"/>
                </a:solidFill>
              </a:rPr>
              <a:t>Example</a:t>
            </a:r>
          </a:p>
          <a:p>
            <a:pPr marL="285750" indent="-285750" algn="just">
              <a:buFont typeface="Arial" panose="020B0604020202020204" pitchFamily="34" charset="0"/>
              <a:buChar char="•"/>
            </a:pPr>
            <a:r>
              <a:rPr lang="pt-BR" sz="1800" b="1" dirty="0">
                <a:solidFill>
                  <a:srgbClr val="FFFF00"/>
                </a:solidFill>
              </a:rPr>
              <a:t> 	int n = 10;   </a:t>
            </a:r>
          </a:p>
          <a:p>
            <a:pPr marL="285750" lvl="1" indent="-285750" algn="just">
              <a:buFont typeface="Arial" panose="020B0604020202020204" pitchFamily="34" charset="0"/>
              <a:buChar char="•"/>
            </a:pPr>
            <a:r>
              <a:rPr lang="pt-BR" sz="1800" b="1" dirty="0">
                <a:solidFill>
                  <a:srgbClr val="FFFF00"/>
                </a:solidFill>
              </a:rPr>
              <a:t> 	int* p = &amp;n;</a:t>
            </a:r>
          </a:p>
          <a:p>
            <a:pPr marL="285750" lvl="1" indent="-285750" algn="just">
              <a:buFont typeface="Arial" panose="020B0604020202020204" pitchFamily="34" charset="0"/>
              <a:buChar char="•"/>
            </a:pPr>
            <a:endParaRPr lang="pt-BR" sz="1800" b="1" dirty="0">
              <a:solidFill>
                <a:srgbClr val="FFFF00"/>
              </a:solidFill>
            </a:endParaRPr>
          </a:p>
          <a:p>
            <a:pPr marL="285750" lvl="1" indent="-285750" algn="just">
              <a:buFont typeface="Arial" panose="020B0604020202020204" pitchFamily="34" charset="0"/>
              <a:buChar char="•"/>
            </a:pPr>
            <a:r>
              <a:rPr lang="pt-BR" sz="1800" b="1" dirty="0">
                <a:solidFill>
                  <a:schemeClr val="tx1"/>
                </a:solidFill>
              </a:rPr>
              <a:t>Here, </a:t>
            </a:r>
            <a:r>
              <a:rPr lang="pt-BR" sz="1800" dirty="0">
                <a:solidFill>
                  <a:schemeClr val="accent3"/>
                </a:solidFill>
              </a:rPr>
              <a:t>*</a:t>
            </a:r>
            <a:r>
              <a:rPr lang="pt-BR" sz="1800" b="1" dirty="0">
                <a:solidFill>
                  <a:schemeClr val="tx1"/>
                </a:solidFill>
              </a:rPr>
              <a:t> </a:t>
            </a:r>
            <a:r>
              <a:rPr lang="pt-BR" sz="1800" b="1" dirty="0">
                <a:solidFill>
                  <a:schemeClr val="accent1"/>
                </a:solidFill>
              </a:rPr>
              <a:t>refers the indication of pointer variable</a:t>
            </a:r>
          </a:p>
          <a:p>
            <a:pPr marL="285750" lvl="1" indent="-285750" algn="just">
              <a:buFont typeface="Arial" panose="020B0604020202020204" pitchFamily="34" charset="0"/>
              <a:buChar char="•"/>
            </a:pPr>
            <a:r>
              <a:rPr lang="pt-BR" sz="1800" b="1" dirty="0">
                <a:solidFill>
                  <a:schemeClr val="accent2"/>
                </a:solidFill>
              </a:rPr>
              <a:t>&amp;</a:t>
            </a:r>
            <a:r>
              <a:rPr lang="pt-BR" sz="1800" b="1" dirty="0">
                <a:solidFill>
                  <a:schemeClr val="tx1"/>
                </a:solidFill>
              </a:rPr>
              <a:t> </a:t>
            </a:r>
            <a:r>
              <a:rPr lang="pt-BR" sz="1800" b="1" dirty="0">
                <a:solidFill>
                  <a:schemeClr val="tx2"/>
                </a:solidFill>
              </a:rPr>
              <a:t>refers to the address of the particular variable</a:t>
            </a:r>
          </a:p>
        </p:txBody>
      </p:sp>
      <p:sp>
        <p:nvSpPr>
          <p:cNvPr id="4" name="TextBox 3">
            <a:extLst>
              <a:ext uri="{FF2B5EF4-FFF2-40B4-BE49-F238E27FC236}">
                <a16:creationId xmlns:a16="http://schemas.microsoft.com/office/drawing/2014/main" id="{6E40FF2A-71AA-6D67-E6F1-8DE2275EE00E}"/>
              </a:ext>
            </a:extLst>
          </p:cNvPr>
          <p:cNvSpPr txBox="1"/>
          <p:nvPr/>
        </p:nvSpPr>
        <p:spPr>
          <a:xfrm>
            <a:off x="4629842" y="1571476"/>
            <a:ext cx="3491119" cy="954107"/>
          </a:xfrm>
          <a:prstGeom prst="rect">
            <a:avLst/>
          </a:prstGeom>
          <a:noFill/>
        </p:spPr>
        <p:txBody>
          <a:bodyPr wrap="square">
            <a:spAutoFit/>
          </a:bodyPr>
          <a:lstStyle/>
          <a:p>
            <a:r>
              <a:rPr lang="en-IN" b="1" dirty="0">
                <a:solidFill>
                  <a:schemeClr val="accent2"/>
                </a:solidFill>
              </a:rPr>
              <a:t>int    *</a:t>
            </a:r>
            <a:r>
              <a:rPr lang="en-IN" b="1" dirty="0" err="1">
                <a:solidFill>
                  <a:schemeClr val="accent2"/>
                </a:solidFill>
              </a:rPr>
              <a:t>ip</a:t>
            </a:r>
            <a:r>
              <a:rPr lang="en-IN" b="1" dirty="0">
                <a:solidFill>
                  <a:schemeClr val="accent2"/>
                </a:solidFill>
              </a:rPr>
              <a:t>;    /* pointer to an integer */</a:t>
            </a:r>
          </a:p>
          <a:p>
            <a:r>
              <a:rPr lang="en-IN" b="1" dirty="0">
                <a:solidFill>
                  <a:schemeClr val="accent2"/>
                </a:solidFill>
              </a:rPr>
              <a:t>double *</a:t>
            </a:r>
            <a:r>
              <a:rPr lang="en-IN" b="1" dirty="0" err="1">
                <a:solidFill>
                  <a:schemeClr val="accent2"/>
                </a:solidFill>
              </a:rPr>
              <a:t>dp</a:t>
            </a:r>
            <a:r>
              <a:rPr lang="en-IN" b="1" dirty="0">
                <a:solidFill>
                  <a:schemeClr val="accent2"/>
                </a:solidFill>
              </a:rPr>
              <a:t>;    /* pointer to a double */</a:t>
            </a:r>
          </a:p>
          <a:p>
            <a:r>
              <a:rPr lang="en-IN" b="1" dirty="0">
                <a:solidFill>
                  <a:schemeClr val="accent2"/>
                </a:solidFill>
              </a:rPr>
              <a:t>float  *</a:t>
            </a:r>
            <a:r>
              <a:rPr lang="en-IN" b="1" dirty="0" err="1">
                <a:solidFill>
                  <a:schemeClr val="accent2"/>
                </a:solidFill>
              </a:rPr>
              <a:t>fp</a:t>
            </a:r>
            <a:r>
              <a:rPr lang="en-IN" b="1" dirty="0">
                <a:solidFill>
                  <a:schemeClr val="accent2"/>
                </a:solidFill>
              </a:rPr>
              <a:t>;    /* pointer to a float */</a:t>
            </a:r>
          </a:p>
          <a:p>
            <a:r>
              <a:rPr lang="en-IN" b="1" dirty="0">
                <a:solidFill>
                  <a:schemeClr val="accent2"/>
                </a:solidFill>
              </a:rPr>
              <a:t>char   *</a:t>
            </a:r>
            <a:r>
              <a:rPr lang="en-IN" b="1" dirty="0" err="1">
                <a:solidFill>
                  <a:schemeClr val="accent2"/>
                </a:solidFill>
              </a:rPr>
              <a:t>ch</a:t>
            </a:r>
            <a:r>
              <a:rPr lang="en-IN" b="1" dirty="0">
                <a:solidFill>
                  <a:schemeClr val="accent2"/>
                </a:solidFill>
              </a:rPr>
              <a:t>     /* pointer to a character */</a:t>
            </a:r>
          </a:p>
        </p:txBody>
      </p:sp>
    </p:spTree>
    <p:extLst>
      <p:ext uri="{BB962C8B-B14F-4D97-AF65-F5344CB8AC3E}">
        <p14:creationId xmlns:p14="http://schemas.microsoft.com/office/powerpoint/2010/main" val="3348225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580950" y="103214"/>
            <a:ext cx="8097784" cy="396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IN" sz="2800" dirty="0"/>
              <a:t>Example for Pointers</a:t>
            </a:r>
            <a:endParaRPr sz="2800" dirty="0"/>
          </a:p>
        </p:txBody>
      </p:sp>
      <p:sp>
        <p:nvSpPr>
          <p:cNvPr id="136" name="Google Shape;136;p24"/>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3" name="TextBox 2">
            <a:extLst>
              <a:ext uri="{FF2B5EF4-FFF2-40B4-BE49-F238E27FC236}">
                <a16:creationId xmlns:a16="http://schemas.microsoft.com/office/drawing/2014/main" id="{4B003BA1-C995-9884-6927-0A5B2D41BAFC}"/>
              </a:ext>
            </a:extLst>
          </p:cNvPr>
          <p:cNvSpPr txBox="1"/>
          <p:nvPr/>
        </p:nvSpPr>
        <p:spPr>
          <a:xfrm>
            <a:off x="250749" y="678924"/>
            <a:ext cx="5881693" cy="2800767"/>
          </a:xfrm>
          <a:prstGeom prst="rect">
            <a:avLst/>
          </a:prstGeom>
          <a:noFill/>
        </p:spPr>
        <p:txBody>
          <a:bodyPr wrap="square">
            <a:spAutoFit/>
          </a:bodyPr>
          <a:lstStyle/>
          <a:p>
            <a:pPr marL="285750" indent="-285750" algn="just">
              <a:buFont typeface="Arial" panose="020B0604020202020204" pitchFamily="34" charset="0"/>
              <a:buChar char="•"/>
            </a:pPr>
            <a:r>
              <a:rPr lang="en-US" sz="1600" dirty="0">
                <a:solidFill>
                  <a:schemeClr val="tx1"/>
                </a:solidFill>
              </a:rPr>
              <a:t>#include&lt;stdio.h&gt;  </a:t>
            </a:r>
          </a:p>
          <a:p>
            <a:pPr marL="285750" indent="-285750" algn="just">
              <a:buFont typeface="Arial" panose="020B0604020202020204" pitchFamily="34" charset="0"/>
              <a:buChar char="•"/>
            </a:pPr>
            <a:r>
              <a:rPr lang="en-US" sz="1600" dirty="0">
                <a:solidFill>
                  <a:schemeClr val="tx1"/>
                </a:solidFill>
              </a:rPr>
              <a:t>#inlcude&lt;conio.h&gt;</a:t>
            </a:r>
          </a:p>
          <a:p>
            <a:pPr marL="285750" indent="-285750" algn="just">
              <a:buFont typeface="Arial" panose="020B0604020202020204" pitchFamily="34" charset="0"/>
              <a:buChar char="•"/>
            </a:pPr>
            <a:r>
              <a:rPr lang="en-US" sz="1600" dirty="0">
                <a:solidFill>
                  <a:schemeClr val="tx1"/>
                </a:solidFill>
              </a:rPr>
              <a:t>void main()</a:t>
            </a:r>
          </a:p>
          <a:p>
            <a:pPr marL="285750" indent="-285750" algn="just">
              <a:buFont typeface="Arial" panose="020B0604020202020204" pitchFamily="34" charset="0"/>
              <a:buChar char="•"/>
            </a:pPr>
            <a:r>
              <a:rPr lang="en-US" sz="1600" dirty="0">
                <a:solidFill>
                  <a:schemeClr val="tx1"/>
                </a:solidFill>
              </a:rPr>
              <a:t>{  </a:t>
            </a:r>
          </a:p>
          <a:p>
            <a:pPr marL="285750" indent="-285750" algn="just">
              <a:buFont typeface="Arial" panose="020B0604020202020204" pitchFamily="34" charset="0"/>
              <a:buChar char="•"/>
            </a:pPr>
            <a:r>
              <a:rPr lang="en-US" sz="1600" dirty="0">
                <a:solidFill>
                  <a:schemeClr val="tx1"/>
                </a:solidFill>
              </a:rPr>
              <a:t>	int number=50;    </a:t>
            </a:r>
          </a:p>
          <a:p>
            <a:pPr marL="285750" indent="-285750" algn="just">
              <a:buFont typeface="Arial" panose="020B0604020202020204" pitchFamily="34" charset="0"/>
              <a:buChar char="•"/>
            </a:pPr>
            <a:r>
              <a:rPr lang="en-US" sz="1600" dirty="0">
                <a:solidFill>
                  <a:schemeClr val="tx1"/>
                </a:solidFill>
              </a:rPr>
              <a:t>	int </a:t>
            </a:r>
            <a:r>
              <a:rPr lang="en-US" sz="1600" b="1" dirty="0">
                <a:solidFill>
                  <a:schemeClr val="accent2"/>
                </a:solidFill>
              </a:rPr>
              <a:t>*</a:t>
            </a:r>
            <a:r>
              <a:rPr lang="en-US" sz="1600" dirty="0">
                <a:solidFill>
                  <a:schemeClr val="tx1"/>
                </a:solidFill>
              </a:rPr>
              <a:t>p;      </a:t>
            </a:r>
          </a:p>
          <a:p>
            <a:pPr marL="285750" indent="-285750" algn="just">
              <a:buFont typeface="Arial" panose="020B0604020202020204" pitchFamily="34" charset="0"/>
              <a:buChar char="•"/>
            </a:pPr>
            <a:r>
              <a:rPr lang="en-US" sz="1600" dirty="0">
                <a:solidFill>
                  <a:schemeClr val="tx1"/>
                </a:solidFill>
              </a:rPr>
              <a:t>	p=</a:t>
            </a:r>
            <a:r>
              <a:rPr lang="en-US" sz="1600" b="1" dirty="0">
                <a:solidFill>
                  <a:srgbClr val="FFFF00"/>
                </a:solidFill>
              </a:rPr>
              <a:t>&amp;</a:t>
            </a:r>
            <a:r>
              <a:rPr lang="en-US" sz="1600" dirty="0">
                <a:solidFill>
                  <a:schemeClr val="tx1"/>
                </a:solidFill>
              </a:rPr>
              <a:t>number; </a:t>
            </a:r>
          </a:p>
          <a:p>
            <a:pPr marL="285750" indent="-285750" algn="just">
              <a:buFont typeface="Arial" panose="020B0604020202020204" pitchFamily="34" charset="0"/>
              <a:buChar char="•"/>
            </a:pPr>
            <a:r>
              <a:rPr lang="en-US" sz="1600" dirty="0">
                <a:solidFill>
                  <a:schemeClr val="tx1"/>
                </a:solidFill>
              </a:rPr>
              <a:t>           printf("Address of p variable is %x \n", p); </a:t>
            </a:r>
          </a:p>
          <a:p>
            <a:pPr marL="285750" indent="-285750" algn="just">
              <a:buFont typeface="Arial" panose="020B0604020202020204" pitchFamily="34" charset="0"/>
              <a:buChar char="•"/>
            </a:pPr>
            <a:r>
              <a:rPr lang="en-US" sz="1600" dirty="0">
                <a:solidFill>
                  <a:schemeClr val="tx1"/>
                </a:solidFill>
              </a:rPr>
              <a:t>	printf("Value of p variable is %d \n",*p); </a:t>
            </a:r>
          </a:p>
          <a:p>
            <a:pPr marL="285750" indent="-285750" algn="just">
              <a:buFont typeface="Arial" panose="020B0604020202020204" pitchFamily="34" charset="0"/>
              <a:buChar char="•"/>
            </a:pPr>
            <a:r>
              <a:rPr lang="en-US" sz="1600" dirty="0">
                <a:solidFill>
                  <a:schemeClr val="tx1"/>
                </a:solidFill>
              </a:rPr>
              <a:t>	  </a:t>
            </a:r>
          </a:p>
          <a:p>
            <a:pPr marL="285750" indent="-285750" algn="just">
              <a:buFont typeface="Arial" panose="020B0604020202020204" pitchFamily="34" charset="0"/>
              <a:buChar char="•"/>
            </a:pPr>
            <a:r>
              <a:rPr lang="en-US" sz="1600" dirty="0">
                <a:solidFill>
                  <a:schemeClr val="tx1"/>
                </a:solidFill>
              </a:rPr>
              <a:t>}</a:t>
            </a:r>
            <a:endParaRPr lang="pt-BR" sz="1600" b="1" dirty="0">
              <a:solidFill>
                <a:schemeClr val="tx2"/>
              </a:solidFill>
            </a:endParaRPr>
          </a:p>
        </p:txBody>
      </p:sp>
      <p:sp>
        <p:nvSpPr>
          <p:cNvPr id="4" name="TextBox 3">
            <a:extLst>
              <a:ext uri="{FF2B5EF4-FFF2-40B4-BE49-F238E27FC236}">
                <a16:creationId xmlns:a16="http://schemas.microsoft.com/office/drawing/2014/main" id="{C589EAD2-3EA4-0C3E-BD96-8DF8E7FD8BAF}"/>
              </a:ext>
            </a:extLst>
          </p:cNvPr>
          <p:cNvSpPr txBox="1"/>
          <p:nvPr/>
        </p:nvSpPr>
        <p:spPr>
          <a:xfrm>
            <a:off x="163995" y="3941356"/>
            <a:ext cx="5881693" cy="523220"/>
          </a:xfrm>
          <a:prstGeom prst="rect">
            <a:avLst/>
          </a:prstGeom>
          <a:noFill/>
        </p:spPr>
        <p:txBody>
          <a:bodyPr wrap="square">
            <a:spAutoFit/>
          </a:bodyPr>
          <a:lstStyle/>
          <a:p>
            <a:pPr algn="just"/>
            <a:r>
              <a:rPr lang="en-US" sz="1400" b="1" dirty="0">
                <a:solidFill>
                  <a:srgbClr val="FFFF00"/>
                </a:solidFill>
              </a:rPr>
              <a:t>p contains the address of the number therefore printing p gives the address of number. </a:t>
            </a:r>
            <a:endParaRPr lang="en-IN" b="1" dirty="0">
              <a:solidFill>
                <a:srgbClr val="FFFF00"/>
              </a:solidFill>
            </a:endParaRPr>
          </a:p>
        </p:txBody>
      </p:sp>
      <p:sp>
        <p:nvSpPr>
          <p:cNvPr id="5" name="TextBox 4">
            <a:extLst>
              <a:ext uri="{FF2B5EF4-FFF2-40B4-BE49-F238E27FC236}">
                <a16:creationId xmlns:a16="http://schemas.microsoft.com/office/drawing/2014/main" id="{04D62F10-8055-8955-BD27-06C40FCA75F4}"/>
              </a:ext>
            </a:extLst>
          </p:cNvPr>
          <p:cNvSpPr txBox="1"/>
          <p:nvPr/>
        </p:nvSpPr>
        <p:spPr>
          <a:xfrm>
            <a:off x="5506278" y="1115624"/>
            <a:ext cx="3386973" cy="523220"/>
          </a:xfrm>
          <a:prstGeom prst="rect">
            <a:avLst/>
          </a:prstGeom>
          <a:noFill/>
        </p:spPr>
        <p:txBody>
          <a:bodyPr wrap="square">
            <a:spAutoFit/>
          </a:bodyPr>
          <a:lstStyle/>
          <a:p>
            <a:r>
              <a:rPr lang="en-IN" b="1" dirty="0">
                <a:solidFill>
                  <a:schemeClr val="accent2"/>
                </a:solidFill>
              </a:rPr>
              <a:t>Address of p variable is </a:t>
            </a:r>
            <a:r>
              <a:rPr lang="en-IN" b="1" dirty="0">
                <a:solidFill>
                  <a:srgbClr val="00B050"/>
                </a:solidFill>
              </a:rPr>
              <a:t>fff4</a:t>
            </a:r>
          </a:p>
          <a:p>
            <a:r>
              <a:rPr lang="en-IN" b="1" dirty="0">
                <a:solidFill>
                  <a:schemeClr val="accent2"/>
                </a:solidFill>
              </a:rPr>
              <a:t>Value of p variable is </a:t>
            </a:r>
            <a:r>
              <a:rPr lang="en-IN" b="1" dirty="0">
                <a:solidFill>
                  <a:srgbClr val="00B050"/>
                </a:solidFill>
              </a:rPr>
              <a:t>50</a:t>
            </a:r>
            <a:r>
              <a:rPr lang="en-IN" b="1" dirty="0">
                <a:solidFill>
                  <a:schemeClr val="accent2"/>
                </a:solidFill>
              </a:rPr>
              <a:t> </a:t>
            </a:r>
          </a:p>
        </p:txBody>
      </p:sp>
    </p:spTree>
    <p:extLst>
      <p:ext uri="{BB962C8B-B14F-4D97-AF65-F5344CB8AC3E}">
        <p14:creationId xmlns:p14="http://schemas.microsoft.com/office/powerpoint/2010/main" val="2616679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214484" y="39829"/>
            <a:ext cx="6943469" cy="396300"/>
          </a:xfrm>
        </p:spPr>
        <p:txBody>
          <a:bodyPr/>
          <a:lstStyle/>
          <a:p>
            <a:pPr algn="ctr"/>
            <a:r>
              <a:rPr lang="en-IN" sz="2400" dirty="0"/>
              <a:t>The * and &amp; Operator</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pic>
        <p:nvPicPr>
          <p:cNvPr id="1026" name="Picture 2" descr="Pointer in C : basics, pointer to variable, passing pointer to function">
            <a:extLst>
              <a:ext uri="{FF2B5EF4-FFF2-40B4-BE49-F238E27FC236}">
                <a16:creationId xmlns:a16="http://schemas.microsoft.com/office/drawing/2014/main" id="{F157875C-3F82-284E-A32B-5094EBC065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717" y="513201"/>
            <a:ext cx="5550390" cy="2156427"/>
          </a:xfrm>
          <a:prstGeom prst="rect">
            <a:avLst/>
          </a:prstGeom>
          <a:solidFill>
            <a:schemeClr val="tx1">
              <a:lumMod val="85000"/>
            </a:schemeClr>
          </a:solidFill>
        </p:spPr>
      </p:pic>
      <p:pic>
        <p:nvPicPr>
          <p:cNvPr id="1028" name="Picture 4" descr="Pointer in C : basics, pointer to variable, passing pointer to function">
            <a:extLst>
              <a:ext uri="{FF2B5EF4-FFF2-40B4-BE49-F238E27FC236}">
                <a16:creationId xmlns:a16="http://schemas.microsoft.com/office/drawing/2014/main" id="{EAA27D7D-3B1B-5C75-EF8E-CB2BBBDFFA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5609" y="636040"/>
            <a:ext cx="2657475" cy="17240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F5B2E6D-1079-8AAD-64E7-1EA6AF8094A9}"/>
              </a:ext>
            </a:extLst>
          </p:cNvPr>
          <p:cNvSpPr txBox="1"/>
          <p:nvPr/>
        </p:nvSpPr>
        <p:spPr>
          <a:xfrm>
            <a:off x="162473" y="2914247"/>
            <a:ext cx="5868877" cy="1384995"/>
          </a:xfrm>
          <a:prstGeom prst="rect">
            <a:avLst/>
          </a:prstGeom>
          <a:noFill/>
        </p:spPr>
        <p:txBody>
          <a:bodyPr wrap="square">
            <a:spAutoFit/>
          </a:bodyPr>
          <a:lstStyle/>
          <a:p>
            <a:pPr algn="just"/>
            <a:r>
              <a:rPr lang="en-IN" b="1" dirty="0">
                <a:solidFill>
                  <a:srgbClr val="00B050"/>
                </a:solidFill>
              </a:rPr>
              <a:t>&amp;</a:t>
            </a:r>
            <a:r>
              <a:rPr lang="en-IN" dirty="0">
                <a:solidFill>
                  <a:srgbClr val="00B050"/>
                </a:solidFill>
              </a:rPr>
              <a:t> </a:t>
            </a:r>
            <a:r>
              <a:rPr lang="en-IN" dirty="0">
                <a:solidFill>
                  <a:schemeClr val="tx1"/>
                </a:solidFill>
              </a:rPr>
              <a:t>means the address-of, you will see that in placeholders for functions to modify the parameter variable as in C, parameter variables are passed by value, using the ampersand means to pass by reference.</a:t>
            </a:r>
          </a:p>
          <a:p>
            <a:pPr algn="just"/>
            <a:endParaRPr lang="en-IN" b="1" dirty="0">
              <a:solidFill>
                <a:srgbClr val="00B050"/>
              </a:solidFill>
            </a:endParaRPr>
          </a:p>
          <a:p>
            <a:pPr algn="just"/>
            <a:r>
              <a:rPr lang="en-IN" b="1" dirty="0">
                <a:solidFill>
                  <a:srgbClr val="00B050"/>
                </a:solidFill>
              </a:rPr>
              <a:t>*</a:t>
            </a:r>
            <a:r>
              <a:rPr lang="en-IN" dirty="0">
                <a:solidFill>
                  <a:srgbClr val="00B050"/>
                </a:solidFill>
              </a:rPr>
              <a:t> </a:t>
            </a:r>
            <a:r>
              <a:rPr lang="en-IN" dirty="0">
                <a:solidFill>
                  <a:schemeClr val="accent1">
                    <a:lumMod val="20000"/>
                    <a:lumOff val="80000"/>
                  </a:schemeClr>
                </a:solidFill>
              </a:rPr>
              <a:t>means the dereference of a pointer variable, meaning to get the value of that pointer variable</a:t>
            </a:r>
          </a:p>
        </p:txBody>
      </p:sp>
    </p:spTree>
    <p:extLst>
      <p:ext uri="{BB962C8B-B14F-4D97-AF65-F5344CB8AC3E}">
        <p14:creationId xmlns:p14="http://schemas.microsoft.com/office/powerpoint/2010/main" val="3083225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580950" y="103214"/>
            <a:ext cx="8097784" cy="396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IN" sz="2800" dirty="0"/>
              <a:t>Example for Without Pointers</a:t>
            </a:r>
            <a:endParaRPr sz="2800" dirty="0"/>
          </a:p>
        </p:txBody>
      </p:sp>
      <p:sp>
        <p:nvSpPr>
          <p:cNvPr id="136" name="Google Shape;136;p24"/>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3" name="TextBox 2">
            <a:extLst>
              <a:ext uri="{FF2B5EF4-FFF2-40B4-BE49-F238E27FC236}">
                <a16:creationId xmlns:a16="http://schemas.microsoft.com/office/drawing/2014/main" id="{4B003BA1-C995-9884-6927-0A5B2D41BAFC}"/>
              </a:ext>
            </a:extLst>
          </p:cNvPr>
          <p:cNvSpPr txBox="1"/>
          <p:nvPr/>
        </p:nvSpPr>
        <p:spPr>
          <a:xfrm>
            <a:off x="876914" y="781166"/>
            <a:ext cx="5255529" cy="2308324"/>
          </a:xfrm>
          <a:prstGeom prst="rect">
            <a:avLst/>
          </a:prstGeom>
          <a:noFill/>
        </p:spPr>
        <p:txBody>
          <a:bodyPr wrap="square">
            <a:spAutoFit/>
          </a:bodyPr>
          <a:lstStyle/>
          <a:p>
            <a:pPr marL="285750" indent="-285750" algn="just">
              <a:buFont typeface="Arial" panose="020B0604020202020204" pitchFamily="34" charset="0"/>
              <a:buChar char="•"/>
            </a:pPr>
            <a:r>
              <a:rPr lang="en-US" sz="1600" dirty="0">
                <a:solidFill>
                  <a:schemeClr val="tx1"/>
                </a:solidFill>
              </a:rPr>
              <a:t>#include &lt;</a:t>
            </a:r>
            <a:r>
              <a:rPr lang="en-US" sz="1600" dirty="0" err="1">
                <a:solidFill>
                  <a:schemeClr val="tx1"/>
                </a:solidFill>
              </a:rPr>
              <a:t>stdio.h</a:t>
            </a:r>
            <a:r>
              <a:rPr lang="en-US" sz="1600" dirty="0">
                <a:solidFill>
                  <a:schemeClr val="tx1"/>
                </a:solidFill>
              </a:rPr>
              <a:t>&gt;</a:t>
            </a:r>
          </a:p>
          <a:p>
            <a:pPr marL="285750" indent="-285750" algn="just">
              <a:buFont typeface="Arial" panose="020B0604020202020204" pitchFamily="34" charset="0"/>
              <a:buChar char="•"/>
            </a:pPr>
            <a:r>
              <a:rPr lang="en-US" sz="1600" dirty="0">
                <a:solidFill>
                  <a:schemeClr val="tx1"/>
                </a:solidFill>
              </a:rPr>
              <a:t>int main () </a:t>
            </a:r>
          </a:p>
          <a:p>
            <a:pPr marL="285750" indent="-285750" algn="just">
              <a:buFont typeface="Arial" panose="020B0604020202020204" pitchFamily="34" charset="0"/>
              <a:buChar char="•"/>
            </a:pPr>
            <a:r>
              <a:rPr lang="en-US" sz="1600" dirty="0">
                <a:solidFill>
                  <a:schemeClr val="tx1"/>
                </a:solidFill>
              </a:rPr>
              <a:t>{</a:t>
            </a:r>
          </a:p>
          <a:p>
            <a:pPr marL="285750" indent="-285750" algn="just">
              <a:buFont typeface="Arial" panose="020B0604020202020204" pitchFamily="34" charset="0"/>
              <a:buChar char="•"/>
            </a:pPr>
            <a:r>
              <a:rPr lang="en-US" sz="1600" dirty="0">
                <a:solidFill>
                  <a:schemeClr val="tx1"/>
                </a:solidFill>
              </a:rPr>
              <a:t>   int  var1;</a:t>
            </a:r>
          </a:p>
          <a:p>
            <a:pPr marL="285750" indent="-285750" algn="just">
              <a:buFont typeface="Arial" panose="020B0604020202020204" pitchFamily="34" charset="0"/>
              <a:buChar char="•"/>
            </a:pPr>
            <a:r>
              <a:rPr lang="en-US" sz="1600" dirty="0">
                <a:solidFill>
                  <a:schemeClr val="tx1"/>
                </a:solidFill>
              </a:rPr>
              <a:t>   char var2[10];</a:t>
            </a:r>
          </a:p>
          <a:p>
            <a:pPr marL="285750" indent="-285750" algn="just">
              <a:buFont typeface="Arial" panose="020B0604020202020204" pitchFamily="34" charset="0"/>
              <a:buChar char="•"/>
            </a:pPr>
            <a:r>
              <a:rPr lang="en-US" sz="1600" dirty="0">
                <a:solidFill>
                  <a:schemeClr val="tx1"/>
                </a:solidFill>
              </a:rPr>
              <a:t>   printf("Address of var1 variable: %x\n", </a:t>
            </a:r>
            <a:r>
              <a:rPr lang="en-US" sz="1600" b="1" dirty="0">
                <a:solidFill>
                  <a:srgbClr val="00B050"/>
                </a:solidFill>
              </a:rPr>
              <a:t>&amp;</a:t>
            </a:r>
            <a:r>
              <a:rPr lang="en-US" sz="1600" dirty="0">
                <a:solidFill>
                  <a:schemeClr val="tx1"/>
                </a:solidFill>
              </a:rPr>
              <a:t>var1 );</a:t>
            </a:r>
          </a:p>
          <a:p>
            <a:pPr marL="285750" indent="-285750" algn="just">
              <a:buFont typeface="Arial" panose="020B0604020202020204" pitchFamily="34" charset="0"/>
              <a:buChar char="•"/>
            </a:pPr>
            <a:r>
              <a:rPr lang="en-US" sz="1600" dirty="0">
                <a:solidFill>
                  <a:schemeClr val="tx1"/>
                </a:solidFill>
              </a:rPr>
              <a:t>   printf("Address of var2 variable: %x\n", </a:t>
            </a:r>
            <a:r>
              <a:rPr lang="en-US" sz="1600" b="1" dirty="0">
                <a:solidFill>
                  <a:srgbClr val="00B050"/>
                </a:solidFill>
              </a:rPr>
              <a:t>&amp;</a:t>
            </a:r>
            <a:r>
              <a:rPr lang="en-US" sz="1600" dirty="0">
                <a:solidFill>
                  <a:schemeClr val="tx1"/>
                </a:solidFill>
              </a:rPr>
              <a:t>var2 );</a:t>
            </a:r>
          </a:p>
          <a:p>
            <a:pPr marL="285750" indent="-285750" algn="just">
              <a:buFont typeface="Arial" panose="020B0604020202020204" pitchFamily="34" charset="0"/>
              <a:buChar char="•"/>
            </a:pPr>
            <a:r>
              <a:rPr lang="en-US" sz="1600" dirty="0">
                <a:solidFill>
                  <a:schemeClr val="tx1"/>
                </a:solidFill>
              </a:rPr>
              <a:t>   return 0;</a:t>
            </a:r>
          </a:p>
          <a:p>
            <a:pPr marL="285750" indent="-285750" algn="just">
              <a:buFont typeface="Arial" panose="020B0604020202020204" pitchFamily="34" charset="0"/>
              <a:buChar char="•"/>
            </a:pPr>
            <a:r>
              <a:rPr lang="en-US" sz="1600" dirty="0">
                <a:solidFill>
                  <a:schemeClr val="tx1"/>
                </a:solidFill>
              </a:rPr>
              <a:t>}</a:t>
            </a:r>
            <a:endParaRPr lang="pt-BR" sz="1600" b="1" dirty="0">
              <a:solidFill>
                <a:schemeClr val="tx2"/>
              </a:solidFill>
            </a:endParaRPr>
          </a:p>
        </p:txBody>
      </p:sp>
      <p:sp>
        <p:nvSpPr>
          <p:cNvPr id="8" name="TextBox 7">
            <a:extLst>
              <a:ext uri="{FF2B5EF4-FFF2-40B4-BE49-F238E27FC236}">
                <a16:creationId xmlns:a16="http://schemas.microsoft.com/office/drawing/2014/main" id="{32239C2D-05C1-1731-31F4-7DDDA7FB5A09}"/>
              </a:ext>
            </a:extLst>
          </p:cNvPr>
          <p:cNvSpPr txBox="1"/>
          <p:nvPr/>
        </p:nvSpPr>
        <p:spPr>
          <a:xfrm>
            <a:off x="1256810" y="3371142"/>
            <a:ext cx="3682937" cy="1021883"/>
          </a:xfrm>
          <a:prstGeom prst="rect">
            <a:avLst/>
          </a:prstGeom>
          <a:noFill/>
        </p:spPr>
        <p:txBody>
          <a:bodyPr wrap="square">
            <a:spAutoFit/>
          </a:bodyPr>
          <a:lstStyle/>
          <a:p>
            <a:pPr>
              <a:lnSpc>
                <a:spcPct val="150000"/>
              </a:lnSpc>
            </a:pPr>
            <a:r>
              <a:rPr lang="en-IN" b="1" dirty="0">
                <a:solidFill>
                  <a:schemeClr val="tx1"/>
                </a:solidFill>
              </a:rPr>
              <a:t>Output</a:t>
            </a:r>
          </a:p>
          <a:p>
            <a:pPr>
              <a:lnSpc>
                <a:spcPct val="150000"/>
              </a:lnSpc>
            </a:pPr>
            <a:r>
              <a:rPr lang="en-IN" b="1" dirty="0">
                <a:solidFill>
                  <a:schemeClr val="tx1"/>
                </a:solidFill>
              </a:rPr>
              <a:t>Address of var1 variable: </a:t>
            </a:r>
            <a:r>
              <a:rPr lang="en-IN" b="1" dirty="0">
                <a:solidFill>
                  <a:schemeClr val="accent2"/>
                </a:solidFill>
              </a:rPr>
              <a:t>bff5a400</a:t>
            </a:r>
          </a:p>
          <a:p>
            <a:pPr>
              <a:lnSpc>
                <a:spcPct val="150000"/>
              </a:lnSpc>
            </a:pPr>
            <a:r>
              <a:rPr lang="en-IN" b="1" dirty="0">
                <a:solidFill>
                  <a:schemeClr val="tx1"/>
                </a:solidFill>
              </a:rPr>
              <a:t>Address of var2 variable: </a:t>
            </a:r>
            <a:r>
              <a:rPr lang="en-IN" b="1" dirty="0">
                <a:solidFill>
                  <a:schemeClr val="accent2"/>
                </a:solidFill>
              </a:rPr>
              <a:t>bff5a3f6</a:t>
            </a:r>
          </a:p>
        </p:txBody>
      </p:sp>
    </p:spTree>
    <p:extLst>
      <p:ext uri="{BB962C8B-B14F-4D97-AF65-F5344CB8AC3E}">
        <p14:creationId xmlns:p14="http://schemas.microsoft.com/office/powerpoint/2010/main" val="2007121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580950" y="103214"/>
            <a:ext cx="8097784" cy="396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IN" sz="2800" dirty="0"/>
              <a:t>Null Pointers Example</a:t>
            </a:r>
            <a:endParaRPr sz="2800" dirty="0"/>
          </a:p>
        </p:txBody>
      </p:sp>
      <p:sp>
        <p:nvSpPr>
          <p:cNvPr id="136" name="Google Shape;136;p24"/>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3" name="TextBox 2">
            <a:extLst>
              <a:ext uri="{FF2B5EF4-FFF2-40B4-BE49-F238E27FC236}">
                <a16:creationId xmlns:a16="http://schemas.microsoft.com/office/drawing/2014/main" id="{4B003BA1-C995-9884-6927-0A5B2D41BAFC}"/>
              </a:ext>
            </a:extLst>
          </p:cNvPr>
          <p:cNvSpPr txBox="1"/>
          <p:nvPr/>
        </p:nvSpPr>
        <p:spPr>
          <a:xfrm>
            <a:off x="876914" y="781166"/>
            <a:ext cx="5255529" cy="1815882"/>
          </a:xfrm>
          <a:prstGeom prst="rect">
            <a:avLst/>
          </a:prstGeom>
          <a:noFill/>
        </p:spPr>
        <p:txBody>
          <a:bodyPr wrap="square">
            <a:spAutoFit/>
          </a:bodyPr>
          <a:lstStyle/>
          <a:p>
            <a:pPr marL="285750" indent="-285750" algn="just">
              <a:buFont typeface="Arial" panose="020B0604020202020204" pitchFamily="34" charset="0"/>
              <a:buChar char="•"/>
            </a:pPr>
            <a:r>
              <a:rPr lang="en-US" sz="1600" dirty="0">
                <a:solidFill>
                  <a:schemeClr val="tx1"/>
                </a:solidFill>
              </a:rPr>
              <a:t>#include &lt;</a:t>
            </a:r>
            <a:r>
              <a:rPr lang="en-US" sz="1600" dirty="0" err="1">
                <a:solidFill>
                  <a:schemeClr val="tx1"/>
                </a:solidFill>
              </a:rPr>
              <a:t>stdio.h</a:t>
            </a:r>
            <a:r>
              <a:rPr lang="en-US" sz="1600" dirty="0">
                <a:solidFill>
                  <a:schemeClr val="tx1"/>
                </a:solidFill>
              </a:rPr>
              <a:t>&gt;</a:t>
            </a:r>
          </a:p>
          <a:p>
            <a:pPr marL="285750" indent="-285750" algn="just">
              <a:buFont typeface="Arial" panose="020B0604020202020204" pitchFamily="34" charset="0"/>
              <a:buChar char="•"/>
            </a:pPr>
            <a:r>
              <a:rPr lang="en-US" sz="1600" dirty="0">
                <a:solidFill>
                  <a:schemeClr val="tx1"/>
                </a:solidFill>
              </a:rPr>
              <a:t>int main () </a:t>
            </a:r>
          </a:p>
          <a:p>
            <a:pPr marL="285750" indent="-285750" algn="just">
              <a:buFont typeface="Arial" panose="020B0604020202020204" pitchFamily="34" charset="0"/>
              <a:buChar char="•"/>
            </a:pPr>
            <a:r>
              <a:rPr lang="en-US" sz="1600" dirty="0">
                <a:solidFill>
                  <a:schemeClr val="tx1"/>
                </a:solidFill>
              </a:rPr>
              <a:t>{</a:t>
            </a:r>
          </a:p>
          <a:p>
            <a:pPr marL="285750" indent="-285750" algn="just">
              <a:buFont typeface="Arial" panose="020B0604020202020204" pitchFamily="34" charset="0"/>
              <a:buChar char="•"/>
            </a:pPr>
            <a:r>
              <a:rPr lang="en-US" sz="1600" dirty="0">
                <a:solidFill>
                  <a:schemeClr val="tx1"/>
                </a:solidFill>
              </a:rPr>
              <a:t>   int  *</a:t>
            </a:r>
            <a:r>
              <a:rPr lang="en-US" sz="1600" dirty="0" err="1">
                <a:solidFill>
                  <a:schemeClr val="tx1"/>
                </a:solidFill>
              </a:rPr>
              <a:t>ptr</a:t>
            </a:r>
            <a:r>
              <a:rPr lang="en-US" sz="1600" dirty="0">
                <a:solidFill>
                  <a:schemeClr val="tx1"/>
                </a:solidFill>
              </a:rPr>
              <a:t> = </a:t>
            </a:r>
            <a:r>
              <a:rPr lang="en-US" sz="1600" b="1" dirty="0">
                <a:solidFill>
                  <a:srgbClr val="FFFF00"/>
                </a:solidFill>
              </a:rPr>
              <a:t>NULL</a:t>
            </a:r>
            <a:r>
              <a:rPr lang="en-US" sz="1600" dirty="0">
                <a:solidFill>
                  <a:schemeClr val="tx1"/>
                </a:solidFill>
              </a:rPr>
              <a:t>;</a:t>
            </a:r>
          </a:p>
          <a:p>
            <a:pPr marL="285750" indent="-285750" algn="just">
              <a:buFont typeface="Arial" panose="020B0604020202020204" pitchFamily="34" charset="0"/>
              <a:buChar char="•"/>
            </a:pPr>
            <a:r>
              <a:rPr lang="en-US" sz="1600" dirty="0">
                <a:solidFill>
                  <a:schemeClr val="tx1"/>
                </a:solidFill>
              </a:rPr>
              <a:t>   printf("The value of </a:t>
            </a:r>
            <a:r>
              <a:rPr lang="en-US" sz="1600" dirty="0" err="1">
                <a:solidFill>
                  <a:schemeClr val="tx1"/>
                </a:solidFill>
              </a:rPr>
              <a:t>ptr</a:t>
            </a:r>
            <a:r>
              <a:rPr lang="en-US" sz="1600" dirty="0">
                <a:solidFill>
                  <a:schemeClr val="tx1"/>
                </a:solidFill>
              </a:rPr>
              <a:t> is : %x\n", </a:t>
            </a:r>
            <a:r>
              <a:rPr lang="en-US" sz="1600" dirty="0" err="1">
                <a:solidFill>
                  <a:schemeClr val="tx1"/>
                </a:solidFill>
              </a:rPr>
              <a:t>ptr</a:t>
            </a:r>
            <a:r>
              <a:rPr lang="en-US" sz="1600" dirty="0">
                <a:solidFill>
                  <a:schemeClr val="tx1"/>
                </a:solidFill>
              </a:rPr>
              <a:t>  );</a:t>
            </a:r>
          </a:p>
          <a:p>
            <a:pPr marL="285750" indent="-285750" algn="just">
              <a:buFont typeface="Arial" panose="020B0604020202020204" pitchFamily="34" charset="0"/>
              <a:buChar char="•"/>
            </a:pPr>
            <a:r>
              <a:rPr lang="en-US" sz="1600" dirty="0">
                <a:solidFill>
                  <a:schemeClr val="tx1"/>
                </a:solidFill>
              </a:rPr>
              <a:t>   return 0;</a:t>
            </a:r>
          </a:p>
          <a:p>
            <a:pPr marL="285750" indent="-285750" algn="just">
              <a:buFont typeface="Arial" panose="020B0604020202020204" pitchFamily="34" charset="0"/>
              <a:buChar char="•"/>
            </a:pPr>
            <a:r>
              <a:rPr lang="en-US" sz="1600" dirty="0">
                <a:solidFill>
                  <a:schemeClr val="tx1"/>
                </a:solidFill>
              </a:rPr>
              <a:t>}</a:t>
            </a:r>
            <a:endParaRPr lang="pt-BR" sz="1600" b="1" dirty="0">
              <a:solidFill>
                <a:schemeClr val="tx2"/>
              </a:solidFill>
            </a:endParaRPr>
          </a:p>
        </p:txBody>
      </p:sp>
      <p:sp>
        <p:nvSpPr>
          <p:cNvPr id="5" name="TextBox 4">
            <a:extLst>
              <a:ext uri="{FF2B5EF4-FFF2-40B4-BE49-F238E27FC236}">
                <a16:creationId xmlns:a16="http://schemas.microsoft.com/office/drawing/2014/main" id="{30DC7921-08F4-F468-5C77-4F92CD7A632E}"/>
              </a:ext>
            </a:extLst>
          </p:cNvPr>
          <p:cNvSpPr txBox="1"/>
          <p:nvPr/>
        </p:nvSpPr>
        <p:spPr>
          <a:xfrm>
            <a:off x="1478445" y="3290020"/>
            <a:ext cx="1910798" cy="307777"/>
          </a:xfrm>
          <a:prstGeom prst="rect">
            <a:avLst/>
          </a:prstGeom>
          <a:noFill/>
        </p:spPr>
        <p:txBody>
          <a:bodyPr wrap="square">
            <a:spAutoFit/>
          </a:bodyPr>
          <a:lstStyle/>
          <a:p>
            <a:r>
              <a:rPr lang="en-IN" b="1" dirty="0">
                <a:solidFill>
                  <a:srgbClr val="FFFF00"/>
                </a:solidFill>
              </a:rPr>
              <a:t>The value of </a:t>
            </a:r>
            <a:r>
              <a:rPr lang="en-IN" b="1" dirty="0" err="1">
                <a:solidFill>
                  <a:srgbClr val="FFFF00"/>
                </a:solidFill>
              </a:rPr>
              <a:t>ptr</a:t>
            </a:r>
            <a:r>
              <a:rPr lang="en-IN" b="1" dirty="0">
                <a:solidFill>
                  <a:srgbClr val="FFFF00"/>
                </a:solidFill>
              </a:rPr>
              <a:t> is 0</a:t>
            </a:r>
          </a:p>
        </p:txBody>
      </p:sp>
    </p:spTree>
    <p:extLst>
      <p:ext uri="{BB962C8B-B14F-4D97-AF65-F5344CB8AC3E}">
        <p14:creationId xmlns:p14="http://schemas.microsoft.com/office/powerpoint/2010/main" val="71762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460915" y="55465"/>
            <a:ext cx="6943469" cy="396300"/>
          </a:xfrm>
        </p:spPr>
        <p:txBody>
          <a:bodyPr/>
          <a:lstStyle/>
          <a:p>
            <a:pPr algn="ctr"/>
            <a:r>
              <a:rPr lang="en-IN" sz="2400" dirty="0"/>
              <a:t>Pointer Examples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
        <p:nvSpPr>
          <p:cNvPr id="8" name="TextBox 7">
            <a:extLst>
              <a:ext uri="{FF2B5EF4-FFF2-40B4-BE49-F238E27FC236}">
                <a16:creationId xmlns:a16="http://schemas.microsoft.com/office/drawing/2014/main" id="{D80A661D-BC12-74CD-A430-7DEB9D733A47}"/>
              </a:ext>
            </a:extLst>
          </p:cNvPr>
          <p:cNvSpPr txBox="1"/>
          <p:nvPr/>
        </p:nvSpPr>
        <p:spPr>
          <a:xfrm>
            <a:off x="1243594" y="3598923"/>
            <a:ext cx="1239113" cy="307777"/>
          </a:xfrm>
          <a:prstGeom prst="rect">
            <a:avLst/>
          </a:prstGeom>
          <a:noFill/>
        </p:spPr>
        <p:txBody>
          <a:bodyPr wrap="square">
            <a:spAutoFit/>
          </a:bodyPr>
          <a:lstStyle/>
          <a:p>
            <a:r>
              <a:rPr lang="en-IN" sz="1400" b="1" dirty="0">
                <a:solidFill>
                  <a:srgbClr val="FFFF00"/>
                </a:solidFill>
              </a:rPr>
              <a:t>Output</a:t>
            </a:r>
            <a:endParaRPr lang="en-IN" b="1" dirty="0">
              <a:solidFill>
                <a:srgbClr val="FFFF00"/>
              </a:solidFill>
            </a:endParaRPr>
          </a:p>
        </p:txBody>
      </p:sp>
      <p:sp>
        <p:nvSpPr>
          <p:cNvPr id="5" name="TextBox 4">
            <a:extLst>
              <a:ext uri="{FF2B5EF4-FFF2-40B4-BE49-F238E27FC236}">
                <a16:creationId xmlns:a16="http://schemas.microsoft.com/office/drawing/2014/main" id="{5317188E-FAA1-19A1-6834-AB27EFA605AE}"/>
              </a:ext>
            </a:extLst>
          </p:cNvPr>
          <p:cNvSpPr txBox="1"/>
          <p:nvPr/>
        </p:nvSpPr>
        <p:spPr>
          <a:xfrm>
            <a:off x="1329768" y="559627"/>
            <a:ext cx="4391894" cy="2893100"/>
          </a:xfrm>
          <a:prstGeom prst="rect">
            <a:avLst/>
          </a:prstGeom>
          <a:noFill/>
        </p:spPr>
        <p:txBody>
          <a:bodyPr wrap="square">
            <a:spAutoFit/>
          </a:bodyPr>
          <a:lstStyle/>
          <a:p>
            <a:r>
              <a:rPr lang="en-IN" dirty="0">
                <a:solidFill>
                  <a:schemeClr val="tx1"/>
                </a:solidFill>
              </a:rPr>
              <a:t>#include &lt;</a:t>
            </a:r>
            <a:r>
              <a:rPr lang="en-IN" dirty="0" err="1">
                <a:solidFill>
                  <a:schemeClr val="tx1"/>
                </a:solidFill>
              </a:rPr>
              <a:t>stdio.h</a:t>
            </a:r>
            <a:r>
              <a:rPr lang="en-IN" dirty="0">
                <a:solidFill>
                  <a:schemeClr val="tx1"/>
                </a:solidFill>
              </a:rPr>
              <a:t>&gt;</a:t>
            </a:r>
          </a:p>
          <a:p>
            <a:r>
              <a:rPr lang="en-IN" dirty="0">
                <a:solidFill>
                  <a:schemeClr val="tx1"/>
                </a:solidFill>
              </a:rPr>
              <a:t>int main () </a:t>
            </a:r>
          </a:p>
          <a:p>
            <a:r>
              <a:rPr lang="en-IN" dirty="0">
                <a:solidFill>
                  <a:schemeClr val="tx1"/>
                </a:solidFill>
              </a:rPr>
              <a:t>{</a:t>
            </a:r>
          </a:p>
          <a:p>
            <a:r>
              <a:rPr lang="en-IN" dirty="0">
                <a:solidFill>
                  <a:schemeClr val="tx1"/>
                </a:solidFill>
              </a:rPr>
              <a:t>   int  var;</a:t>
            </a:r>
          </a:p>
          <a:p>
            <a:r>
              <a:rPr lang="en-IN" dirty="0">
                <a:solidFill>
                  <a:schemeClr val="tx1"/>
                </a:solidFill>
              </a:rPr>
              <a:t>   int  *</a:t>
            </a:r>
            <a:r>
              <a:rPr lang="en-IN" dirty="0" err="1">
                <a:solidFill>
                  <a:schemeClr val="tx1"/>
                </a:solidFill>
              </a:rPr>
              <a:t>ptr</a:t>
            </a:r>
            <a:r>
              <a:rPr lang="en-IN" dirty="0">
                <a:solidFill>
                  <a:schemeClr val="tx1"/>
                </a:solidFill>
              </a:rPr>
              <a:t>;</a:t>
            </a:r>
          </a:p>
          <a:p>
            <a:r>
              <a:rPr lang="en-IN" dirty="0">
                <a:solidFill>
                  <a:schemeClr val="tx1"/>
                </a:solidFill>
              </a:rPr>
              <a:t>   var = 30;</a:t>
            </a:r>
          </a:p>
          <a:p>
            <a:r>
              <a:rPr lang="en-IN" dirty="0">
                <a:solidFill>
                  <a:schemeClr val="tx1"/>
                </a:solidFill>
              </a:rPr>
              <a:t>   </a:t>
            </a:r>
            <a:r>
              <a:rPr lang="en-IN" dirty="0" err="1">
                <a:solidFill>
                  <a:schemeClr val="tx1"/>
                </a:solidFill>
              </a:rPr>
              <a:t>ptr</a:t>
            </a:r>
            <a:r>
              <a:rPr lang="en-IN" dirty="0">
                <a:solidFill>
                  <a:schemeClr val="tx1"/>
                </a:solidFill>
              </a:rPr>
              <a:t> = &amp;var;</a:t>
            </a:r>
          </a:p>
          <a:p>
            <a:r>
              <a:rPr lang="en-IN" dirty="0">
                <a:solidFill>
                  <a:schemeClr val="tx1"/>
                </a:solidFill>
              </a:rPr>
              <a:t> </a:t>
            </a:r>
          </a:p>
          <a:p>
            <a:r>
              <a:rPr lang="en-IN" dirty="0">
                <a:solidFill>
                  <a:schemeClr val="accent1"/>
                </a:solidFill>
              </a:rPr>
              <a:t>   </a:t>
            </a:r>
            <a:r>
              <a:rPr lang="en-IN" dirty="0" err="1">
                <a:solidFill>
                  <a:schemeClr val="accent1"/>
                </a:solidFill>
              </a:rPr>
              <a:t>printf</a:t>
            </a:r>
            <a:r>
              <a:rPr lang="en-IN" dirty="0">
                <a:solidFill>
                  <a:schemeClr val="accent1"/>
                </a:solidFill>
              </a:rPr>
              <a:t>("Value of var = %d\n", var );</a:t>
            </a:r>
          </a:p>
          <a:p>
            <a:r>
              <a:rPr lang="en-IN" dirty="0">
                <a:solidFill>
                  <a:srgbClr val="00B050"/>
                </a:solidFill>
              </a:rPr>
              <a:t>   </a:t>
            </a:r>
            <a:r>
              <a:rPr lang="en-IN" dirty="0" err="1">
                <a:solidFill>
                  <a:srgbClr val="00B050"/>
                </a:solidFill>
              </a:rPr>
              <a:t>printf</a:t>
            </a:r>
            <a:r>
              <a:rPr lang="en-IN" dirty="0">
                <a:solidFill>
                  <a:srgbClr val="00B050"/>
                </a:solidFill>
              </a:rPr>
              <a:t>("Value available at the Address = %x\n", </a:t>
            </a:r>
            <a:r>
              <a:rPr lang="en-IN" dirty="0" err="1">
                <a:solidFill>
                  <a:srgbClr val="00B050"/>
                </a:solidFill>
              </a:rPr>
              <a:t>ptr</a:t>
            </a:r>
            <a:r>
              <a:rPr lang="en-IN" dirty="0">
                <a:solidFill>
                  <a:srgbClr val="00B050"/>
                </a:solidFill>
              </a:rPr>
              <a:t> );</a:t>
            </a:r>
          </a:p>
          <a:p>
            <a:r>
              <a:rPr lang="en-IN" dirty="0">
                <a:solidFill>
                  <a:schemeClr val="accent2"/>
                </a:solidFill>
              </a:rPr>
              <a:t>   </a:t>
            </a:r>
            <a:r>
              <a:rPr lang="en-IN" dirty="0" err="1">
                <a:solidFill>
                  <a:schemeClr val="accent2"/>
                </a:solidFill>
              </a:rPr>
              <a:t>printf</a:t>
            </a:r>
            <a:r>
              <a:rPr lang="en-IN" dirty="0">
                <a:solidFill>
                  <a:schemeClr val="accent2"/>
                </a:solidFill>
              </a:rPr>
              <a:t>("Value  = %d\n", **</a:t>
            </a:r>
            <a:r>
              <a:rPr lang="en-IN" dirty="0" err="1">
                <a:solidFill>
                  <a:schemeClr val="accent2"/>
                </a:solidFill>
              </a:rPr>
              <a:t>ptr</a:t>
            </a:r>
            <a:r>
              <a:rPr lang="en-IN" dirty="0">
                <a:solidFill>
                  <a:schemeClr val="accent2"/>
                </a:solidFill>
              </a:rPr>
              <a:t>);</a:t>
            </a:r>
          </a:p>
          <a:p>
            <a:r>
              <a:rPr lang="en-IN" dirty="0">
                <a:solidFill>
                  <a:schemeClr val="tx1"/>
                </a:solidFill>
              </a:rPr>
              <a:t>   return 0;</a:t>
            </a:r>
          </a:p>
          <a:p>
            <a:r>
              <a:rPr lang="en-IN" dirty="0">
                <a:solidFill>
                  <a:schemeClr val="tx1"/>
                </a:solidFill>
              </a:rPr>
              <a:t>}</a:t>
            </a:r>
          </a:p>
        </p:txBody>
      </p:sp>
      <p:sp>
        <p:nvSpPr>
          <p:cNvPr id="9" name="TextBox 8">
            <a:extLst>
              <a:ext uri="{FF2B5EF4-FFF2-40B4-BE49-F238E27FC236}">
                <a16:creationId xmlns:a16="http://schemas.microsoft.com/office/drawing/2014/main" id="{ADD0A1DF-FBD7-111E-F75B-4D91E916E57B}"/>
              </a:ext>
            </a:extLst>
          </p:cNvPr>
          <p:cNvSpPr txBox="1"/>
          <p:nvPr/>
        </p:nvSpPr>
        <p:spPr>
          <a:xfrm>
            <a:off x="1243594" y="4018275"/>
            <a:ext cx="3966147" cy="738664"/>
          </a:xfrm>
          <a:prstGeom prst="rect">
            <a:avLst/>
          </a:prstGeom>
          <a:noFill/>
        </p:spPr>
        <p:txBody>
          <a:bodyPr wrap="square">
            <a:spAutoFit/>
          </a:bodyPr>
          <a:lstStyle/>
          <a:p>
            <a:r>
              <a:rPr lang="en-IN" b="1" dirty="0">
                <a:solidFill>
                  <a:schemeClr val="accent1"/>
                </a:solidFill>
              </a:rPr>
              <a:t>Value of var = 30</a:t>
            </a:r>
          </a:p>
          <a:p>
            <a:r>
              <a:rPr lang="en-IN" b="1" dirty="0">
                <a:solidFill>
                  <a:srgbClr val="00B050"/>
                </a:solidFill>
              </a:rPr>
              <a:t>Value available at the Address = 3EDB2A44</a:t>
            </a:r>
          </a:p>
          <a:p>
            <a:r>
              <a:rPr lang="en-IN" b="1" dirty="0">
                <a:solidFill>
                  <a:schemeClr val="accent2"/>
                </a:solidFill>
              </a:rPr>
              <a:t>Value of var = 30</a:t>
            </a:r>
          </a:p>
        </p:txBody>
      </p:sp>
    </p:spTree>
    <p:extLst>
      <p:ext uri="{BB962C8B-B14F-4D97-AF65-F5344CB8AC3E}">
        <p14:creationId xmlns:p14="http://schemas.microsoft.com/office/powerpoint/2010/main" val="1290807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214484" y="39829"/>
            <a:ext cx="6943469" cy="396300"/>
          </a:xfrm>
        </p:spPr>
        <p:txBody>
          <a:bodyPr/>
          <a:lstStyle/>
          <a:p>
            <a:pPr algn="ctr"/>
            <a:r>
              <a:rPr lang="en-IN" sz="2400" dirty="0"/>
              <a:t>Pointer Example for Swapping numbers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
        <p:nvSpPr>
          <p:cNvPr id="8" name="TextBox 7">
            <a:extLst>
              <a:ext uri="{FF2B5EF4-FFF2-40B4-BE49-F238E27FC236}">
                <a16:creationId xmlns:a16="http://schemas.microsoft.com/office/drawing/2014/main" id="{D80A661D-BC12-74CD-A430-7DEB9D733A47}"/>
              </a:ext>
            </a:extLst>
          </p:cNvPr>
          <p:cNvSpPr txBox="1"/>
          <p:nvPr/>
        </p:nvSpPr>
        <p:spPr>
          <a:xfrm>
            <a:off x="5177853" y="822720"/>
            <a:ext cx="1239113" cy="307777"/>
          </a:xfrm>
          <a:prstGeom prst="rect">
            <a:avLst/>
          </a:prstGeom>
          <a:noFill/>
        </p:spPr>
        <p:txBody>
          <a:bodyPr wrap="square">
            <a:spAutoFit/>
          </a:bodyPr>
          <a:lstStyle/>
          <a:p>
            <a:r>
              <a:rPr lang="en-IN" sz="1400" b="1" dirty="0">
                <a:solidFill>
                  <a:srgbClr val="FFFF00"/>
                </a:solidFill>
              </a:rPr>
              <a:t>Output</a:t>
            </a:r>
            <a:endParaRPr lang="en-IN" b="1" dirty="0">
              <a:solidFill>
                <a:srgbClr val="FFFF00"/>
              </a:solidFill>
            </a:endParaRPr>
          </a:p>
        </p:txBody>
      </p:sp>
      <p:sp>
        <p:nvSpPr>
          <p:cNvPr id="5" name="TextBox 4">
            <a:extLst>
              <a:ext uri="{FF2B5EF4-FFF2-40B4-BE49-F238E27FC236}">
                <a16:creationId xmlns:a16="http://schemas.microsoft.com/office/drawing/2014/main" id="{5317188E-FAA1-19A1-6834-AB27EFA605AE}"/>
              </a:ext>
            </a:extLst>
          </p:cNvPr>
          <p:cNvSpPr txBox="1"/>
          <p:nvPr/>
        </p:nvSpPr>
        <p:spPr>
          <a:xfrm>
            <a:off x="638178" y="436129"/>
            <a:ext cx="5643354" cy="4401205"/>
          </a:xfrm>
          <a:prstGeom prst="rect">
            <a:avLst/>
          </a:prstGeom>
          <a:noFill/>
        </p:spPr>
        <p:txBody>
          <a:bodyPr wrap="square">
            <a:spAutoFit/>
          </a:bodyPr>
          <a:lstStyle/>
          <a:p>
            <a:r>
              <a:rPr lang="en-US" dirty="0">
                <a:solidFill>
                  <a:schemeClr val="tx1"/>
                </a:solidFill>
              </a:rPr>
              <a:t>#include &lt;</a:t>
            </a:r>
            <a:r>
              <a:rPr lang="en-US" dirty="0" err="1">
                <a:solidFill>
                  <a:schemeClr val="tx1"/>
                </a:solidFill>
              </a:rPr>
              <a:t>stdio.h</a:t>
            </a:r>
            <a:r>
              <a:rPr lang="en-US" dirty="0">
                <a:solidFill>
                  <a:schemeClr val="tx1"/>
                </a:solidFill>
              </a:rPr>
              <a:t>&gt;</a:t>
            </a:r>
          </a:p>
          <a:p>
            <a:r>
              <a:rPr lang="en-US" dirty="0">
                <a:solidFill>
                  <a:schemeClr val="tx1"/>
                </a:solidFill>
              </a:rPr>
              <a:t>void swap(int *a, int *b)</a:t>
            </a:r>
          </a:p>
          <a:p>
            <a:r>
              <a:rPr lang="en-US" dirty="0">
                <a:solidFill>
                  <a:schemeClr val="tx1"/>
                </a:solidFill>
              </a:rPr>
              <a:t>{</a:t>
            </a:r>
          </a:p>
          <a:p>
            <a:r>
              <a:rPr lang="en-US" dirty="0">
                <a:solidFill>
                  <a:schemeClr val="tx1"/>
                </a:solidFill>
              </a:rPr>
              <a:t>     int t;</a:t>
            </a:r>
          </a:p>
          <a:p>
            <a:r>
              <a:rPr lang="en-US" dirty="0">
                <a:solidFill>
                  <a:schemeClr val="tx1"/>
                </a:solidFill>
              </a:rPr>
              <a:t>     t   = *a;</a:t>
            </a:r>
          </a:p>
          <a:p>
            <a:r>
              <a:rPr lang="en-US" dirty="0">
                <a:solidFill>
                  <a:schemeClr val="tx1"/>
                </a:solidFill>
              </a:rPr>
              <a:t>    *a   = *b;</a:t>
            </a:r>
          </a:p>
          <a:p>
            <a:r>
              <a:rPr lang="en-US" dirty="0">
                <a:solidFill>
                  <a:schemeClr val="tx1"/>
                </a:solidFill>
              </a:rPr>
              <a:t>    *b   =  t;</a:t>
            </a:r>
          </a:p>
          <a:p>
            <a:r>
              <a:rPr lang="en-US" dirty="0">
                <a:solidFill>
                  <a:schemeClr val="tx1"/>
                </a:solidFill>
              </a:rPr>
              <a:t>}</a:t>
            </a:r>
          </a:p>
          <a:p>
            <a:r>
              <a:rPr lang="en-US" dirty="0">
                <a:solidFill>
                  <a:schemeClr val="tx1"/>
                </a:solidFill>
              </a:rPr>
              <a:t>int main()</a:t>
            </a:r>
          </a:p>
          <a:p>
            <a:r>
              <a:rPr lang="en-US" dirty="0">
                <a:solidFill>
                  <a:schemeClr val="tx1"/>
                </a:solidFill>
              </a:rPr>
              <a:t>{</a:t>
            </a:r>
          </a:p>
          <a:p>
            <a:r>
              <a:rPr lang="en-US" dirty="0">
                <a:solidFill>
                  <a:schemeClr val="tx1"/>
                </a:solidFill>
              </a:rPr>
              <a:t>    int num1,num2;</a:t>
            </a:r>
          </a:p>
          <a:p>
            <a:r>
              <a:rPr lang="en-US" dirty="0">
                <a:solidFill>
                  <a:schemeClr val="tx1"/>
                </a:solidFill>
              </a:rPr>
              <a:t>    printf("Enter value of num1: ");</a:t>
            </a:r>
          </a:p>
          <a:p>
            <a:r>
              <a:rPr lang="en-US" dirty="0">
                <a:solidFill>
                  <a:schemeClr val="tx1"/>
                </a:solidFill>
              </a:rPr>
              <a:t>    </a:t>
            </a:r>
            <a:r>
              <a:rPr lang="en-US" dirty="0" err="1">
                <a:solidFill>
                  <a:schemeClr val="tx1"/>
                </a:solidFill>
              </a:rPr>
              <a:t>scanf</a:t>
            </a:r>
            <a:r>
              <a:rPr lang="en-US" dirty="0">
                <a:solidFill>
                  <a:schemeClr val="tx1"/>
                </a:solidFill>
              </a:rPr>
              <a:t>("%d",&amp;num1);</a:t>
            </a:r>
          </a:p>
          <a:p>
            <a:r>
              <a:rPr lang="en-US" dirty="0">
                <a:solidFill>
                  <a:schemeClr val="tx1"/>
                </a:solidFill>
              </a:rPr>
              <a:t>    printf("Enter value of num2: ");</a:t>
            </a:r>
          </a:p>
          <a:p>
            <a:r>
              <a:rPr lang="en-US" dirty="0">
                <a:solidFill>
                  <a:schemeClr val="tx1"/>
                </a:solidFill>
              </a:rPr>
              <a:t>    </a:t>
            </a:r>
            <a:r>
              <a:rPr lang="en-US" dirty="0" err="1">
                <a:solidFill>
                  <a:schemeClr val="tx1"/>
                </a:solidFill>
              </a:rPr>
              <a:t>scanf</a:t>
            </a:r>
            <a:r>
              <a:rPr lang="en-US" dirty="0">
                <a:solidFill>
                  <a:schemeClr val="tx1"/>
                </a:solidFill>
              </a:rPr>
              <a:t>("%d",&amp;num2);</a:t>
            </a:r>
          </a:p>
          <a:p>
            <a:r>
              <a:rPr lang="en-US" dirty="0">
                <a:solidFill>
                  <a:schemeClr val="tx1"/>
                </a:solidFill>
              </a:rPr>
              <a:t>    printf("Before Swapping: num1=%d, num2=%d\n",num1,num2);</a:t>
            </a:r>
          </a:p>
          <a:p>
            <a:r>
              <a:rPr lang="en-US" dirty="0">
                <a:solidFill>
                  <a:schemeClr val="tx1"/>
                </a:solidFill>
              </a:rPr>
              <a:t>    swap(&amp;num1,&amp;num2);</a:t>
            </a:r>
          </a:p>
          <a:p>
            <a:r>
              <a:rPr lang="en-US" dirty="0">
                <a:solidFill>
                  <a:schemeClr val="tx1"/>
                </a:solidFill>
              </a:rPr>
              <a:t>    </a:t>
            </a:r>
            <a:r>
              <a:rPr lang="en-US" dirty="0" err="1">
                <a:solidFill>
                  <a:schemeClr val="tx1"/>
                </a:solidFill>
              </a:rPr>
              <a:t>printf</a:t>
            </a:r>
            <a:r>
              <a:rPr lang="en-US" dirty="0">
                <a:solidFill>
                  <a:schemeClr val="tx1"/>
                </a:solidFill>
              </a:rPr>
              <a:t>("After  Swapping: num1=%d, num2=%d\n",num1,num2);    </a:t>
            </a:r>
          </a:p>
          <a:p>
            <a:r>
              <a:rPr lang="en-US" dirty="0">
                <a:solidFill>
                  <a:schemeClr val="tx1"/>
                </a:solidFill>
              </a:rPr>
              <a:t>    return 0;</a:t>
            </a:r>
          </a:p>
          <a:p>
            <a:r>
              <a:rPr lang="en-US" dirty="0">
                <a:solidFill>
                  <a:schemeClr val="tx1"/>
                </a:solidFill>
              </a:rPr>
              <a:t>}</a:t>
            </a:r>
            <a:endParaRPr lang="en-IN" dirty="0">
              <a:solidFill>
                <a:schemeClr val="tx1"/>
              </a:solidFill>
            </a:endParaRPr>
          </a:p>
        </p:txBody>
      </p:sp>
      <p:sp>
        <p:nvSpPr>
          <p:cNvPr id="9" name="TextBox 8">
            <a:extLst>
              <a:ext uri="{FF2B5EF4-FFF2-40B4-BE49-F238E27FC236}">
                <a16:creationId xmlns:a16="http://schemas.microsoft.com/office/drawing/2014/main" id="{ADD0A1DF-FBD7-111E-F75B-4D91E916E57B}"/>
              </a:ext>
            </a:extLst>
          </p:cNvPr>
          <p:cNvSpPr txBox="1"/>
          <p:nvPr/>
        </p:nvSpPr>
        <p:spPr>
          <a:xfrm>
            <a:off x="5177853" y="1242072"/>
            <a:ext cx="3966147" cy="954107"/>
          </a:xfrm>
          <a:prstGeom prst="rect">
            <a:avLst/>
          </a:prstGeom>
          <a:noFill/>
        </p:spPr>
        <p:txBody>
          <a:bodyPr wrap="square">
            <a:spAutoFit/>
          </a:bodyPr>
          <a:lstStyle/>
          <a:p>
            <a:r>
              <a:rPr lang="en-IN" b="1" dirty="0">
                <a:solidFill>
                  <a:schemeClr val="tx1"/>
                </a:solidFill>
              </a:rPr>
              <a:t>Enter value of num1: 100</a:t>
            </a:r>
          </a:p>
          <a:p>
            <a:r>
              <a:rPr lang="en-IN" b="1" dirty="0">
                <a:solidFill>
                  <a:schemeClr val="tx1"/>
                </a:solidFill>
              </a:rPr>
              <a:t>Enter value of num2: 200</a:t>
            </a:r>
          </a:p>
          <a:p>
            <a:r>
              <a:rPr lang="en-IN" b="1" dirty="0">
                <a:solidFill>
                  <a:schemeClr val="tx1"/>
                </a:solidFill>
              </a:rPr>
              <a:t>Before Swapping: num1=100, num2=200</a:t>
            </a:r>
          </a:p>
          <a:p>
            <a:r>
              <a:rPr lang="en-IN" b="1" dirty="0">
                <a:solidFill>
                  <a:schemeClr val="tx1"/>
                </a:solidFill>
              </a:rPr>
              <a:t>After  Swapping: num1=200, num2=100</a:t>
            </a:r>
          </a:p>
        </p:txBody>
      </p:sp>
    </p:spTree>
    <p:extLst>
      <p:ext uri="{BB962C8B-B14F-4D97-AF65-F5344CB8AC3E}">
        <p14:creationId xmlns:p14="http://schemas.microsoft.com/office/powerpoint/2010/main" val="664340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13089"/>
            <a:ext cx="6943469" cy="396300"/>
          </a:xfrm>
        </p:spPr>
        <p:txBody>
          <a:bodyPr/>
          <a:lstStyle/>
          <a:p>
            <a:pPr algn="ctr"/>
            <a:r>
              <a:rPr lang="en-IN" sz="2400" dirty="0"/>
              <a:t>Pointer Example for Swapping numbers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
        <p:nvSpPr>
          <p:cNvPr id="8" name="TextBox 7">
            <a:extLst>
              <a:ext uri="{FF2B5EF4-FFF2-40B4-BE49-F238E27FC236}">
                <a16:creationId xmlns:a16="http://schemas.microsoft.com/office/drawing/2014/main" id="{D80A661D-BC12-74CD-A430-7DEB9D733A47}"/>
              </a:ext>
            </a:extLst>
          </p:cNvPr>
          <p:cNvSpPr txBox="1"/>
          <p:nvPr/>
        </p:nvSpPr>
        <p:spPr>
          <a:xfrm>
            <a:off x="5177853" y="822720"/>
            <a:ext cx="1239113" cy="307777"/>
          </a:xfrm>
          <a:prstGeom prst="rect">
            <a:avLst/>
          </a:prstGeom>
          <a:noFill/>
        </p:spPr>
        <p:txBody>
          <a:bodyPr wrap="square">
            <a:spAutoFit/>
          </a:bodyPr>
          <a:lstStyle/>
          <a:p>
            <a:r>
              <a:rPr lang="en-IN" sz="1400" b="1" dirty="0">
                <a:solidFill>
                  <a:srgbClr val="FFFF00"/>
                </a:solidFill>
              </a:rPr>
              <a:t>Output</a:t>
            </a:r>
            <a:endParaRPr lang="en-IN" b="1" dirty="0">
              <a:solidFill>
                <a:srgbClr val="FFFF00"/>
              </a:solidFill>
            </a:endParaRPr>
          </a:p>
        </p:txBody>
      </p:sp>
      <p:sp>
        <p:nvSpPr>
          <p:cNvPr id="5" name="TextBox 4">
            <a:extLst>
              <a:ext uri="{FF2B5EF4-FFF2-40B4-BE49-F238E27FC236}">
                <a16:creationId xmlns:a16="http://schemas.microsoft.com/office/drawing/2014/main" id="{5317188E-FAA1-19A1-6834-AB27EFA605AE}"/>
              </a:ext>
            </a:extLst>
          </p:cNvPr>
          <p:cNvSpPr txBox="1"/>
          <p:nvPr/>
        </p:nvSpPr>
        <p:spPr>
          <a:xfrm>
            <a:off x="705161" y="592357"/>
            <a:ext cx="5042118" cy="4278094"/>
          </a:xfrm>
          <a:prstGeom prst="rect">
            <a:avLst/>
          </a:prstGeom>
          <a:noFill/>
        </p:spPr>
        <p:txBody>
          <a:bodyPr wrap="square">
            <a:spAutoFit/>
          </a:bodyPr>
          <a:lstStyle/>
          <a:p>
            <a:r>
              <a:rPr lang="en-US" sz="1600" dirty="0">
                <a:solidFill>
                  <a:schemeClr val="tx1"/>
                </a:solidFill>
              </a:rPr>
              <a:t>#include&lt;stdio.h&gt;  </a:t>
            </a:r>
          </a:p>
          <a:p>
            <a:r>
              <a:rPr lang="en-US" sz="1600" dirty="0">
                <a:solidFill>
                  <a:schemeClr val="tx1"/>
                </a:solidFill>
              </a:rPr>
              <a:t>void </a:t>
            </a:r>
            <a:r>
              <a:rPr lang="en-US" sz="1600" dirty="0" err="1">
                <a:solidFill>
                  <a:schemeClr val="tx1"/>
                </a:solidFill>
              </a:rPr>
              <a:t>area_peri</a:t>
            </a:r>
            <a:r>
              <a:rPr lang="en-US" sz="1600" dirty="0">
                <a:solidFill>
                  <a:schemeClr val="tx1"/>
                </a:solidFill>
              </a:rPr>
              <a:t>(float, float*, float*);  </a:t>
            </a:r>
          </a:p>
          <a:p>
            <a:r>
              <a:rPr lang="en-US" sz="1600" dirty="0">
                <a:solidFill>
                  <a:schemeClr val="tx1"/>
                </a:solidFill>
              </a:rPr>
              <a:t>int main()  </a:t>
            </a:r>
          </a:p>
          <a:p>
            <a:r>
              <a:rPr lang="en-US" sz="1600" dirty="0">
                <a:solidFill>
                  <a:schemeClr val="tx1"/>
                </a:solidFill>
              </a:rPr>
              <a:t>{  </a:t>
            </a:r>
          </a:p>
          <a:p>
            <a:r>
              <a:rPr lang="en-US" sz="1600" dirty="0">
                <a:solidFill>
                  <a:schemeClr val="tx1"/>
                </a:solidFill>
              </a:rPr>
              <a:t>    float radius, area, perimeter;  </a:t>
            </a:r>
          </a:p>
          <a:p>
            <a:r>
              <a:rPr lang="en-US" sz="1600" dirty="0">
                <a:solidFill>
                  <a:schemeClr val="tx1"/>
                </a:solidFill>
              </a:rPr>
              <a:t>    printf("Enter radius of Circle\n");  </a:t>
            </a:r>
          </a:p>
          <a:p>
            <a:r>
              <a:rPr lang="en-US" sz="1600" dirty="0">
                <a:solidFill>
                  <a:schemeClr val="tx1"/>
                </a:solidFill>
              </a:rPr>
              <a:t>    </a:t>
            </a:r>
            <a:r>
              <a:rPr lang="en-US" sz="1600" dirty="0" err="1">
                <a:solidFill>
                  <a:schemeClr val="tx1"/>
                </a:solidFill>
              </a:rPr>
              <a:t>scanf</a:t>
            </a:r>
            <a:r>
              <a:rPr lang="en-US" sz="1600" dirty="0">
                <a:solidFill>
                  <a:schemeClr val="tx1"/>
                </a:solidFill>
              </a:rPr>
              <a:t>("%f", &amp;radius);  </a:t>
            </a:r>
          </a:p>
          <a:p>
            <a:r>
              <a:rPr lang="en-US" sz="1600" dirty="0">
                <a:solidFill>
                  <a:schemeClr val="tx1"/>
                </a:solidFill>
              </a:rPr>
              <a:t>    </a:t>
            </a:r>
            <a:r>
              <a:rPr lang="en-US" sz="1600" dirty="0" err="1">
                <a:solidFill>
                  <a:schemeClr val="tx1"/>
                </a:solidFill>
              </a:rPr>
              <a:t>area_peri</a:t>
            </a:r>
            <a:r>
              <a:rPr lang="en-US" sz="1600" dirty="0">
                <a:solidFill>
                  <a:schemeClr val="tx1"/>
                </a:solidFill>
              </a:rPr>
              <a:t>(radius, &amp;area, &amp;perimeter);  </a:t>
            </a:r>
          </a:p>
          <a:p>
            <a:r>
              <a:rPr lang="en-US" sz="1600" dirty="0">
                <a:solidFill>
                  <a:schemeClr val="tx1"/>
                </a:solidFill>
              </a:rPr>
              <a:t>    printf("\</a:t>
            </a:r>
            <a:r>
              <a:rPr lang="en-US" sz="1600" dirty="0" err="1">
                <a:solidFill>
                  <a:schemeClr val="tx1"/>
                </a:solidFill>
              </a:rPr>
              <a:t>nArea</a:t>
            </a:r>
            <a:r>
              <a:rPr lang="en-US" sz="1600" dirty="0">
                <a:solidFill>
                  <a:schemeClr val="tx1"/>
                </a:solidFill>
              </a:rPr>
              <a:t> of Circle = %0.2f\n", area);  </a:t>
            </a:r>
          </a:p>
          <a:p>
            <a:r>
              <a:rPr lang="en-US" sz="1600" dirty="0">
                <a:solidFill>
                  <a:schemeClr val="tx1"/>
                </a:solidFill>
              </a:rPr>
              <a:t>    printf("Perimeter of Circle = %0.2f\n", perimeter);  </a:t>
            </a:r>
          </a:p>
          <a:p>
            <a:r>
              <a:rPr lang="en-US" sz="1600" dirty="0">
                <a:solidFill>
                  <a:schemeClr val="tx1"/>
                </a:solidFill>
              </a:rPr>
              <a:t>    return 0;  </a:t>
            </a:r>
          </a:p>
          <a:p>
            <a:r>
              <a:rPr lang="en-US" sz="1600" dirty="0">
                <a:solidFill>
                  <a:schemeClr val="tx1"/>
                </a:solidFill>
              </a:rPr>
              <a:t>}  </a:t>
            </a:r>
          </a:p>
          <a:p>
            <a:r>
              <a:rPr lang="en-US" sz="1600" dirty="0">
                <a:solidFill>
                  <a:schemeClr val="tx1"/>
                </a:solidFill>
              </a:rPr>
              <a:t>void </a:t>
            </a:r>
            <a:r>
              <a:rPr lang="en-US" sz="1600" dirty="0" err="1">
                <a:solidFill>
                  <a:schemeClr val="tx1"/>
                </a:solidFill>
              </a:rPr>
              <a:t>area_peri</a:t>
            </a:r>
            <a:r>
              <a:rPr lang="en-US" sz="1600" dirty="0">
                <a:solidFill>
                  <a:schemeClr val="tx1"/>
                </a:solidFill>
              </a:rPr>
              <a:t>(float r, float *a, float *p)  </a:t>
            </a:r>
          </a:p>
          <a:p>
            <a:r>
              <a:rPr lang="en-US" sz="1600" dirty="0">
                <a:solidFill>
                  <a:schemeClr val="tx1"/>
                </a:solidFill>
              </a:rPr>
              <a:t>{  </a:t>
            </a:r>
          </a:p>
          <a:p>
            <a:r>
              <a:rPr lang="en-US" sz="1600" dirty="0">
                <a:solidFill>
                  <a:schemeClr val="tx1"/>
                </a:solidFill>
              </a:rPr>
              <a:t>    *a = 3.14 * r * r;  </a:t>
            </a:r>
          </a:p>
          <a:p>
            <a:r>
              <a:rPr lang="en-US" sz="1600" dirty="0">
                <a:solidFill>
                  <a:schemeClr val="tx1"/>
                </a:solidFill>
              </a:rPr>
              <a:t>    *p = 2 * 3.14 * r;  </a:t>
            </a:r>
          </a:p>
          <a:p>
            <a:r>
              <a:rPr lang="en-US" sz="1600" dirty="0">
                <a:solidFill>
                  <a:schemeClr val="tx1"/>
                </a:solidFill>
              </a:rPr>
              <a:t>}</a:t>
            </a:r>
            <a:endParaRPr lang="en-IN" sz="1600" dirty="0">
              <a:solidFill>
                <a:schemeClr val="tx1"/>
              </a:solidFill>
            </a:endParaRPr>
          </a:p>
        </p:txBody>
      </p:sp>
      <p:sp>
        <p:nvSpPr>
          <p:cNvPr id="9" name="TextBox 8">
            <a:extLst>
              <a:ext uri="{FF2B5EF4-FFF2-40B4-BE49-F238E27FC236}">
                <a16:creationId xmlns:a16="http://schemas.microsoft.com/office/drawing/2014/main" id="{ADD0A1DF-FBD7-111E-F75B-4D91E916E57B}"/>
              </a:ext>
            </a:extLst>
          </p:cNvPr>
          <p:cNvSpPr txBox="1"/>
          <p:nvPr/>
        </p:nvSpPr>
        <p:spPr>
          <a:xfrm>
            <a:off x="5177853" y="1242072"/>
            <a:ext cx="3966147" cy="738664"/>
          </a:xfrm>
          <a:prstGeom prst="rect">
            <a:avLst/>
          </a:prstGeom>
          <a:noFill/>
        </p:spPr>
        <p:txBody>
          <a:bodyPr wrap="square">
            <a:spAutoFit/>
          </a:bodyPr>
          <a:lstStyle/>
          <a:p>
            <a:r>
              <a:rPr lang="en-US" b="1" dirty="0">
                <a:solidFill>
                  <a:schemeClr val="tx1"/>
                </a:solidFill>
              </a:rPr>
              <a:t>Enter radius of Circle: 9.8</a:t>
            </a:r>
          </a:p>
          <a:p>
            <a:r>
              <a:rPr lang="en-US" b="1" dirty="0">
                <a:solidFill>
                  <a:schemeClr val="tx1"/>
                </a:solidFill>
              </a:rPr>
              <a:t>Area of Circle = 301.57</a:t>
            </a:r>
          </a:p>
          <a:p>
            <a:r>
              <a:rPr lang="en-US" b="1" dirty="0">
                <a:solidFill>
                  <a:schemeClr val="tx1"/>
                </a:solidFill>
              </a:rPr>
              <a:t>Perimeter of Circle = 61.54</a:t>
            </a:r>
            <a:endParaRPr lang="en-IN" b="1" dirty="0">
              <a:solidFill>
                <a:schemeClr val="tx1"/>
              </a:solidFill>
            </a:endParaRPr>
          </a:p>
        </p:txBody>
      </p:sp>
    </p:spTree>
    <p:extLst>
      <p:ext uri="{BB962C8B-B14F-4D97-AF65-F5344CB8AC3E}">
        <p14:creationId xmlns:p14="http://schemas.microsoft.com/office/powerpoint/2010/main" val="7389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79355"/>
            <a:ext cx="6943469" cy="396300"/>
          </a:xfrm>
        </p:spPr>
        <p:txBody>
          <a:bodyPr/>
          <a:lstStyle/>
          <a:p>
            <a:pPr algn="ctr"/>
            <a:r>
              <a:rPr lang="en-IN" sz="2400" dirty="0"/>
              <a:t>Arithmetic Pointer Examples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
        <p:nvSpPr>
          <p:cNvPr id="5" name="TextBox 4">
            <a:extLst>
              <a:ext uri="{FF2B5EF4-FFF2-40B4-BE49-F238E27FC236}">
                <a16:creationId xmlns:a16="http://schemas.microsoft.com/office/drawing/2014/main" id="{5317188E-FAA1-19A1-6834-AB27EFA605AE}"/>
              </a:ext>
            </a:extLst>
          </p:cNvPr>
          <p:cNvSpPr txBox="1"/>
          <p:nvPr/>
        </p:nvSpPr>
        <p:spPr>
          <a:xfrm>
            <a:off x="415368" y="594248"/>
            <a:ext cx="8132284" cy="3041667"/>
          </a:xfrm>
          <a:prstGeom prst="rect">
            <a:avLst/>
          </a:prstGeom>
          <a:noFill/>
        </p:spPr>
        <p:txBody>
          <a:bodyPr wrap="square">
            <a:spAutoFit/>
          </a:bodyPr>
          <a:lstStyle/>
          <a:p>
            <a:pPr algn="just">
              <a:lnSpc>
                <a:spcPct val="200000"/>
              </a:lnSpc>
            </a:pPr>
            <a:r>
              <a:rPr lang="en-US" dirty="0">
                <a:solidFill>
                  <a:schemeClr val="tx1"/>
                </a:solidFill>
              </a:rPr>
              <a:t>A pointer in c is an address, which is a numeric value. </a:t>
            </a:r>
          </a:p>
          <a:p>
            <a:pPr algn="just">
              <a:lnSpc>
                <a:spcPct val="200000"/>
              </a:lnSpc>
            </a:pPr>
            <a:r>
              <a:rPr lang="en-US" dirty="0">
                <a:solidFill>
                  <a:schemeClr val="tx1"/>
                </a:solidFill>
              </a:rPr>
              <a:t>Therefore, user can perform arithmetic operations on a pointer just as user can on a numeric value. There are four arithmetic operators that can be used on pointers: </a:t>
            </a:r>
          </a:p>
          <a:p>
            <a:pPr marL="285750" lvl="1" indent="-285750" algn="just">
              <a:lnSpc>
                <a:spcPct val="200000"/>
              </a:lnSpc>
              <a:buFont typeface="Arial" panose="020B0604020202020204" pitchFamily="34" charset="0"/>
              <a:buChar char="•"/>
            </a:pPr>
            <a:r>
              <a:rPr lang="en-US" dirty="0">
                <a:solidFill>
                  <a:schemeClr val="tx1"/>
                </a:solidFill>
              </a:rPr>
              <a:t> 	</a:t>
            </a:r>
            <a:r>
              <a:rPr lang="en-US" b="1" dirty="0">
                <a:solidFill>
                  <a:srgbClr val="FFFF00"/>
                </a:solidFill>
              </a:rPr>
              <a:t>1. Pointer Increment   ++</a:t>
            </a:r>
          </a:p>
          <a:p>
            <a:pPr marL="285750" lvl="1" indent="-285750" algn="just">
              <a:lnSpc>
                <a:spcPct val="200000"/>
              </a:lnSpc>
              <a:buFont typeface="Arial" panose="020B0604020202020204" pitchFamily="34" charset="0"/>
              <a:buChar char="•"/>
            </a:pPr>
            <a:r>
              <a:rPr lang="en-US" b="1" dirty="0">
                <a:solidFill>
                  <a:srgbClr val="FFFF00"/>
                </a:solidFill>
              </a:rPr>
              <a:t> 	2. Pointer Decrement   --</a:t>
            </a:r>
          </a:p>
          <a:p>
            <a:pPr marL="285750" lvl="1" indent="-285750" algn="just">
              <a:lnSpc>
                <a:spcPct val="200000"/>
              </a:lnSpc>
              <a:buFont typeface="Arial" panose="020B0604020202020204" pitchFamily="34" charset="0"/>
              <a:buChar char="•"/>
            </a:pPr>
            <a:r>
              <a:rPr lang="en-US" b="1" dirty="0">
                <a:solidFill>
                  <a:srgbClr val="FFFF00"/>
                </a:solidFill>
              </a:rPr>
              <a:t>	3. Pointer Addition +</a:t>
            </a:r>
          </a:p>
          <a:p>
            <a:pPr marL="285750" lvl="1" indent="-285750" algn="just">
              <a:lnSpc>
                <a:spcPct val="200000"/>
              </a:lnSpc>
              <a:buFont typeface="Arial" panose="020B0604020202020204" pitchFamily="34" charset="0"/>
              <a:buChar char="•"/>
            </a:pPr>
            <a:r>
              <a:rPr lang="en-US" b="1" dirty="0">
                <a:solidFill>
                  <a:srgbClr val="FFFF00"/>
                </a:solidFill>
              </a:rPr>
              <a:t> 	4. Pointer Subtraction –</a:t>
            </a:r>
          </a:p>
        </p:txBody>
      </p:sp>
    </p:spTree>
    <p:extLst>
      <p:ext uri="{BB962C8B-B14F-4D97-AF65-F5344CB8AC3E}">
        <p14:creationId xmlns:p14="http://schemas.microsoft.com/office/powerpoint/2010/main" val="1364562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Pointer Increment (++) Expression</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
        <p:nvSpPr>
          <p:cNvPr id="8" name="TextBox 7">
            <a:extLst>
              <a:ext uri="{FF2B5EF4-FFF2-40B4-BE49-F238E27FC236}">
                <a16:creationId xmlns:a16="http://schemas.microsoft.com/office/drawing/2014/main" id="{D80A661D-BC12-74CD-A430-7DEB9D733A47}"/>
              </a:ext>
            </a:extLst>
          </p:cNvPr>
          <p:cNvSpPr txBox="1"/>
          <p:nvPr/>
        </p:nvSpPr>
        <p:spPr>
          <a:xfrm>
            <a:off x="4572000" y="738408"/>
            <a:ext cx="1239113" cy="307777"/>
          </a:xfrm>
          <a:prstGeom prst="rect">
            <a:avLst/>
          </a:prstGeom>
          <a:noFill/>
        </p:spPr>
        <p:txBody>
          <a:bodyPr wrap="square">
            <a:spAutoFit/>
          </a:bodyPr>
          <a:lstStyle/>
          <a:p>
            <a:r>
              <a:rPr lang="en-IN" sz="1400" b="1" dirty="0">
                <a:solidFill>
                  <a:srgbClr val="FFFF00"/>
                </a:solidFill>
              </a:rPr>
              <a:t>Output</a:t>
            </a:r>
            <a:endParaRPr lang="en-IN" b="1" dirty="0">
              <a:solidFill>
                <a:srgbClr val="FFFF00"/>
              </a:solidFill>
            </a:endParaRPr>
          </a:p>
        </p:txBody>
      </p:sp>
      <p:sp>
        <p:nvSpPr>
          <p:cNvPr id="5" name="TextBox 4">
            <a:extLst>
              <a:ext uri="{FF2B5EF4-FFF2-40B4-BE49-F238E27FC236}">
                <a16:creationId xmlns:a16="http://schemas.microsoft.com/office/drawing/2014/main" id="{5317188E-FAA1-19A1-6834-AB27EFA605AE}"/>
              </a:ext>
            </a:extLst>
          </p:cNvPr>
          <p:cNvSpPr txBox="1"/>
          <p:nvPr/>
        </p:nvSpPr>
        <p:spPr>
          <a:xfrm>
            <a:off x="465062" y="738408"/>
            <a:ext cx="4391894" cy="3323987"/>
          </a:xfrm>
          <a:prstGeom prst="rect">
            <a:avLst/>
          </a:prstGeom>
          <a:noFill/>
        </p:spPr>
        <p:txBody>
          <a:bodyPr wrap="square">
            <a:spAutoFit/>
          </a:bodyPr>
          <a:lstStyle/>
          <a:p>
            <a:r>
              <a:rPr lang="en-IN" dirty="0">
                <a:solidFill>
                  <a:schemeClr val="tx1"/>
                </a:solidFill>
              </a:rPr>
              <a:t>#include &lt;</a:t>
            </a:r>
            <a:r>
              <a:rPr lang="en-IN" dirty="0" err="1">
                <a:solidFill>
                  <a:schemeClr val="tx1"/>
                </a:solidFill>
              </a:rPr>
              <a:t>stdio.h</a:t>
            </a:r>
            <a:r>
              <a:rPr lang="en-IN" dirty="0">
                <a:solidFill>
                  <a:schemeClr val="tx1"/>
                </a:solidFill>
              </a:rPr>
              <a:t>&gt;</a:t>
            </a:r>
          </a:p>
          <a:p>
            <a:r>
              <a:rPr lang="en-IN" dirty="0" err="1">
                <a:solidFill>
                  <a:schemeClr val="tx1"/>
                </a:solidFill>
              </a:rPr>
              <a:t>const</a:t>
            </a:r>
            <a:r>
              <a:rPr lang="en-IN" dirty="0">
                <a:solidFill>
                  <a:schemeClr val="tx1"/>
                </a:solidFill>
              </a:rPr>
              <a:t> int MAX = 3;</a:t>
            </a:r>
          </a:p>
          <a:p>
            <a:r>
              <a:rPr lang="en-IN" dirty="0">
                <a:solidFill>
                  <a:schemeClr val="tx1"/>
                </a:solidFill>
              </a:rPr>
              <a:t>int main () </a:t>
            </a:r>
          </a:p>
          <a:p>
            <a:r>
              <a:rPr lang="en-IN" dirty="0">
                <a:solidFill>
                  <a:schemeClr val="tx1"/>
                </a:solidFill>
              </a:rPr>
              <a:t>{</a:t>
            </a:r>
          </a:p>
          <a:p>
            <a:r>
              <a:rPr lang="en-IN" dirty="0">
                <a:solidFill>
                  <a:schemeClr val="tx1"/>
                </a:solidFill>
              </a:rPr>
              <a:t>   int  var[] = {10, 100, 200};</a:t>
            </a:r>
          </a:p>
          <a:p>
            <a:r>
              <a:rPr lang="en-IN" dirty="0">
                <a:solidFill>
                  <a:schemeClr val="tx1"/>
                </a:solidFill>
              </a:rPr>
              <a:t>   int  </a:t>
            </a:r>
            <a:r>
              <a:rPr lang="en-IN" dirty="0" err="1">
                <a:solidFill>
                  <a:schemeClr val="tx1"/>
                </a:solidFill>
              </a:rPr>
              <a:t>i</a:t>
            </a:r>
            <a:r>
              <a:rPr lang="en-IN" dirty="0">
                <a:solidFill>
                  <a:schemeClr val="tx1"/>
                </a:solidFill>
              </a:rPr>
              <a:t>, *</a:t>
            </a:r>
            <a:r>
              <a:rPr lang="en-IN" dirty="0" err="1">
                <a:solidFill>
                  <a:schemeClr val="tx1"/>
                </a:solidFill>
              </a:rPr>
              <a:t>ptr</a:t>
            </a:r>
            <a:r>
              <a:rPr lang="en-IN" dirty="0">
                <a:solidFill>
                  <a:schemeClr val="tx1"/>
                </a:solidFill>
              </a:rPr>
              <a:t>;</a:t>
            </a:r>
          </a:p>
          <a:p>
            <a:r>
              <a:rPr lang="en-IN" dirty="0">
                <a:solidFill>
                  <a:schemeClr val="tx1"/>
                </a:solidFill>
              </a:rPr>
              <a:t>   </a:t>
            </a:r>
            <a:r>
              <a:rPr lang="en-IN" dirty="0" err="1">
                <a:solidFill>
                  <a:schemeClr val="tx1"/>
                </a:solidFill>
              </a:rPr>
              <a:t>ptr</a:t>
            </a:r>
            <a:r>
              <a:rPr lang="en-IN" dirty="0">
                <a:solidFill>
                  <a:schemeClr val="tx1"/>
                </a:solidFill>
              </a:rPr>
              <a:t> = var;</a:t>
            </a:r>
          </a:p>
          <a:p>
            <a:r>
              <a:rPr lang="en-IN" dirty="0">
                <a:solidFill>
                  <a:schemeClr val="tx1"/>
                </a:solidFill>
              </a:rPr>
              <a:t>   for ( </a:t>
            </a:r>
            <a:r>
              <a:rPr lang="en-IN" dirty="0" err="1">
                <a:solidFill>
                  <a:schemeClr val="tx1"/>
                </a:solidFill>
              </a:rPr>
              <a:t>i</a:t>
            </a:r>
            <a:r>
              <a:rPr lang="en-IN" dirty="0">
                <a:solidFill>
                  <a:schemeClr val="tx1"/>
                </a:solidFill>
              </a:rPr>
              <a:t> = 0; </a:t>
            </a:r>
            <a:r>
              <a:rPr lang="en-IN" dirty="0" err="1">
                <a:solidFill>
                  <a:schemeClr val="tx1"/>
                </a:solidFill>
              </a:rPr>
              <a:t>i</a:t>
            </a:r>
            <a:r>
              <a:rPr lang="en-IN" dirty="0">
                <a:solidFill>
                  <a:schemeClr val="tx1"/>
                </a:solidFill>
              </a:rPr>
              <a:t> &lt; MAX; </a:t>
            </a:r>
            <a:r>
              <a:rPr lang="en-IN" dirty="0" err="1">
                <a:solidFill>
                  <a:schemeClr val="tx1"/>
                </a:solidFill>
              </a:rPr>
              <a:t>i</a:t>
            </a:r>
            <a:r>
              <a:rPr lang="en-IN" dirty="0">
                <a:solidFill>
                  <a:schemeClr val="tx1"/>
                </a:solidFill>
              </a:rPr>
              <a:t>++) </a:t>
            </a:r>
          </a:p>
          <a:p>
            <a:r>
              <a:rPr lang="en-IN" dirty="0">
                <a:solidFill>
                  <a:schemeClr val="tx1"/>
                </a:solidFill>
              </a:rPr>
              <a:t>   {</a:t>
            </a:r>
          </a:p>
          <a:p>
            <a:r>
              <a:rPr lang="en-IN" dirty="0">
                <a:solidFill>
                  <a:schemeClr val="tx1"/>
                </a:solidFill>
              </a:rPr>
              <a:t>      </a:t>
            </a:r>
            <a:r>
              <a:rPr lang="en-IN" dirty="0" err="1">
                <a:solidFill>
                  <a:schemeClr val="tx1"/>
                </a:solidFill>
              </a:rPr>
              <a:t>printf</a:t>
            </a:r>
            <a:r>
              <a:rPr lang="en-IN" dirty="0">
                <a:solidFill>
                  <a:schemeClr val="tx1"/>
                </a:solidFill>
              </a:rPr>
              <a:t>("Address of var[%d] = %x\n", </a:t>
            </a:r>
            <a:r>
              <a:rPr lang="en-IN" dirty="0" err="1">
                <a:solidFill>
                  <a:schemeClr val="tx1"/>
                </a:solidFill>
              </a:rPr>
              <a:t>i</a:t>
            </a:r>
            <a:r>
              <a:rPr lang="en-IN" dirty="0">
                <a:solidFill>
                  <a:schemeClr val="tx1"/>
                </a:solidFill>
              </a:rPr>
              <a:t>, </a:t>
            </a:r>
            <a:r>
              <a:rPr lang="en-IN" dirty="0" err="1">
                <a:solidFill>
                  <a:schemeClr val="tx1"/>
                </a:solidFill>
              </a:rPr>
              <a:t>ptr</a:t>
            </a:r>
            <a:r>
              <a:rPr lang="en-IN" dirty="0">
                <a:solidFill>
                  <a:schemeClr val="tx1"/>
                </a:solidFill>
              </a:rPr>
              <a:t> );</a:t>
            </a:r>
          </a:p>
          <a:p>
            <a:r>
              <a:rPr lang="en-IN" dirty="0">
                <a:solidFill>
                  <a:schemeClr val="tx1"/>
                </a:solidFill>
              </a:rPr>
              <a:t>      </a:t>
            </a:r>
            <a:r>
              <a:rPr lang="en-IN" dirty="0" err="1">
                <a:solidFill>
                  <a:schemeClr val="tx1"/>
                </a:solidFill>
              </a:rPr>
              <a:t>printf</a:t>
            </a:r>
            <a:r>
              <a:rPr lang="en-IN" dirty="0">
                <a:solidFill>
                  <a:schemeClr val="tx1"/>
                </a:solidFill>
              </a:rPr>
              <a:t>("Value of var[%d] = %d\n", </a:t>
            </a:r>
            <a:r>
              <a:rPr lang="en-IN" dirty="0" err="1">
                <a:solidFill>
                  <a:schemeClr val="tx1"/>
                </a:solidFill>
              </a:rPr>
              <a:t>i</a:t>
            </a:r>
            <a:r>
              <a:rPr lang="en-IN" dirty="0">
                <a:solidFill>
                  <a:schemeClr val="tx1"/>
                </a:solidFill>
              </a:rPr>
              <a:t>, *</a:t>
            </a:r>
            <a:r>
              <a:rPr lang="en-IN" dirty="0" err="1">
                <a:solidFill>
                  <a:schemeClr val="tx1"/>
                </a:solidFill>
              </a:rPr>
              <a:t>ptr</a:t>
            </a:r>
            <a:r>
              <a:rPr lang="en-IN" dirty="0">
                <a:solidFill>
                  <a:schemeClr val="tx1"/>
                </a:solidFill>
              </a:rPr>
              <a:t> );</a:t>
            </a:r>
          </a:p>
          <a:p>
            <a:r>
              <a:rPr lang="en-IN" dirty="0">
                <a:solidFill>
                  <a:schemeClr val="tx1"/>
                </a:solidFill>
              </a:rPr>
              <a:t>      </a:t>
            </a:r>
            <a:r>
              <a:rPr lang="en-IN" dirty="0" err="1">
                <a:solidFill>
                  <a:schemeClr val="tx1"/>
                </a:solidFill>
              </a:rPr>
              <a:t>ptr</a:t>
            </a:r>
            <a:r>
              <a:rPr lang="en-IN" dirty="0">
                <a:solidFill>
                  <a:schemeClr val="tx1"/>
                </a:solidFill>
              </a:rPr>
              <a:t>++;</a:t>
            </a:r>
          </a:p>
          <a:p>
            <a:r>
              <a:rPr lang="en-IN" dirty="0">
                <a:solidFill>
                  <a:schemeClr val="tx1"/>
                </a:solidFill>
              </a:rPr>
              <a:t>   }</a:t>
            </a:r>
          </a:p>
          <a:p>
            <a:r>
              <a:rPr lang="en-IN" dirty="0">
                <a:solidFill>
                  <a:schemeClr val="tx1"/>
                </a:solidFill>
              </a:rPr>
              <a:t>   return 0;</a:t>
            </a:r>
          </a:p>
          <a:p>
            <a:r>
              <a:rPr lang="en-IN" dirty="0">
                <a:solidFill>
                  <a:schemeClr val="tx1"/>
                </a:solidFill>
              </a:rPr>
              <a:t>}</a:t>
            </a:r>
          </a:p>
        </p:txBody>
      </p:sp>
      <p:sp>
        <p:nvSpPr>
          <p:cNvPr id="9" name="TextBox 8">
            <a:extLst>
              <a:ext uri="{FF2B5EF4-FFF2-40B4-BE49-F238E27FC236}">
                <a16:creationId xmlns:a16="http://schemas.microsoft.com/office/drawing/2014/main" id="{ADD0A1DF-FBD7-111E-F75B-4D91E916E57B}"/>
              </a:ext>
            </a:extLst>
          </p:cNvPr>
          <p:cNvSpPr txBox="1"/>
          <p:nvPr/>
        </p:nvSpPr>
        <p:spPr>
          <a:xfrm>
            <a:off x="5074143" y="1211219"/>
            <a:ext cx="3966147" cy="1384995"/>
          </a:xfrm>
          <a:prstGeom prst="rect">
            <a:avLst/>
          </a:prstGeom>
          <a:noFill/>
        </p:spPr>
        <p:txBody>
          <a:bodyPr wrap="square">
            <a:spAutoFit/>
          </a:bodyPr>
          <a:lstStyle/>
          <a:p>
            <a:r>
              <a:rPr lang="en-US" dirty="0">
                <a:solidFill>
                  <a:schemeClr val="accent1"/>
                </a:solidFill>
              </a:rPr>
              <a:t>Address of var[0] = bf882b30</a:t>
            </a:r>
          </a:p>
          <a:p>
            <a:r>
              <a:rPr lang="en-US" dirty="0">
                <a:solidFill>
                  <a:schemeClr val="accent1"/>
                </a:solidFill>
              </a:rPr>
              <a:t>Value of var[0] = 10</a:t>
            </a:r>
          </a:p>
          <a:p>
            <a:r>
              <a:rPr lang="en-US" dirty="0">
                <a:solidFill>
                  <a:schemeClr val="accent1"/>
                </a:solidFill>
              </a:rPr>
              <a:t>Address of var[1] = bf882b34</a:t>
            </a:r>
          </a:p>
          <a:p>
            <a:r>
              <a:rPr lang="en-US" dirty="0">
                <a:solidFill>
                  <a:schemeClr val="accent1"/>
                </a:solidFill>
              </a:rPr>
              <a:t>Value of var[1] = 100</a:t>
            </a:r>
          </a:p>
          <a:p>
            <a:r>
              <a:rPr lang="en-US" dirty="0">
                <a:solidFill>
                  <a:schemeClr val="accent1"/>
                </a:solidFill>
              </a:rPr>
              <a:t>Address of var[2] = bf882b38</a:t>
            </a:r>
          </a:p>
          <a:p>
            <a:r>
              <a:rPr lang="en-US" dirty="0">
                <a:solidFill>
                  <a:schemeClr val="accent1"/>
                </a:solidFill>
              </a:rPr>
              <a:t>Value of var[2] = 200</a:t>
            </a:r>
            <a:endParaRPr lang="en-IN" dirty="0">
              <a:solidFill>
                <a:schemeClr val="accent2"/>
              </a:solidFill>
            </a:endParaRPr>
          </a:p>
        </p:txBody>
      </p:sp>
    </p:spTree>
    <p:extLst>
      <p:ext uri="{BB962C8B-B14F-4D97-AF65-F5344CB8AC3E}">
        <p14:creationId xmlns:p14="http://schemas.microsoft.com/office/powerpoint/2010/main" val="1975668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Pointer Decrement (--) Expression</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
        <p:nvSpPr>
          <p:cNvPr id="8" name="TextBox 7">
            <a:extLst>
              <a:ext uri="{FF2B5EF4-FFF2-40B4-BE49-F238E27FC236}">
                <a16:creationId xmlns:a16="http://schemas.microsoft.com/office/drawing/2014/main" id="{D80A661D-BC12-74CD-A430-7DEB9D733A47}"/>
              </a:ext>
            </a:extLst>
          </p:cNvPr>
          <p:cNvSpPr txBox="1"/>
          <p:nvPr/>
        </p:nvSpPr>
        <p:spPr>
          <a:xfrm>
            <a:off x="4572000" y="738408"/>
            <a:ext cx="1239113" cy="307777"/>
          </a:xfrm>
          <a:prstGeom prst="rect">
            <a:avLst/>
          </a:prstGeom>
          <a:noFill/>
        </p:spPr>
        <p:txBody>
          <a:bodyPr wrap="square">
            <a:spAutoFit/>
          </a:bodyPr>
          <a:lstStyle/>
          <a:p>
            <a:r>
              <a:rPr lang="en-IN" sz="1400" b="1" dirty="0">
                <a:solidFill>
                  <a:srgbClr val="FFFF00"/>
                </a:solidFill>
              </a:rPr>
              <a:t>Output</a:t>
            </a:r>
            <a:endParaRPr lang="en-IN" b="1" dirty="0">
              <a:solidFill>
                <a:srgbClr val="FFFF00"/>
              </a:solidFill>
            </a:endParaRPr>
          </a:p>
        </p:txBody>
      </p:sp>
      <p:sp>
        <p:nvSpPr>
          <p:cNvPr id="5" name="TextBox 4">
            <a:extLst>
              <a:ext uri="{FF2B5EF4-FFF2-40B4-BE49-F238E27FC236}">
                <a16:creationId xmlns:a16="http://schemas.microsoft.com/office/drawing/2014/main" id="{5317188E-FAA1-19A1-6834-AB27EFA605AE}"/>
              </a:ext>
            </a:extLst>
          </p:cNvPr>
          <p:cNvSpPr txBox="1"/>
          <p:nvPr/>
        </p:nvSpPr>
        <p:spPr>
          <a:xfrm>
            <a:off x="465062" y="738408"/>
            <a:ext cx="4391894" cy="3754874"/>
          </a:xfrm>
          <a:prstGeom prst="rect">
            <a:avLst/>
          </a:prstGeom>
          <a:noFill/>
        </p:spPr>
        <p:txBody>
          <a:bodyPr wrap="square">
            <a:spAutoFit/>
          </a:bodyPr>
          <a:lstStyle/>
          <a:p>
            <a:r>
              <a:rPr lang="en-IN" dirty="0">
                <a:solidFill>
                  <a:schemeClr val="tx1"/>
                </a:solidFill>
              </a:rPr>
              <a:t>#include &lt;</a:t>
            </a:r>
            <a:r>
              <a:rPr lang="en-IN" dirty="0" err="1">
                <a:solidFill>
                  <a:schemeClr val="tx1"/>
                </a:solidFill>
              </a:rPr>
              <a:t>stdio.h</a:t>
            </a:r>
            <a:r>
              <a:rPr lang="en-IN" dirty="0">
                <a:solidFill>
                  <a:schemeClr val="tx1"/>
                </a:solidFill>
              </a:rPr>
              <a:t>&gt;</a:t>
            </a:r>
          </a:p>
          <a:p>
            <a:r>
              <a:rPr lang="en-IN" dirty="0" err="1">
                <a:solidFill>
                  <a:schemeClr val="tx1"/>
                </a:solidFill>
              </a:rPr>
              <a:t>const</a:t>
            </a:r>
            <a:r>
              <a:rPr lang="en-IN" dirty="0">
                <a:solidFill>
                  <a:schemeClr val="tx1"/>
                </a:solidFill>
              </a:rPr>
              <a:t> int MAX = 3;</a:t>
            </a:r>
          </a:p>
          <a:p>
            <a:r>
              <a:rPr lang="en-IN" dirty="0">
                <a:solidFill>
                  <a:schemeClr val="tx1"/>
                </a:solidFill>
              </a:rPr>
              <a:t>int main () </a:t>
            </a:r>
          </a:p>
          <a:p>
            <a:r>
              <a:rPr lang="en-IN" dirty="0">
                <a:solidFill>
                  <a:schemeClr val="tx1"/>
                </a:solidFill>
              </a:rPr>
              <a:t>{</a:t>
            </a:r>
          </a:p>
          <a:p>
            <a:r>
              <a:rPr lang="en-IN" dirty="0">
                <a:solidFill>
                  <a:schemeClr val="tx1"/>
                </a:solidFill>
              </a:rPr>
              <a:t>   int  var[] = {10, 100, 200};</a:t>
            </a:r>
          </a:p>
          <a:p>
            <a:r>
              <a:rPr lang="en-IN" dirty="0">
                <a:solidFill>
                  <a:schemeClr val="tx1"/>
                </a:solidFill>
              </a:rPr>
              <a:t>   int  </a:t>
            </a:r>
            <a:r>
              <a:rPr lang="en-IN" dirty="0" err="1">
                <a:solidFill>
                  <a:schemeClr val="tx1"/>
                </a:solidFill>
              </a:rPr>
              <a:t>i</a:t>
            </a:r>
            <a:r>
              <a:rPr lang="en-IN" dirty="0">
                <a:solidFill>
                  <a:schemeClr val="tx1"/>
                </a:solidFill>
              </a:rPr>
              <a:t>, *</a:t>
            </a:r>
            <a:r>
              <a:rPr lang="en-IN" dirty="0" err="1">
                <a:solidFill>
                  <a:schemeClr val="tx1"/>
                </a:solidFill>
              </a:rPr>
              <a:t>ptr</a:t>
            </a:r>
            <a:r>
              <a:rPr lang="en-IN" dirty="0">
                <a:solidFill>
                  <a:schemeClr val="tx1"/>
                </a:solidFill>
              </a:rPr>
              <a:t>;</a:t>
            </a:r>
          </a:p>
          <a:p>
            <a:r>
              <a:rPr lang="en-IN" dirty="0">
                <a:solidFill>
                  <a:schemeClr val="tx1"/>
                </a:solidFill>
              </a:rPr>
              <a:t>   /* let us have array address in pointer */</a:t>
            </a:r>
          </a:p>
          <a:p>
            <a:r>
              <a:rPr lang="en-IN" dirty="0">
                <a:solidFill>
                  <a:schemeClr val="tx1"/>
                </a:solidFill>
              </a:rPr>
              <a:t>   </a:t>
            </a:r>
            <a:r>
              <a:rPr lang="en-IN" dirty="0" err="1">
                <a:solidFill>
                  <a:schemeClr val="tx1"/>
                </a:solidFill>
              </a:rPr>
              <a:t>ptr</a:t>
            </a:r>
            <a:r>
              <a:rPr lang="en-IN" dirty="0">
                <a:solidFill>
                  <a:schemeClr val="tx1"/>
                </a:solidFill>
              </a:rPr>
              <a:t> = &amp;var[MAX-1];</a:t>
            </a:r>
          </a:p>
          <a:p>
            <a:r>
              <a:rPr lang="en-IN" dirty="0">
                <a:solidFill>
                  <a:schemeClr val="tx1"/>
                </a:solidFill>
              </a:rPr>
              <a:t>   for ( </a:t>
            </a:r>
            <a:r>
              <a:rPr lang="en-IN" dirty="0" err="1">
                <a:solidFill>
                  <a:schemeClr val="tx1"/>
                </a:solidFill>
              </a:rPr>
              <a:t>i</a:t>
            </a:r>
            <a:r>
              <a:rPr lang="en-IN" dirty="0">
                <a:solidFill>
                  <a:schemeClr val="tx1"/>
                </a:solidFill>
              </a:rPr>
              <a:t> = MAX; </a:t>
            </a:r>
            <a:r>
              <a:rPr lang="en-IN" dirty="0" err="1">
                <a:solidFill>
                  <a:schemeClr val="tx1"/>
                </a:solidFill>
              </a:rPr>
              <a:t>i</a:t>
            </a:r>
            <a:r>
              <a:rPr lang="en-IN" dirty="0">
                <a:solidFill>
                  <a:schemeClr val="tx1"/>
                </a:solidFill>
              </a:rPr>
              <a:t> &gt; 0; </a:t>
            </a:r>
            <a:r>
              <a:rPr lang="en-IN" dirty="0" err="1">
                <a:solidFill>
                  <a:schemeClr val="tx1"/>
                </a:solidFill>
              </a:rPr>
              <a:t>i</a:t>
            </a:r>
            <a:r>
              <a:rPr lang="en-IN" dirty="0">
                <a:solidFill>
                  <a:schemeClr val="tx1"/>
                </a:solidFill>
              </a:rPr>
              <a:t>--) </a:t>
            </a:r>
          </a:p>
          <a:p>
            <a:r>
              <a:rPr lang="en-IN" dirty="0">
                <a:solidFill>
                  <a:schemeClr val="tx1"/>
                </a:solidFill>
              </a:rPr>
              <a:t>   {</a:t>
            </a:r>
          </a:p>
          <a:p>
            <a:r>
              <a:rPr lang="en-IN" dirty="0">
                <a:solidFill>
                  <a:schemeClr val="tx1"/>
                </a:solidFill>
              </a:rPr>
              <a:t>      </a:t>
            </a:r>
            <a:r>
              <a:rPr lang="en-IN" dirty="0" err="1">
                <a:solidFill>
                  <a:schemeClr val="tx1"/>
                </a:solidFill>
              </a:rPr>
              <a:t>printf</a:t>
            </a:r>
            <a:r>
              <a:rPr lang="en-IN" dirty="0">
                <a:solidFill>
                  <a:schemeClr val="tx1"/>
                </a:solidFill>
              </a:rPr>
              <a:t>("Address of var[%d] = %x\n", i-1, </a:t>
            </a:r>
            <a:r>
              <a:rPr lang="en-IN" dirty="0" err="1">
                <a:solidFill>
                  <a:schemeClr val="tx1"/>
                </a:solidFill>
              </a:rPr>
              <a:t>ptr</a:t>
            </a:r>
            <a:r>
              <a:rPr lang="en-IN" dirty="0">
                <a:solidFill>
                  <a:schemeClr val="tx1"/>
                </a:solidFill>
              </a:rPr>
              <a:t> );</a:t>
            </a:r>
          </a:p>
          <a:p>
            <a:r>
              <a:rPr lang="en-IN" dirty="0">
                <a:solidFill>
                  <a:schemeClr val="tx1"/>
                </a:solidFill>
              </a:rPr>
              <a:t>      </a:t>
            </a:r>
            <a:r>
              <a:rPr lang="en-IN" dirty="0" err="1">
                <a:solidFill>
                  <a:schemeClr val="tx1"/>
                </a:solidFill>
              </a:rPr>
              <a:t>printf</a:t>
            </a:r>
            <a:r>
              <a:rPr lang="en-IN" dirty="0">
                <a:solidFill>
                  <a:schemeClr val="tx1"/>
                </a:solidFill>
              </a:rPr>
              <a:t>("Value of var[%d] = %d\n", i-1, *</a:t>
            </a:r>
            <a:r>
              <a:rPr lang="en-IN" dirty="0" err="1">
                <a:solidFill>
                  <a:schemeClr val="tx1"/>
                </a:solidFill>
              </a:rPr>
              <a:t>ptr</a:t>
            </a:r>
            <a:r>
              <a:rPr lang="en-IN" dirty="0">
                <a:solidFill>
                  <a:schemeClr val="tx1"/>
                </a:solidFill>
              </a:rPr>
              <a:t> );</a:t>
            </a:r>
          </a:p>
          <a:p>
            <a:r>
              <a:rPr lang="en-IN" dirty="0">
                <a:solidFill>
                  <a:schemeClr val="tx1"/>
                </a:solidFill>
              </a:rPr>
              <a:t>      /* move to the previous location */</a:t>
            </a:r>
          </a:p>
          <a:p>
            <a:r>
              <a:rPr lang="en-IN" dirty="0">
                <a:solidFill>
                  <a:schemeClr val="tx1"/>
                </a:solidFill>
              </a:rPr>
              <a:t>      </a:t>
            </a:r>
            <a:r>
              <a:rPr lang="en-IN" dirty="0" err="1">
                <a:solidFill>
                  <a:schemeClr val="tx1"/>
                </a:solidFill>
              </a:rPr>
              <a:t>ptr</a:t>
            </a:r>
            <a:r>
              <a:rPr lang="en-IN" dirty="0">
                <a:solidFill>
                  <a:schemeClr val="tx1"/>
                </a:solidFill>
              </a:rPr>
              <a:t>--;</a:t>
            </a:r>
          </a:p>
          <a:p>
            <a:r>
              <a:rPr lang="en-IN" dirty="0">
                <a:solidFill>
                  <a:schemeClr val="tx1"/>
                </a:solidFill>
              </a:rPr>
              <a:t>   }</a:t>
            </a:r>
          </a:p>
          <a:p>
            <a:r>
              <a:rPr lang="en-IN" dirty="0">
                <a:solidFill>
                  <a:schemeClr val="tx1"/>
                </a:solidFill>
              </a:rPr>
              <a:t>   return 0;</a:t>
            </a:r>
          </a:p>
          <a:p>
            <a:r>
              <a:rPr lang="en-IN" dirty="0">
                <a:solidFill>
                  <a:schemeClr val="tx1"/>
                </a:solidFill>
              </a:rPr>
              <a:t>}</a:t>
            </a:r>
          </a:p>
        </p:txBody>
      </p:sp>
      <p:sp>
        <p:nvSpPr>
          <p:cNvPr id="9" name="TextBox 8">
            <a:extLst>
              <a:ext uri="{FF2B5EF4-FFF2-40B4-BE49-F238E27FC236}">
                <a16:creationId xmlns:a16="http://schemas.microsoft.com/office/drawing/2014/main" id="{ADD0A1DF-FBD7-111E-F75B-4D91E916E57B}"/>
              </a:ext>
            </a:extLst>
          </p:cNvPr>
          <p:cNvSpPr txBox="1"/>
          <p:nvPr/>
        </p:nvSpPr>
        <p:spPr>
          <a:xfrm>
            <a:off x="5074143" y="1211219"/>
            <a:ext cx="3966147" cy="1384995"/>
          </a:xfrm>
          <a:prstGeom prst="rect">
            <a:avLst/>
          </a:prstGeom>
          <a:noFill/>
        </p:spPr>
        <p:txBody>
          <a:bodyPr wrap="square">
            <a:spAutoFit/>
          </a:bodyPr>
          <a:lstStyle/>
          <a:p>
            <a:r>
              <a:rPr lang="en-US" dirty="0">
                <a:solidFill>
                  <a:schemeClr val="accent1"/>
                </a:solidFill>
              </a:rPr>
              <a:t>Address of var[2] = bfedbcd8</a:t>
            </a:r>
          </a:p>
          <a:p>
            <a:r>
              <a:rPr lang="en-US" dirty="0">
                <a:solidFill>
                  <a:schemeClr val="accent1"/>
                </a:solidFill>
              </a:rPr>
              <a:t>Value of var[2] = 200</a:t>
            </a:r>
          </a:p>
          <a:p>
            <a:r>
              <a:rPr lang="en-US" dirty="0">
                <a:solidFill>
                  <a:schemeClr val="accent1"/>
                </a:solidFill>
              </a:rPr>
              <a:t>Address of var[1] = bfedbcd4</a:t>
            </a:r>
          </a:p>
          <a:p>
            <a:r>
              <a:rPr lang="en-US" dirty="0">
                <a:solidFill>
                  <a:schemeClr val="accent1"/>
                </a:solidFill>
              </a:rPr>
              <a:t>Value of var[1] = 100</a:t>
            </a:r>
          </a:p>
          <a:p>
            <a:r>
              <a:rPr lang="en-US" dirty="0">
                <a:solidFill>
                  <a:schemeClr val="accent1"/>
                </a:solidFill>
              </a:rPr>
              <a:t>Address of var[0] = bfedbcd0</a:t>
            </a:r>
          </a:p>
          <a:p>
            <a:r>
              <a:rPr lang="en-US" dirty="0">
                <a:solidFill>
                  <a:schemeClr val="accent1"/>
                </a:solidFill>
              </a:rPr>
              <a:t>Value of var[0] = 10</a:t>
            </a:r>
          </a:p>
        </p:txBody>
      </p:sp>
    </p:spTree>
    <p:extLst>
      <p:ext uri="{BB962C8B-B14F-4D97-AF65-F5344CB8AC3E}">
        <p14:creationId xmlns:p14="http://schemas.microsoft.com/office/powerpoint/2010/main" val="375584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Pointer Addition (+) Expression</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
        <p:nvSpPr>
          <p:cNvPr id="8" name="TextBox 7">
            <a:extLst>
              <a:ext uri="{FF2B5EF4-FFF2-40B4-BE49-F238E27FC236}">
                <a16:creationId xmlns:a16="http://schemas.microsoft.com/office/drawing/2014/main" id="{D80A661D-BC12-74CD-A430-7DEB9D733A47}"/>
              </a:ext>
            </a:extLst>
          </p:cNvPr>
          <p:cNvSpPr txBox="1"/>
          <p:nvPr/>
        </p:nvSpPr>
        <p:spPr>
          <a:xfrm>
            <a:off x="2143742" y="3943170"/>
            <a:ext cx="1239113" cy="307777"/>
          </a:xfrm>
          <a:prstGeom prst="rect">
            <a:avLst/>
          </a:prstGeom>
          <a:noFill/>
        </p:spPr>
        <p:txBody>
          <a:bodyPr wrap="square">
            <a:spAutoFit/>
          </a:bodyPr>
          <a:lstStyle/>
          <a:p>
            <a:r>
              <a:rPr lang="en-IN" sz="1400" b="1" dirty="0">
                <a:solidFill>
                  <a:srgbClr val="FFFF00"/>
                </a:solidFill>
              </a:rPr>
              <a:t>Output</a:t>
            </a:r>
            <a:endParaRPr lang="en-IN" b="1" dirty="0">
              <a:solidFill>
                <a:srgbClr val="FFFF00"/>
              </a:solidFill>
            </a:endParaRPr>
          </a:p>
        </p:txBody>
      </p:sp>
      <p:sp>
        <p:nvSpPr>
          <p:cNvPr id="5" name="TextBox 4">
            <a:extLst>
              <a:ext uri="{FF2B5EF4-FFF2-40B4-BE49-F238E27FC236}">
                <a16:creationId xmlns:a16="http://schemas.microsoft.com/office/drawing/2014/main" id="{5317188E-FAA1-19A1-6834-AB27EFA605AE}"/>
              </a:ext>
            </a:extLst>
          </p:cNvPr>
          <p:cNvSpPr txBox="1"/>
          <p:nvPr/>
        </p:nvSpPr>
        <p:spPr>
          <a:xfrm>
            <a:off x="406248" y="734165"/>
            <a:ext cx="5508355" cy="954107"/>
          </a:xfrm>
          <a:prstGeom prst="rect">
            <a:avLst/>
          </a:prstGeom>
          <a:noFill/>
        </p:spPr>
        <p:txBody>
          <a:bodyPr wrap="square">
            <a:spAutoFit/>
          </a:bodyPr>
          <a:lstStyle/>
          <a:p>
            <a:r>
              <a:rPr lang="en-US" dirty="0" err="1">
                <a:solidFill>
                  <a:schemeClr val="tx1"/>
                </a:solidFill>
              </a:rPr>
              <a:t>new_address</a:t>
            </a:r>
            <a:r>
              <a:rPr lang="en-US" dirty="0">
                <a:solidFill>
                  <a:schemeClr val="tx1"/>
                </a:solidFill>
              </a:rPr>
              <a:t>= </a:t>
            </a:r>
            <a:r>
              <a:rPr lang="en-US" dirty="0" err="1">
                <a:solidFill>
                  <a:schemeClr val="tx1"/>
                </a:solidFill>
              </a:rPr>
              <a:t>current_address</a:t>
            </a:r>
            <a:r>
              <a:rPr lang="en-US" dirty="0">
                <a:solidFill>
                  <a:schemeClr val="tx1"/>
                </a:solidFill>
              </a:rPr>
              <a:t> + (number * </a:t>
            </a:r>
            <a:r>
              <a:rPr lang="en-US" dirty="0" err="1">
                <a:solidFill>
                  <a:schemeClr val="tx1"/>
                </a:solidFill>
              </a:rPr>
              <a:t>size_of</a:t>
            </a:r>
            <a:r>
              <a:rPr lang="en-US" dirty="0">
                <a:solidFill>
                  <a:schemeClr val="tx1"/>
                </a:solidFill>
              </a:rPr>
              <a:t>(data type)) </a:t>
            </a:r>
          </a:p>
          <a:p>
            <a:r>
              <a:rPr lang="en-US" dirty="0">
                <a:solidFill>
                  <a:srgbClr val="FFFF00"/>
                </a:solidFill>
              </a:rPr>
              <a:t>32-bit int variable - it will add 2 * number</a:t>
            </a:r>
          </a:p>
          <a:p>
            <a:r>
              <a:rPr lang="en-US" dirty="0">
                <a:solidFill>
                  <a:srgbClr val="FFFF00"/>
                </a:solidFill>
              </a:rPr>
              <a:t>64-bit int variable - it will add 4 * number</a:t>
            </a:r>
          </a:p>
          <a:p>
            <a:r>
              <a:rPr lang="en-US" b="1" dirty="0">
                <a:solidFill>
                  <a:schemeClr val="accent3"/>
                </a:solidFill>
              </a:rPr>
              <a:t>Example</a:t>
            </a:r>
            <a:endParaRPr lang="en-IN" b="1" dirty="0">
              <a:solidFill>
                <a:schemeClr val="accent3"/>
              </a:solidFill>
            </a:endParaRPr>
          </a:p>
        </p:txBody>
      </p:sp>
      <p:sp>
        <p:nvSpPr>
          <p:cNvPr id="9" name="TextBox 8">
            <a:extLst>
              <a:ext uri="{FF2B5EF4-FFF2-40B4-BE49-F238E27FC236}">
                <a16:creationId xmlns:a16="http://schemas.microsoft.com/office/drawing/2014/main" id="{ADD0A1DF-FBD7-111E-F75B-4D91E916E57B}"/>
              </a:ext>
            </a:extLst>
          </p:cNvPr>
          <p:cNvSpPr txBox="1"/>
          <p:nvPr/>
        </p:nvSpPr>
        <p:spPr>
          <a:xfrm>
            <a:off x="2402160" y="4259076"/>
            <a:ext cx="5032310" cy="523220"/>
          </a:xfrm>
          <a:prstGeom prst="rect">
            <a:avLst/>
          </a:prstGeom>
          <a:noFill/>
        </p:spPr>
        <p:txBody>
          <a:bodyPr wrap="square">
            <a:spAutoFit/>
          </a:bodyPr>
          <a:lstStyle/>
          <a:p>
            <a:r>
              <a:rPr lang="en-US" dirty="0">
                <a:solidFill>
                  <a:schemeClr val="accent1"/>
                </a:solidFill>
              </a:rPr>
              <a:t>Address of p variable is </a:t>
            </a:r>
            <a:r>
              <a:rPr lang="en-US" b="1" dirty="0">
                <a:solidFill>
                  <a:schemeClr val="accent5"/>
                </a:solidFill>
              </a:rPr>
              <a:t>3214864</a:t>
            </a:r>
            <a:r>
              <a:rPr lang="en-US" b="1" dirty="0">
                <a:solidFill>
                  <a:schemeClr val="accent2"/>
                </a:solidFill>
              </a:rPr>
              <a:t>300</a:t>
            </a:r>
            <a:r>
              <a:rPr lang="en-US" b="1" dirty="0">
                <a:solidFill>
                  <a:schemeClr val="accent5"/>
                </a:solidFill>
              </a:rPr>
              <a:t> </a:t>
            </a:r>
          </a:p>
          <a:p>
            <a:r>
              <a:rPr lang="en-US" dirty="0">
                <a:solidFill>
                  <a:schemeClr val="accent1"/>
                </a:solidFill>
              </a:rPr>
              <a:t>After adding 3: Address of p variable is </a:t>
            </a:r>
            <a:r>
              <a:rPr lang="en-US" b="1" dirty="0">
                <a:solidFill>
                  <a:schemeClr val="accent5"/>
                </a:solidFill>
              </a:rPr>
              <a:t>3214864</a:t>
            </a:r>
            <a:r>
              <a:rPr lang="en-US" b="1" dirty="0">
                <a:solidFill>
                  <a:schemeClr val="accent2"/>
                </a:solidFill>
              </a:rPr>
              <a:t>312</a:t>
            </a:r>
            <a:r>
              <a:rPr lang="en-US" b="1" dirty="0">
                <a:solidFill>
                  <a:schemeClr val="accent5"/>
                </a:solidFill>
              </a:rPr>
              <a:t> </a:t>
            </a:r>
          </a:p>
        </p:txBody>
      </p:sp>
      <p:sp>
        <p:nvSpPr>
          <p:cNvPr id="6" name="TextBox 5">
            <a:extLst>
              <a:ext uri="{FF2B5EF4-FFF2-40B4-BE49-F238E27FC236}">
                <a16:creationId xmlns:a16="http://schemas.microsoft.com/office/drawing/2014/main" id="{446C1551-906F-12A0-84A3-7880EA6396A9}"/>
              </a:ext>
            </a:extLst>
          </p:cNvPr>
          <p:cNvSpPr txBox="1"/>
          <p:nvPr/>
        </p:nvSpPr>
        <p:spPr>
          <a:xfrm>
            <a:off x="851217" y="1634846"/>
            <a:ext cx="5287616" cy="2462213"/>
          </a:xfrm>
          <a:prstGeom prst="rect">
            <a:avLst/>
          </a:prstGeom>
          <a:noFill/>
        </p:spPr>
        <p:txBody>
          <a:bodyPr wrap="square">
            <a:spAutoFit/>
          </a:bodyPr>
          <a:lstStyle/>
          <a:p>
            <a:r>
              <a:rPr lang="en-IN" dirty="0">
                <a:solidFill>
                  <a:schemeClr val="tx1"/>
                </a:solidFill>
              </a:rPr>
              <a:t>#include&lt;stdio.h&gt;  </a:t>
            </a:r>
          </a:p>
          <a:p>
            <a:r>
              <a:rPr lang="en-IN" dirty="0">
                <a:solidFill>
                  <a:schemeClr val="tx1"/>
                </a:solidFill>
              </a:rPr>
              <a:t>int main()</a:t>
            </a:r>
          </a:p>
          <a:p>
            <a:r>
              <a:rPr lang="en-IN" dirty="0">
                <a:solidFill>
                  <a:schemeClr val="tx1"/>
                </a:solidFill>
              </a:rPr>
              <a:t>{  </a:t>
            </a:r>
          </a:p>
          <a:p>
            <a:r>
              <a:rPr lang="en-IN" dirty="0">
                <a:solidFill>
                  <a:schemeClr val="tx1"/>
                </a:solidFill>
              </a:rPr>
              <a:t> int number=50;        </a:t>
            </a:r>
          </a:p>
          <a:p>
            <a:r>
              <a:rPr lang="en-IN" dirty="0">
                <a:solidFill>
                  <a:schemeClr val="tx1"/>
                </a:solidFill>
              </a:rPr>
              <a:t> int *p;       </a:t>
            </a:r>
          </a:p>
          <a:p>
            <a:r>
              <a:rPr lang="en-IN" dirty="0">
                <a:solidFill>
                  <a:schemeClr val="tx1"/>
                </a:solidFill>
              </a:rPr>
              <a:t> p=&amp;number;         </a:t>
            </a:r>
          </a:p>
          <a:p>
            <a:r>
              <a:rPr lang="en-IN" dirty="0">
                <a:solidFill>
                  <a:schemeClr val="tx1"/>
                </a:solidFill>
              </a:rPr>
              <a:t> </a:t>
            </a:r>
            <a:r>
              <a:rPr lang="en-IN" dirty="0" err="1">
                <a:solidFill>
                  <a:schemeClr val="tx1"/>
                </a:solidFill>
              </a:rPr>
              <a:t>printf</a:t>
            </a:r>
            <a:r>
              <a:rPr lang="en-IN" dirty="0">
                <a:solidFill>
                  <a:schemeClr val="tx1"/>
                </a:solidFill>
              </a:rPr>
              <a:t>("Address of p variable is %u \</a:t>
            </a:r>
            <a:r>
              <a:rPr lang="en-IN" dirty="0" err="1">
                <a:solidFill>
                  <a:schemeClr val="tx1"/>
                </a:solidFill>
              </a:rPr>
              <a:t>n",p</a:t>
            </a:r>
            <a:r>
              <a:rPr lang="en-IN" dirty="0">
                <a:solidFill>
                  <a:schemeClr val="tx1"/>
                </a:solidFill>
              </a:rPr>
              <a:t>);        </a:t>
            </a:r>
          </a:p>
          <a:p>
            <a:r>
              <a:rPr lang="en-IN" dirty="0">
                <a:solidFill>
                  <a:schemeClr val="tx1"/>
                </a:solidFill>
              </a:rPr>
              <a:t> p=p+3;        </a:t>
            </a:r>
          </a:p>
          <a:p>
            <a:r>
              <a:rPr lang="en-IN" dirty="0">
                <a:solidFill>
                  <a:schemeClr val="tx1"/>
                </a:solidFill>
              </a:rPr>
              <a:t> </a:t>
            </a:r>
            <a:r>
              <a:rPr lang="en-IN" dirty="0" err="1">
                <a:solidFill>
                  <a:schemeClr val="tx1"/>
                </a:solidFill>
              </a:rPr>
              <a:t>printf</a:t>
            </a:r>
            <a:r>
              <a:rPr lang="en-IN" dirty="0">
                <a:solidFill>
                  <a:schemeClr val="tx1"/>
                </a:solidFill>
              </a:rPr>
              <a:t>("After adding 3: Address of p variable is %u \</a:t>
            </a:r>
            <a:r>
              <a:rPr lang="en-IN" dirty="0" err="1">
                <a:solidFill>
                  <a:schemeClr val="tx1"/>
                </a:solidFill>
              </a:rPr>
              <a:t>n",p</a:t>
            </a:r>
            <a:r>
              <a:rPr lang="en-IN" dirty="0">
                <a:solidFill>
                  <a:schemeClr val="tx1"/>
                </a:solidFill>
              </a:rPr>
              <a:t>);       </a:t>
            </a:r>
          </a:p>
          <a:p>
            <a:r>
              <a:rPr lang="en-IN" dirty="0">
                <a:solidFill>
                  <a:schemeClr val="tx1"/>
                </a:solidFill>
              </a:rPr>
              <a:t> return 0;  </a:t>
            </a:r>
          </a:p>
          <a:p>
            <a:r>
              <a:rPr lang="en-IN" dirty="0">
                <a:solidFill>
                  <a:schemeClr val="tx1"/>
                </a:solidFill>
              </a:rPr>
              <a:t>}</a:t>
            </a:r>
          </a:p>
        </p:txBody>
      </p:sp>
    </p:spTree>
    <p:extLst>
      <p:ext uri="{BB962C8B-B14F-4D97-AF65-F5344CB8AC3E}">
        <p14:creationId xmlns:p14="http://schemas.microsoft.com/office/powerpoint/2010/main" val="2128992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Pointer Subtraction (-) Expression</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
        <p:nvSpPr>
          <p:cNvPr id="8" name="TextBox 7">
            <a:extLst>
              <a:ext uri="{FF2B5EF4-FFF2-40B4-BE49-F238E27FC236}">
                <a16:creationId xmlns:a16="http://schemas.microsoft.com/office/drawing/2014/main" id="{D80A661D-BC12-74CD-A430-7DEB9D733A47}"/>
              </a:ext>
            </a:extLst>
          </p:cNvPr>
          <p:cNvSpPr txBox="1"/>
          <p:nvPr/>
        </p:nvSpPr>
        <p:spPr>
          <a:xfrm>
            <a:off x="2143742" y="3943170"/>
            <a:ext cx="1239113" cy="307777"/>
          </a:xfrm>
          <a:prstGeom prst="rect">
            <a:avLst/>
          </a:prstGeom>
          <a:noFill/>
        </p:spPr>
        <p:txBody>
          <a:bodyPr wrap="square">
            <a:spAutoFit/>
          </a:bodyPr>
          <a:lstStyle/>
          <a:p>
            <a:r>
              <a:rPr lang="en-IN" sz="1400" b="1" dirty="0">
                <a:solidFill>
                  <a:srgbClr val="FFFF00"/>
                </a:solidFill>
              </a:rPr>
              <a:t>Output</a:t>
            </a:r>
            <a:endParaRPr lang="en-IN" b="1" dirty="0">
              <a:solidFill>
                <a:srgbClr val="FFFF00"/>
              </a:solidFill>
            </a:endParaRPr>
          </a:p>
        </p:txBody>
      </p:sp>
      <p:sp>
        <p:nvSpPr>
          <p:cNvPr id="5" name="TextBox 4">
            <a:extLst>
              <a:ext uri="{FF2B5EF4-FFF2-40B4-BE49-F238E27FC236}">
                <a16:creationId xmlns:a16="http://schemas.microsoft.com/office/drawing/2014/main" id="{5317188E-FAA1-19A1-6834-AB27EFA605AE}"/>
              </a:ext>
            </a:extLst>
          </p:cNvPr>
          <p:cNvSpPr txBox="1"/>
          <p:nvPr/>
        </p:nvSpPr>
        <p:spPr>
          <a:xfrm>
            <a:off x="406248" y="734165"/>
            <a:ext cx="5508355" cy="954107"/>
          </a:xfrm>
          <a:prstGeom prst="rect">
            <a:avLst/>
          </a:prstGeom>
          <a:noFill/>
        </p:spPr>
        <p:txBody>
          <a:bodyPr wrap="square">
            <a:spAutoFit/>
          </a:bodyPr>
          <a:lstStyle/>
          <a:p>
            <a:r>
              <a:rPr lang="en-US" dirty="0" err="1">
                <a:solidFill>
                  <a:schemeClr val="tx1"/>
                </a:solidFill>
              </a:rPr>
              <a:t>new_address</a:t>
            </a:r>
            <a:r>
              <a:rPr lang="en-US" dirty="0">
                <a:solidFill>
                  <a:schemeClr val="tx1"/>
                </a:solidFill>
              </a:rPr>
              <a:t>= </a:t>
            </a:r>
            <a:r>
              <a:rPr lang="en-US" dirty="0" err="1">
                <a:solidFill>
                  <a:schemeClr val="tx1"/>
                </a:solidFill>
              </a:rPr>
              <a:t>current_address</a:t>
            </a:r>
            <a:r>
              <a:rPr lang="en-US" dirty="0">
                <a:solidFill>
                  <a:schemeClr val="tx1"/>
                </a:solidFill>
              </a:rPr>
              <a:t> - (number * </a:t>
            </a:r>
            <a:r>
              <a:rPr lang="en-US" dirty="0" err="1">
                <a:solidFill>
                  <a:schemeClr val="tx1"/>
                </a:solidFill>
              </a:rPr>
              <a:t>size_of</a:t>
            </a:r>
            <a:r>
              <a:rPr lang="en-US" dirty="0">
                <a:solidFill>
                  <a:schemeClr val="tx1"/>
                </a:solidFill>
              </a:rPr>
              <a:t>(data type)) </a:t>
            </a:r>
          </a:p>
          <a:p>
            <a:r>
              <a:rPr lang="en-US" dirty="0">
                <a:solidFill>
                  <a:srgbClr val="FFFF00"/>
                </a:solidFill>
              </a:rPr>
              <a:t>32-bit int variable - it will subtract 2 * number</a:t>
            </a:r>
          </a:p>
          <a:p>
            <a:r>
              <a:rPr lang="en-US" dirty="0">
                <a:solidFill>
                  <a:srgbClr val="FFFF00"/>
                </a:solidFill>
              </a:rPr>
              <a:t>64-bit int variable - it will subtract 4 * number</a:t>
            </a:r>
          </a:p>
          <a:p>
            <a:r>
              <a:rPr lang="en-US" b="1" dirty="0">
                <a:solidFill>
                  <a:schemeClr val="accent3"/>
                </a:solidFill>
              </a:rPr>
              <a:t>Example</a:t>
            </a:r>
            <a:endParaRPr lang="en-IN" b="1" dirty="0">
              <a:solidFill>
                <a:schemeClr val="accent3"/>
              </a:solidFill>
            </a:endParaRPr>
          </a:p>
        </p:txBody>
      </p:sp>
      <p:sp>
        <p:nvSpPr>
          <p:cNvPr id="9" name="TextBox 8">
            <a:extLst>
              <a:ext uri="{FF2B5EF4-FFF2-40B4-BE49-F238E27FC236}">
                <a16:creationId xmlns:a16="http://schemas.microsoft.com/office/drawing/2014/main" id="{ADD0A1DF-FBD7-111E-F75B-4D91E916E57B}"/>
              </a:ext>
            </a:extLst>
          </p:cNvPr>
          <p:cNvSpPr txBox="1"/>
          <p:nvPr/>
        </p:nvSpPr>
        <p:spPr>
          <a:xfrm>
            <a:off x="1706421" y="4347231"/>
            <a:ext cx="5032310" cy="523220"/>
          </a:xfrm>
          <a:prstGeom prst="rect">
            <a:avLst/>
          </a:prstGeom>
          <a:noFill/>
        </p:spPr>
        <p:txBody>
          <a:bodyPr wrap="square">
            <a:spAutoFit/>
          </a:bodyPr>
          <a:lstStyle/>
          <a:p>
            <a:r>
              <a:rPr lang="en-US" dirty="0">
                <a:solidFill>
                  <a:schemeClr val="accent1"/>
                </a:solidFill>
              </a:rPr>
              <a:t>Address of p variable is </a:t>
            </a:r>
            <a:r>
              <a:rPr lang="en-US" b="1" dirty="0">
                <a:solidFill>
                  <a:srgbClr val="FFFF00"/>
                </a:solidFill>
              </a:rPr>
              <a:t>3214864</a:t>
            </a:r>
            <a:r>
              <a:rPr lang="en-US" b="1" dirty="0">
                <a:solidFill>
                  <a:schemeClr val="accent2"/>
                </a:solidFill>
              </a:rPr>
              <a:t>300</a:t>
            </a:r>
            <a:r>
              <a:rPr lang="en-US" dirty="0">
                <a:solidFill>
                  <a:schemeClr val="accent1"/>
                </a:solidFill>
              </a:rPr>
              <a:t> </a:t>
            </a:r>
          </a:p>
          <a:p>
            <a:r>
              <a:rPr lang="en-US" dirty="0">
                <a:solidFill>
                  <a:schemeClr val="accent1"/>
                </a:solidFill>
              </a:rPr>
              <a:t>After subtracting 3: Address of p variable is </a:t>
            </a:r>
            <a:r>
              <a:rPr lang="en-US" b="1" dirty="0">
                <a:solidFill>
                  <a:srgbClr val="FFFF00"/>
                </a:solidFill>
              </a:rPr>
              <a:t>3214864</a:t>
            </a:r>
            <a:r>
              <a:rPr lang="en-US" b="1" dirty="0">
                <a:solidFill>
                  <a:schemeClr val="accent2"/>
                </a:solidFill>
              </a:rPr>
              <a:t>288</a:t>
            </a:r>
            <a:r>
              <a:rPr lang="en-US" dirty="0">
                <a:solidFill>
                  <a:schemeClr val="accent1"/>
                </a:solidFill>
              </a:rPr>
              <a:t> </a:t>
            </a:r>
            <a:endParaRPr lang="en-US" b="1" dirty="0">
              <a:solidFill>
                <a:schemeClr val="accent5"/>
              </a:solidFill>
            </a:endParaRPr>
          </a:p>
        </p:txBody>
      </p:sp>
      <p:sp>
        <p:nvSpPr>
          <p:cNvPr id="6" name="TextBox 5">
            <a:extLst>
              <a:ext uri="{FF2B5EF4-FFF2-40B4-BE49-F238E27FC236}">
                <a16:creationId xmlns:a16="http://schemas.microsoft.com/office/drawing/2014/main" id="{446C1551-906F-12A0-84A3-7880EA6396A9}"/>
              </a:ext>
            </a:extLst>
          </p:cNvPr>
          <p:cNvSpPr txBox="1"/>
          <p:nvPr/>
        </p:nvSpPr>
        <p:spPr>
          <a:xfrm>
            <a:off x="851217" y="1634846"/>
            <a:ext cx="5287616" cy="2462213"/>
          </a:xfrm>
          <a:prstGeom prst="rect">
            <a:avLst/>
          </a:prstGeom>
          <a:noFill/>
        </p:spPr>
        <p:txBody>
          <a:bodyPr wrap="square">
            <a:spAutoFit/>
          </a:bodyPr>
          <a:lstStyle/>
          <a:p>
            <a:r>
              <a:rPr lang="en-IN" dirty="0">
                <a:solidFill>
                  <a:schemeClr val="tx1"/>
                </a:solidFill>
              </a:rPr>
              <a:t>#include&lt;stdio.h&gt;  </a:t>
            </a:r>
          </a:p>
          <a:p>
            <a:r>
              <a:rPr lang="en-IN" dirty="0">
                <a:solidFill>
                  <a:schemeClr val="tx1"/>
                </a:solidFill>
              </a:rPr>
              <a:t>int main()</a:t>
            </a:r>
          </a:p>
          <a:p>
            <a:r>
              <a:rPr lang="en-IN" dirty="0">
                <a:solidFill>
                  <a:schemeClr val="tx1"/>
                </a:solidFill>
              </a:rPr>
              <a:t>{  </a:t>
            </a:r>
          </a:p>
          <a:p>
            <a:r>
              <a:rPr lang="en-IN" dirty="0">
                <a:solidFill>
                  <a:schemeClr val="tx1"/>
                </a:solidFill>
              </a:rPr>
              <a:t>int number=50;        </a:t>
            </a:r>
          </a:p>
          <a:p>
            <a:r>
              <a:rPr lang="en-IN" dirty="0">
                <a:solidFill>
                  <a:schemeClr val="tx1"/>
                </a:solidFill>
              </a:rPr>
              <a:t>int *p; </a:t>
            </a:r>
          </a:p>
          <a:p>
            <a:r>
              <a:rPr lang="en-IN" dirty="0">
                <a:solidFill>
                  <a:schemeClr val="tx1"/>
                </a:solidFill>
              </a:rPr>
              <a:t>p=&amp;number;  </a:t>
            </a:r>
          </a:p>
          <a:p>
            <a:r>
              <a:rPr lang="en-IN" dirty="0" err="1">
                <a:solidFill>
                  <a:schemeClr val="tx1"/>
                </a:solidFill>
              </a:rPr>
              <a:t>printf</a:t>
            </a:r>
            <a:r>
              <a:rPr lang="en-IN" dirty="0">
                <a:solidFill>
                  <a:schemeClr val="tx1"/>
                </a:solidFill>
              </a:rPr>
              <a:t>("Address of p variable is %u \</a:t>
            </a:r>
            <a:r>
              <a:rPr lang="en-IN" dirty="0" err="1">
                <a:solidFill>
                  <a:schemeClr val="tx1"/>
                </a:solidFill>
              </a:rPr>
              <a:t>n",p</a:t>
            </a:r>
            <a:r>
              <a:rPr lang="en-IN" dirty="0">
                <a:solidFill>
                  <a:schemeClr val="tx1"/>
                </a:solidFill>
              </a:rPr>
              <a:t>);        </a:t>
            </a:r>
          </a:p>
          <a:p>
            <a:r>
              <a:rPr lang="en-IN" dirty="0">
                <a:solidFill>
                  <a:schemeClr val="tx1"/>
                </a:solidFill>
              </a:rPr>
              <a:t>p=p-3;  </a:t>
            </a:r>
          </a:p>
          <a:p>
            <a:r>
              <a:rPr lang="en-IN" dirty="0" err="1">
                <a:solidFill>
                  <a:schemeClr val="tx1"/>
                </a:solidFill>
              </a:rPr>
              <a:t>printf</a:t>
            </a:r>
            <a:r>
              <a:rPr lang="en-IN" dirty="0">
                <a:solidFill>
                  <a:schemeClr val="tx1"/>
                </a:solidFill>
              </a:rPr>
              <a:t>("After subtracting 3: Address of p variable is %u \</a:t>
            </a:r>
            <a:r>
              <a:rPr lang="en-IN" dirty="0" err="1">
                <a:solidFill>
                  <a:schemeClr val="tx1"/>
                </a:solidFill>
              </a:rPr>
              <a:t>n",p</a:t>
            </a:r>
            <a:r>
              <a:rPr lang="en-IN" dirty="0">
                <a:solidFill>
                  <a:schemeClr val="tx1"/>
                </a:solidFill>
              </a:rPr>
              <a:t>);        </a:t>
            </a:r>
          </a:p>
          <a:p>
            <a:r>
              <a:rPr lang="en-IN" dirty="0">
                <a:solidFill>
                  <a:schemeClr val="tx1"/>
                </a:solidFill>
              </a:rPr>
              <a:t>return 0;  </a:t>
            </a:r>
          </a:p>
          <a:p>
            <a:r>
              <a:rPr lang="en-IN" dirty="0">
                <a:solidFill>
                  <a:schemeClr val="tx1"/>
                </a:solidFill>
              </a:rPr>
              <a:t>}</a:t>
            </a:r>
          </a:p>
        </p:txBody>
      </p:sp>
    </p:spTree>
    <p:extLst>
      <p:ext uri="{BB962C8B-B14F-4D97-AF65-F5344CB8AC3E}">
        <p14:creationId xmlns:p14="http://schemas.microsoft.com/office/powerpoint/2010/main" val="3328816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Illegal Arithmetic with Pointers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
        <p:nvSpPr>
          <p:cNvPr id="5" name="TextBox 4">
            <a:extLst>
              <a:ext uri="{FF2B5EF4-FFF2-40B4-BE49-F238E27FC236}">
                <a16:creationId xmlns:a16="http://schemas.microsoft.com/office/drawing/2014/main" id="{5317188E-FAA1-19A1-6834-AB27EFA605AE}"/>
              </a:ext>
            </a:extLst>
          </p:cNvPr>
          <p:cNvSpPr txBox="1"/>
          <p:nvPr/>
        </p:nvSpPr>
        <p:spPr>
          <a:xfrm>
            <a:off x="406248" y="734165"/>
            <a:ext cx="8469395" cy="738664"/>
          </a:xfrm>
          <a:prstGeom prst="rect">
            <a:avLst/>
          </a:prstGeom>
          <a:noFill/>
        </p:spPr>
        <p:txBody>
          <a:bodyPr wrap="square">
            <a:spAutoFit/>
          </a:bodyPr>
          <a:lstStyle/>
          <a:p>
            <a:pPr algn="just"/>
            <a:r>
              <a:rPr lang="en-US" dirty="0">
                <a:solidFill>
                  <a:schemeClr val="tx1"/>
                </a:solidFill>
              </a:rPr>
              <a:t>There are various operations which can not be performed on pointers. Since, pointer stores address hence users must ignore the operations which may lead to an illegal address, for example, addition, and multiplication. A list of such operations is given below</a:t>
            </a:r>
            <a:endParaRPr lang="en-IN" b="1" dirty="0">
              <a:solidFill>
                <a:schemeClr val="accent3"/>
              </a:solidFill>
            </a:endParaRPr>
          </a:p>
        </p:txBody>
      </p:sp>
      <p:pic>
        <p:nvPicPr>
          <p:cNvPr id="7" name="Picture 6">
            <a:extLst>
              <a:ext uri="{FF2B5EF4-FFF2-40B4-BE49-F238E27FC236}">
                <a16:creationId xmlns:a16="http://schemas.microsoft.com/office/drawing/2014/main" id="{4B73A4B4-C705-EFE8-B2EF-B82D08D0A24D}"/>
              </a:ext>
            </a:extLst>
          </p:cNvPr>
          <p:cNvPicPr>
            <a:picLocks noChangeAspect="1"/>
          </p:cNvPicPr>
          <p:nvPr/>
        </p:nvPicPr>
        <p:blipFill>
          <a:blip r:embed="rId2"/>
          <a:stretch>
            <a:fillRect/>
          </a:stretch>
        </p:blipFill>
        <p:spPr>
          <a:xfrm>
            <a:off x="2730775" y="1701939"/>
            <a:ext cx="2715867" cy="3168512"/>
          </a:xfrm>
          <a:prstGeom prst="rect">
            <a:avLst/>
          </a:prstGeom>
        </p:spPr>
      </p:pic>
    </p:spTree>
    <p:extLst>
      <p:ext uri="{BB962C8B-B14F-4D97-AF65-F5344CB8AC3E}">
        <p14:creationId xmlns:p14="http://schemas.microsoft.com/office/powerpoint/2010/main" val="1427752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Comparison</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
        <p:nvSpPr>
          <p:cNvPr id="5" name="TextBox 4">
            <a:extLst>
              <a:ext uri="{FF2B5EF4-FFF2-40B4-BE49-F238E27FC236}">
                <a16:creationId xmlns:a16="http://schemas.microsoft.com/office/drawing/2014/main" id="{5317188E-FAA1-19A1-6834-AB27EFA605AE}"/>
              </a:ext>
            </a:extLst>
          </p:cNvPr>
          <p:cNvSpPr txBox="1"/>
          <p:nvPr/>
        </p:nvSpPr>
        <p:spPr>
          <a:xfrm>
            <a:off x="406248" y="461534"/>
            <a:ext cx="8469395" cy="523220"/>
          </a:xfrm>
          <a:prstGeom prst="rect">
            <a:avLst/>
          </a:prstGeom>
          <a:noFill/>
        </p:spPr>
        <p:txBody>
          <a:bodyPr wrap="square">
            <a:spAutoFit/>
          </a:bodyPr>
          <a:lstStyle/>
          <a:p>
            <a:pPr algn="just"/>
            <a:r>
              <a:rPr lang="en-US" dirty="0">
                <a:solidFill>
                  <a:schemeClr val="tx1"/>
                </a:solidFill>
              </a:rPr>
              <a:t>Pointer values can be compared with one another.</a:t>
            </a:r>
          </a:p>
          <a:p>
            <a:pPr algn="just"/>
            <a:r>
              <a:rPr lang="en-US" dirty="0">
                <a:solidFill>
                  <a:schemeClr val="tx1"/>
                </a:solidFill>
              </a:rPr>
              <a:t>Example an Integer based comparison is done.</a:t>
            </a:r>
            <a:endParaRPr lang="en-IN" dirty="0">
              <a:solidFill>
                <a:schemeClr val="accent3"/>
              </a:solidFill>
            </a:endParaRPr>
          </a:p>
        </p:txBody>
      </p:sp>
      <p:sp>
        <p:nvSpPr>
          <p:cNvPr id="6" name="TextBox 5">
            <a:extLst>
              <a:ext uri="{FF2B5EF4-FFF2-40B4-BE49-F238E27FC236}">
                <a16:creationId xmlns:a16="http://schemas.microsoft.com/office/drawing/2014/main" id="{1009E5ED-EE69-7A96-574B-70ADF8DE1DF8}"/>
              </a:ext>
            </a:extLst>
          </p:cNvPr>
          <p:cNvSpPr txBox="1"/>
          <p:nvPr/>
        </p:nvSpPr>
        <p:spPr>
          <a:xfrm>
            <a:off x="674604" y="1023244"/>
            <a:ext cx="4803745" cy="3539430"/>
          </a:xfrm>
          <a:prstGeom prst="rect">
            <a:avLst/>
          </a:prstGeom>
          <a:noFill/>
        </p:spPr>
        <p:txBody>
          <a:bodyPr wrap="square">
            <a:spAutoFit/>
          </a:bodyPr>
          <a:lstStyle/>
          <a:p>
            <a:r>
              <a:rPr lang="en-IN" dirty="0">
                <a:solidFill>
                  <a:srgbClr val="FFFF00"/>
                </a:solidFill>
              </a:rPr>
              <a:t>#include &lt;</a:t>
            </a:r>
            <a:r>
              <a:rPr lang="en-IN" dirty="0" err="1">
                <a:solidFill>
                  <a:srgbClr val="FFFF00"/>
                </a:solidFill>
              </a:rPr>
              <a:t>stdio.h</a:t>
            </a:r>
            <a:r>
              <a:rPr lang="en-IN" dirty="0">
                <a:solidFill>
                  <a:srgbClr val="FFFF00"/>
                </a:solidFill>
              </a:rPr>
              <a:t>&gt;</a:t>
            </a:r>
          </a:p>
          <a:p>
            <a:r>
              <a:rPr lang="en-IN" dirty="0">
                <a:solidFill>
                  <a:srgbClr val="FFFF00"/>
                </a:solidFill>
              </a:rPr>
              <a:t>int main()</a:t>
            </a:r>
          </a:p>
          <a:p>
            <a:r>
              <a:rPr lang="en-IN" dirty="0">
                <a:solidFill>
                  <a:srgbClr val="FFFF00"/>
                </a:solidFill>
              </a:rPr>
              <a:t>{</a:t>
            </a:r>
          </a:p>
          <a:p>
            <a:r>
              <a:rPr lang="en-IN" dirty="0">
                <a:solidFill>
                  <a:srgbClr val="FFFF00"/>
                </a:solidFill>
              </a:rPr>
              <a:t>	int </a:t>
            </a:r>
            <a:r>
              <a:rPr lang="en-IN" dirty="0" err="1">
                <a:solidFill>
                  <a:srgbClr val="FFFF00"/>
                </a:solidFill>
              </a:rPr>
              <a:t>a,b</a:t>
            </a:r>
            <a:r>
              <a:rPr lang="en-IN" dirty="0">
                <a:solidFill>
                  <a:srgbClr val="FFFF00"/>
                </a:solidFill>
              </a:rPr>
              <a:t>;</a:t>
            </a:r>
          </a:p>
          <a:p>
            <a:r>
              <a:rPr lang="en-IN" dirty="0">
                <a:solidFill>
                  <a:srgbClr val="FFFF00"/>
                </a:solidFill>
              </a:rPr>
              <a:t>	int *pa,*pb;</a:t>
            </a:r>
          </a:p>
          <a:p>
            <a:r>
              <a:rPr lang="en-IN" dirty="0">
                <a:solidFill>
                  <a:srgbClr val="FFFF00"/>
                </a:solidFill>
              </a:rPr>
              <a:t>	pa=&amp;a; pb=&amp;b;</a:t>
            </a:r>
          </a:p>
          <a:p>
            <a:r>
              <a:rPr lang="en-IN" dirty="0">
                <a:solidFill>
                  <a:srgbClr val="FFFF00"/>
                </a:solidFill>
              </a:rPr>
              <a:t>	</a:t>
            </a:r>
            <a:r>
              <a:rPr lang="en-IN" dirty="0" err="1">
                <a:solidFill>
                  <a:srgbClr val="FFFF00"/>
                </a:solidFill>
              </a:rPr>
              <a:t>printf</a:t>
            </a:r>
            <a:r>
              <a:rPr lang="en-IN" dirty="0">
                <a:solidFill>
                  <a:srgbClr val="FFFF00"/>
                </a:solidFill>
              </a:rPr>
              <a:t>("Enter first integer: ");</a:t>
            </a:r>
          </a:p>
          <a:p>
            <a:r>
              <a:rPr lang="en-IN" dirty="0">
                <a:solidFill>
                  <a:srgbClr val="FFFF00"/>
                </a:solidFill>
              </a:rPr>
              <a:t>	</a:t>
            </a:r>
            <a:r>
              <a:rPr lang="en-IN" dirty="0" err="1">
                <a:solidFill>
                  <a:srgbClr val="FFFF00"/>
                </a:solidFill>
              </a:rPr>
              <a:t>scanf</a:t>
            </a:r>
            <a:r>
              <a:rPr lang="en-IN" dirty="0">
                <a:solidFill>
                  <a:srgbClr val="FFFF00"/>
                </a:solidFill>
              </a:rPr>
              <a:t>("%</a:t>
            </a:r>
            <a:r>
              <a:rPr lang="en-IN" dirty="0" err="1">
                <a:solidFill>
                  <a:srgbClr val="FFFF00"/>
                </a:solidFill>
              </a:rPr>
              <a:t>d",pa</a:t>
            </a:r>
            <a:r>
              <a:rPr lang="en-IN" dirty="0">
                <a:solidFill>
                  <a:srgbClr val="FFFF00"/>
                </a:solidFill>
              </a:rPr>
              <a:t>);</a:t>
            </a:r>
          </a:p>
          <a:p>
            <a:r>
              <a:rPr lang="en-IN" dirty="0">
                <a:solidFill>
                  <a:srgbClr val="FFFF00"/>
                </a:solidFill>
              </a:rPr>
              <a:t>	</a:t>
            </a:r>
            <a:r>
              <a:rPr lang="en-IN" dirty="0" err="1">
                <a:solidFill>
                  <a:srgbClr val="FFFF00"/>
                </a:solidFill>
              </a:rPr>
              <a:t>printf</a:t>
            </a:r>
            <a:r>
              <a:rPr lang="en-IN" dirty="0">
                <a:solidFill>
                  <a:srgbClr val="FFFF00"/>
                </a:solidFill>
              </a:rPr>
              <a:t>("Enter second integer: ");</a:t>
            </a:r>
          </a:p>
          <a:p>
            <a:r>
              <a:rPr lang="en-IN" dirty="0">
                <a:solidFill>
                  <a:srgbClr val="FFFF00"/>
                </a:solidFill>
              </a:rPr>
              <a:t>	</a:t>
            </a:r>
            <a:r>
              <a:rPr lang="en-IN" dirty="0" err="1">
                <a:solidFill>
                  <a:srgbClr val="FFFF00"/>
                </a:solidFill>
              </a:rPr>
              <a:t>scanf</a:t>
            </a:r>
            <a:r>
              <a:rPr lang="en-IN" dirty="0">
                <a:solidFill>
                  <a:srgbClr val="FFFF00"/>
                </a:solidFill>
              </a:rPr>
              <a:t>("%</a:t>
            </a:r>
            <a:r>
              <a:rPr lang="en-IN" dirty="0" err="1">
                <a:solidFill>
                  <a:srgbClr val="FFFF00"/>
                </a:solidFill>
              </a:rPr>
              <a:t>d",pb</a:t>
            </a:r>
            <a:r>
              <a:rPr lang="en-IN" dirty="0">
                <a:solidFill>
                  <a:srgbClr val="FFFF00"/>
                </a:solidFill>
              </a:rPr>
              <a:t>);</a:t>
            </a:r>
          </a:p>
          <a:p>
            <a:r>
              <a:rPr lang="en-IN" dirty="0">
                <a:solidFill>
                  <a:srgbClr val="FFFF00"/>
                </a:solidFill>
              </a:rPr>
              <a:t>	if(*pa==*pb)</a:t>
            </a:r>
          </a:p>
          <a:p>
            <a:r>
              <a:rPr lang="en-IN" dirty="0">
                <a:solidFill>
                  <a:srgbClr val="FFFF00"/>
                </a:solidFill>
              </a:rPr>
              <a:t>		</a:t>
            </a:r>
            <a:r>
              <a:rPr lang="en-IN" dirty="0" err="1">
                <a:solidFill>
                  <a:srgbClr val="FFFF00"/>
                </a:solidFill>
              </a:rPr>
              <a:t>printf</a:t>
            </a:r>
            <a:r>
              <a:rPr lang="en-IN" dirty="0">
                <a:solidFill>
                  <a:srgbClr val="FFFF00"/>
                </a:solidFill>
              </a:rPr>
              <a:t>("Integers are equal.\n");</a:t>
            </a:r>
          </a:p>
          <a:p>
            <a:r>
              <a:rPr lang="en-IN" dirty="0">
                <a:solidFill>
                  <a:srgbClr val="FFFF00"/>
                </a:solidFill>
              </a:rPr>
              <a:t>	else</a:t>
            </a:r>
          </a:p>
          <a:p>
            <a:r>
              <a:rPr lang="en-IN" dirty="0">
                <a:solidFill>
                  <a:srgbClr val="FFFF00"/>
                </a:solidFill>
              </a:rPr>
              <a:t>		</a:t>
            </a:r>
            <a:r>
              <a:rPr lang="en-IN" dirty="0" err="1">
                <a:solidFill>
                  <a:srgbClr val="FFFF00"/>
                </a:solidFill>
              </a:rPr>
              <a:t>printf</a:t>
            </a:r>
            <a:r>
              <a:rPr lang="en-IN" dirty="0">
                <a:solidFill>
                  <a:srgbClr val="FFFF00"/>
                </a:solidFill>
              </a:rPr>
              <a:t>("Integers are not equal.\n");</a:t>
            </a:r>
          </a:p>
          <a:p>
            <a:r>
              <a:rPr lang="en-IN" dirty="0">
                <a:solidFill>
                  <a:srgbClr val="FFFF00"/>
                </a:solidFill>
              </a:rPr>
              <a:t>	return 0;</a:t>
            </a:r>
          </a:p>
          <a:p>
            <a:r>
              <a:rPr lang="en-IN" dirty="0">
                <a:solidFill>
                  <a:srgbClr val="FFFF00"/>
                </a:solidFill>
              </a:rPr>
              <a:t>}</a:t>
            </a:r>
          </a:p>
        </p:txBody>
      </p:sp>
      <p:sp>
        <p:nvSpPr>
          <p:cNvPr id="9" name="TextBox 8">
            <a:extLst>
              <a:ext uri="{FF2B5EF4-FFF2-40B4-BE49-F238E27FC236}">
                <a16:creationId xmlns:a16="http://schemas.microsoft.com/office/drawing/2014/main" id="{B1F90A15-9971-2D43-F555-B3FC2D2ED2FD}"/>
              </a:ext>
            </a:extLst>
          </p:cNvPr>
          <p:cNvSpPr txBox="1"/>
          <p:nvPr/>
        </p:nvSpPr>
        <p:spPr>
          <a:xfrm>
            <a:off x="5478349" y="1118473"/>
            <a:ext cx="2926035" cy="738664"/>
          </a:xfrm>
          <a:prstGeom prst="rect">
            <a:avLst/>
          </a:prstGeom>
          <a:noFill/>
        </p:spPr>
        <p:txBody>
          <a:bodyPr wrap="square">
            <a:spAutoFit/>
          </a:bodyPr>
          <a:lstStyle/>
          <a:p>
            <a:r>
              <a:rPr lang="en-IN" dirty="0">
                <a:solidFill>
                  <a:schemeClr val="tx1"/>
                </a:solidFill>
              </a:rPr>
              <a:t>Enter first integer: 100</a:t>
            </a:r>
          </a:p>
          <a:p>
            <a:r>
              <a:rPr lang="en-IN" dirty="0">
                <a:solidFill>
                  <a:schemeClr val="tx1"/>
                </a:solidFill>
              </a:rPr>
              <a:t>Enter second integer: 100 </a:t>
            </a:r>
          </a:p>
          <a:p>
            <a:r>
              <a:rPr lang="en-IN" dirty="0">
                <a:solidFill>
                  <a:schemeClr val="tx1"/>
                </a:solidFill>
              </a:rPr>
              <a:t>Integers are equal</a:t>
            </a:r>
          </a:p>
        </p:txBody>
      </p:sp>
      <p:sp>
        <p:nvSpPr>
          <p:cNvPr id="10" name="TextBox 9">
            <a:extLst>
              <a:ext uri="{FF2B5EF4-FFF2-40B4-BE49-F238E27FC236}">
                <a16:creationId xmlns:a16="http://schemas.microsoft.com/office/drawing/2014/main" id="{2699618B-5194-C3CC-2DAA-2CC54EC9722A}"/>
              </a:ext>
            </a:extLst>
          </p:cNvPr>
          <p:cNvSpPr txBox="1"/>
          <p:nvPr/>
        </p:nvSpPr>
        <p:spPr>
          <a:xfrm>
            <a:off x="5244747" y="791451"/>
            <a:ext cx="1239113" cy="307777"/>
          </a:xfrm>
          <a:prstGeom prst="rect">
            <a:avLst/>
          </a:prstGeom>
          <a:noFill/>
        </p:spPr>
        <p:txBody>
          <a:bodyPr wrap="square">
            <a:spAutoFit/>
          </a:bodyPr>
          <a:lstStyle/>
          <a:p>
            <a:r>
              <a:rPr lang="en-IN" sz="1400" b="1" dirty="0">
                <a:solidFill>
                  <a:srgbClr val="FFFF00"/>
                </a:solidFill>
              </a:rPr>
              <a:t>Output</a:t>
            </a:r>
            <a:endParaRPr lang="en-IN" b="1" dirty="0">
              <a:solidFill>
                <a:srgbClr val="FFFF00"/>
              </a:solidFill>
            </a:endParaRPr>
          </a:p>
        </p:txBody>
      </p:sp>
    </p:spTree>
    <p:extLst>
      <p:ext uri="{BB962C8B-B14F-4D97-AF65-F5344CB8AC3E}">
        <p14:creationId xmlns:p14="http://schemas.microsoft.com/office/powerpoint/2010/main" val="2634579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Dynamic Memory Allocation</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
        <p:nvSpPr>
          <p:cNvPr id="7" name="TextBox 6">
            <a:extLst>
              <a:ext uri="{FF2B5EF4-FFF2-40B4-BE49-F238E27FC236}">
                <a16:creationId xmlns:a16="http://schemas.microsoft.com/office/drawing/2014/main" id="{8E238EC2-E39A-2132-92F4-D7727BF545B0}"/>
              </a:ext>
            </a:extLst>
          </p:cNvPr>
          <p:cNvSpPr txBox="1"/>
          <p:nvPr/>
        </p:nvSpPr>
        <p:spPr>
          <a:xfrm>
            <a:off x="251813" y="352204"/>
            <a:ext cx="8152571" cy="263771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dirty="0">
                <a:solidFill>
                  <a:schemeClr val="tx1"/>
                </a:solidFill>
              </a:rPr>
              <a:t>The process of allocating memory at runtime is known as dynamic memory allocation</a:t>
            </a:r>
          </a:p>
          <a:p>
            <a:pPr marL="285750" indent="-285750" algn="just">
              <a:lnSpc>
                <a:spcPct val="150000"/>
              </a:lnSpc>
              <a:buFont typeface="Arial" panose="020B0604020202020204" pitchFamily="34" charset="0"/>
              <a:buChar char="•"/>
            </a:pPr>
            <a:r>
              <a:rPr lang="en-IN" dirty="0">
                <a:solidFill>
                  <a:schemeClr val="tx1"/>
                </a:solidFill>
              </a:rPr>
              <a:t>Dynamic Memory Allocation is manual allocation and freeing of memory according to user programming needs</a:t>
            </a:r>
          </a:p>
          <a:p>
            <a:pPr marL="285750" indent="-285750" algn="just">
              <a:lnSpc>
                <a:spcPct val="150000"/>
              </a:lnSpc>
              <a:buFont typeface="Arial" panose="020B0604020202020204" pitchFamily="34" charset="0"/>
              <a:buChar char="•"/>
            </a:pPr>
            <a:r>
              <a:rPr lang="en-US" dirty="0">
                <a:solidFill>
                  <a:schemeClr val="tx1"/>
                </a:solidFill>
              </a:rPr>
              <a:t>Dynamic memory allocation in c language is possible by 4 functions of </a:t>
            </a:r>
            <a:r>
              <a:rPr lang="en-US" b="1" dirty="0" err="1">
                <a:solidFill>
                  <a:srgbClr val="FFFF00"/>
                </a:solidFill>
              </a:rPr>
              <a:t>stdlib.h</a:t>
            </a:r>
            <a:r>
              <a:rPr lang="en-US" dirty="0">
                <a:solidFill>
                  <a:schemeClr val="tx1"/>
                </a:solidFill>
              </a:rPr>
              <a:t> header file.</a:t>
            </a:r>
          </a:p>
          <a:p>
            <a:pPr marL="285750" indent="-285750" algn="just">
              <a:lnSpc>
                <a:spcPct val="150000"/>
              </a:lnSpc>
              <a:buFont typeface="Arial" panose="020B0604020202020204" pitchFamily="34" charset="0"/>
              <a:buChar char="•"/>
            </a:pPr>
            <a:r>
              <a:rPr lang="en-US" dirty="0">
                <a:solidFill>
                  <a:schemeClr val="tx1"/>
                </a:solidFill>
              </a:rPr>
              <a:t> 	</a:t>
            </a:r>
            <a:r>
              <a:rPr lang="en-US" b="1" dirty="0">
                <a:solidFill>
                  <a:srgbClr val="FFFF00"/>
                </a:solidFill>
              </a:rPr>
              <a:t>malloc()	allocates single block of requested memory.</a:t>
            </a:r>
          </a:p>
          <a:p>
            <a:pPr marL="285750" indent="-285750" algn="just">
              <a:lnSpc>
                <a:spcPct val="150000"/>
              </a:lnSpc>
              <a:buFont typeface="Arial" panose="020B0604020202020204" pitchFamily="34" charset="0"/>
              <a:buChar char="•"/>
            </a:pPr>
            <a:r>
              <a:rPr lang="en-US" dirty="0">
                <a:solidFill>
                  <a:schemeClr val="tx1"/>
                </a:solidFill>
              </a:rPr>
              <a:t>             </a:t>
            </a:r>
            <a:r>
              <a:rPr lang="en-US" b="1" dirty="0" err="1">
                <a:solidFill>
                  <a:schemeClr val="accent3"/>
                </a:solidFill>
              </a:rPr>
              <a:t>calloc</a:t>
            </a:r>
            <a:r>
              <a:rPr lang="en-US" b="1" dirty="0">
                <a:solidFill>
                  <a:schemeClr val="accent3"/>
                </a:solidFill>
              </a:rPr>
              <a:t>()	allocates multiple block of requested memory.</a:t>
            </a:r>
          </a:p>
          <a:p>
            <a:pPr marL="285750" indent="-285750" algn="just">
              <a:lnSpc>
                <a:spcPct val="150000"/>
              </a:lnSpc>
              <a:buFont typeface="Arial" panose="020B0604020202020204" pitchFamily="34" charset="0"/>
              <a:buChar char="•"/>
            </a:pPr>
            <a:r>
              <a:rPr lang="en-US" dirty="0">
                <a:solidFill>
                  <a:schemeClr val="tx1"/>
                </a:solidFill>
              </a:rPr>
              <a:t>             </a:t>
            </a:r>
            <a:r>
              <a:rPr lang="en-US" b="1" dirty="0" err="1">
                <a:solidFill>
                  <a:schemeClr val="accent6">
                    <a:lumMod val="75000"/>
                  </a:schemeClr>
                </a:solidFill>
              </a:rPr>
              <a:t>realloc</a:t>
            </a:r>
            <a:r>
              <a:rPr lang="en-US" b="1" dirty="0">
                <a:solidFill>
                  <a:schemeClr val="accent6">
                    <a:lumMod val="75000"/>
                  </a:schemeClr>
                </a:solidFill>
              </a:rPr>
              <a:t>()	reallocates the memory occupied by malloc() or </a:t>
            </a:r>
            <a:r>
              <a:rPr lang="en-US" b="1" dirty="0" err="1">
                <a:solidFill>
                  <a:schemeClr val="accent6">
                    <a:lumMod val="75000"/>
                  </a:schemeClr>
                </a:solidFill>
              </a:rPr>
              <a:t>calloc</a:t>
            </a:r>
            <a:r>
              <a:rPr lang="en-US" b="1" dirty="0">
                <a:solidFill>
                  <a:schemeClr val="accent6">
                    <a:lumMod val="75000"/>
                  </a:schemeClr>
                </a:solidFill>
              </a:rPr>
              <a:t>() functions.</a:t>
            </a:r>
          </a:p>
          <a:p>
            <a:pPr marL="285750" indent="-285750" algn="just">
              <a:lnSpc>
                <a:spcPct val="150000"/>
              </a:lnSpc>
              <a:buFont typeface="Arial" panose="020B0604020202020204" pitchFamily="34" charset="0"/>
              <a:buChar char="•"/>
            </a:pPr>
            <a:r>
              <a:rPr lang="en-US" dirty="0">
                <a:solidFill>
                  <a:schemeClr val="tx1"/>
                </a:solidFill>
              </a:rPr>
              <a:t>             </a:t>
            </a:r>
            <a:r>
              <a:rPr lang="en-US" b="1" dirty="0">
                <a:solidFill>
                  <a:srgbClr val="00B050"/>
                </a:solidFill>
              </a:rPr>
              <a:t>free()	frees the dynamically allocated memory.</a:t>
            </a:r>
            <a:endParaRPr lang="en-IN" b="1" dirty="0">
              <a:solidFill>
                <a:srgbClr val="00B050"/>
              </a:solidFill>
            </a:endParaRPr>
          </a:p>
        </p:txBody>
      </p:sp>
    </p:spTree>
    <p:extLst>
      <p:ext uri="{BB962C8B-B14F-4D97-AF65-F5344CB8AC3E}">
        <p14:creationId xmlns:p14="http://schemas.microsoft.com/office/powerpoint/2010/main" val="2632702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malloc() </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
        <p:nvSpPr>
          <p:cNvPr id="7" name="TextBox 6">
            <a:extLst>
              <a:ext uri="{FF2B5EF4-FFF2-40B4-BE49-F238E27FC236}">
                <a16:creationId xmlns:a16="http://schemas.microsoft.com/office/drawing/2014/main" id="{8E238EC2-E39A-2132-92F4-D7727BF545B0}"/>
              </a:ext>
            </a:extLst>
          </p:cNvPr>
          <p:cNvSpPr txBox="1"/>
          <p:nvPr/>
        </p:nvSpPr>
        <p:spPr>
          <a:xfrm>
            <a:off x="495714" y="632767"/>
            <a:ext cx="8152571" cy="231454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solidFill>
                  <a:schemeClr val="tx1"/>
                </a:solidFill>
              </a:rPr>
              <a:t>“malloc” or “memory allocation” method in C is used to dynamically allocate a single large block of memory with the specified size. </a:t>
            </a:r>
          </a:p>
          <a:p>
            <a:pPr marL="285750" indent="-285750" algn="just">
              <a:lnSpc>
                <a:spcPct val="150000"/>
              </a:lnSpc>
              <a:buFont typeface="Arial" panose="020B0604020202020204" pitchFamily="34" charset="0"/>
              <a:buChar char="•"/>
            </a:pPr>
            <a:r>
              <a:rPr lang="en-US" dirty="0">
                <a:solidFill>
                  <a:schemeClr val="tx1"/>
                </a:solidFill>
              </a:rPr>
              <a:t>It returns a pointer of type void which can be cast into a pointer of any form. </a:t>
            </a:r>
          </a:p>
          <a:p>
            <a:pPr marL="285750" indent="-285750" algn="just">
              <a:lnSpc>
                <a:spcPct val="150000"/>
              </a:lnSpc>
              <a:buFont typeface="Arial" panose="020B0604020202020204" pitchFamily="34" charset="0"/>
              <a:buChar char="•"/>
            </a:pPr>
            <a:r>
              <a:rPr lang="en-US" dirty="0">
                <a:solidFill>
                  <a:schemeClr val="tx1"/>
                </a:solidFill>
              </a:rPr>
              <a:t>It initializes each block with default garbage value</a:t>
            </a:r>
          </a:p>
          <a:p>
            <a:pPr marL="285750" indent="-285750" algn="just">
              <a:lnSpc>
                <a:spcPct val="150000"/>
              </a:lnSpc>
              <a:buFont typeface="Arial" panose="020B0604020202020204" pitchFamily="34" charset="0"/>
              <a:buChar char="•"/>
            </a:pPr>
            <a:r>
              <a:rPr lang="en-US" dirty="0">
                <a:solidFill>
                  <a:schemeClr val="tx1"/>
                </a:solidFill>
              </a:rPr>
              <a:t>malloc()	allocates single block of requested memory.</a:t>
            </a:r>
          </a:p>
          <a:p>
            <a:pPr marL="285750" indent="-285750" algn="just">
              <a:lnSpc>
                <a:spcPct val="150000"/>
              </a:lnSpc>
              <a:buFont typeface="Arial" panose="020B0604020202020204" pitchFamily="34" charset="0"/>
              <a:buChar char="•"/>
            </a:pPr>
            <a:r>
              <a:rPr lang="en-US" b="1" dirty="0">
                <a:solidFill>
                  <a:srgbClr val="00B050"/>
                </a:solidFill>
              </a:rPr>
              <a:t>Syntax</a:t>
            </a:r>
          </a:p>
          <a:p>
            <a:pPr marL="285750" indent="-285750" algn="just">
              <a:lnSpc>
                <a:spcPct val="150000"/>
              </a:lnSpc>
              <a:buFont typeface="Arial" panose="020B0604020202020204" pitchFamily="34" charset="0"/>
              <a:buChar char="•"/>
            </a:pPr>
            <a:r>
              <a:rPr lang="en-US" b="1" dirty="0">
                <a:solidFill>
                  <a:srgbClr val="00B050"/>
                </a:solidFill>
              </a:rPr>
              <a:t>                 </a:t>
            </a:r>
            <a:r>
              <a:rPr lang="en-US" b="1" dirty="0" err="1">
                <a:solidFill>
                  <a:srgbClr val="FFFF00"/>
                </a:solidFill>
              </a:rPr>
              <a:t>ptr</a:t>
            </a:r>
            <a:r>
              <a:rPr lang="en-US" b="1" dirty="0">
                <a:solidFill>
                  <a:srgbClr val="FFFF00"/>
                </a:solidFill>
              </a:rPr>
              <a:t>=(cast-type*) malloc (byte-size)</a:t>
            </a:r>
            <a:endParaRPr lang="en-IN" b="1" dirty="0">
              <a:solidFill>
                <a:srgbClr val="FFFF00"/>
              </a:solidFill>
            </a:endParaRPr>
          </a:p>
        </p:txBody>
      </p:sp>
      <p:sp>
        <p:nvSpPr>
          <p:cNvPr id="5" name="TextBox 4">
            <a:extLst>
              <a:ext uri="{FF2B5EF4-FFF2-40B4-BE49-F238E27FC236}">
                <a16:creationId xmlns:a16="http://schemas.microsoft.com/office/drawing/2014/main" id="{9F8C7D6E-3095-154D-A8AE-FCC583238320}"/>
              </a:ext>
            </a:extLst>
          </p:cNvPr>
          <p:cNvSpPr txBox="1"/>
          <p:nvPr/>
        </p:nvSpPr>
        <p:spPr>
          <a:xfrm>
            <a:off x="802583" y="3010262"/>
            <a:ext cx="5309982" cy="1600438"/>
          </a:xfrm>
          <a:prstGeom prst="rect">
            <a:avLst/>
          </a:prstGeom>
          <a:noFill/>
        </p:spPr>
        <p:txBody>
          <a:bodyPr wrap="square">
            <a:spAutoFit/>
          </a:bodyPr>
          <a:lstStyle/>
          <a:p>
            <a:r>
              <a:rPr lang="en-US" b="1" dirty="0">
                <a:solidFill>
                  <a:srgbClr val="00B050"/>
                </a:solidFill>
              </a:rPr>
              <a:t>Example</a:t>
            </a:r>
          </a:p>
          <a:p>
            <a:r>
              <a:rPr lang="en-IN" dirty="0" err="1">
                <a:solidFill>
                  <a:srgbClr val="FFFF00"/>
                </a:solidFill>
              </a:rPr>
              <a:t>ptr</a:t>
            </a:r>
            <a:r>
              <a:rPr lang="en-IN" dirty="0">
                <a:solidFill>
                  <a:srgbClr val="FFFF00"/>
                </a:solidFill>
              </a:rPr>
              <a:t> = (int*) malloc(100 * </a:t>
            </a:r>
            <a:r>
              <a:rPr lang="en-IN" dirty="0" err="1">
                <a:solidFill>
                  <a:srgbClr val="FFFF00"/>
                </a:solidFill>
              </a:rPr>
              <a:t>sizeof</a:t>
            </a:r>
            <a:r>
              <a:rPr lang="en-IN" dirty="0">
                <a:solidFill>
                  <a:srgbClr val="FFFF00"/>
                </a:solidFill>
              </a:rPr>
              <a:t>(int));</a:t>
            </a:r>
          </a:p>
          <a:p>
            <a:endParaRPr lang="en-IN" dirty="0">
              <a:solidFill>
                <a:srgbClr val="FFFF00"/>
              </a:solidFill>
            </a:endParaRPr>
          </a:p>
          <a:p>
            <a:r>
              <a:rPr lang="en-IN" dirty="0">
                <a:solidFill>
                  <a:srgbClr val="FFFF00"/>
                </a:solidFill>
              </a:rPr>
              <a:t>Since the size of int is 4 bytes, this statement will allocate 400 bytes of memory. </a:t>
            </a:r>
          </a:p>
          <a:p>
            <a:r>
              <a:rPr lang="en-IN" dirty="0">
                <a:solidFill>
                  <a:srgbClr val="FFFF00"/>
                </a:solidFill>
              </a:rPr>
              <a:t>And, the pointer </a:t>
            </a:r>
            <a:r>
              <a:rPr lang="en-IN" dirty="0" err="1">
                <a:solidFill>
                  <a:srgbClr val="FFFF00"/>
                </a:solidFill>
              </a:rPr>
              <a:t>ptr</a:t>
            </a:r>
            <a:r>
              <a:rPr lang="en-IN" dirty="0">
                <a:solidFill>
                  <a:srgbClr val="FFFF00"/>
                </a:solidFill>
              </a:rPr>
              <a:t> holds the address of the first byte in the allocated memory.</a:t>
            </a:r>
          </a:p>
        </p:txBody>
      </p:sp>
      <p:pic>
        <p:nvPicPr>
          <p:cNvPr id="8" name="Picture 7">
            <a:extLst>
              <a:ext uri="{FF2B5EF4-FFF2-40B4-BE49-F238E27FC236}">
                <a16:creationId xmlns:a16="http://schemas.microsoft.com/office/drawing/2014/main" id="{337123EF-72F1-C080-5AD9-3237C2BDF906}"/>
              </a:ext>
            </a:extLst>
          </p:cNvPr>
          <p:cNvPicPr>
            <a:picLocks noChangeAspect="1"/>
          </p:cNvPicPr>
          <p:nvPr/>
        </p:nvPicPr>
        <p:blipFill>
          <a:blip r:embed="rId2"/>
          <a:stretch>
            <a:fillRect/>
          </a:stretch>
        </p:blipFill>
        <p:spPr>
          <a:xfrm>
            <a:off x="8519375" y="132745"/>
            <a:ext cx="538485" cy="500022"/>
          </a:xfrm>
          <a:prstGeom prst="rect">
            <a:avLst/>
          </a:prstGeom>
        </p:spPr>
      </p:pic>
    </p:spTree>
    <p:extLst>
      <p:ext uri="{BB962C8B-B14F-4D97-AF65-F5344CB8AC3E}">
        <p14:creationId xmlns:p14="http://schemas.microsoft.com/office/powerpoint/2010/main" val="2891372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malloc() Example </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
        <p:nvSpPr>
          <p:cNvPr id="7" name="TextBox 6">
            <a:extLst>
              <a:ext uri="{FF2B5EF4-FFF2-40B4-BE49-F238E27FC236}">
                <a16:creationId xmlns:a16="http://schemas.microsoft.com/office/drawing/2014/main" id="{8E238EC2-E39A-2132-92F4-D7727BF545B0}"/>
              </a:ext>
            </a:extLst>
          </p:cNvPr>
          <p:cNvSpPr txBox="1"/>
          <p:nvPr/>
        </p:nvSpPr>
        <p:spPr>
          <a:xfrm>
            <a:off x="416200" y="909756"/>
            <a:ext cx="5676487" cy="3108543"/>
          </a:xfrm>
          <a:prstGeom prst="rect">
            <a:avLst/>
          </a:prstGeom>
          <a:noFill/>
        </p:spPr>
        <p:txBody>
          <a:bodyPr wrap="square">
            <a:spAutoFit/>
          </a:bodyPr>
          <a:lstStyle/>
          <a:p>
            <a:pPr marL="285750" indent="-285750" algn="just">
              <a:buFont typeface="Arial" panose="020B0604020202020204" pitchFamily="34" charset="0"/>
              <a:buChar char="•"/>
            </a:pPr>
            <a:r>
              <a:rPr lang="en-US" dirty="0">
                <a:solidFill>
                  <a:schemeClr val="tx1"/>
                </a:solidFill>
              </a:rPr>
              <a:t>#include &lt;</a:t>
            </a:r>
            <a:r>
              <a:rPr lang="en-US" dirty="0" err="1">
                <a:solidFill>
                  <a:schemeClr val="tx1"/>
                </a:solidFill>
              </a:rPr>
              <a:t>stdio.h</a:t>
            </a:r>
            <a:r>
              <a:rPr lang="en-US" dirty="0">
                <a:solidFill>
                  <a:schemeClr val="tx1"/>
                </a:solidFill>
              </a:rPr>
              <a:t>&gt;  </a:t>
            </a:r>
          </a:p>
          <a:p>
            <a:pPr marL="285750" indent="-285750" algn="just">
              <a:buFont typeface="Arial" panose="020B0604020202020204" pitchFamily="34" charset="0"/>
              <a:buChar char="•"/>
            </a:pPr>
            <a:r>
              <a:rPr lang="en-US" dirty="0">
                <a:solidFill>
                  <a:schemeClr val="tx1"/>
                </a:solidFill>
              </a:rPr>
              <a:t>#include &lt;</a:t>
            </a:r>
            <a:r>
              <a:rPr lang="en-US" dirty="0" err="1">
                <a:solidFill>
                  <a:schemeClr val="tx1"/>
                </a:solidFill>
              </a:rPr>
              <a:t>stdlib.h</a:t>
            </a:r>
            <a:r>
              <a:rPr lang="en-US" dirty="0">
                <a:solidFill>
                  <a:schemeClr val="tx1"/>
                </a:solidFill>
              </a:rPr>
              <a:t>&gt;  </a:t>
            </a:r>
          </a:p>
          <a:p>
            <a:pPr marL="285750" indent="-285750" algn="just">
              <a:buFont typeface="Arial" panose="020B0604020202020204" pitchFamily="34" charset="0"/>
              <a:buChar char="•"/>
            </a:pPr>
            <a:r>
              <a:rPr lang="en-US" dirty="0">
                <a:solidFill>
                  <a:schemeClr val="tx1"/>
                </a:solidFill>
              </a:rPr>
              <a:t>int main ()  </a:t>
            </a:r>
          </a:p>
          <a:p>
            <a:pPr marL="285750" indent="-285750" algn="just">
              <a:buFont typeface="Arial" panose="020B0604020202020204" pitchFamily="34" charset="0"/>
              <a:buChar char="•"/>
            </a:pPr>
            <a:r>
              <a:rPr lang="en-US" dirty="0">
                <a:solidFill>
                  <a:schemeClr val="tx1"/>
                </a:solidFill>
              </a:rPr>
              <a:t>{  </a:t>
            </a:r>
          </a:p>
          <a:p>
            <a:pPr marL="285750" indent="-285750" algn="just">
              <a:buFont typeface="Arial" panose="020B0604020202020204" pitchFamily="34" charset="0"/>
              <a:buChar char="•"/>
            </a:pPr>
            <a:r>
              <a:rPr lang="en-US" dirty="0">
                <a:solidFill>
                  <a:schemeClr val="tx1"/>
                </a:solidFill>
              </a:rPr>
              <a:t>    int *</a:t>
            </a:r>
            <a:r>
              <a:rPr lang="en-US" dirty="0" err="1">
                <a:solidFill>
                  <a:schemeClr val="tx1"/>
                </a:solidFill>
              </a:rPr>
              <a:t>pt</a:t>
            </a:r>
            <a:r>
              <a:rPr lang="en-US" dirty="0">
                <a:solidFill>
                  <a:schemeClr val="tx1"/>
                </a:solidFill>
              </a:rPr>
              <a:t>;  </a:t>
            </a:r>
          </a:p>
          <a:p>
            <a:pPr marL="285750" indent="-285750" algn="just">
              <a:buFont typeface="Arial" panose="020B0604020202020204" pitchFamily="34" charset="0"/>
              <a:buChar char="•"/>
            </a:pPr>
            <a:r>
              <a:rPr lang="en-US" dirty="0">
                <a:solidFill>
                  <a:schemeClr val="tx1"/>
                </a:solidFill>
              </a:rPr>
              <a:t>    </a:t>
            </a:r>
            <a:r>
              <a:rPr lang="en-US" dirty="0" err="1">
                <a:solidFill>
                  <a:schemeClr val="tx1"/>
                </a:solidFill>
              </a:rPr>
              <a:t>pt</a:t>
            </a:r>
            <a:r>
              <a:rPr lang="en-US" dirty="0">
                <a:solidFill>
                  <a:schemeClr val="tx1"/>
                </a:solidFill>
              </a:rPr>
              <a:t> = malloc (</a:t>
            </a:r>
            <a:r>
              <a:rPr lang="en-US" dirty="0" err="1">
                <a:solidFill>
                  <a:schemeClr val="tx1"/>
                </a:solidFill>
              </a:rPr>
              <a:t>sizeof</a:t>
            </a:r>
            <a:r>
              <a:rPr lang="en-US" dirty="0">
                <a:solidFill>
                  <a:schemeClr val="tx1"/>
                </a:solidFill>
              </a:rPr>
              <a:t>(int));  </a:t>
            </a:r>
          </a:p>
          <a:p>
            <a:pPr marL="285750" indent="-285750" algn="just">
              <a:buFont typeface="Arial" panose="020B0604020202020204" pitchFamily="34" charset="0"/>
              <a:buChar char="•"/>
            </a:pPr>
            <a:r>
              <a:rPr lang="en-US" dirty="0">
                <a:solidFill>
                  <a:schemeClr val="tx1"/>
                </a:solidFill>
              </a:rPr>
              <a:t>    if (</a:t>
            </a:r>
            <a:r>
              <a:rPr lang="en-US" dirty="0" err="1">
                <a:solidFill>
                  <a:schemeClr val="tx1"/>
                </a:solidFill>
              </a:rPr>
              <a:t>pt</a:t>
            </a:r>
            <a:r>
              <a:rPr lang="en-US" dirty="0">
                <a:solidFill>
                  <a:schemeClr val="tx1"/>
                </a:solidFill>
              </a:rPr>
              <a:t> != NULL)  </a:t>
            </a:r>
          </a:p>
          <a:p>
            <a:pPr marL="285750" indent="-285750" algn="just">
              <a:buFont typeface="Arial" panose="020B0604020202020204" pitchFamily="34" charset="0"/>
              <a:buChar char="•"/>
            </a:pPr>
            <a:r>
              <a:rPr lang="en-US" dirty="0">
                <a:solidFill>
                  <a:schemeClr val="tx1"/>
                </a:solidFill>
              </a:rPr>
              <a:t>    {  </a:t>
            </a:r>
          </a:p>
          <a:p>
            <a:pPr marL="285750" indent="-285750" algn="just">
              <a:buFont typeface="Arial" panose="020B0604020202020204" pitchFamily="34" charset="0"/>
              <a:buChar char="•"/>
            </a:pPr>
            <a:r>
              <a:rPr lang="en-US" dirty="0">
                <a:solidFill>
                  <a:schemeClr val="tx1"/>
                </a:solidFill>
              </a:rPr>
              <a:t>        </a:t>
            </a:r>
            <a:r>
              <a:rPr lang="en-US" dirty="0" err="1">
                <a:solidFill>
                  <a:schemeClr val="tx1"/>
                </a:solidFill>
              </a:rPr>
              <a:t>printf</a:t>
            </a:r>
            <a:r>
              <a:rPr lang="en-US" dirty="0">
                <a:solidFill>
                  <a:schemeClr val="tx1"/>
                </a:solidFill>
              </a:rPr>
              <a:t> (" Memory is created using the malloc() function ");  </a:t>
            </a:r>
          </a:p>
          <a:p>
            <a:pPr marL="285750" indent="-285750" algn="just">
              <a:buFont typeface="Arial" panose="020B0604020202020204" pitchFamily="34" charset="0"/>
              <a:buChar char="•"/>
            </a:pPr>
            <a:r>
              <a:rPr lang="en-US" dirty="0">
                <a:solidFill>
                  <a:schemeClr val="tx1"/>
                </a:solidFill>
              </a:rPr>
              <a:t>    }  </a:t>
            </a:r>
          </a:p>
          <a:p>
            <a:pPr marL="285750" indent="-285750" algn="just">
              <a:buFont typeface="Arial" panose="020B0604020202020204" pitchFamily="34" charset="0"/>
              <a:buChar char="•"/>
            </a:pPr>
            <a:r>
              <a:rPr lang="en-US" dirty="0">
                <a:solidFill>
                  <a:schemeClr val="tx1"/>
                </a:solidFill>
              </a:rPr>
              <a:t>    else  </a:t>
            </a:r>
          </a:p>
          <a:p>
            <a:pPr marL="285750" indent="-285750" algn="just">
              <a:buFont typeface="Arial" panose="020B0604020202020204" pitchFamily="34" charset="0"/>
              <a:buChar char="•"/>
            </a:pPr>
            <a:r>
              <a:rPr lang="en-US" dirty="0">
                <a:solidFill>
                  <a:schemeClr val="tx1"/>
                </a:solidFill>
              </a:rPr>
              <a:t>    	</a:t>
            </a:r>
            <a:r>
              <a:rPr lang="en-US" dirty="0" err="1">
                <a:solidFill>
                  <a:schemeClr val="tx1"/>
                </a:solidFill>
              </a:rPr>
              <a:t>printf</a:t>
            </a:r>
            <a:r>
              <a:rPr lang="en-US" dirty="0">
                <a:solidFill>
                  <a:schemeClr val="tx1"/>
                </a:solidFill>
              </a:rPr>
              <a:t> (" memory is not created ");  </a:t>
            </a:r>
          </a:p>
          <a:p>
            <a:pPr marL="285750" lvl="1" indent="-285750" algn="just">
              <a:buFont typeface="Arial" panose="020B0604020202020204" pitchFamily="34" charset="0"/>
              <a:buChar char="•"/>
            </a:pPr>
            <a:r>
              <a:rPr lang="en-US" dirty="0">
                <a:solidFill>
                  <a:schemeClr val="tx1"/>
                </a:solidFill>
              </a:rPr>
              <a:t>    return 0;     </a:t>
            </a:r>
          </a:p>
          <a:p>
            <a:pPr marL="285750" indent="-285750" algn="just">
              <a:buFont typeface="Arial" panose="020B0604020202020204" pitchFamily="34" charset="0"/>
              <a:buChar char="•"/>
            </a:pPr>
            <a:r>
              <a:rPr lang="en-US" dirty="0">
                <a:solidFill>
                  <a:schemeClr val="tx1"/>
                </a:solidFill>
              </a:rPr>
              <a:t>}</a:t>
            </a:r>
            <a:endParaRPr lang="en-IN" b="1" dirty="0">
              <a:solidFill>
                <a:srgbClr val="FFFF00"/>
              </a:solidFill>
            </a:endParaRPr>
          </a:p>
        </p:txBody>
      </p:sp>
      <p:sp>
        <p:nvSpPr>
          <p:cNvPr id="6" name="TextBox 5">
            <a:extLst>
              <a:ext uri="{FF2B5EF4-FFF2-40B4-BE49-F238E27FC236}">
                <a16:creationId xmlns:a16="http://schemas.microsoft.com/office/drawing/2014/main" id="{959E50E2-2EA6-19F1-69D3-8632399C5BFB}"/>
              </a:ext>
            </a:extLst>
          </p:cNvPr>
          <p:cNvSpPr txBox="1"/>
          <p:nvPr/>
        </p:nvSpPr>
        <p:spPr>
          <a:xfrm>
            <a:off x="4366176" y="1401585"/>
            <a:ext cx="3962815" cy="523220"/>
          </a:xfrm>
          <a:prstGeom prst="rect">
            <a:avLst/>
          </a:prstGeom>
          <a:noFill/>
        </p:spPr>
        <p:txBody>
          <a:bodyPr wrap="square">
            <a:spAutoFit/>
          </a:bodyPr>
          <a:lstStyle/>
          <a:p>
            <a:r>
              <a:rPr lang="en-IN" b="1" dirty="0">
                <a:solidFill>
                  <a:srgbClr val="FFFF00"/>
                </a:solidFill>
              </a:rPr>
              <a:t>Output</a:t>
            </a:r>
          </a:p>
          <a:p>
            <a:r>
              <a:rPr lang="en-IN" dirty="0">
                <a:solidFill>
                  <a:schemeClr val="tx1"/>
                </a:solidFill>
              </a:rPr>
              <a:t>Memory is created using the malloc() function</a:t>
            </a:r>
          </a:p>
        </p:txBody>
      </p:sp>
      <p:pic>
        <p:nvPicPr>
          <p:cNvPr id="8" name="Picture 7">
            <a:extLst>
              <a:ext uri="{FF2B5EF4-FFF2-40B4-BE49-F238E27FC236}">
                <a16:creationId xmlns:a16="http://schemas.microsoft.com/office/drawing/2014/main" id="{43B927BC-470B-1C4F-571A-893C4A7E61E3}"/>
              </a:ext>
            </a:extLst>
          </p:cNvPr>
          <p:cNvPicPr>
            <a:picLocks noChangeAspect="1"/>
          </p:cNvPicPr>
          <p:nvPr/>
        </p:nvPicPr>
        <p:blipFill>
          <a:blip r:embed="rId2"/>
          <a:stretch>
            <a:fillRect/>
          </a:stretch>
        </p:blipFill>
        <p:spPr>
          <a:xfrm>
            <a:off x="8519375" y="132745"/>
            <a:ext cx="538485" cy="500022"/>
          </a:xfrm>
          <a:prstGeom prst="rect">
            <a:avLst/>
          </a:prstGeom>
        </p:spPr>
      </p:pic>
    </p:spTree>
    <p:extLst>
      <p:ext uri="{BB962C8B-B14F-4D97-AF65-F5344CB8AC3E}">
        <p14:creationId xmlns:p14="http://schemas.microsoft.com/office/powerpoint/2010/main" val="2042018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err="1"/>
              <a:t>calloc</a:t>
            </a:r>
            <a:r>
              <a:rPr lang="en-IN" sz="2400" dirty="0"/>
              <a:t>() </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
        <p:nvSpPr>
          <p:cNvPr id="7" name="TextBox 6">
            <a:extLst>
              <a:ext uri="{FF2B5EF4-FFF2-40B4-BE49-F238E27FC236}">
                <a16:creationId xmlns:a16="http://schemas.microsoft.com/office/drawing/2014/main" id="{8E238EC2-E39A-2132-92F4-D7727BF545B0}"/>
              </a:ext>
            </a:extLst>
          </p:cNvPr>
          <p:cNvSpPr txBox="1"/>
          <p:nvPr/>
        </p:nvSpPr>
        <p:spPr>
          <a:xfrm>
            <a:off x="376445" y="461534"/>
            <a:ext cx="8152571" cy="457670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solidFill>
                  <a:schemeClr val="tx1"/>
                </a:solidFill>
              </a:rPr>
              <a:t>The name "</a:t>
            </a:r>
            <a:r>
              <a:rPr lang="en-US" dirty="0" err="1">
                <a:solidFill>
                  <a:schemeClr val="tx1"/>
                </a:solidFill>
              </a:rPr>
              <a:t>calloc</a:t>
            </a:r>
            <a:r>
              <a:rPr lang="en-US" dirty="0">
                <a:solidFill>
                  <a:schemeClr val="tx1"/>
                </a:solidFill>
              </a:rPr>
              <a:t>" stands for contiguous allocation.</a:t>
            </a:r>
          </a:p>
          <a:p>
            <a:pPr marL="285750" indent="-285750" algn="just">
              <a:lnSpc>
                <a:spcPct val="150000"/>
              </a:lnSpc>
              <a:buFont typeface="Arial" panose="020B0604020202020204" pitchFamily="34" charset="0"/>
              <a:buChar char="•"/>
            </a:pPr>
            <a:r>
              <a:rPr lang="en-US" dirty="0">
                <a:solidFill>
                  <a:schemeClr val="tx1"/>
                </a:solidFill>
              </a:rPr>
              <a:t>The </a:t>
            </a:r>
            <a:r>
              <a:rPr lang="en-US" dirty="0" err="1">
                <a:solidFill>
                  <a:schemeClr val="tx1"/>
                </a:solidFill>
              </a:rPr>
              <a:t>calloc</a:t>
            </a:r>
            <a:r>
              <a:rPr lang="en-US" dirty="0">
                <a:solidFill>
                  <a:schemeClr val="tx1"/>
                </a:solidFill>
              </a:rPr>
              <a:t> function requires two arguments instead of one as used by malloc(). Otherwise, it operates in the same way as malloc(). </a:t>
            </a:r>
          </a:p>
          <a:p>
            <a:pPr marL="285750" indent="-285750" algn="just">
              <a:lnSpc>
                <a:spcPct val="150000"/>
              </a:lnSpc>
              <a:buFont typeface="Arial" panose="020B0604020202020204" pitchFamily="34" charset="0"/>
              <a:buChar char="•"/>
            </a:pPr>
            <a:r>
              <a:rPr lang="en-US" dirty="0">
                <a:solidFill>
                  <a:schemeClr val="tx1"/>
                </a:solidFill>
              </a:rPr>
              <a:t>When </a:t>
            </a:r>
            <a:r>
              <a:rPr lang="en-US" dirty="0" err="1">
                <a:solidFill>
                  <a:schemeClr val="tx1"/>
                </a:solidFill>
              </a:rPr>
              <a:t>calloc</a:t>
            </a:r>
            <a:r>
              <a:rPr lang="en-US" dirty="0">
                <a:solidFill>
                  <a:schemeClr val="tx1"/>
                </a:solidFill>
              </a:rPr>
              <a:t> is declared for the sake of allocating a block of memory, the assigned region is immediately initialized to zero.</a:t>
            </a:r>
          </a:p>
          <a:p>
            <a:pPr marL="285750" indent="-285750" algn="just">
              <a:lnSpc>
                <a:spcPct val="150000"/>
              </a:lnSpc>
              <a:buFont typeface="Arial" panose="020B0604020202020204" pitchFamily="34" charset="0"/>
              <a:buChar char="•"/>
            </a:pPr>
            <a:r>
              <a:rPr lang="en-US" dirty="0">
                <a:solidFill>
                  <a:schemeClr val="tx1"/>
                </a:solidFill>
              </a:rPr>
              <a:t>It returns NULL if memory is not sufficient.</a:t>
            </a:r>
          </a:p>
          <a:p>
            <a:pPr marL="285750" indent="-285750" algn="just">
              <a:lnSpc>
                <a:spcPct val="150000"/>
              </a:lnSpc>
              <a:buFont typeface="Arial" panose="020B0604020202020204" pitchFamily="34" charset="0"/>
              <a:buChar char="•"/>
            </a:pPr>
            <a:r>
              <a:rPr lang="en-US" b="1" dirty="0">
                <a:solidFill>
                  <a:srgbClr val="FFFF00"/>
                </a:solidFill>
              </a:rPr>
              <a:t>Syntax</a:t>
            </a:r>
          </a:p>
          <a:p>
            <a:pPr marL="285750" indent="-285750" algn="just">
              <a:lnSpc>
                <a:spcPct val="150000"/>
              </a:lnSpc>
              <a:buFont typeface="Arial" panose="020B0604020202020204" pitchFamily="34" charset="0"/>
              <a:buChar char="•"/>
            </a:pPr>
            <a:r>
              <a:rPr lang="en-US" b="1" dirty="0">
                <a:solidFill>
                  <a:srgbClr val="FFFF00"/>
                </a:solidFill>
              </a:rPr>
              <a:t>              </a:t>
            </a:r>
            <a:r>
              <a:rPr lang="en-US" b="1" dirty="0" err="1">
                <a:solidFill>
                  <a:srgbClr val="FFFF00"/>
                </a:solidFill>
              </a:rPr>
              <a:t>ptr</a:t>
            </a:r>
            <a:r>
              <a:rPr lang="en-US" b="1" dirty="0">
                <a:solidFill>
                  <a:srgbClr val="FFFF00"/>
                </a:solidFill>
              </a:rPr>
              <a:t>=(data-type*)</a:t>
            </a:r>
            <a:r>
              <a:rPr lang="en-US" b="1" dirty="0" err="1">
                <a:solidFill>
                  <a:srgbClr val="FFFF00"/>
                </a:solidFill>
              </a:rPr>
              <a:t>calloc</a:t>
            </a:r>
            <a:r>
              <a:rPr lang="en-US" b="1" dirty="0">
                <a:solidFill>
                  <a:srgbClr val="FFFF00"/>
                </a:solidFill>
              </a:rPr>
              <a:t>(number, byte-size)</a:t>
            </a:r>
          </a:p>
          <a:p>
            <a:pPr marL="285750" indent="-285750" algn="just">
              <a:lnSpc>
                <a:spcPct val="150000"/>
              </a:lnSpc>
              <a:buFont typeface="Arial" panose="020B0604020202020204" pitchFamily="34" charset="0"/>
              <a:buChar char="•"/>
            </a:pPr>
            <a:r>
              <a:rPr lang="en-IN" b="1" dirty="0">
                <a:solidFill>
                  <a:srgbClr val="00B050"/>
                </a:solidFill>
              </a:rPr>
              <a:t>Example 1:</a:t>
            </a:r>
          </a:p>
          <a:p>
            <a:pPr marL="285750" indent="-285750" algn="just">
              <a:lnSpc>
                <a:spcPct val="150000"/>
              </a:lnSpc>
              <a:buFont typeface="Arial" panose="020B0604020202020204" pitchFamily="34" charset="0"/>
              <a:buChar char="•"/>
            </a:pPr>
            <a:r>
              <a:rPr lang="en-US" b="1" dirty="0">
                <a:solidFill>
                  <a:srgbClr val="00B050"/>
                </a:solidFill>
              </a:rPr>
              <a:t>             </a:t>
            </a:r>
            <a:r>
              <a:rPr lang="en-US" b="1" dirty="0" err="1">
                <a:solidFill>
                  <a:srgbClr val="00B050"/>
                </a:solidFill>
              </a:rPr>
              <a:t>ptr</a:t>
            </a:r>
            <a:r>
              <a:rPr lang="en-US" b="1" dirty="0">
                <a:solidFill>
                  <a:srgbClr val="00B050"/>
                </a:solidFill>
              </a:rPr>
              <a:t> = (float*) </a:t>
            </a:r>
            <a:r>
              <a:rPr lang="en-US" b="1" dirty="0" err="1">
                <a:solidFill>
                  <a:srgbClr val="00B050"/>
                </a:solidFill>
              </a:rPr>
              <a:t>calloc</a:t>
            </a:r>
            <a:r>
              <a:rPr lang="en-US" b="1" dirty="0">
                <a:solidFill>
                  <a:srgbClr val="00B050"/>
                </a:solidFill>
              </a:rPr>
              <a:t>(25, </a:t>
            </a:r>
            <a:r>
              <a:rPr lang="en-US" b="1" dirty="0" err="1">
                <a:solidFill>
                  <a:srgbClr val="00B050"/>
                </a:solidFill>
              </a:rPr>
              <a:t>sizeof</a:t>
            </a:r>
            <a:r>
              <a:rPr lang="en-US" b="1" dirty="0">
                <a:solidFill>
                  <a:srgbClr val="00B050"/>
                </a:solidFill>
              </a:rPr>
              <a:t>(float));</a:t>
            </a:r>
          </a:p>
          <a:p>
            <a:pPr marL="285750" lvl="1" indent="-285750" algn="just">
              <a:lnSpc>
                <a:spcPct val="150000"/>
              </a:lnSpc>
              <a:buFont typeface="Arial" panose="020B0604020202020204" pitchFamily="34" charset="0"/>
              <a:buChar char="•"/>
            </a:pPr>
            <a:r>
              <a:rPr lang="en-US" b="1" dirty="0">
                <a:solidFill>
                  <a:srgbClr val="00B050"/>
                </a:solidFill>
              </a:rPr>
              <a:t>Example 2:</a:t>
            </a:r>
          </a:p>
          <a:p>
            <a:pPr marL="285750" lvl="1" indent="-285750" algn="just">
              <a:lnSpc>
                <a:spcPct val="150000"/>
              </a:lnSpc>
              <a:buFont typeface="Arial" panose="020B0604020202020204" pitchFamily="34" charset="0"/>
              <a:buChar char="•"/>
            </a:pPr>
            <a:r>
              <a:rPr lang="en-US" b="1" dirty="0">
                <a:solidFill>
                  <a:srgbClr val="00B050"/>
                </a:solidFill>
              </a:rPr>
              <a:t>             int*</a:t>
            </a:r>
            <a:r>
              <a:rPr lang="en-US" b="1" dirty="0" err="1">
                <a:solidFill>
                  <a:srgbClr val="00B050"/>
                </a:solidFill>
              </a:rPr>
              <a:t>ptr</a:t>
            </a:r>
            <a:r>
              <a:rPr lang="en-US" b="1" dirty="0">
                <a:solidFill>
                  <a:srgbClr val="00B050"/>
                </a:solidFill>
              </a:rPr>
              <a:t>;</a:t>
            </a:r>
          </a:p>
          <a:p>
            <a:pPr marL="285750" lvl="1" indent="-285750" algn="just">
              <a:lnSpc>
                <a:spcPct val="150000"/>
              </a:lnSpc>
              <a:buFont typeface="Arial" panose="020B0604020202020204" pitchFamily="34" charset="0"/>
              <a:buChar char="•"/>
            </a:pPr>
            <a:r>
              <a:rPr lang="en-US" b="1" dirty="0">
                <a:solidFill>
                  <a:srgbClr val="00B050"/>
                </a:solidFill>
              </a:rPr>
              <a:t>             </a:t>
            </a:r>
            <a:r>
              <a:rPr lang="en-US" b="1" dirty="0" err="1">
                <a:solidFill>
                  <a:srgbClr val="00B050"/>
                </a:solidFill>
              </a:rPr>
              <a:t>ptr</a:t>
            </a:r>
            <a:r>
              <a:rPr lang="en-US" b="1" dirty="0">
                <a:solidFill>
                  <a:srgbClr val="00B050"/>
                </a:solidFill>
              </a:rPr>
              <a:t> = (int*) </a:t>
            </a:r>
            <a:r>
              <a:rPr lang="en-US" b="1" dirty="0" err="1">
                <a:solidFill>
                  <a:srgbClr val="00B050"/>
                </a:solidFill>
              </a:rPr>
              <a:t>calloc</a:t>
            </a:r>
            <a:r>
              <a:rPr lang="en-US" b="1" dirty="0">
                <a:solidFill>
                  <a:srgbClr val="00B050"/>
                </a:solidFill>
              </a:rPr>
              <a:t>(10,2);         (Total 20 bytes)</a:t>
            </a:r>
          </a:p>
          <a:p>
            <a:pPr marL="285750" lvl="1" indent="-285750" algn="just">
              <a:lnSpc>
                <a:spcPct val="150000"/>
              </a:lnSpc>
              <a:buFont typeface="Arial" panose="020B0604020202020204" pitchFamily="34" charset="0"/>
              <a:buChar char="•"/>
            </a:pPr>
            <a:r>
              <a:rPr lang="en-US" dirty="0">
                <a:solidFill>
                  <a:srgbClr val="00B050"/>
                </a:solidFill>
              </a:rPr>
              <a:t>             </a:t>
            </a:r>
            <a:r>
              <a:rPr lang="en-US" dirty="0">
                <a:solidFill>
                  <a:srgbClr val="FFFF00"/>
                </a:solidFill>
              </a:rPr>
              <a:t>here, 10 signifies the total number of elements that require memory allocation</a:t>
            </a:r>
          </a:p>
        </p:txBody>
      </p:sp>
    </p:spTree>
    <p:extLst>
      <p:ext uri="{BB962C8B-B14F-4D97-AF65-F5344CB8AC3E}">
        <p14:creationId xmlns:p14="http://schemas.microsoft.com/office/powerpoint/2010/main" val="610263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malloc()  vs. </a:t>
            </a:r>
            <a:r>
              <a:rPr lang="en-IN" sz="2400" dirty="0" err="1"/>
              <a:t>calloc</a:t>
            </a:r>
            <a:r>
              <a:rPr lang="en-IN" sz="2400" dirty="0"/>
              <a:t>() </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graphicFrame>
        <p:nvGraphicFramePr>
          <p:cNvPr id="4" name="Table 3">
            <a:extLst>
              <a:ext uri="{FF2B5EF4-FFF2-40B4-BE49-F238E27FC236}">
                <a16:creationId xmlns:a16="http://schemas.microsoft.com/office/drawing/2014/main" id="{B7CD0E58-8F9F-3948-8820-7CFAB4832BB6}"/>
              </a:ext>
            </a:extLst>
          </p:cNvPr>
          <p:cNvGraphicFramePr>
            <a:graphicFrameLocks noGrp="1"/>
          </p:cNvGraphicFramePr>
          <p:nvPr>
            <p:extLst>
              <p:ext uri="{D42A27DB-BD31-4B8C-83A1-F6EECF244321}">
                <p14:modId xmlns:p14="http://schemas.microsoft.com/office/powerpoint/2010/main" val="2919360002"/>
              </p:ext>
            </p:extLst>
          </p:nvPr>
        </p:nvGraphicFramePr>
        <p:xfrm>
          <a:off x="100289" y="465418"/>
          <a:ext cx="6101728" cy="4424634"/>
        </p:xfrm>
        <a:graphic>
          <a:graphicData uri="http://schemas.openxmlformats.org/drawingml/2006/table">
            <a:tbl>
              <a:tblPr/>
              <a:tblGrid>
                <a:gridCol w="3050864">
                  <a:extLst>
                    <a:ext uri="{9D8B030D-6E8A-4147-A177-3AD203B41FA5}">
                      <a16:colId xmlns:a16="http://schemas.microsoft.com/office/drawing/2014/main" val="2803685885"/>
                    </a:ext>
                  </a:extLst>
                </a:gridCol>
                <a:gridCol w="3050864">
                  <a:extLst>
                    <a:ext uri="{9D8B030D-6E8A-4147-A177-3AD203B41FA5}">
                      <a16:colId xmlns:a16="http://schemas.microsoft.com/office/drawing/2014/main" val="2774028844"/>
                    </a:ext>
                  </a:extLst>
                </a:gridCol>
              </a:tblGrid>
              <a:tr h="277317">
                <a:tc>
                  <a:txBody>
                    <a:bodyPr/>
                    <a:lstStyle/>
                    <a:p>
                      <a:pPr algn="ctr"/>
                      <a:r>
                        <a:rPr lang="en-IN" sz="1400" b="1" dirty="0">
                          <a:solidFill>
                            <a:schemeClr val="accent3"/>
                          </a:solidFill>
                          <a:effectLst/>
                          <a:latin typeface="+mj-lt"/>
                        </a:rPr>
                        <a:t>malloc()</a:t>
                      </a:r>
                      <a:endParaRPr lang="en-IN" sz="1400" dirty="0">
                        <a:solidFill>
                          <a:schemeClr val="accent3"/>
                        </a:solidFill>
                        <a:effectLst/>
                        <a:latin typeface="+mj-lt"/>
                      </a:endParaRPr>
                    </a:p>
                  </a:txBody>
                  <a:tcPr marL="62728" marR="62728" marT="31364" marB="3136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9F9"/>
                    </a:solidFill>
                  </a:tcPr>
                </a:tc>
                <a:tc>
                  <a:txBody>
                    <a:bodyPr/>
                    <a:lstStyle/>
                    <a:p>
                      <a:pPr algn="ctr"/>
                      <a:r>
                        <a:rPr lang="en-IN" sz="1400" b="1" dirty="0" err="1">
                          <a:solidFill>
                            <a:schemeClr val="accent3"/>
                          </a:solidFill>
                          <a:effectLst/>
                          <a:latin typeface="+mj-lt"/>
                        </a:rPr>
                        <a:t>calloc</a:t>
                      </a:r>
                      <a:r>
                        <a:rPr lang="en-IN" sz="1400" b="1" dirty="0">
                          <a:solidFill>
                            <a:schemeClr val="accent3"/>
                          </a:solidFill>
                          <a:effectLst/>
                          <a:latin typeface="+mj-lt"/>
                        </a:rPr>
                        <a:t>()</a:t>
                      </a:r>
                      <a:endParaRPr lang="en-IN" sz="1400" dirty="0">
                        <a:solidFill>
                          <a:schemeClr val="accent3"/>
                        </a:solidFill>
                        <a:effectLst/>
                        <a:latin typeface="+mj-lt"/>
                      </a:endParaRPr>
                    </a:p>
                  </a:txBody>
                  <a:tcPr marL="62728" marR="62728" marT="31364" marB="3136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9F9"/>
                    </a:solidFill>
                  </a:tcPr>
                </a:tc>
                <a:extLst>
                  <a:ext uri="{0D108BD9-81ED-4DB2-BD59-A6C34878D82A}">
                    <a16:rowId xmlns:a16="http://schemas.microsoft.com/office/drawing/2014/main" val="779662445"/>
                  </a:ext>
                </a:extLst>
              </a:tr>
              <a:tr h="705935">
                <a:tc>
                  <a:txBody>
                    <a:bodyPr/>
                    <a:lstStyle/>
                    <a:p>
                      <a:r>
                        <a:rPr lang="en-US" sz="1400" dirty="0">
                          <a:solidFill>
                            <a:schemeClr val="bg1"/>
                          </a:solidFill>
                          <a:effectLst/>
                          <a:latin typeface="+mj-lt"/>
                        </a:rPr>
                        <a:t>Malloc() function will create a single block of memory of size specified by the user.</a:t>
                      </a:r>
                    </a:p>
                  </a:txBody>
                  <a:tcPr marL="62728" marR="62728" marT="31364" marB="3136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400" dirty="0" err="1">
                          <a:solidFill>
                            <a:schemeClr val="bg1"/>
                          </a:solidFill>
                          <a:effectLst/>
                          <a:latin typeface="+mj-lt"/>
                        </a:rPr>
                        <a:t>Calloc</a:t>
                      </a:r>
                      <a:r>
                        <a:rPr lang="en-US" sz="1400" dirty="0">
                          <a:solidFill>
                            <a:schemeClr val="bg1"/>
                          </a:solidFill>
                          <a:effectLst/>
                          <a:latin typeface="+mj-lt"/>
                        </a:rPr>
                        <a:t>() function can assign multiple blocks of memory for a variable.</a:t>
                      </a:r>
                    </a:p>
                  </a:txBody>
                  <a:tcPr marL="62728" marR="62728" marT="31364" marB="3136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25775032"/>
                  </a:ext>
                </a:extLst>
              </a:tr>
              <a:tr h="705935">
                <a:tc>
                  <a:txBody>
                    <a:bodyPr/>
                    <a:lstStyle/>
                    <a:p>
                      <a:r>
                        <a:rPr lang="en-IN" sz="1400">
                          <a:solidFill>
                            <a:schemeClr val="bg1"/>
                          </a:solidFill>
                          <a:effectLst/>
                          <a:latin typeface="+mj-lt"/>
                        </a:rPr>
                        <a:t>Malloc function contains garbage value.</a:t>
                      </a:r>
                    </a:p>
                  </a:txBody>
                  <a:tcPr marL="62728" marR="62728" marT="31364" marB="3136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9F9"/>
                    </a:solidFill>
                  </a:tcPr>
                </a:tc>
                <a:tc>
                  <a:txBody>
                    <a:bodyPr/>
                    <a:lstStyle/>
                    <a:p>
                      <a:r>
                        <a:rPr lang="en-US" sz="1400">
                          <a:solidFill>
                            <a:schemeClr val="bg1"/>
                          </a:solidFill>
                          <a:effectLst/>
                          <a:latin typeface="+mj-lt"/>
                        </a:rPr>
                        <a:t>The memory block allocated by a calloc function is always initialized to zero.</a:t>
                      </a:r>
                    </a:p>
                  </a:txBody>
                  <a:tcPr marL="62728" marR="62728" marT="31364" marB="3136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9F9"/>
                    </a:solidFill>
                  </a:tcPr>
                </a:tc>
                <a:extLst>
                  <a:ext uri="{0D108BD9-81ED-4DB2-BD59-A6C34878D82A}">
                    <a16:rowId xmlns:a16="http://schemas.microsoft.com/office/drawing/2014/main" val="3598875193"/>
                  </a:ext>
                </a:extLst>
              </a:tr>
              <a:tr h="277317">
                <a:tc>
                  <a:txBody>
                    <a:bodyPr/>
                    <a:lstStyle/>
                    <a:p>
                      <a:r>
                        <a:rPr lang="en-US" sz="1400">
                          <a:solidFill>
                            <a:schemeClr val="bg1"/>
                          </a:solidFill>
                          <a:effectLst/>
                          <a:latin typeface="+mj-lt"/>
                        </a:rPr>
                        <a:t>Number of argument is 1.</a:t>
                      </a:r>
                    </a:p>
                  </a:txBody>
                  <a:tcPr marL="62728" marR="62728" marT="31364" marB="3136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400">
                          <a:solidFill>
                            <a:schemeClr val="bg1"/>
                          </a:solidFill>
                          <a:effectLst/>
                          <a:latin typeface="+mj-lt"/>
                        </a:rPr>
                        <a:t>Number of arguments are 2.</a:t>
                      </a:r>
                    </a:p>
                  </a:txBody>
                  <a:tcPr marL="62728" marR="62728" marT="31364" marB="3136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51660532"/>
                  </a:ext>
                </a:extLst>
              </a:tr>
              <a:tr h="277317">
                <a:tc>
                  <a:txBody>
                    <a:bodyPr/>
                    <a:lstStyle/>
                    <a:p>
                      <a:r>
                        <a:rPr lang="en-US" sz="1400">
                          <a:solidFill>
                            <a:schemeClr val="bg1"/>
                          </a:solidFill>
                          <a:effectLst/>
                          <a:latin typeface="+mj-lt"/>
                        </a:rPr>
                        <a:t>Calloc is slower than malloc.</a:t>
                      </a:r>
                    </a:p>
                  </a:txBody>
                  <a:tcPr marL="62728" marR="62728" marT="31364" marB="3136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9F9"/>
                    </a:solidFill>
                  </a:tcPr>
                </a:tc>
                <a:tc>
                  <a:txBody>
                    <a:bodyPr/>
                    <a:lstStyle/>
                    <a:p>
                      <a:r>
                        <a:rPr lang="en-US" sz="1400">
                          <a:solidFill>
                            <a:schemeClr val="bg1"/>
                          </a:solidFill>
                          <a:effectLst/>
                          <a:latin typeface="+mj-lt"/>
                        </a:rPr>
                        <a:t>Malloc is faster than calloc.</a:t>
                      </a:r>
                    </a:p>
                  </a:txBody>
                  <a:tcPr marL="62728" marR="62728" marT="31364" marB="3136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9F9"/>
                    </a:solidFill>
                  </a:tcPr>
                </a:tc>
                <a:extLst>
                  <a:ext uri="{0D108BD9-81ED-4DB2-BD59-A6C34878D82A}">
                    <a16:rowId xmlns:a16="http://schemas.microsoft.com/office/drawing/2014/main" val="900938827"/>
                  </a:ext>
                </a:extLst>
              </a:tr>
              <a:tr h="491626">
                <a:tc>
                  <a:txBody>
                    <a:bodyPr/>
                    <a:lstStyle/>
                    <a:p>
                      <a:r>
                        <a:rPr lang="en-US" sz="1400">
                          <a:solidFill>
                            <a:schemeClr val="bg1"/>
                          </a:solidFill>
                          <a:effectLst/>
                          <a:latin typeface="+mj-lt"/>
                        </a:rPr>
                        <a:t>It is not secure as compare to calloc.</a:t>
                      </a:r>
                    </a:p>
                  </a:txBody>
                  <a:tcPr marL="62728" marR="62728" marT="31364" marB="3136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400" dirty="0">
                          <a:solidFill>
                            <a:schemeClr val="bg1"/>
                          </a:solidFill>
                          <a:effectLst/>
                          <a:latin typeface="+mj-lt"/>
                        </a:rPr>
                        <a:t>It is secure to use compared to malloc.</a:t>
                      </a:r>
                    </a:p>
                  </a:txBody>
                  <a:tcPr marL="62728" marR="62728" marT="31364" marB="3136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417065032"/>
                  </a:ext>
                </a:extLst>
              </a:tr>
              <a:tr h="491626">
                <a:tc>
                  <a:txBody>
                    <a:bodyPr/>
                    <a:lstStyle/>
                    <a:p>
                      <a:r>
                        <a:rPr lang="en-US" sz="1400">
                          <a:solidFill>
                            <a:schemeClr val="bg1"/>
                          </a:solidFill>
                          <a:effectLst/>
                          <a:latin typeface="+mj-lt"/>
                        </a:rPr>
                        <a:t>Time efficiency is higher than calloc().</a:t>
                      </a:r>
                    </a:p>
                  </a:txBody>
                  <a:tcPr marL="62728" marR="62728" marT="31364" marB="3136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9F9"/>
                    </a:solidFill>
                  </a:tcPr>
                </a:tc>
                <a:tc>
                  <a:txBody>
                    <a:bodyPr/>
                    <a:lstStyle/>
                    <a:p>
                      <a:r>
                        <a:rPr lang="en-US" sz="1400">
                          <a:solidFill>
                            <a:schemeClr val="bg1"/>
                          </a:solidFill>
                          <a:effectLst/>
                          <a:latin typeface="+mj-lt"/>
                        </a:rPr>
                        <a:t>Time efficiency is lower than malloc().</a:t>
                      </a:r>
                    </a:p>
                  </a:txBody>
                  <a:tcPr marL="62728" marR="62728" marT="31364" marB="3136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9F9"/>
                    </a:solidFill>
                  </a:tcPr>
                </a:tc>
                <a:extLst>
                  <a:ext uri="{0D108BD9-81ED-4DB2-BD59-A6C34878D82A}">
                    <a16:rowId xmlns:a16="http://schemas.microsoft.com/office/drawing/2014/main" val="4064448054"/>
                  </a:ext>
                </a:extLst>
              </a:tr>
              <a:tr h="705935">
                <a:tc>
                  <a:txBody>
                    <a:bodyPr/>
                    <a:lstStyle/>
                    <a:p>
                      <a:r>
                        <a:rPr lang="en-US" sz="1400">
                          <a:solidFill>
                            <a:schemeClr val="bg1"/>
                          </a:solidFill>
                          <a:effectLst/>
                          <a:latin typeface="+mj-lt"/>
                        </a:rPr>
                        <a:t>Malloc() function returns only starting address and does not make it zero.</a:t>
                      </a:r>
                    </a:p>
                  </a:txBody>
                  <a:tcPr marL="62728" marR="62728" marT="31364" marB="3136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400" dirty="0">
                          <a:solidFill>
                            <a:schemeClr val="bg1"/>
                          </a:solidFill>
                          <a:effectLst/>
                          <a:latin typeface="+mj-lt"/>
                        </a:rPr>
                        <a:t>Before allocating the address, </a:t>
                      </a:r>
                      <a:r>
                        <a:rPr lang="en-US" sz="1400" dirty="0" err="1">
                          <a:solidFill>
                            <a:schemeClr val="bg1"/>
                          </a:solidFill>
                          <a:effectLst/>
                          <a:latin typeface="+mj-lt"/>
                        </a:rPr>
                        <a:t>Calloc</a:t>
                      </a:r>
                      <a:r>
                        <a:rPr lang="en-US" sz="1400" dirty="0">
                          <a:solidFill>
                            <a:schemeClr val="bg1"/>
                          </a:solidFill>
                          <a:effectLst/>
                          <a:latin typeface="+mj-lt"/>
                        </a:rPr>
                        <a:t>() function returns the starting address and make it zero.</a:t>
                      </a:r>
                    </a:p>
                  </a:txBody>
                  <a:tcPr marL="62728" marR="62728" marT="31364" marB="3136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9145052"/>
                  </a:ext>
                </a:extLst>
              </a:tr>
              <a:tr h="491626">
                <a:tc>
                  <a:txBody>
                    <a:bodyPr/>
                    <a:lstStyle/>
                    <a:p>
                      <a:r>
                        <a:rPr lang="en-US" sz="1400">
                          <a:solidFill>
                            <a:schemeClr val="bg1"/>
                          </a:solidFill>
                          <a:effectLst/>
                          <a:latin typeface="+mj-lt"/>
                        </a:rPr>
                        <a:t>It does not perform initialization of memory.</a:t>
                      </a:r>
                    </a:p>
                  </a:txBody>
                  <a:tcPr marL="62728" marR="62728" marT="31364" marB="3136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F9F9"/>
                    </a:solidFill>
                  </a:tcPr>
                </a:tc>
                <a:tc>
                  <a:txBody>
                    <a:bodyPr/>
                    <a:lstStyle/>
                    <a:p>
                      <a:r>
                        <a:rPr lang="en-IN" sz="1400" dirty="0">
                          <a:solidFill>
                            <a:schemeClr val="bg1"/>
                          </a:solidFill>
                          <a:effectLst/>
                          <a:latin typeface="+mj-lt"/>
                        </a:rPr>
                        <a:t>It performs memory initialization.</a:t>
                      </a:r>
                    </a:p>
                  </a:txBody>
                  <a:tcPr marL="62728" marR="62728" marT="31364" marB="3136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F9F9"/>
                    </a:solidFill>
                  </a:tcPr>
                </a:tc>
                <a:extLst>
                  <a:ext uri="{0D108BD9-81ED-4DB2-BD59-A6C34878D82A}">
                    <a16:rowId xmlns:a16="http://schemas.microsoft.com/office/drawing/2014/main" val="1142448538"/>
                  </a:ext>
                </a:extLst>
              </a:tr>
            </a:tbl>
          </a:graphicData>
        </a:graphic>
      </p:graphicFrame>
    </p:spTree>
    <p:extLst>
      <p:ext uri="{BB962C8B-B14F-4D97-AF65-F5344CB8AC3E}">
        <p14:creationId xmlns:p14="http://schemas.microsoft.com/office/powerpoint/2010/main" val="3583564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Arrays of Pointers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
        <p:nvSpPr>
          <p:cNvPr id="10" name="TextBox 9">
            <a:extLst>
              <a:ext uri="{FF2B5EF4-FFF2-40B4-BE49-F238E27FC236}">
                <a16:creationId xmlns:a16="http://schemas.microsoft.com/office/drawing/2014/main" id="{46C9BDA1-F410-CFEA-8FC0-56FB66147BD4}"/>
              </a:ext>
            </a:extLst>
          </p:cNvPr>
          <p:cNvSpPr txBox="1"/>
          <p:nvPr/>
        </p:nvSpPr>
        <p:spPr>
          <a:xfrm>
            <a:off x="5118653" y="1070088"/>
            <a:ext cx="2743200" cy="1600438"/>
          </a:xfrm>
          <a:prstGeom prst="rect">
            <a:avLst/>
          </a:prstGeom>
          <a:noFill/>
        </p:spPr>
        <p:txBody>
          <a:bodyPr wrap="square">
            <a:spAutoFit/>
          </a:bodyPr>
          <a:lstStyle/>
          <a:p>
            <a:r>
              <a:rPr lang="en-IN" b="1" dirty="0">
                <a:solidFill>
                  <a:srgbClr val="FFFF00"/>
                </a:solidFill>
              </a:rPr>
              <a:t>Output</a:t>
            </a:r>
          </a:p>
          <a:p>
            <a:r>
              <a:rPr lang="en-IN" dirty="0">
                <a:solidFill>
                  <a:srgbClr val="FFFF00"/>
                </a:solidFill>
              </a:rPr>
              <a:t>Value of var[0] = 10</a:t>
            </a:r>
          </a:p>
          <a:p>
            <a:r>
              <a:rPr lang="en-IN" dirty="0">
                <a:solidFill>
                  <a:srgbClr val="FFFF00"/>
                </a:solidFill>
              </a:rPr>
              <a:t>Address of var[0] = D27EE67C</a:t>
            </a:r>
          </a:p>
          <a:p>
            <a:r>
              <a:rPr lang="en-IN" dirty="0">
                <a:solidFill>
                  <a:srgbClr val="FFFF00"/>
                </a:solidFill>
              </a:rPr>
              <a:t>Value of var[1] = 100</a:t>
            </a:r>
          </a:p>
          <a:p>
            <a:r>
              <a:rPr lang="en-IN" dirty="0">
                <a:solidFill>
                  <a:srgbClr val="FFFF00"/>
                </a:solidFill>
              </a:rPr>
              <a:t>Address of var[1] = D27EE680</a:t>
            </a:r>
          </a:p>
          <a:p>
            <a:r>
              <a:rPr lang="en-IN" dirty="0">
                <a:solidFill>
                  <a:srgbClr val="FFFF00"/>
                </a:solidFill>
              </a:rPr>
              <a:t>Value of var[2] = 200</a:t>
            </a:r>
          </a:p>
          <a:p>
            <a:r>
              <a:rPr lang="en-IN" dirty="0">
                <a:solidFill>
                  <a:srgbClr val="FFFF00"/>
                </a:solidFill>
              </a:rPr>
              <a:t>Address of var[2] = D27EE684</a:t>
            </a:r>
          </a:p>
        </p:txBody>
      </p:sp>
      <p:pic>
        <p:nvPicPr>
          <p:cNvPr id="12" name="Picture 11">
            <a:extLst>
              <a:ext uri="{FF2B5EF4-FFF2-40B4-BE49-F238E27FC236}">
                <a16:creationId xmlns:a16="http://schemas.microsoft.com/office/drawing/2014/main" id="{26F48859-6434-EF42-A3E2-86749BBC18FF}"/>
              </a:ext>
            </a:extLst>
          </p:cNvPr>
          <p:cNvPicPr>
            <a:picLocks noChangeAspect="1"/>
          </p:cNvPicPr>
          <p:nvPr/>
        </p:nvPicPr>
        <p:blipFill>
          <a:blip r:embed="rId2"/>
          <a:stretch>
            <a:fillRect/>
          </a:stretch>
        </p:blipFill>
        <p:spPr>
          <a:xfrm>
            <a:off x="190916" y="1346201"/>
            <a:ext cx="4572000" cy="3524250"/>
          </a:xfrm>
          <a:prstGeom prst="rect">
            <a:avLst/>
          </a:prstGeom>
        </p:spPr>
      </p:pic>
      <p:sp>
        <p:nvSpPr>
          <p:cNvPr id="14" name="TextBox 13">
            <a:extLst>
              <a:ext uri="{FF2B5EF4-FFF2-40B4-BE49-F238E27FC236}">
                <a16:creationId xmlns:a16="http://schemas.microsoft.com/office/drawing/2014/main" id="{7BE20740-E842-CD7C-99EC-516DF951F15C}"/>
              </a:ext>
            </a:extLst>
          </p:cNvPr>
          <p:cNvSpPr txBox="1"/>
          <p:nvPr/>
        </p:nvSpPr>
        <p:spPr>
          <a:xfrm>
            <a:off x="-83445" y="613104"/>
            <a:ext cx="5788506" cy="523220"/>
          </a:xfrm>
          <a:prstGeom prst="rect">
            <a:avLst/>
          </a:prstGeom>
          <a:noFill/>
        </p:spPr>
        <p:txBody>
          <a:bodyPr wrap="square">
            <a:spAutoFit/>
          </a:bodyPr>
          <a:lstStyle/>
          <a:p>
            <a:pPr marL="285750" indent="-285750">
              <a:buFont typeface="Arial" panose="020B0604020202020204" pitchFamily="34" charset="0"/>
              <a:buChar char="•"/>
            </a:pPr>
            <a:r>
              <a:rPr lang="en-IN" dirty="0">
                <a:solidFill>
                  <a:schemeClr val="tx1"/>
                </a:solidFill>
              </a:rPr>
              <a:t>An array can be used with pointers to do some operations</a:t>
            </a:r>
          </a:p>
          <a:p>
            <a:pPr marL="285750" indent="-285750">
              <a:buFont typeface="Arial" panose="020B0604020202020204" pitchFamily="34" charset="0"/>
              <a:buChar char="•"/>
            </a:pPr>
            <a:r>
              <a:rPr lang="en-IN" dirty="0">
                <a:solidFill>
                  <a:schemeClr val="tx1"/>
                </a:solidFill>
              </a:rPr>
              <a:t>Elements address store in consecutive locations</a:t>
            </a:r>
          </a:p>
        </p:txBody>
      </p:sp>
    </p:spTree>
    <p:extLst>
      <p:ext uri="{BB962C8B-B14F-4D97-AF65-F5344CB8AC3E}">
        <p14:creationId xmlns:p14="http://schemas.microsoft.com/office/powerpoint/2010/main" val="4073749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Arrays of Pointers Example with name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
        <p:nvSpPr>
          <p:cNvPr id="10" name="TextBox 9">
            <a:extLst>
              <a:ext uri="{FF2B5EF4-FFF2-40B4-BE49-F238E27FC236}">
                <a16:creationId xmlns:a16="http://schemas.microsoft.com/office/drawing/2014/main" id="{46C9BDA1-F410-CFEA-8FC0-56FB66147BD4}"/>
              </a:ext>
            </a:extLst>
          </p:cNvPr>
          <p:cNvSpPr txBox="1"/>
          <p:nvPr/>
        </p:nvSpPr>
        <p:spPr>
          <a:xfrm>
            <a:off x="5118653" y="1070088"/>
            <a:ext cx="2743200" cy="523220"/>
          </a:xfrm>
          <a:prstGeom prst="rect">
            <a:avLst/>
          </a:prstGeom>
          <a:noFill/>
        </p:spPr>
        <p:txBody>
          <a:bodyPr wrap="square">
            <a:spAutoFit/>
          </a:bodyPr>
          <a:lstStyle/>
          <a:p>
            <a:r>
              <a:rPr lang="en-IN" b="1" dirty="0">
                <a:solidFill>
                  <a:srgbClr val="FFFF00"/>
                </a:solidFill>
              </a:rPr>
              <a:t>Output</a:t>
            </a:r>
          </a:p>
          <a:p>
            <a:endParaRPr lang="en-IN" b="1" dirty="0">
              <a:solidFill>
                <a:srgbClr val="FFFF00"/>
              </a:solidFill>
            </a:endParaRPr>
          </a:p>
        </p:txBody>
      </p:sp>
      <p:pic>
        <p:nvPicPr>
          <p:cNvPr id="5" name="Picture 4">
            <a:extLst>
              <a:ext uri="{FF2B5EF4-FFF2-40B4-BE49-F238E27FC236}">
                <a16:creationId xmlns:a16="http://schemas.microsoft.com/office/drawing/2014/main" id="{E6CF17BB-B946-4623-EB20-064CC9003FD9}"/>
              </a:ext>
            </a:extLst>
          </p:cNvPr>
          <p:cNvPicPr>
            <a:picLocks noChangeAspect="1"/>
          </p:cNvPicPr>
          <p:nvPr/>
        </p:nvPicPr>
        <p:blipFill>
          <a:blip r:embed="rId2"/>
          <a:stretch>
            <a:fillRect/>
          </a:stretch>
        </p:blipFill>
        <p:spPr>
          <a:xfrm>
            <a:off x="380585" y="759642"/>
            <a:ext cx="4606416" cy="3346365"/>
          </a:xfrm>
          <a:prstGeom prst="rect">
            <a:avLst/>
          </a:prstGeom>
        </p:spPr>
      </p:pic>
      <p:pic>
        <p:nvPicPr>
          <p:cNvPr id="7" name="Picture 6">
            <a:extLst>
              <a:ext uri="{FF2B5EF4-FFF2-40B4-BE49-F238E27FC236}">
                <a16:creationId xmlns:a16="http://schemas.microsoft.com/office/drawing/2014/main" id="{CDA2EBE9-A738-79E4-20A1-AA02B6539F7E}"/>
              </a:ext>
            </a:extLst>
          </p:cNvPr>
          <p:cNvPicPr>
            <a:picLocks noChangeAspect="1"/>
          </p:cNvPicPr>
          <p:nvPr/>
        </p:nvPicPr>
        <p:blipFill>
          <a:blip r:embed="rId3"/>
          <a:stretch>
            <a:fillRect/>
          </a:stretch>
        </p:blipFill>
        <p:spPr>
          <a:xfrm>
            <a:off x="5561357" y="1451750"/>
            <a:ext cx="2076450" cy="981075"/>
          </a:xfrm>
          <a:prstGeom prst="rect">
            <a:avLst/>
          </a:prstGeom>
        </p:spPr>
      </p:pic>
    </p:spTree>
    <p:extLst>
      <p:ext uri="{BB962C8B-B14F-4D97-AF65-F5344CB8AC3E}">
        <p14:creationId xmlns:p14="http://schemas.microsoft.com/office/powerpoint/2010/main" val="3024427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Pointers to Pointers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
        <p:nvSpPr>
          <p:cNvPr id="10" name="TextBox 9">
            <a:extLst>
              <a:ext uri="{FF2B5EF4-FFF2-40B4-BE49-F238E27FC236}">
                <a16:creationId xmlns:a16="http://schemas.microsoft.com/office/drawing/2014/main" id="{46C9BDA1-F410-CFEA-8FC0-56FB66147BD4}"/>
              </a:ext>
            </a:extLst>
          </p:cNvPr>
          <p:cNvSpPr txBox="1"/>
          <p:nvPr/>
        </p:nvSpPr>
        <p:spPr>
          <a:xfrm>
            <a:off x="5512721" y="688557"/>
            <a:ext cx="3631279" cy="1815882"/>
          </a:xfrm>
          <a:prstGeom prst="rect">
            <a:avLst/>
          </a:prstGeom>
          <a:noFill/>
        </p:spPr>
        <p:txBody>
          <a:bodyPr wrap="square">
            <a:spAutoFit/>
          </a:bodyPr>
          <a:lstStyle/>
          <a:p>
            <a:r>
              <a:rPr lang="en-IN" b="1" dirty="0">
                <a:solidFill>
                  <a:srgbClr val="FFFF00"/>
                </a:solidFill>
              </a:rPr>
              <a:t>Output</a:t>
            </a:r>
          </a:p>
          <a:p>
            <a:r>
              <a:rPr lang="en-US" dirty="0">
                <a:solidFill>
                  <a:srgbClr val="FFFF00"/>
                </a:solidFill>
              </a:rPr>
              <a:t>Address of a = 5c653f4</a:t>
            </a:r>
          </a:p>
          <a:p>
            <a:r>
              <a:rPr lang="en-US" dirty="0" err="1">
                <a:solidFill>
                  <a:srgbClr val="FFFF00"/>
                </a:solidFill>
              </a:rPr>
              <a:t>ptr</a:t>
            </a:r>
            <a:r>
              <a:rPr lang="en-US" dirty="0">
                <a:solidFill>
                  <a:srgbClr val="FFFF00"/>
                </a:solidFill>
              </a:rPr>
              <a:t> is pointing to the address = 5c653f4</a:t>
            </a:r>
          </a:p>
          <a:p>
            <a:r>
              <a:rPr lang="en-US" dirty="0" err="1">
                <a:solidFill>
                  <a:srgbClr val="FFFF00"/>
                </a:solidFill>
              </a:rPr>
              <a:t>dptr</a:t>
            </a:r>
            <a:r>
              <a:rPr lang="en-US" dirty="0">
                <a:solidFill>
                  <a:srgbClr val="FFFF00"/>
                </a:solidFill>
              </a:rPr>
              <a:t> is pointing to the address = 5c653e8</a:t>
            </a:r>
          </a:p>
          <a:p>
            <a:r>
              <a:rPr lang="en-US" dirty="0">
                <a:solidFill>
                  <a:srgbClr val="FFFF00"/>
                </a:solidFill>
              </a:rPr>
              <a:t>Value of a = 10</a:t>
            </a:r>
          </a:p>
          <a:p>
            <a:r>
              <a:rPr lang="en-US" dirty="0">
                <a:solidFill>
                  <a:srgbClr val="FFFF00"/>
                </a:solidFill>
              </a:rPr>
              <a:t>*</a:t>
            </a:r>
            <a:r>
              <a:rPr lang="en-US" dirty="0" err="1">
                <a:solidFill>
                  <a:srgbClr val="FFFF00"/>
                </a:solidFill>
              </a:rPr>
              <a:t>ptr</a:t>
            </a:r>
            <a:r>
              <a:rPr lang="en-US" dirty="0">
                <a:solidFill>
                  <a:srgbClr val="FFFF00"/>
                </a:solidFill>
              </a:rPr>
              <a:t> = 10</a:t>
            </a:r>
          </a:p>
          <a:p>
            <a:r>
              <a:rPr lang="en-US" dirty="0">
                <a:solidFill>
                  <a:srgbClr val="FFFF00"/>
                </a:solidFill>
              </a:rPr>
              <a:t>**</a:t>
            </a:r>
            <a:r>
              <a:rPr lang="en-US" dirty="0" err="1">
                <a:solidFill>
                  <a:srgbClr val="FFFF00"/>
                </a:solidFill>
              </a:rPr>
              <a:t>dptr</a:t>
            </a:r>
            <a:r>
              <a:rPr lang="en-US" dirty="0">
                <a:solidFill>
                  <a:srgbClr val="FFFF00"/>
                </a:solidFill>
              </a:rPr>
              <a:t> = 10</a:t>
            </a:r>
          </a:p>
          <a:p>
            <a:endParaRPr lang="en-IN" b="1" dirty="0">
              <a:solidFill>
                <a:srgbClr val="FFFF00"/>
              </a:solidFill>
            </a:endParaRPr>
          </a:p>
        </p:txBody>
      </p:sp>
      <p:sp>
        <p:nvSpPr>
          <p:cNvPr id="14" name="TextBox 13">
            <a:extLst>
              <a:ext uri="{FF2B5EF4-FFF2-40B4-BE49-F238E27FC236}">
                <a16:creationId xmlns:a16="http://schemas.microsoft.com/office/drawing/2014/main" id="{7BE20740-E842-CD7C-99EC-516DF951F15C}"/>
              </a:ext>
            </a:extLst>
          </p:cNvPr>
          <p:cNvSpPr txBox="1"/>
          <p:nvPr/>
        </p:nvSpPr>
        <p:spPr>
          <a:xfrm>
            <a:off x="0" y="461534"/>
            <a:ext cx="5788506" cy="738664"/>
          </a:xfrm>
          <a:prstGeom prst="rect">
            <a:avLst/>
          </a:prstGeom>
          <a:noFill/>
        </p:spPr>
        <p:txBody>
          <a:bodyPr wrap="square">
            <a:spAutoFit/>
          </a:bodyPr>
          <a:lstStyle/>
          <a:p>
            <a:pPr marL="285750" indent="-285750">
              <a:buFont typeface="Arial" panose="020B0604020202020204" pitchFamily="34" charset="0"/>
              <a:buChar char="•"/>
            </a:pPr>
            <a:r>
              <a:rPr lang="en-IN" dirty="0">
                <a:solidFill>
                  <a:schemeClr val="tx1"/>
                </a:solidFill>
              </a:rPr>
              <a:t>Double pointers – Adding pointers with pointers</a:t>
            </a:r>
          </a:p>
          <a:p>
            <a:pPr marL="285750" indent="-285750">
              <a:buFont typeface="Arial" panose="020B0604020202020204" pitchFamily="34" charset="0"/>
              <a:buChar char="•"/>
            </a:pPr>
            <a:r>
              <a:rPr lang="en-US" b="1" dirty="0">
                <a:solidFill>
                  <a:schemeClr val="accent2"/>
                </a:solidFill>
              </a:rPr>
              <a:t>1) Referencing </a:t>
            </a:r>
            <a:r>
              <a:rPr lang="en-US" dirty="0">
                <a:solidFill>
                  <a:schemeClr val="tx1"/>
                </a:solidFill>
              </a:rPr>
              <a:t>- Assigning an address to the pointer</a:t>
            </a:r>
          </a:p>
          <a:p>
            <a:pPr marL="285750" indent="-285750">
              <a:buFont typeface="Arial" panose="020B0604020202020204" pitchFamily="34" charset="0"/>
              <a:buChar char="•"/>
            </a:pPr>
            <a:r>
              <a:rPr lang="en-US" b="1" dirty="0">
                <a:solidFill>
                  <a:schemeClr val="accent6"/>
                </a:solidFill>
              </a:rPr>
              <a:t>2) Dereferencing </a:t>
            </a:r>
            <a:r>
              <a:rPr lang="en-US" dirty="0">
                <a:solidFill>
                  <a:schemeClr val="tx1"/>
                </a:solidFill>
              </a:rPr>
              <a:t>- Accessing the value stored at the pointer</a:t>
            </a:r>
            <a:endParaRPr lang="en-IN" dirty="0">
              <a:solidFill>
                <a:schemeClr val="tx1"/>
              </a:solidFill>
            </a:endParaRPr>
          </a:p>
        </p:txBody>
      </p:sp>
      <p:sp>
        <p:nvSpPr>
          <p:cNvPr id="11" name="TextBox 10">
            <a:extLst>
              <a:ext uri="{FF2B5EF4-FFF2-40B4-BE49-F238E27FC236}">
                <a16:creationId xmlns:a16="http://schemas.microsoft.com/office/drawing/2014/main" id="{8211AD40-120E-19A3-229A-67AE44D4391C}"/>
              </a:ext>
            </a:extLst>
          </p:cNvPr>
          <p:cNvSpPr txBox="1"/>
          <p:nvPr/>
        </p:nvSpPr>
        <p:spPr>
          <a:xfrm>
            <a:off x="426759" y="1325981"/>
            <a:ext cx="4591878" cy="3539430"/>
          </a:xfrm>
          <a:prstGeom prst="rect">
            <a:avLst/>
          </a:prstGeom>
          <a:noFill/>
        </p:spPr>
        <p:txBody>
          <a:bodyPr wrap="square">
            <a:spAutoFit/>
          </a:bodyPr>
          <a:lstStyle/>
          <a:p>
            <a:r>
              <a:rPr lang="en-IN" dirty="0">
                <a:solidFill>
                  <a:schemeClr val="tx1"/>
                </a:solidFill>
              </a:rPr>
              <a:t>#include&lt;stdio.h&gt;</a:t>
            </a:r>
          </a:p>
          <a:p>
            <a:r>
              <a:rPr lang="en-IN" dirty="0">
                <a:solidFill>
                  <a:schemeClr val="tx1"/>
                </a:solidFill>
              </a:rPr>
              <a:t>int main()</a:t>
            </a:r>
          </a:p>
          <a:p>
            <a:r>
              <a:rPr lang="en-IN" dirty="0">
                <a:solidFill>
                  <a:schemeClr val="tx1"/>
                </a:solidFill>
              </a:rPr>
              <a:t>{</a:t>
            </a:r>
          </a:p>
          <a:p>
            <a:r>
              <a:rPr lang="en-IN" dirty="0">
                <a:solidFill>
                  <a:schemeClr val="tx1"/>
                </a:solidFill>
              </a:rPr>
              <a:t>    int a = 10;</a:t>
            </a:r>
          </a:p>
          <a:p>
            <a:r>
              <a:rPr lang="en-IN" dirty="0">
                <a:solidFill>
                  <a:schemeClr val="tx1"/>
                </a:solidFill>
              </a:rPr>
              <a:t>    int *</a:t>
            </a:r>
            <a:r>
              <a:rPr lang="en-IN" dirty="0" err="1">
                <a:solidFill>
                  <a:schemeClr val="tx1"/>
                </a:solidFill>
              </a:rPr>
              <a:t>ptr</a:t>
            </a:r>
            <a:r>
              <a:rPr lang="en-IN" dirty="0">
                <a:solidFill>
                  <a:schemeClr val="tx1"/>
                </a:solidFill>
              </a:rPr>
              <a:t> = &amp;a;     //</a:t>
            </a:r>
            <a:r>
              <a:rPr lang="en-IN" dirty="0" err="1">
                <a:solidFill>
                  <a:schemeClr val="tx1"/>
                </a:solidFill>
              </a:rPr>
              <a:t>ptr</a:t>
            </a:r>
            <a:r>
              <a:rPr lang="en-IN" dirty="0">
                <a:solidFill>
                  <a:schemeClr val="tx1"/>
                </a:solidFill>
              </a:rPr>
              <a:t> references a</a:t>
            </a:r>
          </a:p>
          <a:p>
            <a:r>
              <a:rPr lang="en-IN" dirty="0">
                <a:solidFill>
                  <a:schemeClr val="tx1"/>
                </a:solidFill>
              </a:rPr>
              <a:t>    int **</a:t>
            </a:r>
            <a:r>
              <a:rPr lang="en-IN" dirty="0" err="1">
                <a:solidFill>
                  <a:schemeClr val="tx1"/>
                </a:solidFill>
              </a:rPr>
              <a:t>dptr</a:t>
            </a:r>
            <a:r>
              <a:rPr lang="en-IN" dirty="0">
                <a:solidFill>
                  <a:schemeClr val="tx1"/>
                </a:solidFill>
              </a:rPr>
              <a:t> = &amp;</a:t>
            </a:r>
            <a:r>
              <a:rPr lang="en-IN" dirty="0" err="1">
                <a:solidFill>
                  <a:schemeClr val="tx1"/>
                </a:solidFill>
              </a:rPr>
              <a:t>ptr</a:t>
            </a:r>
            <a:r>
              <a:rPr lang="en-IN" dirty="0">
                <a:solidFill>
                  <a:schemeClr val="tx1"/>
                </a:solidFill>
              </a:rPr>
              <a:t>; //</a:t>
            </a:r>
            <a:r>
              <a:rPr lang="en-IN" dirty="0" err="1">
                <a:solidFill>
                  <a:schemeClr val="tx1"/>
                </a:solidFill>
              </a:rPr>
              <a:t>dptr</a:t>
            </a:r>
            <a:r>
              <a:rPr lang="en-IN" dirty="0">
                <a:solidFill>
                  <a:schemeClr val="tx1"/>
                </a:solidFill>
              </a:rPr>
              <a:t> references </a:t>
            </a:r>
            <a:r>
              <a:rPr lang="en-IN" dirty="0" err="1">
                <a:solidFill>
                  <a:schemeClr val="tx1"/>
                </a:solidFill>
              </a:rPr>
              <a:t>ptr</a:t>
            </a:r>
            <a:endParaRPr lang="en-IN" dirty="0">
              <a:solidFill>
                <a:schemeClr val="tx1"/>
              </a:solidFill>
            </a:endParaRPr>
          </a:p>
          <a:p>
            <a:endParaRPr lang="en-IN" dirty="0">
              <a:solidFill>
                <a:schemeClr val="tx1"/>
              </a:solidFill>
            </a:endParaRPr>
          </a:p>
          <a:p>
            <a:r>
              <a:rPr lang="en-IN" dirty="0">
                <a:solidFill>
                  <a:schemeClr val="tx1"/>
                </a:solidFill>
              </a:rPr>
              <a:t>    </a:t>
            </a:r>
            <a:r>
              <a:rPr lang="en-IN" dirty="0" err="1">
                <a:solidFill>
                  <a:schemeClr val="tx1"/>
                </a:solidFill>
              </a:rPr>
              <a:t>printf</a:t>
            </a:r>
            <a:r>
              <a:rPr lang="en-IN" dirty="0">
                <a:solidFill>
                  <a:schemeClr val="tx1"/>
                </a:solidFill>
              </a:rPr>
              <a:t>("Address of a = %p\</a:t>
            </a:r>
            <a:r>
              <a:rPr lang="en-IN" dirty="0" err="1">
                <a:solidFill>
                  <a:schemeClr val="tx1"/>
                </a:solidFill>
              </a:rPr>
              <a:t>n",&amp;a</a:t>
            </a:r>
            <a:r>
              <a:rPr lang="en-IN" dirty="0">
                <a:solidFill>
                  <a:schemeClr val="tx1"/>
                </a:solidFill>
              </a:rPr>
              <a:t>);</a:t>
            </a:r>
          </a:p>
          <a:p>
            <a:r>
              <a:rPr lang="en-IN" dirty="0">
                <a:solidFill>
                  <a:schemeClr val="tx1"/>
                </a:solidFill>
              </a:rPr>
              <a:t>    </a:t>
            </a:r>
            <a:r>
              <a:rPr lang="en-IN" dirty="0" err="1">
                <a:solidFill>
                  <a:schemeClr val="tx1"/>
                </a:solidFill>
              </a:rPr>
              <a:t>printf</a:t>
            </a:r>
            <a:r>
              <a:rPr lang="en-IN" dirty="0">
                <a:solidFill>
                  <a:schemeClr val="tx1"/>
                </a:solidFill>
              </a:rPr>
              <a:t>("</a:t>
            </a:r>
            <a:r>
              <a:rPr lang="en-IN" dirty="0" err="1">
                <a:solidFill>
                  <a:schemeClr val="tx1"/>
                </a:solidFill>
              </a:rPr>
              <a:t>ptr</a:t>
            </a:r>
            <a:r>
              <a:rPr lang="en-IN" dirty="0">
                <a:solidFill>
                  <a:schemeClr val="tx1"/>
                </a:solidFill>
              </a:rPr>
              <a:t> is pointing to the address = %p\n",</a:t>
            </a:r>
            <a:r>
              <a:rPr lang="en-IN" dirty="0" err="1">
                <a:solidFill>
                  <a:schemeClr val="tx1"/>
                </a:solidFill>
              </a:rPr>
              <a:t>ptr</a:t>
            </a:r>
            <a:r>
              <a:rPr lang="en-IN" dirty="0">
                <a:solidFill>
                  <a:schemeClr val="tx1"/>
                </a:solidFill>
              </a:rPr>
              <a:t>);</a:t>
            </a:r>
          </a:p>
          <a:p>
            <a:r>
              <a:rPr lang="en-IN" dirty="0">
                <a:solidFill>
                  <a:schemeClr val="tx1"/>
                </a:solidFill>
              </a:rPr>
              <a:t>    </a:t>
            </a:r>
            <a:r>
              <a:rPr lang="en-IN" dirty="0" err="1">
                <a:solidFill>
                  <a:schemeClr val="tx1"/>
                </a:solidFill>
              </a:rPr>
              <a:t>printf</a:t>
            </a:r>
            <a:r>
              <a:rPr lang="en-IN" dirty="0">
                <a:solidFill>
                  <a:schemeClr val="tx1"/>
                </a:solidFill>
              </a:rPr>
              <a:t>("</a:t>
            </a:r>
            <a:r>
              <a:rPr lang="en-IN" dirty="0" err="1">
                <a:solidFill>
                  <a:schemeClr val="tx1"/>
                </a:solidFill>
              </a:rPr>
              <a:t>dptr</a:t>
            </a:r>
            <a:r>
              <a:rPr lang="en-IN" dirty="0">
                <a:solidFill>
                  <a:schemeClr val="tx1"/>
                </a:solidFill>
              </a:rPr>
              <a:t> is pointing to the address = %p\n",</a:t>
            </a:r>
            <a:r>
              <a:rPr lang="en-IN" dirty="0" err="1">
                <a:solidFill>
                  <a:schemeClr val="tx1"/>
                </a:solidFill>
              </a:rPr>
              <a:t>dptr</a:t>
            </a:r>
            <a:r>
              <a:rPr lang="en-IN" dirty="0">
                <a:solidFill>
                  <a:schemeClr val="tx1"/>
                </a:solidFill>
              </a:rPr>
              <a:t>);</a:t>
            </a:r>
          </a:p>
          <a:p>
            <a:r>
              <a:rPr lang="en-IN" dirty="0">
                <a:solidFill>
                  <a:schemeClr val="tx1"/>
                </a:solidFill>
              </a:rPr>
              <a:t>    </a:t>
            </a:r>
            <a:r>
              <a:rPr lang="en-IN" dirty="0" err="1">
                <a:solidFill>
                  <a:schemeClr val="tx1"/>
                </a:solidFill>
              </a:rPr>
              <a:t>printf</a:t>
            </a:r>
            <a:r>
              <a:rPr lang="en-IN" dirty="0">
                <a:solidFill>
                  <a:schemeClr val="tx1"/>
                </a:solidFill>
              </a:rPr>
              <a:t>("Value of a = %d\</a:t>
            </a:r>
            <a:r>
              <a:rPr lang="en-IN" dirty="0" err="1">
                <a:solidFill>
                  <a:schemeClr val="tx1"/>
                </a:solidFill>
              </a:rPr>
              <a:t>n",a</a:t>
            </a:r>
            <a:r>
              <a:rPr lang="en-IN" dirty="0">
                <a:solidFill>
                  <a:schemeClr val="tx1"/>
                </a:solidFill>
              </a:rPr>
              <a:t>);</a:t>
            </a:r>
          </a:p>
          <a:p>
            <a:r>
              <a:rPr lang="en-IN" dirty="0">
                <a:solidFill>
                  <a:schemeClr val="tx1"/>
                </a:solidFill>
              </a:rPr>
              <a:t>    </a:t>
            </a:r>
            <a:r>
              <a:rPr lang="en-IN" dirty="0" err="1">
                <a:solidFill>
                  <a:schemeClr val="tx1"/>
                </a:solidFill>
              </a:rPr>
              <a:t>printf</a:t>
            </a:r>
            <a:r>
              <a:rPr lang="en-IN" dirty="0">
                <a:solidFill>
                  <a:schemeClr val="tx1"/>
                </a:solidFill>
              </a:rPr>
              <a:t>("*</a:t>
            </a:r>
            <a:r>
              <a:rPr lang="en-IN" dirty="0" err="1">
                <a:solidFill>
                  <a:schemeClr val="tx1"/>
                </a:solidFill>
              </a:rPr>
              <a:t>ptr</a:t>
            </a:r>
            <a:r>
              <a:rPr lang="en-IN" dirty="0">
                <a:solidFill>
                  <a:schemeClr val="tx1"/>
                </a:solidFill>
              </a:rPr>
              <a:t> = %d\n",*</a:t>
            </a:r>
            <a:r>
              <a:rPr lang="en-IN" dirty="0" err="1">
                <a:solidFill>
                  <a:schemeClr val="tx1"/>
                </a:solidFill>
              </a:rPr>
              <a:t>ptr</a:t>
            </a:r>
            <a:r>
              <a:rPr lang="en-IN" dirty="0">
                <a:solidFill>
                  <a:schemeClr val="tx1"/>
                </a:solidFill>
              </a:rPr>
              <a:t>);</a:t>
            </a:r>
          </a:p>
          <a:p>
            <a:r>
              <a:rPr lang="en-IN" dirty="0">
                <a:solidFill>
                  <a:schemeClr val="tx1"/>
                </a:solidFill>
              </a:rPr>
              <a:t>    </a:t>
            </a:r>
            <a:r>
              <a:rPr lang="en-IN" dirty="0" err="1">
                <a:solidFill>
                  <a:schemeClr val="tx1"/>
                </a:solidFill>
              </a:rPr>
              <a:t>printf</a:t>
            </a:r>
            <a:r>
              <a:rPr lang="en-IN" dirty="0">
                <a:solidFill>
                  <a:schemeClr val="tx1"/>
                </a:solidFill>
              </a:rPr>
              <a:t>("**</a:t>
            </a:r>
            <a:r>
              <a:rPr lang="en-IN" dirty="0" err="1">
                <a:solidFill>
                  <a:schemeClr val="tx1"/>
                </a:solidFill>
              </a:rPr>
              <a:t>dptr</a:t>
            </a:r>
            <a:r>
              <a:rPr lang="en-IN" dirty="0">
                <a:solidFill>
                  <a:schemeClr val="tx1"/>
                </a:solidFill>
              </a:rPr>
              <a:t> = %d\n",**</a:t>
            </a:r>
            <a:r>
              <a:rPr lang="en-IN" dirty="0" err="1">
                <a:solidFill>
                  <a:schemeClr val="tx1"/>
                </a:solidFill>
              </a:rPr>
              <a:t>dptr</a:t>
            </a:r>
            <a:r>
              <a:rPr lang="en-IN" dirty="0">
                <a:solidFill>
                  <a:schemeClr val="tx1"/>
                </a:solidFill>
              </a:rPr>
              <a:t>);</a:t>
            </a:r>
          </a:p>
          <a:p>
            <a:endParaRPr lang="en-IN" dirty="0">
              <a:solidFill>
                <a:schemeClr val="tx1"/>
              </a:solidFill>
            </a:endParaRPr>
          </a:p>
          <a:p>
            <a:r>
              <a:rPr lang="en-IN" dirty="0">
                <a:solidFill>
                  <a:schemeClr val="tx1"/>
                </a:solidFill>
              </a:rPr>
              <a:t>    return 0;</a:t>
            </a:r>
          </a:p>
          <a:p>
            <a:r>
              <a:rPr lang="en-IN" dirty="0">
                <a:solidFill>
                  <a:schemeClr val="tx1"/>
                </a:solidFill>
              </a:rPr>
              <a:t>}</a:t>
            </a:r>
          </a:p>
        </p:txBody>
      </p:sp>
    </p:spTree>
    <p:extLst>
      <p:ext uri="{BB962C8B-B14F-4D97-AF65-F5344CB8AC3E}">
        <p14:creationId xmlns:p14="http://schemas.microsoft.com/office/powerpoint/2010/main" val="2528245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Pointers with Functions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
        <p:nvSpPr>
          <p:cNvPr id="10" name="TextBox 9">
            <a:extLst>
              <a:ext uri="{FF2B5EF4-FFF2-40B4-BE49-F238E27FC236}">
                <a16:creationId xmlns:a16="http://schemas.microsoft.com/office/drawing/2014/main" id="{46C9BDA1-F410-CFEA-8FC0-56FB66147BD4}"/>
              </a:ext>
            </a:extLst>
          </p:cNvPr>
          <p:cNvSpPr txBox="1"/>
          <p:nvPr/>
        </p:nvSpPr>
        <p:spPr>
          <a:xfrm>
            <a:off x="6148825" y="617110"/>
            <a:ext cx="3631279" cy="523220"/>
          </a:xfrm>
          <a:prstGeom prst="rect">
            <a:avLst/>
          </a:prstGeom>
          <a:noFill/>
        </p:spPr>
        <p:txBody>
          <a:bodyPr wrap="square">
            <a:spAutoFit/>
          </a:bodyPr>
          <a:lstStyle/>
          <a:p>
            <a:r>
              <a:rPr lang="en-IN" b="1" dirty="0">
                <a:solidFill>
                  <a:srgbClr val="FFFF00"/>
                </a:solidFill>
              </a:rPr>
              <a:t>Output</a:t>
            </a:r>
          </a:p>
          <a:p>
            <a:r>
              <a:rPr lang="en-US" dirty="0">
                <a:solidFill>
                  <a:srgbClr val="FFFF00"/>
                </a:solidFill>
              </a:rPr>
              <a:t>Address of main() Function is : 2951</a:t>
            </a:r>
            <a:endParaRPr lang="en-IN" b="1" dirty="0">
              <a:solidFill>
                <a:srgbClr val="FFFF00"/>
              </a:solidFill>
            </a:endParaRPr>
          </a:p>
        </p:txBody>
      </p:sp>
      <p:sp>
        <p:nvSpPr>
          <p:cNvPr id="14" name="TextBox 13">
            <a:extLst>
              <a:ext uri="{FF2B5EF4-FFF2-40B4-BE49-F238E27FC236}">
                <a16:creationId xmlns:a16="http://schemas.microsoft.com/office/drawing/2014/main" id="{7BE20740-E842-CD7C-99EC-516DF951F15C}"/>
              </a:ext>
            </a:extLst>
          </p:cNvPr>
          <p:cNvSpPr txBox="1"/>
          <p:nvPr/>
        </p:nvSpPr>
        <p:spPr>
          <a:xfrm>
            <a:off x="155529" y="580699"/>
            <a:ext cx="5993296" cy="954107"/>
          </a:xfrm>
          <a:prstGeom prst="rect">
            <a:avLst/>
          </a:prstGeom>
          <a:noFill/>
        </p:spPr>
        <p:txBody>
          <a:bodyPr wrap="square">
            <a:spAutoFit/>
          </a:bodyPr>
          <a:lstStyle/>
          <a:p>
            <a:pPr marL="285750" indent="-285750">
              <a:buFont typeface="Arial" panose="020B0604020202020204" pitchFamily="34" charset="0"/>
              <a:buChar char="•"/>
            </a:pPr>
            <a:r>
              <a:rPr lang="en-IN" dirty="0">
                <a:solidFill>
                  <a:schemeClr val="tx1"/>
                </a:solidFill>
              </a:rPr>
              <a:t>Pointers can be used with functions to do some tasks</a:t>
            </a:r>
          </a:p>
          <a:p>
            <a:pPr marL="285750" indent="-285750" algn="just">
              <a:buFont typeface="Arial" panose="020B0604020202020204" pitchFamily="34" charset="0"/>
              <a:buChar char="•"/>
            </a:pPr>
            <a:r>
              <a:rPr lang="en-US" dirty="0">
                <a:solidFill>
                  <a:schemeClr val="tx1"/>
                </a:solidFill>
              </a:rPr>
              <a:t>The code of a function always resides in memory, which means that the function has some address. Users can get the address of memory by using the function pointer</a:t>
            </a:r>
            <a:endParaRPr lang="en-IN" dirty="0">
              <a:solidFill>
                <a:schemeClr val="tx1"/>
              </a:solidFill>
            </a:endParaRPr>
          </a:p>
        </p:txBody>
      </p:sp>
      <p:sp>
        <p:nvSpPr>
          <p:cNvPr id="11" name="TextBox 10">
            <a:extLst>
              <a:ext uri="{FF2B5EF4-FFF2-40B4-BE49-F238E27FC236}">
                <a16:creationId xmlns:a16="http://schemas.microsoft.com/office/drawing/2014/main" id="{8211AD40-120E-19A3-229A-67AE44D4391C}"/>
              </a:ext>
            </a:extLst>
          </p:cNvPr>
          <p:cNvSpPr txBox="1"/>
          <p:nvPr/>
        </p:nvSpPr>
        <p:spPr>
          <a:xfrm>
            <a:off x="456577" y="1653972"/>
            <a:ext cx="4591878" cy="1384995"/>
          </a:xfrm>
          <a:prstGeom prst="rect">
            <a:avLst/>
          </a:prstGeom>
          <a:noFill/>
        </p:spPr>
        <p:txBody>
          <a:bodyPr wrap="square">
            <a:spAutoFit/>
          </a:bodyPr>
          <a:lstStyle/>
          <a:p>
            <a:r>
              <a:rPr lang="en-US" dirty="0">
                <a:solidFill>
                  <a:schemeClr val="tx1"/>
                </a:solidFill>
              </a:rPr>
              <a:t>#include &lt;</a:t>
            </a:r>
            <a:r>
              <a:rPr lang="en-US" dirty="0" err="1">
                <a:solidFill>
                  <a:schemeClr val="tx1"/>
                </a:solidFill>
              </a:rPr>
              <a:t>stdio.h</a:t>
            </a:r>
            <a:r>
              <a:rPr lang="en-US" dirty="0">
                <a:solidFill>
                  <a:schemeClr val="tx1"/>
                </a:solidFill>
              </a:rPr>
              <a:t>&gt;  </a:t>
            </a:r>
          </a:p>
          <a:p>
            <a:r>
              <a:rPr lang="en-US" dirty="0">
                <a:solidFill>
                  <a:schemeClr val="tx1"/>
                </a:solidFill>
              </a:rPr>
              <a:t>void main()  </a:t>
            </a:r>
          </a:p>
          <a:p>
            <a:r>
              <a:rPr lang="en-US" dirty="0">
                <a:solidFill>
                  <a:schemeClr val="tx1"/>
                </a:solidFill>
              </a:rPr>
              <a:t>{  </a:t>
            </a:r>
          </a:p>
          <a:p>
            <a:r>
              <a:rPr lang="en-US" dirty="0">
                <a:solidFill>
                  <a:schemeClr val="tx1"/>
                </a:solidFill>
              </a:rPr>
              <a:t>    </a:t>
            </a:r>
            <a:r>
              <a:rPr lang="en-US" dirty="0" err="1">
                <a:solidFill>
                  <a:schemeClr val="tx1"/>
                </a:solidFill>
              </a:rPr>
              <a:t>printf</a:t>
            </a:r>
            <a:r>
              <a:rPr lang="en-US" dirty="0">
                <a:solidFill>
                  <a:schemeClr val="tx1"/>
                </a:solidFill>
              </a:rPr>
              <a:t>("Address of main() Function is: %p", main);  </a:t>
            </a:r>
          </a:p>
          <a:p>
            <a:r>
              <a:rPr lang="en-US" dirty="0">
                <a:solidFill>
                  <a:schemeClr val="tx1"/>
                </a:solidFill>
              </a:rPr>
              <a:t>      </a:t>
            </a:r>
          </a:p>
          <a:p>
            <a:r>
              <a:rPr lang="en-US" dirty="0">
                <a:solidFill>
                  <a:schemeClr val="tx1"/>
                </a:solidFill>
              </a:rPr>
              <a:t>} </a:t>
            </a:r>
            <a:endParaRPr lang="en-IN" dirty="0">
              <a:solidFill>
                <a:schemeClr val="tx1"/>
              </a:solidFill>
            </a:endParaRPr>
          </a:p>
        </p:txBody>
      </p:sp>
      <p:sp>
        <p:nvSpPr>
          <p:cNvPr id="5" name="TextBox 4">
            <a:extLst>
              <a:ext uri="{FF2B5EF4-FFF2-40B4-BE49-F238E27FC236}">
                <a16:creationId xmlns:a16="http://schemas.microsoft.com/office/drawing/2014/main" id="{868F859A-71EA-21D0-901A-CB7B95E9A7A3}"/>
              </a:ext>
            </a:extLst>
          </p:cNvPr>
          <p:cNvSpPr txBox="1"/>
          <p:nvPr/>
        </p:nvSpPr>
        <p:spPr>
          <a:xfrm>
            <a:off x="456577" y="3073213"/>
            <a:ext cx="5692248" cy="1600438"/>
          </a:xfrm>
          <a:prstGeom prst="rect">
            <a:avLst/>
          </a:prstGeom>
          <a:noFill/>
        </p:spPr>
        <p:txBody>
          <a:bodyPr wrap="square">
            <a:spAutoFit/>
          </a:bodyPr>
          <a:lstStyle/>
          <a:p>
            <a:r>
              <a:rPr lang="en-IN" b="1" dirty="0">
                <a:solidFill>
                  <a:schemeClr val="accent3"/>
                </a:solidFill>
              </a:rPr>
              <a:t>Declaration of a function pointer</a:t>
            </a:r>
          </a:p>
          <a:p>
            <a:r>
              <a:rPr lang="en-IN" dirty="0">
                <a:solidFill>
                  <a:schemeClr val="tx1"/>
                </a:solidFill>
              </a:rPr>
              <a:t>             datatype (*</a:t>
            </a:r>
            <a:r>
              <a:rPr lang="en-IN" dirty="0" err="1">
                <a:solidFill>
                  <a:schemeClr val="tx1"/>
                </a:solidFill>
              </a:rPr>
              <a:t>ptr_name</a:t>
            </a:r>
            <a:r>
              <a:rPr lang="en-IN" dirty="0">
                <a:solidFill>
                  <a:schemeClr val="tx1"/>
                </a:solidFill>
              </a:rPr>
              <a:t>) (type1, type2…);  </a:t>
            </a:r>
          </a:p>
          <a:p>
            <a:r>
              <a:rPr lang="en-IN" b="1" dirty="0">
                <a:solidFill>
                  <a:schemeClr val="accent3"/>
                </a:solidFill>
              </a:rPr>
              <a:t>Example</a:t>
            </a:r>
          </a:p>
          <a:p>
            <a:r>
              <a:rPr lang="en-IN" dirty="0">
                <a:solidFill>
                  <a:schemeClr val="tx1"/>
                </a:solidFill>
              </a:rPr>
              <a:t>int (*</a:t>
            </a:r>
            <a:r>
              <a:rPr lang="en-IN" dirty="0" err="1">
                <a:solidFill>
                  <a:schemeClr val="tx1"/>
                </a:solidFill>
              </a:rPr>
              <a:t>ip</a:t>
            </a:r>
            <a:r>
              <a:rPr lang="en-IN" dirty="0">
                <a:solidFill>
                  <a:schemeClr val="tx1"/>
                </a:solidFill>
              </a:rPr>
              <a:t>) (int);  </a:t>
            </a:r>
          </a:p>
          <a:p>
            <a:endParaRPr lang="en-IN" dirty="0">
              <a:solidFill>
                <a:schemeClr val="tx1"/>
              </a:solidFill>
            </a:endParaRPr>
          </a:p>
          <a:p>
            <a:r>
              <a:rPr lang="en-IN" dirty="0">
                <a:solidFill>
                  <a:schemeClr val="tx1"/>
                </a:solidFill>
              </a:rPr>
              <a:t>In this declaration, </a:t>
            </a:r>
            <a:r>
              <a:rPr lang="en-IN" b="1" dirty="0">
                <a:solidFill>
                  <a:srgbClr val="FFFF00"/>
                </a:solidFill>
              </a:rPr>
              <a:t>*</a:t>
            </a:r>
            <a:r>
              <a:rPr lang="en-IN" b="1" dirty="0" err="1">
                <a:solidFill>
                  <a:srgbClr val="FFFF00"/>
                </a:solidFill>
              </a:rPr>
              <a:t>ip</a:t>
            </a:r>
            <a:r>
              <a:rPr lang="en-IN" b="1" dirty="0">
                <a:solidFill>
                  <a:srgbClr val="FFFF00"/>
                </a:solidFill>
              </a:rPr>
              <a:t> </a:t>
            </a:r>
            <a:r>
              <a:rPr lang="en-IN" dirty="0">
                <a:solidFill>
                  <a:schemeClr val="tx1"/>
                </a:solidFill>
              </a:rPr>
              <a:t>is a pointer that points to a function which returns an int value and accepts an integer value as an argument.</a:t>
            </a:r>
          </a:p>
        </p:txBody>
      </p:sp>
    </p:spTree>
    <p:extLst>
      <p:ext uri="{BB962C8B-B14F-4D97-AF65-F5344CB8AC3E}">
        <p14:creationId xmlns:p14="http://schemas.microsoft.com/office/powerpoint/2010/main" val="11045116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Pointers with Functions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
        <p:nvSpPr>
          <p:cNvPr id="10" name="TextBox 9">
            <a:extLst>
              <a:ext uri="{FF2B5EF4-FFF2-40B4-BE49-F238E27FC236}">
                <a16:creationId xmlns:a16="http://schemas.microsoft.com/office/drawing/2014/main" id="{46C9BDA1-F410-CFEA-8FC0-56FB66147BD4}"/>
              </a:ext>
            </a:extLst>
          </p:cNvPr>
          <p:cNvSpPr txBox="1"/>
          <p:nvPr/>
        </p:nvSpPr>
        <p:spPr>
          <a:xfrm>
            <a:off x="3040961" y="3857266"/>
            <a:ext cx="3631279" cy="954107"/>
          </a:xfrm>
          <a:prstGeom prst="rect">
            <a:avLst/>
          </a:prstGeom>
          <a:noFill/>
        </p:spPr>
        <p:txBody>
          <a:bodyPr wrap="square">
            <a:spAutoFit/>
          </a:bodyPr>
          <a:lstStyle/>
          <a:p>
            <a:r>
              <a:rPr lang="en-IN" b="1" dirty="0">
                <a:solidFill>
                  <a:srgbClr val="FFFF00"/>
                </a:solidFill>
              </a:rPr>
              <a:t>Output</a:t>
            </a:r>
          </a:p>
          <a:p>
            <a:r>
              <a:rPr lang="en-US" dirty="0">
                <a:solidFill>
                  <a:srgbClr val="FFFF00"/>
                </a:solidFill>
              </a:rPr>
              <a:t>Enter the values of a and b: 4</a:t>
            </a:r>
          </a:p>
          <a:p>
            <a:r>
              <a:rPr lang="en-US" dirty="0">
                <a:solidFill>
                  <a:srgbClr val="FFFF00"/>
                </a:solidFill>
              </a:rPr>
              <a:t>55</a:t>
            </a:r>
          </a:p>
          <a:p>
            <a:r>
              <a:rPr lang="en-US" dirty="0">
                <a:solidFill>
                  <a:srgbClr val="FFFF00"/>
                </a:solidFill>
              </a:rPr>
              <a:t>Value after addition is : 59 </a:t>
            </a:r>
            <a:endParaRPr lang="en-IN" b="1" dirty="0">
              <a:solidFill>
                <a:srgbClr val="FFFF00"/>
              </a:solidFill>
            </a:endParaRPr>
          </a:p>
        </p:txBody>
      </p:sp>
      <p:sp>
        <p:nvSpPr>
          <p:cNvPr id="14" name="TextBox 13">
            <a:extLst>
              <a:ext uri="{FF2B5EF4-FFF2-40B4-BE49-F238E27FC236}">
                <a16:creationId xmlns:a16="http://schemas.microsoft.com/office/drawing/2014/main" id="{7BE20740-E842-CD7C-99EC-516DF951F15C}"/>
              </a:ext>
            </a:extLst>
          </p:cNvPr>
          <p:cNvSpPr txBox="1"/>
          <p:nvPr/>
        </p:nvSpPr>
        <p:spPr>
          <a:xfrm>
            <a:off x="3284975" y="495122"/>
            <a:ext cx="5993296" cy="1169551"/>
          </a:xfrm>
          <a:prstGeom prst="rect">
            <a:avLst/>
          </a:prstGeom>
          <a:noFill/>
        </p:spPr>
        <p:txBody>
          <a:bodyPr wrap="square">
            <a:spAutoFit/>
          </a:bodyPr>
          <a:lstStyle/>
          <a:p>
            <a:pPr marL="285750" indent="-285750">
              <a:buFont typeface="Arial" panose="020B0604020202020204" pitchFamily="34" charset="0"/>
              <a:buChar char="•"/>
            </a:pPr>
            <a:r>
              <a:rPr lang="en-IN" dirty="0">
                <a:solidFill>
                  <a:schemeClr val="tx1"/>
                </a:solidFill>
              </a:rPr>
              <a:t>Example</a:t>
            </a:r>
          </a:p>
          <a:p>
            <a:pPr marL="285750" indent="-285750">
              <a:buFont typeface="Arial" panose="020B0604020202020204" pitchFamily="34" charset="0"/>
              <a:buChar char="•"/>
            </a:pPr>
            <a:endParaRPr lang="en-IN" dirty="0">
              <a:solidFill>
                <a:schemeClr val="tx1"/>
              </a:solidFill>
            </a:endParaRPr>
          </a:p>
          <a:p>
            <a:pPr marL="285750" indent="-285750">
              <a:buFont typeface="Arial" panose="020B0604020202020204" pitchFamily="34" charset="0"/>
              <a:buChar char="•"/>
            </a:pPr>
            <a:r>
              <a:rPr lang="en-US" dirty="0">
                <a:solidFill>
                  <a:srgbClr val="FFFF00"/>
                </a:solidFill>
              </a:rPr>
              <a:t>float (*</a:t>
            </a:r>
            <a:r>
              <a:rPr lang="en-US" dirty="0" err="1">
                <a:solidFill>
                  <a:srgbClr val="FFFF00"/>
                </a:solidFill>
              </a:rPr>
              <a:t>fp</a:t>
            </a:r>
            <a:r>
              <a:rPr lang="en-US" dirty="0">
                <a:solidFill>
                  <a:srgbClr val="FFFF00"/>
                </a:solidFill>
              </a:rPr>
              <a:t>) (int , int);    // Declaration of a function pointer  </a:t>
            </a:r>
          </a:p>
          <a:p>
            <a:pPr marL="285750" indent="-285750">
              <a:buFont typeface="Arial" panose="020B0604020202020204" pitchFamily="34" charset="0"/>
              <a:buChar char="•"/>
            </a:pPr>
            <a:r>
              <a:rPr lang="en-US" dirty="0">
                <a:solidFill>
                  <a:schemeClr val="accent1"/>
                </a:solidFill>
              </a:rPr>
              <a:t>float </a:t>
            </a:r>
            <a:r>
              <a:rPr lang="en-US" dirty="0" err="1">
                <a:solidFill>
                  <a:schemeClr val="accent1"/>
                </a:solidFill>
              </a:rPr>
              <a:t>func</a:t>
            </a:r>
            <a:r>
              <a:rPr lang="en-US" dirty="0">
                <a:solidFill>
                  <a:schemeClr val="accent1"/>
                </a:solidFill>
              </a:rPr>
              <a:t>( int , int );    // Declaration of  function</a:t>
            </a:r>
          </a:p>
          <a:p>
            <a:pPr marL="285750" indent="-285750">
              <a:buFont typeface="Arial" panose="020B0604020202020204" pitchFamily="34" charset="0"/>
              <a:buChar char="•"/>
            </a:pPr>
            <a:r>
              <a:rPr lang="en-US" dirty="0" err="1">
                <a:solidFill>
                  <a:schemeClr val="accent2"/>
                </a:solidFill>
              </a:rPr>
              <a:t>fp</a:t>
            </a:r>
            <a:r>
              <a:rPr lang="en-US" dirty="0">
                <a:solidFill>
                  <a:schemeClr val="accent2"/>
                </a:solidFill>
              </a:rPr>
              <a:t> = </a:t>
            </a:r>
            <a:r>
              <a:rPr lang="en-US" dirty="0" err="1">
                <a:solidFill>
                  <a:schemeClr val="accent2"/>
                </a:solidFill>
              </a:rPr>
              <a:t>func</a:t>
            </a:r>
            <a:r>
              <a:rPr lang="en-US" dirty="0">
                <a:solidFill>
                  <a:schemeClr val="accent2"/>
                </a:solidFill>
              </a:rPr>
              <a:t>;                     // Assigning address of </a:t>
            </a:r>
            <a:r>
              <a:rPr lang="en-US" dirty="0" err="1">
                <a:solidFill>
                  <a:schemeClr val="accent2"/>
                </a:solidFill>
              </a:rPr>
              <a:t>func</a:t>
            </a:r>
            <a:r>
              <a:rPr lang="en-US" dirty="0">
                <a:solidFill>
                  <a:schemeClr val="accent2"/>
                </a:solidFill>
              </a:rPr>
              <a:t> to the </a:t>
            </a:r>
            <a:r>
              <a:rPr lang="en-US" dirty="0" err="1">
                <a:solidFill>
                  <a:schemeClr val="accent2"/>
                </a:solidFill>
              </a:rPr>
              <a:t>fp</a:t>
            </a:r>
            <a:r>
              <a:rPr lang="en-US" dirty="0">
                <a:solidFill>
                  <a:schemeClr val="accent2"/>
                </a:solidFill>
              </a:rPr>
              <a:t> pointer</a:t>
            </a:r>
            <a:endParaRPr lang="en-IN" dirty="0">
              <a:solidFill>
                <a:schemeClr val="accent2"/>
              </a:solidFill>
            </a:endParaRPr>
          </a:p>
        </p:txBody>
      </p:sp>
      <p:sp>
        <p:nvSpPr>
          <p:cNvPr id="8" name="TextBox 7">
            <a:extLst>
              <a:ext uri="{FF2B5EF4-FFF2-40B4-BE49-F238E27FC236}">
                <a16:creationId xmlns:a16="http://schemas.microsoft.com/office/drawing/2014/main" id="{41ED4832-5FCE-5C37-4755-10591B7CC40F}"/>
              </a:ext>
            </a:extLst>
          </p:cNvPr>
          <p:cNvSpPr txBox="1"/>
          <p:nvPr/>
        </p:nvSpPr>
        <p:spPr>
          <a:xfrm>
            <a:off x="190916" y="617110"/>
            <a:ext cx="5700090" cy="4185761"/>
          </a:xfrm>
          <a:prstGeom prst="rect">
            <a:avLst/>
          </a:prstGeom>
          <a:noFill/>
        </p:spPr>
        <p:txBody>
          <a:bodyPr wrap="square">
            <a:spAutoFit/>
          </a:bodyPr>
          <a:lstStyle/>
          <a:p>
            <a:r>
              <a:rPr lang="en-IN" dirty="0">
                <a:solidFill>
                  <a:schemeClr val="tx1"/>
                </a:solidFill>
              </a:rPr>
              <a:t>#include &lt;</a:t>
            </a:r>
            <a:r>
              <a:rPr lang="en-IN" dirty="0" err="1">
                <a:solidFill>
                  <a:schemeClr val="tx1"/>
                </a:solidFill>
              </a:rPr>
              <a:t>stdio.h</a:t>
            </a:r>
            <a:r>
              <a:rPr lang="en-IN" dirty="0">
                <a:solidFill>
                  <a:schemeClr val="tx1"/>
                </a:solidFill>
              </a:rPr>
              <a:t>&gt;  </a:t>
            </a:r>
          </a:p>
          <a:p>
            <a:r>
              <a:rPr lang="en-IN" dirty="0">
                <a:solidFill>
                  <a:schemeClr val="tx1"/>
                </a:solidFill>
              </a:rPr>
              <a:t>int add(</a:t>
            </a:r>
            <a:r>
              <a:rPr lang="en-IN" dirty="0" err="1">
                <a:solidFill>
                  <a:schemeClr val="tx1"/>
                </a:solidFill>
              </a:rPr>
              <a:t>int,int</a:t>
            </a:r>
            <a:r>
              <a:rPr lang="en-IN" dirty="0">
                <a:solidFill>
                  <a:schemeClr val="tx1"/>
                </a:solidFill>
              </a:rPr>
              <a:t>);  </a:t>
            </a:r>
          </a:p>
          <a:p>
            <a:r>
              <a:rPr lang="en-IN" dirty="0">
                <a:solidFill>
                  <a:schemeClr val="tx1"/>
                </a:solidFill>
              </a:rPr>
              <a:t>int main()  </a:t>
            </a:r>
          </a:p>
          <a:p>
            <a:r>
              <a:rPr lang="en-IN" dirty="0">
                <a:solidFill>
                  <a:schemeClr val="tx1"/>
                </a:solidFill>
              </a:rPr>
              <a:t>{  </a:t>
            </a:r>
          </a:p>
          <a:p>
            <a:r>
              <a:rPr lang="en-IN" dirty="0">
                <a:solidFill>
                  <a:schemeClr val="tx1"/>
                </a:solidFill>
              </a:rPr>
              <a:t>   int </a:t>
            </a:r>
            <a:r>
              <a:rPr lang="en-IN" dirty="0" err="1">
                <a:solidFill>
                  <a:schemeClr val="tx1"/>
                </a:solidFill>
              </a:rPr>
              <a:t>a,b</a:t>
            </a:r>
            <a:r>
              <a:rPr lang="en-IN" dirty="0">
                <a:solidFill>
                  <a:schemeClr val="tx1"/>
                </a:solidFill>
              </a:rPr>
              <a:t>;  </a:t>
            </a:r>
          </a:p>
          <a:p>
            <a:r>
              <a:rPr lang="en-IN" dirty="0">
                <a:solidFill>
                  <a:schemeClr val="tx1"/>
                </a:solidFill>
              </a:rPr>
              <a:t>   int (*</a:t>
            </a:r>
            <a:r>
              <a:rPr lang="en-IN" dirty="0" err="1">
                <a:solidFill>
                  <a:schemeClr val="tx1"/>
                </a:solidFill>
              </a:rPr>
              <a:t>ip</a:t>
            </a:r>
            <a:r>
              <a:rPr lang="en-IN" dirty="0">
                <a:solidFill>
                  <a:schemeClr val="tx1"/>
                </a:solidFill>
              </a:rPr>
              <a:t>)(</a:t>
            </a:r>
            <a:r>
              <a:rPr lang="en-IN" dirty="0" err="1">
                <a:solidFill>
                  <a:schemeClr val="tx1"/>
                </a:solidFill>
              </a:rPr>
              <a:t>int,int</a:t>
            </a:r>
            <a:r>
              <a:rPr lang="en-IN" dirty="0">
                <a:solidFill>
                  <a:schemeClr val="tx1"/>
                </a:solidFill>
              </a:rPr>
              <a:t>);  </a:t>
            </a:r>
          </a:p>
          <a:p>
            <a:r>
              <a:rPr lang="en-IN" dirty="0">
                <a:solidFill>
                  <a:schemeClr val="tx1"/>
                </a:solidFill>
              </a:rPr>
              <a:t>   int result;  </a:t>
            </a:r>
          </a:p>
          <a:p>
            <a:r>
              <a:rPr lang="en-IN" dirty="0">
                <a:solidFill>
                  <a:schemeClr val="tx1"/>
                </a:solidFill>
              </a:rPr>
              <a:t>   </a:t>
            </a:r>
            <a:r>
              <a:rPr lang="en-IN" dirty="0" err="1">
                <a:solidFill>
                  <a:schemeClr val="tx1"/>
                </a:solidFill>
              </a:rPr>
              <a:t>printf</a:t>
            </a:r>
            <a:r>
              <a:rPr lang="en-IN" dirty="0">
                <a:solidFill>
                  <a:schemeClr val="tx1"/>
                </a:solidFill>
              </a:rPr>
              <a:t>("Enter the values of a and b : ");  </a:t>
            </a:r>
          </a:p>
          <a:p>
            <a:r>
              <a:rPr lang="en-IN" dirty="0">
                <a:solidFill>
                  <a:schemeClr val="tx1"/>
                </a:solidFill>
              </a:rPr>
              <a:t>   </a:t>
            </a:r>
            <a:r>
              <a:rPr lang="en-IN" dirty="0" err="1">
                <a:solidFill>
                  <a:schemeClr val="tx1"/>
                </a:solidFill>
              </a:rPr>
              <a:t>scanf</a:t>
            </a:r>
            <a:r>
              <a:rPr lang="en-IN" dirty="0">
                <a:solidFill>
                  <a:schemeClr val="tx1"/>
                </a:solidFill>
              </a:rPr>
              <a:t>("%d %</a:t>
            </a:r>
            <a:r>
              <a:rPr lang="en-IN" dirty="0" err="1">
                <a:solidFill>
                  <a:schemeClr val="tx1"/>
                </a:solidFill>
              </a:rPr>
              <a:t>d",&amp;a,&amp;b</a:t>
            </a:r>
            <a:r>
              <a:rPr lang="en-IN" dirty="0">
                <a:solidFill>
                  <a:schemeClr val="tx1"/>
                </a:solidFill>
              </a:rPr>
              <a:t>);  </a:t>
            </a:r>
          </a:p>
          <a:p>
            <a:r>
              <a:rPr lang="en-IN" dirty="0">
                <a:solidFill>
                  <a:schemeClr val="tx1"/>
                </a:solidFill>
              </a:rPr>
              <a:t>   </a:t>
            </a:r>
            <a:r>
              <a:rPr lang="en-IN" dirty="0" err="1">
                <a:solidFill>
                  <a:schemeClr val="tx1"/>
                </a:solidFill>
              </a:rPr>
              <a:t>ip</a:t>
            </a:r>
            <a:r>
              <a:rPr lang="en-IN" dirty="0">
                <a:solidFill>
                  <a:schemeClr val="tx1"/>
                </a:solidFill>
              </a:rPr>
              <a:t>=add;  </a:t>
            </a:r>
          </a:p>
          <a:p>
            <a:r>
              <a:rPr lang="en-IN" dirty="0">
                <a:solidFill>
                  <a:schemeClr val="tx1"/>
                </a:solidFill>
              </a:rPr>
              <a:t>   result=(*</a:t>
            </a:r>
            <a:r>
              <a:rPr lang="en-IN" dirty="0" err="1">
                <a:solidFill>
                  <a:schemeClr val="tx1"/>
                </a:solidFill>
              </a:rPr>
              <a:t>ip</a:t>
            </a:r>
            <a:r>
              <a:rPr lang="en-IN" dirty="0">
                <a:solidFill>
                  <a:schemeClr val="tx1"/>
                </a:solidFill>
              </a:rPr>
              <a:t>)(</a:t>
            </a:r>
            <a:r>
              <a:rPr lang="en-IN" dirty="0" err="1">
                <a:solidFill>
                  <a:schemeClr val="tx1"/>
                </a:solidFill>
              </a:rPr>
              <a:t>a,b</a:t>
            </a:r>
            <a:r>
              <a:rPr lang="en-IN" dirty="0">
                <a:solidFill>
                  <a:schemeClr val="tx1"/>
                </a:solidFill>
              </a:rPr>
              <a:t>);  </a:t>
            </a:r>
          </a:p>
          <a:p>
            <a:r>
              <a:rPr lang="en-IN" dirty="0">
                <a:solidFill>
                  <a:schemeClr val="tx1"/>
                </a:solidFill>
              </a:rPr>
              <a:t>   </a:t>
            </a:r>
            <a:r>
              <a:rPr lang="en-IN" dirty="0" err="1">
                <a:solidFill>
                  <a:schemeClr val="tx1"/>
                </a:solidFill>
              </a:rPr>
              <a:t>printf</a:t>
            </a:r>
            <a:r>
              <a:rPr lang="en-IN" dirty="0">
                <a:solidFill>
                  <a:schemeClr val="tx1"/>
                </a:solidFill>
              </a:rPr>
              <a:t>("Value after addition is : %</a:t>
            </a:r>
            <a:r>
              <a:rPr lang="en-IN" dirty="0" err="1">
                <a:solidFill>
                  <a:schemeClr val="tx1"/>
                </a:solidFill>
              </a:rPr>
              <a:t>d",result</a:t>
            </a:r>
            <a:r>
              <a:rPr lang="en-IN" dirty="0">
                <a:solidFill>
                  <a:schemeClr val="tx1"/>
                </a:solidFill>
              </a:rPr>
              <a:t>);  </a:t>
            </a:r>
          </a:p>
          <a:p>
            <a:r>
              <a:rPr lang="en-IN" dirty="0">
                <a:solidFill>
                  <a:schemeClr val="tx1"/>
                </a:solidFill>
              </a:rPr>
              <a:t>    return 0;  </a:t>
            </a:r>
          </a:p>
          <a:p>
            <a:r>
              <a:rPr lang="en-IN" dirty="0">
                <a:solidFill>
                  <a:schemeClr val="tx1"/>
                </a:solidFill>
              </a:rPr>
              <a:t>}  </a:t>
            </a:r>
          </a:p>
          <a:p>
            <a:r>
              <a:rPr lang="en-IN" dirty="0">
                <a:solidFill>
                  <a:schemeClr val="tx1"/>
                </a:solidFill>
              </a:rPr>
              <a:t>int add(int </a:t>
            </a:r>
            <a:r>
              <a:rPr lang="en-IN" dirty="0" err="1">
                <a:solidFill>
                  <a:schemeClr val="tx1"/>
                </a:solidFill>
              </a:rPr>
              <a:t>a,int</a:t>
            </a:r>
            <a:r>
              <a:rPr lang="en-IN" dirty="0">
                <a:solidFill>
                  <a:schemeClr val="tx1"/>
                </a:solidFill>
              </a:rPr>
              <a:t> b)  </a:t>
            </a:r>
          </a:p>
          <a:p>
            <a:r>
              <a:rPr lang="en-IN" dirty="0">
                <a:solidFill>
                  <a:schemeClr val="tx1"/>
                </a:solidFill>
              </a:rPr>
              <a:t>{  </a:t>
            </a:r>
          </a:p>
          <a:p>
            <a:r>
              <a:rPr lang="en-IN" dirty="0">
                <a:solidFill>
                  <a:schemeClr val="tx1"/>
                </a:solidFill>
              </a:rPr>
              <a:t>    int c=</a:t>
            </a:r>
            <a:r>
              <a:rPr lang="en-IN" dirty="0" err="1">
                <a:solidFill>
                  <a:schemeClr val="tx1"/>
                </a:solidFill>
              </a:rPr>
              <a:t>a+b</a:t>
            </a:r>
            <a:r>
              <a:rPr lang="en-IN" dirty="0">
                <a:solidFill>
                  <a:schemeClr val="tx1"/>
                </a:solidFill>
              </a:rPr>
              <a:t>;  </a:t>
            </a:r>
          </a:p>
          <a:p>
            <a:r>
              <a:rPr lang="en-IN" dirty="0">
                <a:solidFill>
                  <a:schemeClr val="tx1"/>
                </a:solidFill>
              </a:rPr>
              <a:t>    return c;  </a:t>
            </a:r>
          </a:p>
          <a:p>
            <a:r>
              <a:rPr lang="en-IN" dirty="0">
                <a:solidFill>
                  <a:schemeClr val="tx1"/>
                </a:solidFill>
              </a:rPr>
              <a:t>}</a:t>
            </a:r>
          </a:p>
        </p:txBody>
      </p:sp>
    </p:spTree>
    <p:extLst>
      <p:ext uri="{BB962C8B-B14F-4D97-AF65-F5344CB8AC3E}">
        <p14:creationId xmlns:p14="http://schemas.microsoft.com/office/powerpoint/2010/main" val="220768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Function returning Pointers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sp>
        <p:nvSpPr>
          <p:cNvPr id="14" name="TextBox 13">
            <a:extLst>
              <a:ext uri="{FF2B5EF4-FFF2-40B4-BE49-F238E27FC236}">
                <a16:creationId xmlns:a16="http://schemas.microsoft.com/office/drawing/2014/main" id="{7BE20740-E842-CD7C-99EC-516DF951F15C}"/>
              </a:ext>
            </a:extLst>
          </p:cNvPr>
          <p:cNvSpPr txBox="1"/>
          <p:nvPr/>
        </p:nvSpPr>
        <p:spPr>
          <a:xfrm>
            <a:off x="309260" y="687168"/>
            <a:ext cx="5993296" cy="3323987"/>
          </a:xfrm>
          <a:prstGeom prst="rect">
            <a:avLst/>
          </a:prstGeom>
          <a:noFill/>
        </p:spPr>
        <p:txBody>
          <a:bodyPr wrap="square">
            <a:spAutoFit/>
          </a:bodyPr>
          <a:lstStyle/>
          <a:p>
            <a:pPr marL="285750" indent="-285750" algn="just">
              <a:buFont typeface="Arial" panose="020B0604020202020204" pitchFamily="34" charset="0"/>
              <a:buChar char="•"/>
            </a:pPr>
            <a:r>
              <a:rPr lang="en-US" dirty="0">
                <a:solidFill>
                  <a:srgbClr val="FFFF00"/>
                </a:solidFill>
              </a:rPr>
              <a:t>C language allows the users to return a pointer from a function. </a:t>
            </a:r>
          </a:p>
          <a:p>
            <a:pPr marL="285750" indent="-285750" algn="just">
              <a:buFont typeface="Arial" panose="020B0604020202020204" pitchFamily="34" charset="0"/>
              <a:buChar char="•"/>
            </a:pPr>
            <a:r>
              <a:rPr lang="en-US" dirty="0">
                <a:solidFill>
                  <a:srgbClr val="FFFF00"/>
                </a:solidFill>
              </a:rPr>
              <a:t>To do so, user has to declare a function returning a pointer</a:t>
            </a: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r>
              <a:rPr lang="en-US" dirty="0">
                <a:solidFill>
                  <a:schemeClr val="tx1"/>
                </a:solidFill>
              </a:rPr>
              <a:t>Syntax</a:t>
            </a:r>
          </a:p>
          <a:p>
            <a:pPr marL="285750" indent="-285750">
              <a:buFont typeface="Arial" panose="020B0604020202020204" pitchFamily="34" charset="0"/>
              <a:buChar char="•"/>
            </a:pPr>
            <a:r>
              <a:rPr lang="en-US" dirty="0">
                <a:solidFill>
                  <a:srgbClr val="FFFF00"/>
                </a:solidFill>
              </a:rPr>
              <a:t>datatype * function name(list of arguments) </a:t>
            </a:r>
          </a:p>
          <a:p>
            <a:pPr marL="285750" indent="-285750">
              <a:buFont typeface="Arial" panose="020B0604020202020204" pitchFamily="34" charset="0"/>
              <a:buChar char="•"/>
            </a:pPr>
            <a:r>
              <a:rPr lang="en-US" dirty="0">
                <a:solidFill>
                  <a:srgbClr val="FFFF00"/>
                </a:solidFill>
              </a:rPr>
              <a:t>{</a:t>
            </a:r>
          </a:p>
          <a:p>
            <a:pPr marL="285750" indent="-285750">
              <a:buFont typeface="Arial" panose="020B0604020202020204" pitchFamily="34" charset="0"/>
              <a:buChar char="•"/>
            </a:pPr>
            <a:r>
              <a:rPr lang="en-US" dirty="0">
                <a:solidFill>
                  <a:srgbClr val="FFFF00"/>
                </a:solidFill>
              </a:rPr>
              <a:t>    set of statements;</a:t>
            </a:r>
          </a:p>
          <a:p>
            <a:pPr marL="285750" indent="-285750">
              <a:buFont typeface="Arial" panose="020B0604020202020204" pitchFamily="34" charset="0"/>
              <a:buChar char="•"/>
            </a:pPr>
            <a:r>
              <a:rPr lang="en-US" dirty="0">
                <a:solidFill>
                  <a:srgbClr val="FFFF00"/>
                </a:solidFill>
              </a:rPr>
              <a:t>}</a:t>
            </a:r>
          </a:p>
          <a:p>
            <a:pPr marL="285750" indent="-285750">
              <a:buFont typeface="Arial" panose="020B0604020202020204" pitchFamily="34" charset="0"/>
              <a:buChar char="•"/>
            </a:pPr>
            <a:r>
              <a:rPr lang="en-US" b="1" dirty="0">
                <a:solidFill>
                  <a:schemeClr val="accent6"/>
                </a:solidFill>
              </a:rPr>
              <a:t>Example</a:t>
            </a:r>
          </a:p>
          <a:p>
            <a:endParaRPr lang="en-US" dirty="0">
              <a:solidFill>
                <a:srgbClr val="FFFF00"/>
              </a:solidFill>
            </a:endParaRPr>
          </a:p>
          <a:p>
            <a:pPr marL="285750" indent="-285750">
              <a:buFont typeface="Arial" panose="020B0604020202020204" pitchFamily="34" charset="0"/>
              <a:buChar char="•"/>
            </a:pPr>
            <a:r>
              <a:rPr lang="en-US" dirty="0">
                <a:solidFill>
                  <a:srgbClr val="FFFF00"/>
                </a:solidFill>
              </a:rPr>
              <a:t>int * </a:t>
            </a:r>
            <a:r>
              <a:rPr lang="en-US" dirty="0" err="1">
                <a:solidFill>
                  <a:srgbClr val="FFFF00"/>
                </a:solidFill>
              </a:rPr>
              <a:t>myFunction</a:t>
            </a:r>
            <a:r>
              <a:rPr lang="en-US" dirty="0">
                <a:solidFill>
                  <a:srgbClr val="FFFF00"/>
                </a:solidFill>
              </a:rPr>
              <a:t>() </a:t>
            </a:r>
          </a:p>
          <a:p>
            <a:pPr marL="285750" indent="-285750">
              <a:buFont typeface="Arial" panose="020B0604020202020204" pitchFamily="34" charset="0"/>
              <a:buChar char="•"/>
            </a:pPr>
            <a:r>
              <a:rPr lang="en-US" dirty="0">
                <a:solidFill>
                  <a:srgbClr val="FFFF00"/>
                </a:solidFill>
              </a:rPr>
              <a:t>{</a:t>
            </a:r>
          </a:p>
          <a:p>
            <a:pPr marL="285750" indent="-285750">
              <a:buFont typeface="Arial" panose="020B0604020202020204" pitchFamily="34" charset="0"/>
              <a:buChar char="•"/>
            </a:pPr>
            <a:r>
              <a:rPr lang="en-US" dirty="0">
                <a:solidFill>
                  <a:srgbClr val="FFFF00"/>
                </a:solidFill>
              </a:rPr>
              <a:t>   set of statements;</a:t>
            </a:r>
          </a:p>
          <a:p>
            <a:pPr marL="285750" indent="-285750">
              <a:buFont typeface="Arial" panose="020B0604020202020204" pitchFamily="34" charset="0"/>
              <a:buChar char="•"/>
            </a:pPr>
            <a:r>
              <a:rPr lang="en-US" dirty="0">
                <a:solidFill>
                  <a:srgbClr val="FFFF00"/>
                </a:solidFill>
              </a:rPr>
              <a:t>}</a:t>
            </a:r>
            <a:endParaRPr lang="en-IN" dirty="0">
              <a:solidFill>
                <a:schemeClr val="accent2"/>
              </a:solidFill>
            </a:endParaRPr>
          </a:p>
          <a:p>
            <a:pPr marL="285750" indent="-285750">
              <a:buFont typeface="Arial" panose="020B0604020202020204" pitchFamily="34" charset="0"/>
              <a:buChar char="•"/>
            </a:pPr>
            <a:endParaRPr lang="en-IN" dirty="0">
              <a:solidFill>
                <a:schemeClr val="accent2"/>
              </a:solidFill>
            </a:endParaRPr>
          </a:p>
        </p:txBody>
      </p:sp>
    </p:spTree>
    <p:extLst>
      <p:ext uri="{BB962C8B-B14F-4D97-AF65-F5344CB8AC3E}">
        <p14:creationId xmlns:p14="http://schemas.microsoft.com/office/powerpoint/2010/main" val="25880972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Function returning Pointers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
        <p:nvSpPr>
          <p:cNvPr id="5" name="TextBox 4">
            <a:extLst>
              <a:ext uri="{FF2B5EF4-FFF2-40B4-BE49-F238E27FC236}">
                <a16:creationId xmlns:a16="http://schemas.microsoft.com/office/drawing/2014/main" id="{57835D2F-4E49-602D-3EE7-43B924B1C828}"/>
              </a:ext>
            </a:extLst>
          </p:cNvPr>
          <p:cNvSpPr txBox="1"/>
          <p:nvPr/>
        </p:nvSpPr>
        <p:spPr>
          <a:xfrm>
            <a:off x="588176" y="450603"/>
            <a:ext cx="4058285" cy="4616648"/>
          </a:xfrm>
          <a:prstGeom prst="rect">
            <a:avLst/>
          </a:prstGeom>
          <a:noFill/>
        </p:spPr>
        <p:txBody>
          <a:bodyPr wrap="square">
            <a:spAutoFit/>
          </a:bodyPr>
          <a:lstStyle/>
          <a:p>
            <a:r>
              <a:rPr lang="en-IN" dirty="0">
                <a:solidFill>
                  <a:schemeClr val="tx1"/>
                </a:solidFill>
              </a:rPr>
              <a:t>#include &lt;</a:t>
            </a:r>
            <a:r>
              <a:rPr lang="en-IN" dirty="0" err="1">
                <a:solidFill>
                  <a:schemeClr val="tx1"/>
                </a:solidFill>
              </a:rPr>
              <a:t>stdio.h</a:t>
            </a:r>
            <a:r>
              <a:rPr lang="en-IN" dirty="0">
                <a:solidFill>
                  <a:schemeClr val="tx1"/>
                </a:solidFill>
              </a:rPr>
              <a:t>&gt;</a:t>
            </a:r>
          </a:p>
          <a:p>
            <a:r>
              <a:rPr lang="en-IN" dirty="0">
                <a:solidFill>
                  <a:schemeClr val="tx1"/>
                </a:solidFill>
              </a:rPr>
              <a:t>int* </a:t>
            </a:r>
            <a:r>
              <a:rPr lang="en-IN" dirty="0" err="1">
                <a:solidFill>
                  <a:schemeClr val="tx1"/>
                </a:solidFill>
              </a:rPr>
              <a:t>findLarger</a:t>
            </a:r>
            <a:r>
              <a:rPr lang="en-IN" dirty="0">
                <a:solidFill>
                  <a:schemeClr val="tx1"/>
                </a:solidFill>
              </a:rPr>
              <a:t>(int*, int*);</a:t>
            </a:r>
          </a:p>
          <a:p>
            <a:r>
              <a:rPr lang="en-IN" dirty="0">
                <a:solidFill>
                  <a:schemeClr val="tx1"/>
                </a:solidFill>
              </a:rPr>
              <a:t>void main()</a:t>
            </a:r>
          </a:p>
          <a:p>
            <a:r>
              <a:rPr lang="en-IN" dirty="0">
                <a:solidFill>
                  <a:schemeClr val="tx1"/>
                </a:solidFill>
              </a:rPr>
              <a:t>{</a:t>
            </a:r>
          </a:p>
          <a:p>
            <a:r>
              <a:rPr lang="en-IN" dirty="0">
                <a:solidFill>
                  <a:schemeClr val="tx1"/>
                </a:solidFill>
              </a:rPr>
              <a:t>    int a=0;</a:t>
            </a:r>
          </a:p>
          <a:p>
            <a:r>
              <a:rPr lang="en-IN" dirty="0">
                <a:solidFill>
                  <a:schemeClr val="tx1"/>
                </a:solidFill>
              </a:rPr>
              <a:t>    int b=0;</a:t>
            </a:r>
          </a:p>
          <a:p>
            <a:r>
              <a:rPr lang="en-IN" dirty="0">
                <a:solidFill>
                  <a:schemeClr val="tx1"/>
                </a:solidFill>
              </a:rPr>
              <a:t>    int *result;</a:t>
            </a:r>
          </a:p>
          <a:p>
            <a:r>
              <a:rPr lang="en-IN" dirty="0">
                <a:solidFill>
                  <a:schemeClr val="tx1"/>
                </a:solidFill>
              </a:rPr>
              <a:t>    </a:t>
            </a:r>
            <a:r>
              <a:rPr lang="en-IN" dirty="0" err="1">
                <a:solidFill>
                  <a:schemeClr val="tx1"/>
                </a:solidFill>
              </a:rPr>
              <a:t>printf</a:t>
            </a:r>
            <a:r>
              <a:rPr lang="en-IN" dirty="0">
                <a:solidFill>
                  <a:schemeClr val="tx1"/>
                </a:solidFill>
              </a:rPr>
              <a:t>(" Input the first number : ");</a:t>
            </a:r>
          </a:p>
          <a:p>
            <a:r>
              <a:rPr lang="en-IN" dirty="0">
                <a:solidFill>
                  <a:schemeClr val="tx1"/>
                </a:solidFill>
              </a:rPr>
              <a:t>    </a:t>
            </a:r>
            <a:r>
              <a:rPr lang="en-IN" dirty="0" err="1">
                <a:solidFill>
                  <a:schemeClr val="tx1"/>
                </a:solidFill>
              </a:rPr>
              <a:t>scanf</a:t>
            </a:r>
            <a:r>
              <a:rPr lang="en-IN" dirty="0">
                <a:solidFill>
                  <a:schemeClr val="tx1"/>
                </a:solidFill>
              </a:rPr>
              <a:t>("%d", &amp;a);</a:t>
            </a:r>
          </a:p>
          <a:p>
            <a:r>
              <a:rPr lang="en-IN" dirty="0">
                <a:solidFill>
                  <a:schemeClr val="tx1"/>
                </a:solidFill>
              </a:rPr>
              <a:t>    </a:t>
            </a:r>
            <a:r>
              <a:rPr lang="en-IN" dirty="0" err="1">
                <a:solidFill>
                  <a:schemeClr val="tx1"/>
                </a:solidFill>
              </a:rPr>
              <a:t>printf</a:t>
            </a:r>
            <a:r>
              <a:rPr lang="en-IN" dirty="0">
                <a:solidFill>
                  <a:schemeClr val="tx1"/>
                </a:solidFill>
              </a:rPr>
              <a:t>(" Input the second  number : ");</a:t>
            </a:r>
          </a:p>
          <a:p>
            <a:r>
              <a:rPr lang="en-IN" dirty="0">
                <a:solidFill>
                  <a:schemeClr val="tx1"/>
                </a:solidFill>
              </a:rPr>
              <a:t>    </a:t>
            </a:r>
            <a:r>
              <a:rPr lang="en-IN" dirty="0" err="1">
                <a:solidFill>
                  <a:schemeClr val="tx1"/>
                </a:solidFill>
              </a:rPr>
              <a:t>scanf</a:t>
            </a:r>
            <a:r>
              <a:rPr lang="en-IN" dirty="0">
                <a:solidFill>
                  <a:schemeClr val="tx1"/>
                </a:solidFill>
              </a:rPr>
              <a:t>("%d", &amp;b); 	</a:t>
            </a:r>
          </a:p>
          <a:p>
            <a:r>
              <a:rPr lang="en-IN" dirty="0">
                <a:solidFill>
                  <a:schemeClr val="tx1"/>
                </a:solidFill>
              </a:rPr>
              <a:t>    result=</a:t>
            </a:r>
            <a:r>
              <a:rPr lang="en-IN" dirty="0" err="1">
                <a:solidFill>
                  <a:schemeClr val="tx1"/>
                </a:solidFill>
              </a:rPr>
              <a:t>findLarger</a:t>
            </a:r>
            <a:r>
              <a:rPr lang="en-IN" dirty="0">
                <a:solidFill>
                  <a:schemeClr val="tx1"/>
                </a:solidFill>
              </a:rPr>
              <a:t>(&amp;a, &amp;b);</a:t>
            </a:r>
          </a:p>
          <a:p>
            <a:r>
              <a:rPr lang="en-IN" dirty="0">
                <a:solidFill>
                  <a:schemeClr val="tx1"/>
                </a:solidFill>
              </a:rPr>
              <a:t>    </a:t>
            </a:r>
            <a:r>
              <a:rPr lang="en-IN" dirty="0" err="1">
                <a:solidFill>
                  <a:schemeClr val="tx1"/>
                </a:solidFill>
              </a:rPr>
              <a:t>printf</a:t>
            </a:r>
            <a:r>
              <a:rPr lang="en-IN" dirty="0">
                <a:solidFill>
                  <a:schemeClr val="tx1"/>
                </a:solidFill>
              </a:rPr>
              <a:t>(" The number %d is larger ",*result);</a:t>
            </a:r>
          </a:p>
          <a:p>
            <a:r>
              <a:rPr lang="en-IN" dirty="0">
                <a:solidFill>
                  <a:schemeClr val="tx1"/>
                </a:solidFill>
              </a:rPr>
              <a:t>}</a:t>
            </a:r>
          </a:p>
          <a:p>
            <a:r>
              <a:rPr lang="en-IN" dirty="0">
                <a:solidFill>
                  <a:schemeClr val="tx1"/>
                </a:solidFill>
              </a:rPr>
              <a:t>int* </a:t>
            </a:r>
            <a:r>
              <a:rPr lang="en-IN" dirty="0" err="1">
                <a:solidFill>
                  <a:schemeClr val="tx1"/>
                </a:solidFill>
              </a:rPr>
              <a:t>findLarger</a:t>
            </a:r>
            <a:r>
              <a:rPr lang="en-IN" dirty="0">
                <a:solidFill>
                  <a:schemeClr val="tx1"/>
                </a:solidFill>
              </a:rPr>
              <a:t>(int *n1, int *n2)</a:t>
            </a:r>
          </a:p>
          <a:p>
            <a:r>
              <a:rPr lang="en-IN" dirty="0">
                <a:solidFill>
                  <a:schemeClr val="tx1"/>
                </a:solidFill>
              </a:rPr>
              <a:t>{</a:t>
            </a:r>
          </a:p>
          <a:p>
            <a:r>
              <a:rPr lang="en-IN" dirty="0">
                <a:solidFill>
                  <a:schemeClr val="tx1"/>
                </a:solidFill>
              </a:rPr>
              <a:t>      if(*n1 &gt; *n2)</a:t>
            </a:r>
          </a:p>
          <a:p>
            <a:r>
              <a:rPr lang="en-IN" dirty="0">
                <a:solidFill>
                  <a:schemeClr val="tx1"/>
                </a:solidFill>
              </a:rPr>
              <a:t>         return n1;</a:t>
            </a:r>
          </a:p>
          <a:p>
            <a:r>
              <a:rPr lang="en-IN" dirty="0">
                <a:solidFill>
                  <a:schemeClr val="tx1"/>
                </a:solidFill>
              </a:rPr>
              <a:t>      else</a:t>
            </a:r>
          </a:p>
          <a:p>
            <a:r>
              <a:rPr lang="en-IN" dirty="0">
                <a:solidFill>
                  <a:schemeClr val="tx1"/>
                </a:solidFill>
              </a:rPr>
              <a:t>         return n2;</a:t>
            </a:r>
          </a:p>
          <a:p>
            <a:r>
              <a:rPr lang="en-IN" dirty="0">
                <a:solidFill>
                  <a:schemeClr val="tx1"/>
                </a:solidFill>
              </a:rPr>
              <a:t>}</a:t>
            </a:r>
          </a:p>
        </p:txBody>
      </p:sp>
      <p:sp>
        <p:nvSpPr>
          <p:cNvPr id="7" name="TextBox 6">
            <a:extLst>
              <a:ext uri="{FF2B5EF4-FFF2-40B4-BE49-F238E27FC236}">
                <a16:creationId xmlns:a16="http://schemas.microsoft.com/office/drawing/2014/main" id="{6861C960-55FC-7646-9F23-2EC65582EEC5}"/>
              </a:ext>
            </a:extLst>
          </p:cNvPr>
          <p:cNvSpPr txBox="1"/>
          <p:nvPr/>
        </p:nvSpPr>
        <p:spPr>
          <a:xfrm>
            <a:off x="5420300" y="771529"/>
            <a:ext cx="2776249" cy="1169551"/>
          </a:xfrm>
          <a:prstGeom prst="rect">
            <a:avLst/>
          </a:prstGeom>
          <a:noFill/>
        </p:spPr>
        <p:txBody>
          <a:bodyPr wrap="square">
            <a:spAutoFit/>
          </a:bodyPr>
          <a:lstStyle/>
          <a:p>
            <a:r>
              <a:rPr lang="en-IN" b="1" dirty="0">
                <a:solidFill>
                  <a:srgbClr val="FFFF00"/>
                </a:solidFill>
              </a:rPr>
              <a:t>Output</a:t>
            </a:r>
          </a:p>
          <a:p>
            <a:r>
              <a:rPr lang="en-IN" dirty="0">
                <a:solidFill>
                  <a:srgbClr val="FFFF00"/>
                </a:solidFill>
              </a:rPr>
              <a:t>Input the first number : 5</a:t>
            </a:r>
          </a:p>
          <a:p>
            <a:r>
              <a:rPr lang="en-US" dirty="0">
                <a:solidFill>
                  <a:srgbClr val="FFFF00"/>
                </a:solidFill>
              </a:rPr>
              <a:t>Input the second  number : 6</a:t>
            </a:r>
          </a:p>
          <a:p>
            <a:r>
              <a:rPr lang="en-US" dirty="0">
                <a:solidFill>
                  <a:srgbClr val="FFFF00"/>
                </a:solidFill>
              </a:rPr>
              <a:t>The number 6 is larger</a:t>
            </a:r>
            <a:endParaRPr lang="en-IN" dirty="0">
              <a:solidFill>
                <a:srgbClr val="FFFF00"/>
              </a:solidFill>
            </a:endParaRPr>
          </a:p>
          <a:p>
            <a:endParaRPr lang="en-IN" dirty="0">
              <a:solidFill>
                <a:srgbClr val="FFFF00"/>
              </a:solidFill>
            </a:endParaRPr>
          </a:p>
        </p:txBody>
      </p:sp>
    </p:spTree>
    <p:extLst>
      <p:ext uri="{BB962C8B-B14F-4D97-AF65-F5344CB8AC3E}">
        <p14:creationId xmlns:p14="http://schemas.microsoft.com/office/powerpoint/2010/main" val="28050070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296973" y="192757"/>
            <a:ext cx="6943469" cy="396300"/>
          </a:xfrm>
        </p:spPr>
        <p:txBody>
          <a:bodyPr/>
          <a:lstStyle/>
          <a:p>
            <a:pPr algn="ctr"/>
            <a:r>
              <a:rPr lang="en-IN" sz="2400" dirty="0"/>
              <a:t>Advantages of Pointers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sp>
        <p:nvSpPr>
          <p:cNvPr id="5" name="TextBox 4">
            <a:extLst>
              <a:ext uri="{FF2B5EF4-FFF2-40B4-BE49-F238E27FC236}">
                <a16:creationId xmlns:a16="http://schemas.microsoft.com/office/drawing/2014/main" id="{5317188E-FAA1-19A1-6834-AB27EFA605AE}"/>
              </a:ext>
            </a:extLst>
          </p:cNvPr>
          <p:cNvSpPr txBox="1"/>
          <p:nvPr/>
        </p:nvSpPr>
        <p:spPr>
          <a:xfrm>
            <a:off x="584333" y="759746"/>
            <a:ext cx="8152043" cy="1749005"/>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dirty="0">
                <a:solidFill>
                  <a:schemeClr val="tx1"/>
                </a:solidFill>
              </a:rPr>
              <a:t>Pointer reduces the code and improves the performance, it is used to retrieving strings, trees, etc. It can also be used with arrays, structures, and functions.</a:t>
            </a:r>
          </a:p>
          <a:p>
            <a:pPr marL="285750" indent="-285750">
              <a:lnSpc>
                <a:spcPct val="200000"/>
              </a:lnSpc>
              <a:buFont typeface="Arial" panose="020B0604020202020204" pitchFamily="34" charset="0"/>
              <a:buChar char="•"/>
            </a:pPr>
            <a:r>
              <a:rPr lang="en-US" dirty="0">
                <a:solidFill>
                  <a:schemeClr val="tx1"/>
                </a:solidFill>
              </a:rPr>
              <a:t>Users can return multiple values from a function using the pointer.</a:t>
            </a:r>
          </a:p>
          <a:p>
            <a:pPr marL="285750" indent="-285750">
              <a:lnSpc>
                <a:spcPct val="200000"/>
              </a:lnSpc>
              <a:buFont typeface="Arial" panose="020B0604020202020204" pitchFamily="34" charset="0"/>
              <a:buChar char="•"/>
            </a:pPr>
            <a:r>
              <a:rPr lang="en-US" dirty="0">
                <a:solidFill>
                  <a:schemeClr val="tx1"/>
                </a:solidFill>
              </a:rPr>
              <a:t>It makes user able to access any memory location in the computer's memory.</a:t>
            </a:r>
            <a:endParaRPr lang="en-IN" dirty="0">
              <a:solidFill>
                <a:schemeClr val="tx1"/>
              </a:solidFill>
            </a:endParaRPr>
          </a:p>
        </p:txBody>
      </p:sp>
      <p:sp>
        <p:nvSpPr>
          <p:cNvPr id="4" name="Rectangle 3">
            <a:extLst>
              <a:ext uri="{FF2B5EF4-FFF2-40B4-BE49-F238E27FC236}">
                <a16:creationId xmlns:a16="http://schemas.microsoft.com/office/drawing/2014/main" id="{D8CE9A17-FB84-AB4D-8503-47BF476D3D04}"/>
              </a:ext>
            </a:extLst>
          </p:cNvPr>
          <p:cNvSpPr/>
          <p:nvPr/>
        </p:nvSpPr>
        <p:spPr>
          <a:xfrm>
            <a:off x="1477108" y="4318782"/>
            <a:ext cx="3601329" cy="63196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CHAPTER-2</a:t>
            </a:r>
          </a:p>
        </p:txBody>
      </p:sp>
    </p:spTree>
    <p:extLst>
      <p:ext uri="{BB962C8B-B14F-4D97-AF65-F5344CB8AC3E}">
        <p14:creationId xmlns:p14="http://schemas.microsoft.com/office/powerpoint/2010/main" val="19876851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Structures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
        <p:nvSpPr>
          <p:cNvPr id="6" name="TextBox 5">
            <a:extLst>
              <a:ext uri="{FF2B5EF4-FFF2-40B4-BE49-F238E27FC236}">
                <a16:creationId xmlns:a16="http://schemas.microsoft.com/office/drawing/2014/main" id="{46E47088-0692-A4AE-D6E7-107FA183C885}"/>
              </a:ext>
            </a:extLst>
          </p:cNvPr>
          <p:cNvSpPr txBox="1"/>
          <p:nvPr/>
        </p:nvSpPr>
        <p:spPr>
          <a:xfrm>
            <a:off x="365371" y="461534"/>
            <a:ext cx="8413257" cy="360720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dirty="0">
                <a:solidFill>
                  <a:schemeClr val="tx1"/>
                </a:solidFill>
              </a:rPr>
              <a:t>Structure in c is a user-defined data type that enables us to store the collection of different data types. </a:t>
            </a:r>
          </a:p>
          <a:p>
            <a:pPr marL="285750" indent="-285750" algn="just">
              <a:lnSpc>
                <a:spcPct val="150000"/>
              </a:lnSpc>
              <a:buFont typeface="Arial" panose="020B0604020202020204" pitchFamily="34" charset="0"/>
              <a:buChar char="•"/>
            </a:pPr>
            <a:r>
              <a:rPr lang="en-IN" dirty="0">
                <a:solidFill>
                  <a:schemeClr val="tx1"/>
                </a:solidFill>
              </a:rPr>
              <a:t>Each element of a structure is called a member</a:t>
            </a:r>
          </a:p>
          <a:p>
            <a:pPr marL="285750" indent="-285750" algn="just">
              <a:lnSpc>
                <a:spcPct val="150000"/>
              </a:lnSpc>
              <a:buFont typeface="Arial" panose="020B0604020202020204" pitchFamily="34" charset="0"/>
              <a:buChar char="•"/>
            </a:pPr>
            <a:r>
              <a:rPr lang="en-IN" dirty="0">
                <a:solidFill>
                  <a:schemeClr val="tx1"/>
                </a:solidFill>
              </a:rPr>
              <a:t>Structures are used to represent a record. Suppose user wants to keep track of the books in a library.</a:t>
            </a:r>
          </a:p>
          <a:p>
            <a:pPr marL="285750" indent="-285750" algn="just">
              <a:lnSpc>
                <a:spcPct val="150000"/>
              </a:lnSpc>
              <a:buFont typeface="Arial" panose="020B0604020202020204" pitchFamily="34" charset="0"/>
              <a:buChar char="•"/>
            </a:pPr>
            <a:endParaRPr lang="en-IN" b="1" dirty="0">
              <a:solidFill>
                <a:srgbClr val="FFFF00"/>
              </a:solidFill>
            </a:endParaRPr>
          </a:p>
          <a:p>
            <a:pPr marL="285750" indent="-285750" algn="just">
              <a:lnSpc>
                <a:spcPct val="150000"/>
              </a:lnSpc>
              <a:buFont typeface="Arial" panose="020B0604020202020204" pitchFamily="34" charset="0"/>
              <a:buChar char="•"/>
            </a:pPr>
            <a:r>
              <a:rPr lang="en-IN" b="1" dirty="0">
                <a:solidFill>
                  <a:srgbClr val="FFFF00"/>
                </a:solidFill>
              </a:rPr>
              <a:t>Example</a:t>
            </a:r>
          </a:p>
          <a:p>
            <a:pPr marL="285750" indent="-285750" algn="just">
              <a:lnSpc>
                <a:spcPct val="150000"/>
              </a:lnSpc>
              <a:buFont typeface="Arial" panose="020B0604020202020204" pitchFamily="34" charset="0"/>
              <a:buChar char="•"/>
            </a:pPr>
            <a:r>
              <a:rPr lang="en-IN" dirty="0">
                <a:solidFill>
                  <a:schemeClr val="tx1"/>
                </a:solidFill>
              </a:rPr>
              <a:t>     	Title</a:t>
            </a:r>
          </a:p>
          <a:p>
            <a:pPr marL="285750" lvl="1" indent="-285750" algn="just">
              <a:lnSpc>
                <a:spcPct val="150000"/>
              </a:lnSpc>
              <a:buFont typeface="Arial" panose="020B0604020202020204" pitchFamily="34" charset="0"/>
              <a:buChar char="•"/>
            </a:pPr>
            <a:r>
              <a:rPr lang="en-IN" dirty="0">
                <a:solidFill>
                  <a:schemeClr val="tx1"/>
                </a:solidFill>
              </a:rPr>
              <a:t> 	Author</a:t>
            </a:r>
          </a:p>
          <a:p>
            <a:pPr marL="285750" lvl="1" indent="-285750" algn="just">
              <a:lnSpc>
                <a:spcPct val="150000"/>
              </a:lnSpc>
              <a:buFont typeface="Arial" panose="020B0604020202020204" pitchFamily="34" charset="0"/>
              <a:buChar char="•"/>
            </a:pPr>
            <a:r>
              <a:rPr lang="en-IN" dirty="0">
                <a:solidFill>
                  <a:schemeClr val="tx1"/>
                </a:solidFill>
              </a:rPr>
              <a:t> 	Subject</a:t>
            </a:r>
          </a:p>
          <a:p>
            <a:pPr marL="285750" lvl="1" indent="-285750" algn="just">
              <a:lnSpc>
                <a:spcPct val="150000"/>
              </a:lnSpc>
              <a:buFont typeface="Arial" panose="020B0604020202020204" pitchFamily="34" charset="0"/>
              <a:buChar char="•"/>
            </a:pPr>
            <a:r>
              <a:rPr lang="en-IN" dirty="0">
                <a:solidFill>
                  <a:schemeClr val="tx1"/>
                </a:solidFill>
              </a:rPr>
              <a:t> 	Book ID</a:t>
            </a:r>
          </a:p>
          <a:p>
            <a:pPr marL="285750" lvl="1" indent="-285750" algn="just">
              <a:lnSpc>
                <a:spcPct val="150000"/>
              </a:lnSpc>
              <a:buFont typeface="Arial" panose="020B0604020202020204" pitchFamily="34" charset="0"/>
              <a:buChar char="•"/>
            </a:pPr>
            <a:endParaRPr lang="en-IN" dirty="0">
              <a:solidFill>
                <a:schemeClr val="tx1"/>
              </a:solidFill>
            </a:endParaRPr>
          </a:p>
        </p:txBody>
      </p:sp>
      <p:sp>
        <p:nvSpPr>
          <p:cNvPr id="9" name="TextBox 8">
            <a:extLst>
              <a:ext uri="{FF2B5EF4-FFF2-40B4-BE49-F238E27FC236}">
                <a16:creationId xmlns:a16="http://schemas.microsoft.com/office/drawing/2014/main" id="{BC2AAAA2-147D-A305-A394-20D51A1C5E00}"/>
              </a:ext>
            </a:extLst>
          </p:cNvPr>
          <p:cNvSpPr txBox="1"/>
          <p:nvPr/>
        </p:nvSpPr>
        <p:spPr>
          <a:xfrm>
            <a:off x="3547432" y="2106376"/>
            <a:ext cx="2633031" cy="2960875"/>
          </a:xfrm>
          <a:prstGeom prst="rect">
            <a:avLst/>
          </a:prstGeom>
          <a:noFill/>
        </p:spPr>
        <p:txBody>
          <a:bodyPr wrap="square">
            <a:spAutoFit/>
          </a:bodyPr>
          <a:lstStyle/>
          <a:p>
            <a:pPr lvl="1" algn="just">
              <a:lnSpc>
                <a:spcPct val="150000"/>
              </a:lnSpc>
            </a:pPr>
            <a:r>
              <a:rPr lang="en-IN" b="1" dirty="0">
                <a:solidFill>
                  <a:srgbClr val="FFFF00"/>
                </a:solidFill>
              </a:rPr>
              <a:t>Syntax</a:t>
            </a:r>
          </a:p>
          <a:p>
            <a:pPr marL="285750" lvl="1" indent="-285750" algn="just">
              <a:lnSpc>
                <a:spcPct val="150000"/>
              </a:lnSpc>
              <a:buFont typeface="Arial" panose="020B0604020202020204" pitchFamily="34" charset="0"/>
              <a:buChar char="•"/>
            </a:pPr>
            <a:r>
              <a:rPr lang="en-US" dirty="0">
                <a:solidFill>
                  <a:schemeClr val="tx1"/>
                </a:solidFill>
              </a:rPr>
              <a:t>struct </a:t>
            </a:r>
            <a:r>
              <a:rPr lang="en-US" dirty="0" err="1">
                <a:solidFill>
                  <a:schemeClr val="tx1"/>
                </a:solidFill>
              </a:rPr>
              <a:t>structure_name</a:t>
            </a:r>
            <a:r>
              <a:rPr lang="en-US" dirty="0">
                <a:solidFill>
                  <a:schemeClr val="tx1"/>
                </a:solidFill>
              </a:rPr>
              <a:t>   </a:t>
            </a:r>
          </a:p>
          <a:p>
            <a:pPr marL="285750" lvl="1" indent="-285750" algn="just">
              <a:lnSpc>
                <a:spcPct val="150000"/>
              </a:lnSpc>
              <a:buFont typeface="Arial" panose="020B0604020202020204" pitchFamily="34" charset="0"/>
              <a:buChar char="•"/>
            </a:pPr>
            <a:r>
              <a:rPr lang="en-US" dirty="0">
                <a:solidFill>
                  <a:schemeClr val="tx1"/>
                </a:solidFill>
              </a:rPr>
              <a:t>{  </a:t>
            </a:r>
          </a:p>
          <a:p>
            <a:pPr marL="285750" lvl="1" indent="-285750" algn="just">
              <a:lnSpc>
                <a:spcPct val="150000"/>
              </a:lnSpc>
              <a:buFont typeface="Arial" panose="020B0604020202020204" pitchFamily="34" charset="0"/>
              <a:buChar char="•"/>
            </a:pPr>
            <a:r>
              <a:rPr lang="en-US" dirty="0">
                <a:solidFill>
                  <a:schemeClr val="tx1"/>
                </a:solidFill>
              </a:rPr>
              <a:t>    </a:t>
            </a:r>
            <a:r>
              <a:rPr lang="en-US" dirty="0" err="1">
                <a:solidFill>
                  <a:schemeClr val="tx1"/>
                </a:solidFill>
              </a:rPr>
              <a:t>data_type</a:t>
            </a:r>
            <a:r>
              <a:rPr lang="en-US" dirty="0">
                <a:solidFill>
                  <a:schemeClr val="tx1"/>
                </a:solidFill>
              </a:rPr>
              <a:t> member1;  </a:t>
            </a:r>
          </a:p>
          <a:p>
            <a:pPr marL="285750" lvl="1" indent="-285750" algn="just">
              <a:lnSpc>
                <a:spcPct val="150000"/>
              </a:lnSpc>
              <a:buFont typeface="Arial" panose="020B0604020202020204" pitchFamily="34" charset="0"/>
              <a:buChar char="•"/>
            </a:pPr>
            <a:r>
              <a:rPr lang="en-US" dirty="0">
                <a:solidFill>
                  <a:schemeClr val="tx1"/>
                </a:solidFill>
              </a:rPr>
              <a:t>    </a:t>
            </a:r>
            <a:r>
              <a:rPr lang="en-US" dirty="0" err="1">
                <a:solidFill>
                  <a:schemeClr val="tx1"/>
                </a:solidFill>
              </a:rPr>
              <a:t>data_type</a:t>
            </a:r>
            <a:r>
              <a:rPr lang="en-US" dirty="0">
                <a:solidFill>
                  <a:schemeClr val="tx1"/>
                </a:solidFill>
              </a:rPr>
              <a:t> member2;  </a:t>
            </a:r>
          </a:p>
          <a:p>
            <a:pPr marL="285750" lvl="1" indent="-285750" algn="just">
              <a:lnSpc>
                <a:spcPct val="150000"/>
              </a:lnSpc>
              <a:buFont typeface="Arial" panose="020B0604020202020204" pitchFamily="34" charset="0"/>
              <a:buChar char="•"/>
            </a:pPr>
            <a:r>
              <a:rPr lang="en-US" dirty="0">
                <a:solidFill>
                  <a:schemeClr val="tx1"/>
                </a:solidFill>
              </a:rPr>
              <a:t>    .  </a:t>
            </a:r>
          </a:p>
          <a:p>
            <a:pPr marL="285750" lvl="1" indent="-285750" algn="just">
              <a:lnSpc>
                <a:spcPct val="150000"/>
              </a:lnSpc>
              <a:buFont typeface="Arial" panose="020B0604020202020204" pitchFamily="34" charset="0"/>
              <a:buChar char="•"/>
            </a:pPr>
            <a:r>
              <a:rPr lang="en-US" dirty="0">
                <a:solidFill>
                  <a:schemeClr val="tx1"/>
                </a:solidFill>
              </a:rPr>
              <a:t>    .  </a:t>
            </a:r>
          </a:p>
          <a:p>
            <a:pPr marL="285750" lvl="1" indent="-285750" algn="just">
              <a:lnSpc>
                <a:spcPct val="150000"/>
              </a:lnSpc>
              <a:buFont typeface="Arial" panose="020B0604020202020204" pitchFamily="34" charset="0"/>
              <a:buChar char="•"/>
            </a:pPr>
            <a:r>
              <a:rPr lang="en-US" dirty="0">
                <a:solidFill>
                  <a:schemeClr val="tx1"/>
                </a:solidFill>
              </a:rPr>
              <a:t>    </a:t>
            </a:r>
            <a:r>
              <a:rPr lang="en-US" dirty="0" err="1">
                <a:solidFill>
                  <a:schemeClr val="tx1"/>
                </a:solidFill>
              </a:rPr>
              <a:t>data_type</a:t>
            </a:r>
            <a:r>
              <a:rPr lang="en-US" dirty="0">
                <a:solidFill>
                  <a:schemeClr val="tx1"/>
                </a:solidFill>
              </a:rPr>
              <a:t> </a:t>
            </a:r>
            <a:r>
              <a:rPr lang="en-US" dirty="0" err="1">
                <a:solidFill>
                  <a:schemeClr val="tx1"/>
                </a:solidFill>
              </a:rPr>
              <a:t>memeberN</a:t>
            </a:r>
            <a:r>
              <a:rPr lang="en-US" dirty="0">
                <a:solidFill>
                  <a:schemeClr val="tx1"/>
                </a:solidFill>
              </a:rPr>
              <a:t>;  </a:t>
            </a:r>
          </a:p>
          <a:p>
            <a:pPr marL="285750" lvl="1" indent="-285750" algn="just">
              <a:lnSpc>
                <a:spcPct val="150000"/>
              </a:lnSpc>
              <a:buFont typeface="Arial" panose="020B0604020202020204" pitchFamily="34" charset="0"/>
              <a:buChar char="•"/>
            </a:pPr>
            <a:r>
              <a:rPr lang="en-US" dirty="0">
                <a:solidFill>
                  <a:schemeClr val="tx1"/>
                </a:solidFill>
              </a:rPr>
              <a:t>};</a:t>
            </a:r>
            <a:endParaRPr lang="en-IN" dirty="0"/>
          </a:p>
        </p:txBody>
      </p:sp>
    </p:spTree>
    <p:extLst>
      <p:ext uri="{BB962C8B-B14F-4D97-AF65-F5344CB8AC3E}">
        <p14:creationId xmlns:p14="http://schemas.microsoft.com/office/powerpoint/2010/main" val="12089704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Structures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
        <p:nvSpPr>
          <p:cNvPr id="6" name="TextBox 5">
            <a:extLst>
              <a:ext uri="{FF2B5EF4-FFF2-40B4-BE49-F238E27FC236}">
                <a16:creationId xmlns:a16="http://schemas.microsoft.com/office/drawing/2014/main" id="{46E47088-0692-A4AE-D6E7-107FA183C885}"/>
              </a:ext>
            </a:extLst>
          </p:cNvPr>
          <p:cNvSpPr txBox="1"/>
          <p:nvPr/>
        </p:nvSpPr>
        <p:spPr>
          <a:xfrm>
            <a:off x="3426248" y="2979411"/>
            <a:ext cx="2025289" cy="1991379"/>
          </a:xfrm>
          <a:prstGeom prst="rect">
            <a:avLst/>
          </a:prstGeom>
          <a:noFill/>
        </p:spPr>
        <p:txBody>
          <a:bodyPr wrap="square">
            <a:spAutoFit/>
          </a:bodyPr>
          <a:lstStyle/>
          <a:p>
            <a:pPr algn="just">
              <a:lnSpc>
                <a:spcPct val="150000"/>
              </a:lnSpc>
            </a:pPr>
            <a:r>
              <a:rPr lang="en-US" b="1" dirty="0">
                <a:solidFill>
                  <a:srgbClr val="FFFF00"/>
                </a:solidFill>
              </a:rPr>
              <a:t>Example</a:t>
            </a:r>
          </a:p>
          <a:p>
            <a:pPr marL="285750" indent="-285750" algn="just">
              <a:lnSpc>
                <a:spcPct val="150000"/>
              </a:lnSpc>
              <a:buFont typeface="Arial" panose="020B0604020202020204" pitchFamily="34" charset="0"/>
              <a:buChar char="•"/>
            </a:pPr>
            <a:r>
              <a:rPr lang="en-US" dirty="0">
                <a:solidFill>
                  <a:schemeClr val="tx1"/>
                </a:solidFill>
              </a:rPr>
              <a:t>struct employee  </a:t>
            </a:r>
          </a:p>
          <a:p>
            <a:pPr marL="285750" indent="-285750" algn="just">
              <a:lnSpc>
                <a:spcPct val="150000"/>
              </a:lnSpc>
              <a:buFont typeface="Arial" panose="020B0604020202020204" pitchFamily="34" charset="0"/>
              <a:buChar char="•"/>
            </a:pPr>
            <a:r>
              <a:rPr lang="en-US" dirty="0">
                <a:solidFill>
                  <a:schemeClr val="tx1"/>
                </a:solidFill>
              </a:rPr>
              <a:t>{   </a:t>
            </a:r>
            <a:r>
              <a:rPr lang="en-US" b="1" dirty="0">
                <a:solidFill>
                  <a:schemeClr val="accent2"/>
                </a:solidFill>
              </a:rPr>
              <a:t>int id;  </a:t>
            </a:r>
          </a:p>
          <a:p>
            <a:pPr marL="285750" indent="-285750" algn="just">
              <a:lnSpc>
                <a:spcPct val="150000"/>
              </a:lnSpc>
              <a:buFont typeface="Arial" panose="020B0604020202020204" pitchFamily="34" charset="0"/>
              <a:buChar char="•"/>
            </a:pPr>
            <a:r>
              <a:rPr lang="en-US" dirty="0">
                <a:solidFill>
                  <a:schemeClr val="tx1"/>
                </a:solidFill>
              </a:rPr>
              <a:t>    </a:t>
            </a:r>
            <a:r>
              <a:rPr lang="en-US" b="1" dirty="0">
                <a:solidFill>
                  <a:srgbClr val="00B050"/>
                </a:solidFill>
              </a:rPr>
              <a:t>char name[20];  </a:t>
            </a:r>
          </a:p>
          <a:p>
            <a:pPr marL="285750" indent="-285750" algn="just">
              <a:lnSpc>
                <a:spcPct val="150000"/>
              </a:lnSpc>
              <a:buFont typeface="Arial" panose="020B0604020202020204" pitchFamily="34" charset="0"/>
              <a:buChar char="•"/>
            </a:pPr>
            <a:r>
              <a:rPr lang="en-US" b="1" dirty="0">
                <a:solidFill>
                  <a:srgbClr val="002060"/>
                </a:solidFill>
              </a:rPr>
              <a:t>    </a:t>
            </a:r>
            <a:r>
              <a:rPr lang="en-US" b="1" dirty="0">
                <a:solidFill>
                  <a:schemeClr val="accent5"/>
                </a:solidFill>
              </a:rPr>
              <a:t>float salary;  </a:t>
            </a:r>
          </a:p>
          <a:p>
            <a:pPr marL="285750" indent="-285750" algn="just">
              <a:lnSpc>
                <a:spcPct val="150000"/>
              </a:lnSpc>
              <a:buFont typeface="Arial" panose="020B0604020202020204" pitchFamily="34" charset="0"/>
              <a:buChar char="•"/>
            </a:pPr>
            <a:r>
              <a:rPr lang="en-US" dirty="0">
                <a:solidFill>
                  <a:schemeClr val="tx1"/>
                </a:solidFill>
              </a:rPr>
              <a:t>};</a:t>
            </a:r>
            <a:endParaRPr lang="en-IN" dirty="0">
              <a:solidFill>
                <a:schemeClr val="tx1"/>
              </a:solidFill>
            </a:endParaRPr>
          </a:p>
        </p:txBody>
      </p:sp>
      <p:pic>
        <p:nvPicPr>
          <p:cNvPr id="2050" name="Picture 2" descr="c structure memory allocation">
            <a:extLst>
              <a:ext uri="{FF2B5EF4-FFF2-40B4-BE49-F238E27FC236}">
                <a16:creationId xmlns:a16="http://schemas.microsoft.com/office/drawing/2014/main" id="{059CBC45-FE56-323F-6392-880951F56FA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267125" y="510991"/>
            <a:ext cx="6067573" cy="234401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F1577B0-FE48-DE6F-47A0-65A9D995412F}"/>
              </a:ext>
            </a:extLst>
          </p:cNvPr>
          <p:cNvPicPr>
            <a:picLocks noChangeAspect="1"/>
          </p:cNvPicPr>
          <p:nvPr/>
        </p:nvPicPr>
        <p:blipFill>
          <a:blip r:embed="rId4"/>
          <a:stretch>
            <a:fillRect/>
          </a:stretch>
        </p:blipFill>
        <p:spPr>
          <a:xfrm>
            <a:off x="267126" y="3079751"/>
            <a:ext cx="2819400" cy="1790700"/>
          </a:xfrm>
          <a:prstGeom prst="rect">
            <a:avLst/>
          </a:prstGeom>
        </p:spPr>
      </p:pic>
    </p:spTree>
    <p:extLst>
      <p:ext uri="{BB962C8B-B14F-4D97-AF65-F5344CB8AC3E}">
        <p14:creationId xmlns:p14="http://schemas.microsoft.com/office/powerpoint/2010/main" val="40348170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Structures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sp>
        <p:nvSpPr>
          <p:cNvPr id="6" name="TextBox 5">
            <a:extLst>
              <a:ext uri="{FF2B5EF4-FFF2-40B4-BE49-F238E27FC236}">
                <a16:creationId xmlns:a16="http://schemas.microsoft.com/office/drawing/2014/main" id="{46E47088-0692-A4AE-D6E7-107FA183C885}"/>
              </a:ext>
            </a:extLst>
          </p:cNvPr>
          <p:cNvSpPr txBox="1"/>
          <p:nvPr/>
        </p:nvSpPr>
        <p:spPr>
          <a:xfrm>
            <a:off x="561861" y="580371"/>
            <a:ext cx="8174515" cy="1991379"/>
          </a:xfrm>
          <a:prstGeom prst="rect">
            <a:avLst/>
          </a:prstGeom>
          <a:noFill/>
        </p:spPr>
        <p:txBody>
          <a:bodyPr wrap="square">
            <a:spAutoFit/>
          </a:bodyPr>
          <a:lstStyle/>
          <a:p>
            <a:pPr algn="just">
              <a:lnSpc>
                <a:spcPct val="150000"/>
              </a:lnSpc>
            </a:pPr>
            <a:r>
              <a:rPr lang="en-US" b="1" dirty="0">
                <a:solidFill>
                  <a:srgbClr val="FFFF00"/>
                </a:solidFill>
              </a:rPr>
              <a:t>Declaring structure variable</a:t>
            </a:r>
          </a:p>
          <a:p>
            <a:pPr marL="285750" indent="-285750" algn="just">
              <a:lnSpc>
                <a:spcPct val="150000"/>
              </a:lnSpc>
              <a:buFont typeface="Arial" panose="020B0604020202020204" pitchFamily="34" charset="0"/>
              <a:buChar char="•"/>
            </a:pPr>
            <a:r>
              <a:rPr lang="en-US" dirty="0">
                <a:solidFill>
                  <a:schemeClr val="bg2"/>
                </a:solidFill>
              </a:rPr>
              <a:t>Users can declare a variable for the structure so that user can access the member of the structure easily. </a:t>
            </a:r>
          </a:p>
          <a:p>
            <a:pPr marL="285750" indent="-285750" algn="just">
              <a:lnSpc>
                <a:spcPct val="150000"/>
              </a:lnSpc>
              <a:buFont typeface="Arial" panose="020B0604020202020204" pitchFamily="34" charset="0"/>
              <a:buChar char="•"/>
            </a:pPr>
            <a:r>
              <a:rPr lang="en-US" dirty="0">
                <a:solidFill>
                  <a:schemeClr val="bg2"/>
                </a:solidFill>
              </a:rPr>
              <a:t>There are two ways to declare structure variable:</a:t>
            </a:r>
          </a:p>
          <a:p>
            <a:pPr marL="285750" indent="-285750" algn="just">
              <a:lnSpc>
                <a:spcPct val="150000"/>
              </a:lnSpc>
              <a:buFont typeface="Arial" panose="020B0604020202020204" pitchFamily="34" charset="0"/>
              <a:buChar char="•"/>
            </a:pPr>
            <a:r>
              <a:rPr lang="en-US" dirty="0">
                <a:solidFill>
                  <a:srgbClr val="FFFF00"/>
                </a:solidFill>
              </a:rPr>
              <a:t> 	</a:t>
            </a:r>
            <a:r>
              <a:rPr lang="en-US" b="1" dirty="0">
                <a:solidFill>
                  <a:schemeClr val="accent1"/>
                </a:solidFill>
              </a:rPr>
              <a:t>By struct keyword within main() function</a:t>
            </a:r>
          </a:p>
          <a:p>
            <a:pPr algn="just">
              <a:lnSpc>
                <a:spcPct val="150000"/>
              </a:lnSpc>
            </a:pPr>
            <a:r>
              <a:rPr lang="en-US" b="1" dirty="0">
                <a:solidFill>
                  <a:schemeClr val="accent1"/>
                </a:solidFill>
              </a:rPr>
              <a:t>  	By declaring a variable at the time of defining the structure</a:t>
            </a:r>
            <a:endParaRPr lang="en-IN" b="1" dirty="0">
              <a:solidFill>
                <a:schemeClr val="accent1"/>
              </a:solidFill>
            </a:endParaRPr>
          </a:p>
        </p:txBody>
      </p:sp>
      <p:pic>
        <p:nvPicPr>
          <p:cNvPr id="7" name="Picture 6">
            <a:extLst>
              <a:ext uri="{FF2B5EF4-FFF2-40B4-BE49-F238E27FC236}">
                <a16:creationId xmlns:a16="http://schemas.microsoft.com/office/drawing/2014/main" id="{D658BE5E-3F52-761E-D6E0-4D0A7609DA9B}"/>
              </a:ext>
            </a:extLst>
          </p:cNvPr>
          <p:cNvPicPr>
            <a:picLocks noChangeAspect="1"/>
          </p:cNvPicPr>
          <p:nvPr/>
        </p:nvPicPr>
        <p:blipFill>
          <a:blip r:embed="rId2"/>
          <a:stretch>
            <a:fillRect/>
          </a:stretch>
        </p:blipFill>
        <p:spPr>
          <a:xfrm>
            <a:off x="662372" y="3003753"/>
            <a:ext cx="1596085" cy="1540278"/>
          </a:xfrm>
          <a:prstGeom prst="rect">
            <a:avLst/>
          </a:prstGeom>
        </p:spPr>
      </p:pic>
      <p:sp>
        <p:nvSpPr>
          <p:cNvPr id="9" name="TextBox 8">
            <a:extLst>
              <a:ext uri="{FF2B5EF4-FFF2-40B4-BE49-F238E27FC236}">
                <a16:creationId xmlns:a16="http://schemas.microsoft.com/office/drawing/2014/main" id="{16BD93DF-535C-0DDD-93E3-B2D6578235A2}"/>
              </a:ext>
            </a:extLst>
          </p:cNvPr>
          <p:cNvSpPr txBox="1"/>
          <p:nvPr/>
        </p:nvSpPr>
        <p:spPr>
          <a:xfrm>
            <a:off x="63445" y="2672342"/>
            <a:ext cx="4583016" cy="307777"/>
          </a:xfrm>
          <a:prstGeom prst="rect">
            <a:avLst/>
          </a:prstGeom>
          <a:noFill/>
        </p:spPr>
        <p:txBody>
          <a:bodyPr wrap="square">
            <a:spAutoFit/>
          </a:bodyPr>
          <a:lstStyle/>
          <a:p>
            <a:r>
              <a:rPr lang="en-IN" dirty="0">
                <a:solidFill>
                  <a:srgbClr val="FF0000"/>
                </a:solidFill>
              </a:rPr>
              <a:t>1. It should be declared within the main function. </a:t>
            </a:r>
          </a:p>
        </p:txBody>
      </p:sp>
      <p:sp>
        <p:nvSpPr>
          <p:cNvPr id="11" name="TextBox 10">
            <a:extLst>
              <a:ext uri="{FF2B5EF4-FFF2-40B4-BE49-F238E27FC236}">
                <a16:creationId xmlns:a16="http://schemas.microsoft.com/office/drawing/2014/main" id="{00DB955B-6D4C-9646-C5D8-622E7D1D05BD}"/>
              </a:ext>
            </a:extLst>
          </p:cNvPr>
          <p:cNvSpPr txBox="1"/>
          <p:nvPr/>
        </p:nvSpPr>
        <p:spPr>
          <a:xfrm>
            <a:off x="190916" y="4544031"/>
            <a:ext cx="7130570" cy="523220"/>
          </a:xfrm>
          <a:prstGeom prst="rect">
            <a:avLst/>
          </a:prstGeom>
          <a:noFill/>
        </p:spPr>
        <p:txBody>
          <a:bodyPr wrap="square">
            <a:spAutoFit/>
          </a:bodyPr>
          <a:lstStyle/>
          <a:p>
            <a:r>
              <a:rPr lang="en-IN" b="1" dirty="0">
                <a:solidFill>
                  <a:srgbClr val="FF0000"/>
                </a:solidFill>
              </a:rPr>
              <a:t>struct employee e1, e2;  </a:t>
            </a:r>
          </a:p>
          <a:p>
            <a:r>
              <a:rPr lang="en-IN" dirty="0">
                <a:solidFill>
                  <a:srgbClr val="FF0000"/>
                </a:solidFill>
              </a:rPr>
              <a:t>The variables e1 and e2 can be used to access the values stored in the structure</a:t>
            </a:r>
          </a:p>
        </p:txBody>
      </p:sp>
      <p:pic>
        <p:nvPicPr>
          <p:cNvPr id="13" name="Picture 12">
            <a:extLst>
              <a:ext uri="{FF2B5EF4-FFF2-40B4-BE49-F238E27FC236}">
                <a16:creationId xmlns:a16="http://schemas.microsoft.com/office/drawing/2014/main" id="{CC11F935-1435-203D-3EBD-EB96363B9FF5}"/>
              </a:ext>
            </a:extLst>
          </p:cNvPr>
          <p:cNvPicPr>
            <a:picLocks noChangeAspect="1"/>
          </p:cNvPicPr>
          <p:nvPr/>
        </p:nvPicPr>
        <p:blipFill>
          <a:blip r:embed="rId3"/>
          <a:stretch>
            <a:fillRect/>
          </a:stretch>
        </p:blipFill>
        <p:spPr>
          <a:xfrm>
            <a:off x="4090789" y="3063476"/>
            <a:ext cx="1596085" cy="1596085"/>
          </a:xfrm>
          <a:prstGeom prst="rect">
            <a:avLst/>
          </a:prstGeom>
        </p:spPr>
      </p:pic>
      <p:sp>
        <p:nvSpPr>
          <p:cNvPr id="14" name="TextBox 13">
            <a:extLst>
              <a:ext uri="{FF2B5EF4-FFF2-40B4-BE49-F238E27FC236}">
                <a16:creationId xmlns:a16="http://schemas.microsoft.com/office/drawing/2014/main" id="{1802DB77-64ED-58D5-091B-8996F7BB5F69}"/>
              </a:ext>
            </a:extLst>
          </p:cNvPr>
          <p:cNvSpPr txBox="1"/>
          <p:nvPr/>
        </p:nvSpPr>
        <p:spPr>
          <a:xfrm>
            <a:off x="4012247" y="2672342"/>
            <a:ext cx="2113131" cy="307777"/>
          </a:xfrm>
          <a:prstGeom prst="rect">
            <a:avLst/>
          </a:prstGeom>
          <a:noFill/>
        </p:spPr>
        <p:txBody>
          <a:bodyPr wrap="square">
            <a:spAutoFit/>
          </a:bodyPr>
          <a:lstStyle/>
          <a:p>
            <a:r>
              <a:rPr lang="en-IN" dirty="0">
                <a:solidFill>
                  <a:srgbClr val="00B050"/>
                </a:solidFill>
              </a:rPr>
              <a:t>2. Outside main function</a:t>
            </a:r>
          </a:p>
        </p:txBody>
      </p:sp>
    </p:spTree>
    <p:extLst>
      <p:ext uri="{BB962C8B-B14F-4D97-AF65-F5344CB8AC3E}">
        <p14:creationId xmlns:p14="http://schemas.microsoft.com/office/powerpoint/2010/main" val="2057335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Accessing Members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sp>
        <p:nvSpPr>
          <p:cNvPr id="6" name="TextBox 5">
            <a:extLst>
              <a:ext uri="{FF2B5EF4-FFF2-40B4-BE49-F238E27FC236}">
                <a16:creationId xmlns:a16="http://schemas.microsoft.com/office/drawing/2014/main" id="{46E47088-0692-A4AE-D6E7-107FA183C885}"/>
              </a:ext>
            </a:extLst>
          </p:cNvPr>
          <p:cNvSpPr txBox="1"/>
          <p:nvPr/>
        </p:nvSpPr>
        <p:spPr>
          <a:xfrm>
            <a:off x="561861" y="580371"/>
            <a:ext cx="8174515" cy="1668214"/>
          </a:xfrm>
          <a:prstGeom prst="rect">
            <a:avLst/>
          </a:prstGeom>
          <a:noFill/>
        </p:spPr>
        <p:txBody>
          <a:bodyPr wrap="square">
            <a:spAutoFit/>
          </a:bodyPr>
          <a:lstStyle/>
          <a:p>
            <a:pPr algn="just">
              <a:lnSpc>
                <a:spcPct val="150000"/>
              </a:lnSpc>
            </a:pPr>
            <a:r>
              <a:rPr lang="en-US" b="1" dirty="0">
                <a:solidFill>
                  <a:srgbClr val="FFFF00"/>
                </a:solidFill>
              </a:rPr>
              <a:t>Declaring structure variable</a:t>
            </a:r>
          </a:p>
          <a:p>
            <a:pPr marL="285750" indent="-285750" algn="just">
              <a:lnSpc>
                <a:spcPct val="150000"/>
              </a:lnSpc>
              <a:buFont typeface="Arial" panose="020B0604020202020204" pitchFamily="34" charset="0"/>
              <a:buChar char="•"/>
            </a:pPr>
            <a:r>
              <a:rPr lang="en-US" dirty="0">
                <a:solidFill>
                  <a:schemeClr val="bg2"/>
                </a:solidFill>
              </a:rPr>
              <a:t>There are two ways to access structure members:</a:t>
            </a:r>
          </a:p>
          <a:p>
            <a:pPr marL="285750" indent="-285750" algn="just">
              <a:lnSpc>
                <a:spcPct val="150000"/>
              </a:lnSpc>
              <a:buFont typeface="Arial" panose="020B0604020202020204" pitchFamily="34" charset="0"/>
              <a:buChar char="•"/>
            </a:pPr>
            <a:r>
              <a:rPr lang="en-US" dirty="0">
                <a:solidFill>
                  <a:schemeClr val="bg2"/>
                </a:solidFill>
              </a:rPr>
              <a:t>               </a:t>
            </a:r>
            <a:r>
              <a:rPr lang="en-US" b="1" dirty="0">
                <a:solidFill>
                  <a:srgbClr val="00B050"/>
                </a:solidFill>
              </a:rPr>
              <a:t>By . (member or dot operator)</a:t>
            </a:r>
          </a:p>
          <a:p>
            <a:pPr marL="285750" indent="-285750" algn="just">
              <a:lnSpc>
                <a:spcPct val="150000"/>
              </a:lnSpc>
              <a:buFont typeface="Arial" panose="020B0604020202020204" pitchFamily="34" charset="0"/>
              <a:buChar char="•"/>
            </a:pPr>
            <a:r>
              <a:rPr lang="en-US" b="1" dirty="0">
                <a:solidFill>
                  <a:srgbClr val="00B050"/>
                </a:solidFill>
              </a:rPr>
              <a:t>               By -&gt; (structure pointer operator)</a:t>
            </a:r>
          </a:p>
          <a:p>
            <a:pPr marL="285750" indent="-285750" algn="just">
              <a:lnSpc>
                <a:spcPct val="150000"/>
              </a:lnSpc>
              <a:buFont typeface="Arial" panose="020B0604020202020204" pitchFamily="34" charset="0"/>
              <a:buChar char="•"/>
            </a:pPr>
            <a:r>
              <a:rPr lang="en-US" dirty="0">
                <a:solidFill>
                  <a:schemeClr val="bg2"/>
                </a:solidFill>
              </a:rPr>
              <a:t>For the previous code to access the </a:t>
            </a:r>
            <a:r>
              <a:rPr lang="en-US" b="1" dirty="0">
                <a:solidFill>
                  <a:schemeClr val="accent2"/>
                </a:solidFill>
              </a:rPr>
              <a:t>ID member</a:t>
            </a:r>
            <a:r>
              <a:rPr lang="en-US" dirty="0">
                <a:solidFill>
                  <a:schemeClr val="bg2"/>
                </a:solidFill>
              </a:rPr>
              <a:t> of </a:t>
            </a:r>
            <a:r>
              <a:rPr lang="en-US" b="1" dirty="0">
                <a:solidFill>
                  <a:schemeClr val="accent2"/>
                </a:solidFill>
              </a:rPr>
              <a:t>p1 variable by. (member) operator</a:t>
            </a:r>
            <a:r>
              <a:rPr lang="en-US" dirty="0">
                <a:solidFill>
                  <a:schemeClr val="bg2"/>
                </a:solidFill>
              </a:rPr>
              <a:t>.</a:t>
            </a:r>
            <a:endParaRPr lang="en-IN" b="1" dirty="0">
              <a:solidFill>
                <a:schemeClr val="accent1"/>
              </a:solidFill>
            </a:endParaRPr>
          </a:p>
        </p:txBody>
      </p:sp>
      <p:pic>
        <p:nvPicPr>
          <p:cNvPr id="10" name="Picture 9">
            <a:extLst>
              <a:ext uri="{FF2B5EF4-FFF2-40B4-BE49-F238E27FC236}">
                <a16:creationId xmlns:a16="http://schemas.microsoft.com/office/drawing/2014/main" id="{F8BC4C88-56B6-2C97-F767-9A1C282C0F55}"/>
              </a:ext>
            </a:extLst>
          </p:cNvPr>
          <p:cNvPicPr>
            <a:picLocks noChangeAspect="1"/>
          </p:cNvPicPr>
          <p:nvPr/>
        </p:nvPicPr>
        <p:blipFill>
          <a:blip r:embed="rId2"/>
          <a:stretch>
            <a:fillRect/>
          </a:stretch>
        </p:blipFill>
        <p:spPr>
          <a:xfrm>
            <a:off x="1755526" y="2369285"/>
            <a:ext cx="3495675" cy="2257425"/>
          </a:xfrm>
          <a:prstGeom prst="rect">
            <a:avLst/>
          </a:prstGeom>
        </p:spPr>
      </p:pic>
    </p:spTree>
    <p:extLst>
      <p:ext uri="{BB962C8B-B14F-4D97-AF65-F5344CB8AC3E}">
        <p14:creationId xmlns:p14="http://schemas.microsoft.com/office/powerpoint/2010/main" val="34212971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Accessing Members Type 1 - Example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sp>
        <p:nvSpPr>
          <p:cNvPr id="4" name="TextBox 3">
            <a:extLst>
              <a:ext uri="{FF2B5EF4-FFF2-40B4-BE49-F238E27FC236}">
                <a16:creationId xmlns:a16="http://schemas.microsoft.com/office/drawing/2014/main" id="{4775CD04-DF83-217E-AD49-D6985266C889}"/>
              </a:ext>
            </a:extLst>
          </p:cNvPr>
          <p:cNvSpPr txBox="1"/>
          <p:nvPr/>
        </p:nvSpPr>
        <p:spPr>
          <a:xfrm>
            <a:off x="1082048" y="587724"/>
            <a:ext cx="4583016" cy="3539430"/>
          </a:xfrm>
          <a:prstGeom prst="rect">
            <a:avLst/>
          </a:prstGeom>
          <a:noFill/>
        </p:spPr>
        <p:txBody>
          <a:bodyPr wrap="square">
            <a:spAutoFit/>
          </a:bodyPr>
          <a:lstStyle/>
          <a:p>
            <a:r>
              <a:rPr lang="en-IN" dirty="0">
                <a:solidFill>
                  <a:schemeClr val="tx1"/>
                </a:solidFill>
              </a:rPr>
              <a:t>#include&lt;stdio.h&gt;  </a:t>
            </a:r>
          </a:p>
          <a:p>
            <a:r>
              <a:rPr lang="en-IN" dirty="0">
                <a:solidFill>
                  <a:schemeClr val="tx1"/>
                </a:solidFill>
              </a:rPr>
              <a:t>#include &lt;</a:t>
            </a:r>
            <a:r>
              <a:rPr lang="en-IN" dirty="0" err="1">
                <a:solidFill>
                  <a:schemeClr val="tx1"/>
                </a:solidFill>
              </a:rPr>
              <a:t>string.h</a:t>
            </a:r>
            <a:r>
              <a:rPr lang="en-IN" dirty="0">
                <a:solidFill>
                  <a:schemeClr val="tx1"/>
                </a:solidFill>
              </a:rPr>
              <a:t>&gt;    </a:t>
            </a:r>
          </a:p>
          <a:p>
            <a:endParaRPr lang="en-IN" dirty="0">
              <a:solidFill>
                <a:schemeClr val="tx1"/>
              </a:solidFill>
            </a:endParaRPr>
          </a:p>
          <a:p>
            <a:r>
              <a:rPr lang="en-IN" dirty="0">
                <a:solidFill>
                  <a:srgbClr val="FFFF00"/>
                </a:solidFill>
              </a:rPr>
              <a:t>struct employee      </a:t>
            </a:r>
          </a:p>
          <a:p>
            <a:r>
              <a:rPr lang="en-IN" dirty="0">
                <a:solidFill>
                  <a:srgbClr val="FFFF00"/>
                </a:solidFill>
              </a:rPr>
              <a:t>{   int id;      </a:t>
            </a:r>
          </a:p>
          <a:p>
            <a:r>
              <a:rPr lang="en-IN" dirty="0">
                <a:solidFill>
                  <a:srgbClr val="FFFF00"/>
                </a:solidFill>
              </a:rPr>
              <a:t>    char name[50];      </a:t>
            </a:r>
          </a:p>
          <a:p>
            <a:r>
              <a:rPr lang="en-IN" dirty="0">
                <a:solidFill>
                  <a:srgbClr val="FFFF00"/>
                </a:solidFill>
              </a:rPr>
              <a:t>}e1;   </a:t>
            </a:r>
          </a:p>
          <a:p>
            <a:endParaRPr lang="en-IN" dirty="0">
              <a:solidFill>
                <a:schemeClr val="tx1"/>
              </a:solidFill>
            </a:endParaRPr>
          </a:p>
          <a:p>
            <a:r>
              <a:rPr lang="en-IN" dirty="0">
                <a:solidFill>
                  <a:schemeClr val="tx1"/>
                </a:solidFill>
              </a:rPr>
              <a:t>void main( )    </a:t>
            </a:r>
          </a:p>
          <a:p>
            <a:r>
              <a:rPr lang="en-IN" dirty="0">
                <a:solidFill>
                  <a:schemeClr val="tx1"/>
                </a:solidFill>
              </a:rPr>
              <a:t>{    </a:t>
            </a:r>
          </a:p>
          <a:p>
            <a:r>
              <a:rPr lang="en-IN" dirty="0">
                <a:solidFill>
                  <a:schemeClr val="tx1"/>
                </a:solidFill>
              </a:rPr>
              <a:t>    </a:t>
            </a:r>
          </a:p>
          <a:p>
            <a:r>
              <a:rPr lang="en-IN" dirty="0">
                <a:solidFill>
                  <a:schemeClr val="tx1"/>
                </a:solidFill>
              </a:rPr>
              <a:t>   e1.id=101;    </a:t>
            </a:r>
          </a:p>
          <a:p>
            <a:r>
              <a:rPr lang="en-IN" dirty="0">
                <a:solidFill>
                  <a:schemeClr val="tx1"/>
                </a:solidFill>
              </a:rPr>
              <a:t>   </a:t>
            </a:r>
            <a:r>
              <a:rPr lang="en-IN" dirty="0" err="1">
                <a:solidFill>
                  <a:schemeClr val="tx1"/>
                </a:solidFill>
              </a:rPr>
              <a:t>strcpy</a:t>
            </a:r>
            <a:r>
              <a:rPr lang="en-IN" dirty="0">
                <a:solidFill>
                  <a:schemeClr val="tx1"/>
                </a:solidFill>
              </a:rPr>
              <a:t>(e1.name, “Alex");</a:t>
            </a:r>
          </a:p>
          <a:p>
            <a:r>
              <a:rPr lang="en-IN" dirty="0">
                <a:solidFill>
                  <a:schemeClr val="tx1"/>
                </a:solidFill>
              </a:rPr>
              <a:t>   </a:t>
            </a:r>
            <a:r>
              <a:rPr lang="en-IN" dirty="0" err="1">
                <a:solidFill>
                  <a:schemeClr val="tx1"/>
                </a:solidFill>
              </a:rPr>
              <a:t>printf</a:t>
            </a:r>
            <a:r>
              <a:rPr lang="en-IN" dirty="0">
                <a:solidFill>
                  <a:schemeClr val="tx1"/>
                </a:solidFill>
              </a:rPr>
              <a:t>( "employee 1 id : %d\n", e1.id);    </a:t>
            </a:r>
          </a:p>
          <a:p>
            <a:r>
              <a:rPr lang="en-IN" dirty="0">
                <a:solidFill>
                  <a:schemeClr val="tx1"/>
                </a:solidFill>
              </a:rPr>
              <a:t>   </a:t>
            </a:r>
            <a:r>
              <a:rPr lang="en-IN" dirty="0" err="1">
                <a:solidFill>
                  <a:schemeClr val="tx1"/>
                </a:solidFill>
              </a:rPr>
              <a:t>printf</a:t>
            </a:r>
            <a:r>
              <a:rPr lang="en-IN" dirty="0">
                <a:solidFill>
                  <a:schemeClr val="tx1"/>
                </a:solidFill>
              </a:rPr>
              <a:t>( "employee 1 name : %s\n", e1.name); </a:t>
            </a:r>
          </a:p>
          <a:p>
            <a:r>
              <a:rPr lang="en-IN" dirty="0">
                <a:solidFill>
                  <a:schemeClr val="tx1"/>
                </a:solidFill>
              </a:rPr>
              <a:t>} </a:t>
            </a:r>
          </a:p>
        </p:txBody>
      </p:sp>
      <p:sp>
        <p:nvSpPr>
          <p:cNvPr id="7" name="TextBox 6">
            <a:extLst>
              <a:ext uri="{FF2B5EF4-FFF2-40B4-BE49-F238E27FC236}">
                <a16:creationId xmlns:a16="http://schemas.microsoft.com/office/drawing/2014/main" id="{47038001-ABCE-7124-C81D-A9D022B8607A}"/>
              </a:ext>
            </a:extLst>
          </p:cNvPr>
          <p:cNvSpPr txBox="1"/>
          <p:nvPr/>
        </p:nvSpPr>
        <p:spPr>
          <a:xfrm>
            <a:off x="5770445" y="1016346"/>
            <a:ext cx="3182639" cy="738664"/>
          </a:xfrm>
          <a:prstGeom prst="rect">
            <a:avLst/>
          </a:prstGeom>
          <a:noFill/>
        </p:spPr>
        <p:txBody>
          <a:bodyPr wrap="square">
            <a:spAutoFit/>
          </a:bodyPr>
          <a:lstStyle/>
          <a:p>
            <a:r>
              <a:rPr lang="en-IN" b="1" dirty="0">
                <a:solidFill>
                  <a:srgbClr val="FFFF00"/>
                </a:solidFill>
              </a:rPr>
              <a:t>Output</a:t>
            </a:r>
          </a:p>
          <a:p>
            <a:r>
              <a:rPr lang="en-IN" dirty="0">
                <a:solidFill>
                  <a:srgbClr val="FFFF00"/>
                </a:solidFill>
              </a:rPr>
              <a:t>employee 1 id : 101</a:t>
            </a:r>
          </a:p>
          <a:p>
            <a:r>
              <a:rPr lang="en-IN" dirty="0">
                <a:solidFill>
                  <a:srgbClr val="FFFF00"/>
                </a:solidFill>
              </a:rPr>
              <a:t>employee 1 name : Alex</a:t>
            </a:r>
          </a:p>
        </p:txBody>
      </p:sp>
    </p:spTree>
    <p:extLst>
      <p:ext uri="{BB962C8B-B14F-4D97-AF65-F5344CB8AC3E}">
        <p14:creationId xmlns:p14="http://schemas.microsoft.com/office/powerpoint/2010/main" val="21194019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Accessing Members Type 2- Example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
        <p:nvSpPr>
          <p:cNvPr id="4" name="TextBox 3">
            <a:extLst>
              <a:ext uri="{FF2B5EF4-FFF2-40B4-BE49-F238E27FC236}">
                <a16:creationId xmlns:a16="http://schemas.microsoft.com/office/drawing/2014/main" id="{4775CD04-DF83-217E-AD49-D6985266C889}"/>
              </a:ext>
            </a:extLst>
          </p:cNvPr>
          <p:cNvSpPr txBox="1"/>
          <p:nvPr/>
        </p:nvSpPr>
        <p:spPr>
          <a:xfrm>
            <a:off x="297456" y="469246"/>
            <a:ext cx="5949108" cy="4401205"/>
          </a:xfrm>
          <a:prstGeom prst="rect">
            <a:avLst/>
          </a:prstGeom>
          <a:noFill/>
        </p:spPr>
        <p:txBody>
          <a:bodyPr wrap="square">
            <a:spAutoFit/>
          </a:bodyPr>
          <a:lstStyle/>
          <a:p>
            <a:r>
              <a:rPr lang="en-IN" dirty="0">
                <a:solidFill>
                  <a:schemeClr val="tx1"/>
                </a:solidFill>
              </a:rPr>
              <a:t>#include &lt;</a:t>
            </a:r>
            <a:r>
              <a:rPr lang="en-IN" dirty="0" err="1">
                <a:solidFill>
                  <a:schemeClr val="tx1"/>
                </a:solidFill>
              </a:rPr>
              <a:t>stdio.h</a:t>
            </a:r>
            <a:r>
              <a:rPr lang="en-IN" dirty="0">
                <a:solidFill>
                  <a:schemeClr val="tx1"/>
                </a:solidFill>
              </a:rPr>
              <a:t>&gt;</a:t>
            </a:r>
          </a:p>
          <a:p>
            <a:r>
              <a:rPr lang="en-IN" dirty="0">
                <a:solidFill>
                  <a:schemeClr val="tx1"/>
                </a:solidFill>
              </a:rPr>
              <a:t>void main()</a:t>
            </a:r>
          </a:p>
          <a:p>
            <a:r>
              <a:rPr lang="en-IN" dirty="0">
                <a:solidFill>
                  <a:schemeClr val="tx1"/>
                </a:solidFill>
              </a:rPr>
              <a:t>{</a:t>
            </a:r>
          </a:p>
          <a:p>
            <a:r>
              <a:rPr lang="en-IN" dirty="0">
                <a:solidFill>
                  <a:schemeClr val="tx1"/>
                </a:solidFill>
              </a:rPr>
              <a:t>  </a:t>
            </a:r>
            <a:r>
              <a:rPr lang="en-IN" dirty="0">
                <a:solidFill>
                  <a:srgbClr val="FFFF00"/>
                </a:solidFill>
              </a:rPr>
              <a:t>  struct item</a:t>
            </a:r>
          </a:p>
          <a:p>
            <a:r>
              <a:rPr lang="en-IN" dirty="0">
                <a:solidFill>
                  <a:srgbClr val="FFFF00"/>
                </a:solidFill>
              </a:rPr>
              <a:t>    {  </a:t>
            </a:r>
          </a:p>
          <a:p>
            <a:r>
              <a:rPr lang="en-IN" dirty="0">
                <a:solidFill>
                  <a:srgbClr val="FFFF00"/>
                </a:solidFill>
              </a:rPr>
              <a:t>        int id; </a:t>
            </a:r>
          </a:p>
          <a:p>
            <a:r>
              <a:rPr lang="en-IN" dirty="0">
                <a:solidFill>
                  <a:srgbClr val="FFFF00"/>
                </a:solidFill>
              </a:rPr>
              <a:t>        </a:t>
            </a:r>
            <a:r>
              <a:rPr lang="en-IN" dirty="0" err="1">
                <a:solidFill>
                  <a:srgbClr val="FFFF00"/>
                </a:solidFill>
              </a:rPr>
              <a:t>const</a:t>
            </a:r>
            <a:r>
              <a:rPr lang="en-IN" dirty="0">
                <a:solidFill>
                  <a:srgbClr val="FFFF00"/>
                </a:solidFill>
              </a:rPr>
              <a:t> char *company;  </a:t>
            </a:r>
          </a:p>
          <a:p>
            <a:r>
              <a:rPr lang="en-IN" dirty="0">
                <a:solidFill>
                  <a:srgbClr val="FFFF00"/>
                </a:solidFill>
              </a:rPr>
              <a:t>        float cost;</a:t>
            </a:r>
          </a:p>
          <a:p>
            <a:r>
              <a:rPr lang="en-IN" dirty="0">
                <a:solidFill>
                  <a:srgbClr val="FFFF00"/>
                </a:solidFill>
              </a:rPr>
              <a:t>    };  </a:t>
            </a:r>
          </a:p>
          <a:p>
            <a:endParaRPr lang="en-IN" dirty="0">
              <a:solidFill>
                <a:schemeClr val="tx1"/>
              </a:solidFill>
            </a:endParaRPr>
          </a:p>
          <a:p>
            <a:r>
              <a:rPr lang="en-IN" dirty="0">
                <a:solidFill>
                  <a:schemeClr val="tx1"/>
                </a:solidFill>
              </a:rPr>
              <a:t>    struct item radio = {101, "Sony", 99.99};   </a:t>
            </a:r>
          </a:p>
          <a:p>
            <a:r>
              <a:rPr lang="en-IN" dirty="0">
                <a:solidFill>
                  <a:schemeClr val="tx1"/>
                </a:solidFill>
              </a:rPr>
              <a:t>    </a:t>
            </a:r>
            <a:r>
              <a:rPr lang="en-IN" dirty="0">
                <a:solidFill>
                  <a:srgbClr val="FFFF00"/>
                </a:solidFill>
              </a:rPr>
              <a:t>struct item oven;  </a:t>
            </a:r>
          </a:p>
          <a:p>
            <a:r>
              <a:rPr lang="en-IN" dirty="0">
                <a:solidFill>
                  <a:schemeClr val="tx1"/>
                </a:solidFill>
              </a:rPr>
              <a:t>    </a:t>
            </a:r>
            <a:r>
              <a:rPr lang="en-IN" dirty="0" err="1">
                <a:solidFill>
                  <a:schemeClr val="tx1"/>
                </a:solidFill>
              </a:rPr>
              <a:t>printf</a:t>
            </a:r>
            <a:r>
              <a:rPr lang="en-IN" dirty="0">
                <a:solidFill>
                  <a:schemeClr val="tx1"/>
                </a:solidFill>
              </a:rPr>
              <a:t>("radio details: \n");</a:t>
            </a:r>
          </a:p>
          <a:p>
            <a:r>
              <a:rPr lang="en-IN" dirty="0">
                <a:solidFill>
                  <a:schemeClr val="tx1"/>
                </a:solidFill>
              </a:rPr>
              <a:t>    </a:t>
            </a:r>
            <a:r>
              <a:rPr lang="en-IN" dirty="0" err="1">
                <a:solidFill>
                  <a:schemeClr val="tx1"/>
                </a:solidFill>
              </a:rPr>
              <a:t>printf</a:t>
            </a:r>
            <a:r>
              <a:rPr lang="en-IN" dirty="0">
                <a:solidFill>
                  <a:schemeClr val="tx1"/>
                </a:solidFill>
              </a:rPr>
              <a:t>("id = %d\n", radio.id);  </a:t>
            </a:r>
          </a:p>
          <a:p>
            <a:r>
              <a:rPr lang="en-IN" dirty="0">
                <a:solidFill>
                  <a:schemeClr val="tx1"/>
                </a:solidFill>
              </a:rPr>
              <a:t>    </a:t>
            </a:r>
            <a:r>
              <a:rPr lang="en-IN" dirty="0" err="1">
                <a:solidFill>
                  <a:schemeClr val="tx1"/>
                </a:solidFill>
              </a:rPr>
              <a:t>printf</a:t>
            </a:r>
            <a:r>
              <a:rPr lang="en-IN" dirty="0">
                <a:solidFill>
                  <a:schemeClr val="tx1"/>
                </a:solidFill>
              </a:rPr>
              <a:t>("company = %s\n", </a:t>
            </a:r>
            <a:r>
              <a:rPr lang="en-IN" dirty="0" err="1">
                <a:solidFill>
                  <a:schemeClr val="tx1"/>
                </a:solidFill>
              </a:rPr>
              <a:t>radio.company</a:t>
            </a:r>
            <a:r>
              <a:rPr lang="en-IN" dirty="0">
                <a:solidFill>
                  <a:schemeClr val="tx1"/>
                </a:solidFill>
              </a:rPr>
              <a:t>);</a:t>
            </a:r>
          </a:p>
          <a:p>
            <a:r>
              <a:rPr lang="en-IN" dirty="0">
                <a:solidFill>
                  <a:schemeClr val="tx1"/>
                </a:solidFill>
              </a:rPr>
              <a:t>    </a:t>
            </a:r>
            <a:r>
              <a:rPr lang="en-IN" dirty="0" err="1">
                <a:solidFill>
                  <a:schemeClr val="tx1"/>
                </a:solidFill>
              </a:rPr>
              <a:t>printf</a:t>
            </a:r>
            <a:r>
              <a:rPr lang="en-IN" dirty="0">
                <a:solidFill>
                  <a:schemeClr val="tx1"/>
                </a:solidFill>
              </a:rPr>
              <a:t>("price = %.2f\n", </a:t>
            </a:r>
            <a:r>
              <a:rPr lang="en-IN" dirty="0" err="1">
                <a:solidFill>
                  <a:schemeClr val="tx1"/>
                </a:solidFill>
              </a:rPr>
              <a:t>radio.cost</a:t>
            </a:r>
            <a:r>
              <a:rPr lang="en-IN" dirty="0">
                <a:solidFill>
                  <a:schemeClr val="tx1"/>
                </a:solidFill>
              </a:rPr>
              <a:t>);</a:t>
            </a:r>
          </a:p>
          <a:p>
            <a:r>
              <a:rPr lang="en-IN" dirty="0">
                <a:solidFill>
                  <a:schemeClr val="tx1"/>
                </a:solidFill>
              </a:rPr>
              <a:t>    oven.id = 102;</a:t>
            </a:r>
          </a:p>
          <a:p>
            <a:r>
              <a:rPr lang="en-IN" dirty="0">
                <a:solidFill>
                  <a:schemeClr val="tx1"/>
                </a:solidFill>
              </a:rPr>
              <a:t>    </a:t>
            </a:r>
            <a:r>
              <a:rPr lang="en-IN" dirty="0" err="1">
                <a:solidFill>
                  <a:schemeClr val="tx1"/>
                </a:solidFill>
              </a:rPr>
              <a:t>oven.company</a:t>
            </a:r>
            <a:r>
              <a:rPr lang="en-IN" dirty="0">
                <a:solidFill>
                  <a:schemeClr val="tx1"/>
                </a:solidFill>
              </a:rPr>
              <a:t> = "Panasonic"; // </a:t>
            </a:r>
            <a:r>
              <a:rPr lang="en-IN" dirty="0" err="1">
                <a:solidFill>
                  <a:schemeClr val="tx1"/>
                </a:solidFill>
              </a:rPr>
              <a:t>assiging</a:t>
            </a:r>
            <a:r>
              <a:rPr lang="en-IN" dirty="0">
                <a:solidFill>
                  <a:schemeClr val="tx1"/>
                </a:solidFill>
              </a:rPr>
              <a:t> value using '.' operator</a:t>
            </a:r>
          </a:p>
          <a:p>
            <a:r>
              <a:rPr lang="en-IN" dirty="0">
                <a:solidFill>
                  <a:schemeClr val="tx1"/>
                </a:solidFill>
              </a:rPr>
              <a:t>    </a:t>
            </a:r>
            <a:r>
              <a:rPr lang="en-IN" dirty="0" err="1">
                <a:solidFill>
                  <a:schemeClr val="tx1"/>
                </a:solidFill>
              </a:rPr>
              <a:t>printf</a:t>
            </a:r>
            <a:r>
              <a:rPr lang="en-IN" dirty="0">
                <a:solidFill>
                  <a:schemeClr val="tx1"/>
                </a:solidFill>
              </a:rPr>
              <a:t>("oven company: %s\n", </a:t>
            </a:r>
            <a:r>
              <a:rPr lang="en-IN" dirty="0" err="1">
                <a:solidFill>
                  <a:schemeClr val="tx1"/>
                </a:solidFill>
              </a:rPr>
              <a:t>oven.company</a:t>
            </a:r>
            <a:r>
              <a:rPr lang="en-IN" dirty="0">
                <a:solidFill>
                  <a:schemeClr val="tx1"/>
                </a:solidFill>
              </a:rPr>
              <a:t>);</a:t>
            </a:r>
          </a:p>
          <a:p>
            <a:r>
              <a:rPr lang="en-IN" dirty="0">
                <a:solidFill>
                  <a:schemeClr val="tx1"/>
                </a:solidFill>
              </a:rPr>
              <a:t>}</a:t>
            </a:r>
          </a:p>
        </p:txBody>
      </p:sp>
      <p:sp>
        <p:nvSpPr>
          <p:cNvPr id="7" name="TextBox 6">
            <a:extLst>
              <a:ext uri="{FF2B5EF4-FFF2-40B4-BE49-F238E27FC236}">
                <a16:creationId xmlns:a16="http://schemas.microsoft.com/office/drawing/2014/main" id="{47038001-ABCE-7124-C81D-A9D022B8607A}"/>
              </a:ext>
            </a:extLst>
          </p:cNvPr>
          <p:cNvSpPr txBox="1"/>
          <p:nvPr/>
        </p:nvSpPr>
        <p:spPr>
          <a:xfrm>
            <a:off x="5770445" y="1016346"/>
            <a:ext cx="3182639" cy="1384995"/>
          </a:xfrm>
          <a:prstGeom prst="rect">
            <a:avLst/>
          </a:prstGeom>
          <a:noFill/>
        </p:spPr>
        <p:txBody>
          <a:bodyPr wrap="square">
            <a:spAutoFit/>
          </a:bodyPr>
          <a:lstStyle/>
          <a:p>
            <a:r>
              <a:rPr lang="en-IN" b="1" dirty="0">
                <a:solidFill>
                  <a:srgbClr val="FFFF00"/>
                </a:solidFill>
              </a:rPr>
              <a:t>Output</a:t>
            </a:r>
          </a:p>
          <a:p>
            <a:r>
              <a:rPr lang="en-US" dirty="0">
                <a:solidFill>
                  <a:srgbClr val="FFFF00"/>
                </a:solidFill>
              </a:rPr>
              <a:t>radio details:</a:t>
            </a:r>
          </a:p>
          <a:p>
            <a:r>
              <a:rPr lang="en-US" dirty="0">
                <a:solidFill>
                  <a:srgbClr val="FFFF00"/>
                </a:solidFill>
              </a:rPr>
              <a:t>id = 101</a:t>
            </a:r>
          </a:p>
          <a:p>
            <a:r>
              <a:rPr lang="en-US" dirty="0">
                <a:solidFill>
                  <a:srgbClr val="FFFF00"/>
                </a:solidFill>
              </a:rPr>
              <a:t>company = Sony</a:t>
            </a:r>
          </a:p>
          <a:p>
            <a:r>
              <a:rPr lang="en-US" dirty="0">
                <a:solidFill>
                  <a:srgbClr val="FFFF00"/>
                </a:solidFill>
              </a:rPr>
              <a:t>price = 99.99</a:t>
            </a:r>
          </a:p>
          <a:p>
            <a:r>
              <a:rPr lang="en-US" dirty="0">
                <a:solidFill>
                  <a:srgbClr val="FFFF00"/>
                </a:solidFill>
              </a:rPr>
              <a:t>oven company: Panasonic</a:t>
            </a:r>
            <a:r>
              <a:rPr lang="en-IN" dirty="0">
                <a:solidFill>
                  <a:srgbClr val="FFFF00"/>
                </a:solidFill>
              </a:rPr>
              <a:t> </a:t>
            </a:r>
          </a:p>
        </p:txBody>
      </p:sp>
    </p:spTree>
    <p:extLst>
      <p:ext uri="{BB962C8B-B14F-4D97-AF65-F5344CB8AC3E}">
        <p14:creationId xmlns:p14="http://schemas.microsoft.com/office/powerpoint/2010/main" val="8361476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74727" y="65234"/>
            <a:ext cx="6943469" cy="396300"/>
          </a:xfrm>
        </p:spPr>
        <p:txBody>
          <a:bodyPr/>
          <a:lstStyle/>
          <a:p>
            <a:pPr algn="ctr"/>
            <a:r>
              <a:rPr lang="en-IN" sz="2400" dirty="0"/>
              <a:t>Array of Structures </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p:sp>
        <p:nvSpPr>
          <p:cNvPr id="4" name="TextBox 3">
            <a:extLst>
              <a:ext uri="{FF2B5EF4-FFF2-40B4-BE49-F238E27FC236}">
                <a16:creationId xmlns:a16="http://schemas.microsoft.com/office/drawing/2014/main" id="{4775CD04-DF83-217E-AD49-D6985266C889}"/>
              </a:ext>
            </a:extLst>
          </p:cNvPr>
          <p:cNvSpPr txBox="1"/>
          <p:nvPr/>
        </p:nvSpPr>
        <p:spPr>
          <a:xfrm>
            <a:off x="297456" y="469246"/>
            <a:ext cx="8655628" cy="134504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solidFill>
                  <a:schemeClr val="tx1"/>
                </a:solidFill>
              </a:rPr>
              <a:t>An array of structures in C can be defined as the collection of multiple structures variables where each variable contains information about different entities. </a:t>
            </a:r>
          </a:p>
          <a:p>
            <a:pPr marL="285750" indent="-285750" algn="just">
              <a:lnSpc>
                <a:spcPct val="150000"/>
              </a:lnSpc>
              <a:buFont typeface="Arial" panose="020B0604020202020204" pitchFamily="34" charset="0"/>
              <a:buChar char="•"/>
            </a:pPr>
            <a:r>
              <a:rPr lang="en-US" dirty="0">
                <a:solidFill>
                  <a:schemeClr val="tx1"/>
                </a:solidFill>
              </a:rPr>
              <a:t>The array of structures in C are used to store information about multiple entities of different data types. The array of structures is also known as the collection of structures.</a:t>
            </a:r>
            <a:endParaRPr lang="en-IN" dirty="0">
              <a:solidFill>
                <a:schemeClr val="tx1"/>
              </a:solidFill>
            </a:endParaRPr>
          </a:p>
        </p:txBody>
      </p:sp>
      <p:pic>
        <p:nvPicPr>
          <p:cNvPr id="3074" name="Picture 2" descr="c array of structures">
            <a:extLst>
              <a:ext uri="{FF2B5EF4-FFF2-40B4-BE49-F238E27FC236}">
                <a16:creationId xmlns:a16="http://schemas.microsoft.com/office/drawing/2014/main" id="{AD948B3E-6BB4-4F32-1AB0-2D4E7AF394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942" y="2002404"/>
            <a:ext cx="5530470" cy="286804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95934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a:p>
        </p:txBody>
      </p:sp>
      <p:sp>
        <p:nvSpPr>
          <p:cNvPr id="10" name="TextBox 9">
            <a:extLst>
              <a:ext uri="{FF2B5EF4-FFF2-40B4-BE49-F238E27FC236}">
                <a16:creationId xmlns:a16="http://schemas.microsoft.com/office/drawing/2014/main" id="{7128EAFE-F012-2511-999A-1FBF4D687ABD}"/>
              </a:ext>
            </a:extLst>
          </p:cNvPr>
          <p:cNvSpPr txBox="1"/>
          <p:nvPr/>
        </p:nvSpPr>
        <p:spPr>
          <a:xfrm>
            <a:off x="58713" y="47982"/>
            <a:ext cx="6165817" cy="5047536"/>
          </a:xfrm>
          <a:prstGeom prst="rect">
            <a:avLst/>
          </a:prstGeom>
          <a:solidFill>
            <a:schemeClr val="tx1"/>
          </a:solidFill>
        </p:spPr>
        <p:txBody>
          <a:bodyPr wrap="square">
            <a:spAutoFit/>
          </a:bodyPr>
          <a:lstStyle/>
          <a:p>
            <a:pPr algn="just"/>
            <a:r>
              <a:rPr lang="en-IN" b="0" i="0" dirty="0">
                <a:solidFill>
                  <a:srgbClr val="0000FF"/>
                </a:solidFill>
                <a:effectLst/>
                <a:latin typeface="inter-regular"/>
              </a:rPr>
              <a:t>#include&lt;stdio.h&gt;</a:t>
            </a:r>
            <a:r>
              <a:rPr lang="en-IN" b="0" i="0" dirty="0">
                <a:solidFill>
                  <a:srgbClr val="000000"/>
                </a:solidFill>
                <a:effectLst/>
                <a:latin typeface="inter-regular"/>
              </a:rPr>
              <a:t>  </a:t>
            </a:r>
          </a:p>
          <a:p>
            <a:pPr algn="just"/>
            <a:r>
              <a:rPr lang="en-IN" b="0" i="0" dirty="0">
                <a:solidFill>
                  <a:srgbClr val="0000FF"/>
                </a:solidFill>
                <a:effectLst/>
                <a:latin typeface="inter-regular"/>
              </a:rPr>
              <a:t>#include &lt;</a:t>
            </a:r>
            <a:r>
              <a:rPr lang="en-IN" b="0" i="0" dirty="0" err="1">
                <a:solidFill>
                  <a:srgbClr val="0000FF"/>
                </a:solidFill>
                <a:effectLst/>
                <a:latin typeface="inter-regular"/>
              </a:rPr>
              <a:t>string.h</a:t>
            </a:r>
            <a:r>
              <a:rPr lang="en-IN" b="0" i="0" dirty="0">
                <a:solidFill>
                  <a:srgbClr val="0000FF"/>
                </a:solidFill>
                <a:effectLst/>
                <a:latin typeface="inter-regular"/>
              </a:rPr>
              <a:t>&gt;  </a:t>
            </a:r>
            <a:r>
              <a:rPr lang="en-IN" b="0" i="0" dirty="0">
                <a:solidFill>
                  <a:srgbClr val="000000"/>
                </a:solidFill>
                <a:effectLst/>
                <a:latin typeface="inter-regular"/>
              </a:rPr>
              <a:t>  </a:t>
            </a:r>
          </a:p>
          <a:p>
            <a:pPr algn="just"/>
            <a:r>
              <a:rPr lang="en-IN" b="1" i="0" dirty="0">
                <a:solidFill>
                  <a:srgbClr val="006699"/>
                </a:solidFill>
                <a:effectLst/>
                <a:latin typeface="inter-regular"/>
              </a:rPr>
              <a:t>struct</a:t>
            </a:r>
            <a:r>
              <a:rPr lang="en-IN" b="0" i="0" dirty="0">
                <a:solidFill>
                  <a:srgbClr val="000000"/>
                </a:solidFill>
                <a:effectLst/>
                <a:latin typeface="inter-regular"/>
              </a:rPr>
              <a:t> student</a:t>
            </a:r>
          </a:p>
          <a:p>
            <a:pPr algn="just"/>
            <a:r>
              <a:rPr lang="en-IN" b="0" i="0" dirty="0">
                <a:solidFill>
                  <a:srgbClr val="000000"/>
                </a:solidFill>
                <a:effectLst/>
                <a:latin typeface="inter-regular"/>
              </a:rPr>
              <a:t>{    </a:t>
            </a:r>
          </a:p>
          <a:p>
            <a:pPr algn="just"/>
            <a:r>
              <a:rPr lang="en-IN" b="1" i="0" dirty="0">
                <a:solidFill>
                  <a:srgbClr val="2E8B57"/>
                </a:solidFill>
                <a:effectLst/>
                <a:latin typeface="inter-regular"/>
              </a:rPr>
              <a:t> 	int</a:t>
            </a:r>
            <a:r>
              <a:rPr lang="en-IN" b="0" i="0" dirty="0">
                <a:solidFill>
                  <a:srgbClr val="000000"/>
                </a:solidFill>
                <a:effectLst/>
                <a:latin typeface="inter-regular"/>
              </a:rPr>
              <a:t> </a:t>
            </a:r>
            <a:r>
              <a:rPr lang="en-IN" b="0" i="0" dirty="0" err="1">
                <a:solidFill>
                  <a:srgbClr val="000000"/>
                </a:solidFill>
                <a:effectLst/>
                <a:latin typeface="inter-regular"/>
              </a:rPr>
              <a:t>rollno</a:t>
            </a:r>
            <a:r>
              <a:rPr lang="en-IN" b="0" i="0" dirty="0">
                <a:solidFill>
                  <a:srgbClr val="000000"/>
                </a:solidFill>
                <a:effectLst/>
                <a:latin typeface="inter-regular"/>
              </a:rPr>
              <a:t>;    </a:t>
            </a:r>
          </a:p>
          <a:p>
            <a:pPr algn="just"/>
            <a:r>
              <a:rPr lang="en-IN" b="1" i="0" dirty="0">
                <a:solidFill>
                  <a:srgbClr val="2E8B57"/>
                </a:solidFill>
                <a:effectLst/>
                <a:latin typeface="inter-regular"/>
              </a:rPr>
              <a:t> 	char</a:t>
            </a:r>
            <a:r>
              <a:rPr lang="en-IN" b="0" i="0" dirty="0">
                <a:solidFill>
                  <a:srgbClr val="000000"/>
                </a:solidFill>
                <a:effectLst/>
                <a:latin typeface="inter-regular"/>
              </a:rPr>
              <a:t> name[10];    </a:t>
            </a:r>
          </a:p>
          <a:p>
            <a:pPr algn="just"/>
            <a:r>
              <a:rPr lang="en-IN" b="0" i="0" dirty="0">
                <a:solidFill>
                  <a:srgbClr val="000000"/>
                </a:solidFill>
                <a:effectLst/>
                <a:latin typeface="inter-regular"/>
              </a:rPr>
              <a:t>};    </a:t>
            </a:r>
          </a:p>
          <a:p>
            <a:pPr algn="just"/>
            <a:r>
              <a:rPr lang="en-IN" b="1" i="0" dirty="0">
                <a:solidFill>
                  <a:srgbClr val="2E8B57"/>
                </a:solidFill>
                <a:effectLst/>
                <a:latin typeface="inter-regular"/>
              </a:rPr>
              <a:t>int</a:t>
            </a:r>
            <a:r>
              <a:rPr lang="en-IN" b="0" i="0" dirty="0">
                <a:solidFill>
                  <a:srgbClr val="000000"/>
                </a:solidFill>
                <a:effectLst/>
                <a:latin typeface="inter-regular"/>
              </a:rPr>
              <a:t> main()</a:t>
            </a:r>
          </a:p>
          <a:p>
            <a:pPr algn="just"/>
            <a:r>
              <a:rPr lang="en-IN" b="0" i="0" dirty="0">
                <a:solidFill>
                  <a:srgbClr val="000000"/>
                </a:solidFill>
                <a:effectLst/>
                <a:latin typeface="inter-regular"/>
              </a:rPr>
              <a:t>{    </a:t>
            </a:r>
          </a:p>
          <a:p>
            <a:pPr algn="just"/>
            <a:r>
              <a:rPr lang="en-IN" b="1" i="0" dirty="0">
                <a:solidFill>
                  <a:srgbClr val="2E8B57"/>
                </a:solidFill>
                <a:effectLst/>
                <a:latin typeface="inter-regular"/>
              </a:rPr>
              <a:t>	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1" i="0" dirty="0">
                <a:solidFill>
                  <a:srgbClr val="006699"/>
                </a:solidFill>
                <a:effectLst/>
                <a:latin typeface="inter-regular"/>
              </a:rPr>
              <a:t>	struct</a:t>
            </a:r>
            <a:r>
              <a:rPr lang="en-IN" b="0" i="0" dirty="0">
                <a:solidFill>
                  <a:srgbClr val="000000"/>
                </a:solidFill>
                <a:effectLst/>
                <a:latin typeface="inter-regular"/>
              </a:rPr>
              <a:t> student </a:t>
            </a:r>
            <a:r>
              <a:rPr lang="en-IN" b="0" i="0" dirty="0" err="1">
                <a:solidFill>
                  <a:srgbClr val="000000"/>
                </a:solidFill>
                <a:effectLst/>
                <a:latin typeface="inter-regular"/>
              </a:rPr>
              <a:t>st</a:t>
            </a:r>
            <a:r>
              <a:rPr lang="en-IN" b="0" i="0" dirty="0">
                <a:solidFill>
                  <a:srgbClr val="000000"/>
                </a:solidFill>
                <a:effectLst/>
                <a:latin typeface="inter-regular"/>
              </a:rPr>
              <a:t>[5];    </a:t>
            </a:r>
          </a:p>
          <a:p>
            <a:pPr algn="just"/>
            <a:r>
              <a:rPr lang="en-IN" b="0" i="0" dirty="0">
                <a:solidFill>
                  <a:srgbClr val="000000"/>
                </a:solidFill>
                <a:effectLst/>
                <a:latin typeface="inter-regular"/>
              </a:rPr>
              <a:t>	</a:t>
            </a:r>
            <a:r>
              <a:rPr lang="en-IN" b="0" i="0" dirty="0" err="1">
                <a:solidFill>
                  <a:srgbClr val="000000"/>
                </a:solidFill>
                <a:effectLst/>
                <a:latin typeface="inter-regular"/>
              </a:rPr>
              <a:t>printf</a:t>
            </a:r>
            <a:r>
              <a:rPr lang="en-IN" b="0" i="0" dirty="0">
                <a:solidFill>
                  <a:srgbClr val="000000"/>
                </a:solidFill>
                <a:effectLst/>
                <a:latin typeface="inter-regular"/>
              </a:rPr>
              <a:t>(</a:t>
            </a:r>
            <a:r>
              <a:rPr lang="en-IN" b="0" i="0" dirty="0">
                <a:solidFill>
                  <a:srgbClr val="0000FF"/>
                </a:solidFill>
                <a:effectLst/>
                <a:latin typeface="inter-regular"/>
              </a:rPr>
              <a:t>"Enter Records of 5 students"</a:t>
            </a:r>
            <a:r>
              <a:rPr lang="en-IN" b="0" i="0" dirty="0">
                <a:solidFill>
                  <a:srgbClr val="000000"/>
                </a:solidFill>
                <a:effectLst/>
                <a:latin typeface="inter-regular"/>
              </a:rPr>
              <a:t>);    </a:t>
            </a:r>
          </a:p>
          <a:p>
            <a:pPr algn="just"/>
            <a:r>
              <a:rPr lang="en-IN" b="1" i="0" dirty="0">
                <a:solidFill>
                  <a:srgbClr val="006699"/>
                </a:solidFill>
                <a:effectLst/>
                <a:latin typeface="inter-regular"/>
              </a:rPr>
              <a:t>	</a:t>
            </a:r>
            <a:r>
              <a:rPr lang="en-IN" b="1" i="0" dirty="0">
                <a:solidFill>
                  <a:schemeClr val="accent3"/>
                </a:solidFill>
                <a:effectLst/>
                <a:latin typeface="inter-regular"/>
              </a:rPr>
              <a:t>for(</a:t>
            </a:r>
            <a:r>
              <a:rPr lang="en-IN" b="1" i="0" dirty="0" err="1">
                <a:solidFill>
                  <a:schemeClr val="accent3"/>
                </a:solidFill>
                <a:effectLst/>
                <a:latin typeface="inter-regular"/>
              </a:rPr>
              <a:t>i</a:t>
            </a:r>
            <a:r>
              <a:rPr lang="en-IN" b="1" i="0" dirty="0">
                <a:solidFill>
                  <a:schemeClr val="accent3"/>
                </a:solidFill>
                <a:effectLst/>
                <a:latin typeface="inter-regular"/>
              </a:rPr>
              <a:t>=0;i&lt;5;i++){    </a:t>
            </a:r>
          </a:p>
          <a:p>
            <a:pPr algn="just"/>
            <a:r>
              <a:rPr lang="en-IN" b="1" i="0" dirty="0">
                <a:solidFill>
                  <a:schemeClr val="accent3"/>
                </a:solidFill>
                <a:effectLst/>
                <a:latin typeface="inter-regular"/>
              </a:rPr>
              <a:t>	</a:t>
            </a:r>
            <a:r>
              <a:rPr lang="en-IN" b="1" i="0" dirty="0" err="1">
                <a:solidFill>
                  <a:schemeClr val="accent3"/>
                </a:solidFill>
                <a:effectLst/>
                <a:latin typeface="inter-regular"/>
              </a:rPr>
              <a:t>printf</a:t>
            </a:r>
            <a:r>
              <a:rPr lang="en-IN" b="1" i="0" dirty="0">
                <a:solidFill>
                  <a:schemeClr val="accent3"/>
                </a:solidFill>
                <a:effectLst/>
                <a:latin typeface="inter-regular"/>
              </a:rPr>
              <a:t>("\</a:t>
            </a:r>
            <a:r>
              <a:rPr lang="en-IN" b="1" i="0" dirty="0" err="1">
                <a:solidFill>
                  <a:schemeClr val="accent3"/>
                </a:solidFill>
                <a:effectLst/>
                <a:latin typeface="inter-regular"/>
              </a:rPr>
              <a:t>nEnter</a:t>
            </a:r>
            <a:r>
              <a:rPr lang="en-IN" b="1" i="0" dirty="0">
                <a:solidFill>
                  <a:schemeClr val="accent3"/>
                </a:solidFill>
                <a:effectLst/>
                <a:latin typeface="inter-regular"/>
              </a:rPr>
              <a:t> </a:t>
            </a:r>
            <a:r>
              <a:rPr lang="en-IN" b="1" i="0" dirty="0" err="1">
                <a:solidFill>
                  <a:schemeClr val="accent3"/>
                </a:solidFill>
                <a:effectLst/>
                <a:latin typeface="inter-regular"/>
              </a:rPr>
              <a:t>Rollno</a:t>
            </a:r>
            <a:r>
              <a:rPr lang="en-IN" b="1" i="0" dirty="0">
                <a:solidFill>
                  <a:schemeClr val="accent3"/>
                </a:solidFill>
                <a:effectLst/>
                <a:latin typeface="inter-regular"/>
              </a:rPr>
              <a:t>:");    </a:t>
            </a:r>
          </a:p>
          <a:p>
            <a:pPr algn="just"/>
            <a:r>
              <a:rPr lang="en-IN" b="1" i="0" dirty="0">
                <a:solidFill>
                  <a:schemeClr val="accent3"/>
                </a:solidFill>
                <a:effectLst/>
                <a:latin typeface="inter-regular"/>
              </a:rPr>
              <a:t>	</a:t>
            </a:r>
            <a:r>
              <a:rPr lang="en-IN" b="1" i="0" dirty="0" err="1">
                <a:solidFill>
                  <a:schemeClr val="accent3"/>
                </a:solidFill>
                <a:effectLst/>
                <a:latin typeface="inter-regular"/>
              </a:rPr>
              <a:t>scanf</a:t>
            </a:r>
            <a:r>
              <a:rPr lang="en-IN" b="1" i="0" dirty="0">
                <a:solidFill>
                  <a:schemeClr val="accent3"/>
                </a:solidFill>
                <a:effectLst/>
                <a:latin typeface="inter-regular"/>
              </a:rPr>
              <a:t>("%d",&amp;</a:t>
            </a:r>
            <a:r>
              <a:rPr lang="en-IN" b="1" i="0" dirty="0" err="1">
                <a:solidFill>
                  <a:schemeClr val="accent3"/>
                </a:solidFill>
                <a:effectLst/>
                <a:latin typeface="inter-regular"/>
              </a:rPr>
              <a:t>st</a:t>
            </a:r>
            <a:r>
              <a:rPr lang="en-IN" b="1" i="0" dirty="0">
                <a:solidFill>
                  <a:schemeClr val="accent3"/>
                </a:solidFill>
                <a:effectLst/>
                <a:latin typeface="inter-regular"/>
              </a:rPr>
              <a:t>[</a:t>
            </a:r>
            <a:r>
              <a:rPr lang="en-IN" b="1" i="0" dirty="0" err="1">
                <a:solidFill>
                  <a:schemeClr val="accent3"/>
                </a:solidFill>
                <a:effectLst/>
                <a:latin typeface="inter-regular"/>
              </a:rPr>
              <a:t>i</a:t>
            </a:r>
            <a:r>
              <a:rPr lang="en-IN" b="1" i="0" dirty="0">
                <a:solidFill>
                  <a:schemeClr val="accent3"/>
                </a:solidFill>
                <a:effectLst/>
                <a:latin typeface="inter-regular"/>
              </a:rPr>
              <a:t>].</a:t>
            </a:r>
            <a:r>
              <a:rPr lang="en-IN" b="1" i="0" dirty="0" err="1">
                <a:solidFill>
                  <a:schemeClr val="accent3"/>
                </a:solidFill>
                <a:effectLst/>
                <a:latin typeface="inter-regular"/>
              </a:rPr>
              <a:t>rollno</a:t>
            </a:r>
            <a:r>
              <a:rPr lang="en-IN" b="1" i="0" dirty="0">
                <a:solidFill>
                  <a:schemeClr val="accent3"/>
                </a:solidFill>
                <a:effectLst/>
                <a:latin typeface="inter-regular"/>
              </a:rPr>
              <a:t>);    </a:t>
            </a:r>
          </a:p>
          <a:p>
            <a:pPr algn="just"/>
            <a:r>
              <a:rPr lang="en-IN" b="1" i="0" dirty="0">
                <a:solidFill>
                  <a:schemeClr val="accent3"/>
                </a:solidFill>
                <a:effectLst/>
                <a:latin typeface="inter-regular"/>
              </a:rPr>
              <a:t>	</a:t>
            </a:r>
            <a:r>
              <a:rPr lang="en-IN" b="1" i="0" dirty="0" err="1">
                <a:solidFill>
                  <a:schemeClr val="accent3"/>
                </a:solidFill>
                <a:effectLst/>
                <a:latin typeface="inter-regular"/>
              </a:rPr>
              <a:t>printf</a:t>
            </a:r>
            <a:r>
              <a:rPr lang="en-IN" b="1" i="0" dirty="0">
                <a:solidFill>
                  <a:schemeClr val="accent3"/>
                </a:solidFill>
                <a:effectLst/>
                <a:latin typeface="inter-regular"/>
              </a:rPr>
              <a:t>("\</a:t>
            </a:r>
            <a:r>
              <a:rPr lang="en-IN" b="1" i="0" dirty="0" err="1">
                <a:solidFill>
                  <a:schemeClr val="accent3"/>
                </a:solidFill>
                <a:effectLst/>
                <a:latin typeface="inter-regular"/>
              </a:rPr>
              <a:t>nEnter</a:t>
            </a:r>
            <a:r>
              <a:rPr lang="en-IN" b="1" i="0" dirty="0">
                <a:solidFill>
                  <a:schemeClr val="accent3"/>
                </a:solidFill>
                <a:effectLst/>
                <a:latin typeface="inter-regular"/>
              </a:rPr>
              <a:t> Name:");    </a:t>
            </a:r>
          </a:p>
          <a:p>
            <a:pPr algn="just"/>
            <a:r>
              <a:rPr lang="en-IN" b="1" i="0" dirty="0">
                <a:solidFill>
                  <a:schemeClr val="accent3"/>
                </a:solidFill>
                <a:effectLst/>
                <a:latin typeface="inter-regular"/>
              </a:rPr>
              <a:t>	</a:t>
            </a:r>
            <a:r>
              <a:rPr lang="en-IN" b="1" i="0" dirty="0" err="1">
                <a:solidFill>
                  <a:schemeClr val="accent3"/>
                </a:solidFill>
                <a:effectLst/>
                <a:latin typeface="inter-regular"/>
              </a:rPr>
              <a:t>scanf</a:t>
            </a:r>
            <a:r>
              <a:rPr lang="en-IN" b="1" i="0" dirty="0">
                <a:solidFill>
                  <a:schemeClr val="accent3"/>
                </a:solidFill>
                <a:effectLst/>
                <a:latin typeface="inter-regular"/>
              </a:rPr>
              <a:t>("%s",&amp;</a:t>
            </a:r>
            <a:r>
              <a:rPr lang="en-IN" b="1" i="0" dirty="0" err="1">
                <a:solidFill>
                  <a:schemeClr val="accent3"/>
                </a:solidFill>
                <a:effectLst/>
                <a:latin typeface="inter-regular"/>
              </a:rPr>
              <a:t>st</a:t>
            </a:r>
            <a:r>
              <a:rPr lang="en-IN" b="1" i="0" dirty="0">
                <a:solidFill>
                  <a:schemeClr val="accent3"/>
                </a:solidFill>
                <a:effectLst/>
                <a:latin typeface="inter-regular"/>
              </a:rPr>
              <a:t>[</a:t>
            </a:r>
            <a:r>
              <a:rPr lang="en-IN" b="1" i="0" dirty="0" err="1">
                <a:solidFill>
                  <a:schemeClr val="accent3"/>
                </a:solidFill>
                <a:effectLst/>
                <a:latin typeface="inter-regular"/>
              </a:rPr>
              <a:t>i</a:t>
            </a:r>
            <a:r>
              <a:rPr lang="en-IN" b="1" i="0" dirty="0">
                <a:solidFill>
                  <a:schemeClr val="accent3"/>
                </a:solidFill>
                <a:effectLst/>
                <a:latin typeface="inter-regular"/>
              </a:rPr>
              <a:t>].name);    </a:t>
            </a:r>
          </a:p>
          <a:p>
            <a:pPr algn="just"/>
            <a:r>
              <a:rPr lang="en-IN" b="1" i="0" dirty="0">
                <a:solidFill>
                  <a:schemeClr val="accent3"/>
                </a:solidFill>
                <a:effectLst/>
                <a:latin typeface="inter-regular"/>
              </a:rPr>
              <a:t>	}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printf</a:t>
            </a:r>
            <a:r>
              <a:rPr lang="en-IN" b="0" i="0" dirty="0">
                <a:solidFill>
                  <a:srgbClr val="000000"/>
                </a:solidFill>
                <a:effectLst/>
                <a:latin typeface="inter-regular"/>
              </a:rPr>
              <a:t>(</a:t>
            </a:r>
            <a:r>
              <a:rPr lang="en-IN" b="0" i="0" dirty="0">
                <a:solidFill>
                  <a:srgbClr val="0000FF"/>
                </a:solidFill>
                <a:effectLst/>
                <a:latin typeface="inter-regular"/>
              </a:rPr>
              <a:t>"\</a:t>
            </a:r>
            <a:r>
              <a:rPr lang="en-IN" b="0" i="0" dirty="0" err="1">
                <a:solidFill>
                  <a:srgbClr val="0000FF"/>
                </a:solidFill>
                <a:effectLst/>
                <a:latin typeface="inter-regular"/>
              </a:rPr>
              <a:t>nStudent</a:t>
            </a:r>
            <a:r>
              <a:rPr lang="en-IN" b="0" i="0" dirty="0">
                <a:solidFill>
                  <a:srgbClr val="0000FF"/>
                </a:solidFill>
                <a:effectLst/>
                <a:latin typeface="inter-regular"/>
              </a:rPr>
              <a:t> Information List:"</a:t>
            </a:r>
            <a:r>
              <a:rPr lang="en-IN" b="0" i="0" dirty="0">
                <a:solidFill>
                  <a:srgbClr val="000000"/>
                </a:solidFill>
                <a:effectLst/>
                <a:latin typeface="inter-regular"/>
              </a:rPr>
              <a:t>);    </a:t>
            </a:r>
          </a:p>
          <a:p>
            <a:pPr algn="just"/>
            <a:r>
              <a:rPr lang="en-IN" b="1" i="0" dirty="0">
                <a:solidFill>
                  <a:srgbClr val="006699"/>
                </a:solidFill>
                <a:effectLst/>
                <a:latin typeface="inter-regular"/>
              </a:rPr>
              <a:t>                      </a:t>
            </a:r>
            <a:r>
              <a:rPr lang="en-IN" b="1" i="0" dirty="0">
                <a:solidFill>
                  <a:srgbClr val="00B050"/>
                </a:solidFill>
                <a:effectLst/>
                <a:latin typeface="inter-regular"/>
              </a:rPr>
              <a:t>for(</a:t>
            </a:r>
            <a:r>
              <a:rPr lang="en-IN" b="1" i="0" dirty="0" err="1">
                <a:solidFill>
                  <a:srgbClr val="00B050"/>
                </a:solidFill>
                <a:effectLst/>
                <a:latin typeface="inter-regular"/>
              </a:rPr>
              <a:t>i</a:t>
            </a:r>
            <a:r>
              <a:rPr lang="en-IN" b="1" i="0" dirty="0">
                <a:solidFill>
                  <a:srgbClr val="00B050"/>
                </a:solidFill>
                <a:effectLst/>
                <a:latin typeface="inter-regular"/>
              </a:rPr>
              <a:t>=0;i&lt;5;i++){    </a:t>
            </a:r>
          </a:p>
          <a:p>
            <a:pPr algn="just"/>
            <a:r>
              <a:rPr lang="en-IN" b="1" i="0" dirty="0">
                <a:solidFill>
                  <a:srgbClr val="00B050"/>
                </a:solidFill>
                <a:effectLst/>
                <a:latin typeface="inter-regular"/>
              </a:rPr>
              <a:t>                      </a:t>
            </a:r>
            <a:r>
              <a:rPr lang="en-IN" b="1" i="0" dirty="0" err="1">
                <a:solidFill>
                  <a:srgbClr val="00B050"/>
                </a:solidFill>
                <a:effectLst/>
                <a:latin typeface="inter-regular"/>
              </a:rPr>
              <a:t>printf</a:t>
            </a:r>
            <a:r>
              <a:rPr lang="en-IN" b="1" i="0" dirty="0">
                <a:solidFill>
                  <a:srgbClr val="00B050"/>
                </a:solidFill>
                <a:effectLst/>
                <a:latin typeface="inter-regular"/>
              </a:rPr>
              <a:t>("\</a:t>
            </a:r>
            <a:r>
              <a:rPr lang="en-IN" b="1" i="0" dirty="0" err="1">
                <a:solidFill>
                  <a:srgbClr val="00B050"/>
                </a:solidFill>
                <a:effectLst/>
                <a:latin typeface="inter-regular"/>
              </a:rPr>
              <a:t>nRollno</a:t>
            </a:r>
            <a:r>
              <a:rPr lang="en-IN" b="1" i="0" dirty="0">
                <a:solidFill>
                  <a:srgbClr val="00B050"/>
                </a:solidFill>
                <a:effectLst/>
                <a:latin typeface="inter-regular"/>
              </a:rPr>
              <a:t>:%d, Name:%s",</a:t>
            </a:r>
            <a:r>
              <a:rPr lang="en-IN" b="1" i="0" dirty="0" err="1">
                <a:solidFill>
                  <a:srgbClr val="00B050"/>
                </a:solidFill>
                <a:effectLst/>
                <a:latin typeface="inter-regular"/>
              </a:rPr>
              <a:t>st</a:t>
            </a:r>
            <a:r>
              <a:rPr lang="en-IN" b="1" i="0" dirty="0">
                <a:solidFill>
                  <a:srgbClr val="00B050"/>
                </a:solidFill>
                <a:effectLst/>
                <a:latin typeface="inter-regular"/>
              </a:rPr>
              <a:t>[</a:t>
            </a:r>
            <a:r>
              <a:rPr lang="en-IN" b="1" i="0" dirty="0" err="1">
                <a:solidFill>
                  <a:srgbClr val="00B050"/>
                </a:solidFill>
                <a:effectLst/>
                <a:latin typeface="inter-regular"/>
              </a:rPr>
              <a:t>i</a:t>
            </a:r>
            <a:r>
              <a:rPr lang="en-IN" b="1" i="0" dirty="0">
                <a:solidFill>
                  <a:srgbClr val="00B050"/>
                </a:solidFill>
                <a:effectLst/>
                <a:latin typeface="inter-regular"/>
              </a:rPr>
              <a:t>].</a:t>
            </a:r>
            <a:r>
              <a:rPr lang="en-IN" b="1" i="0" dirty="0" err="1">
                <a:solidFill>
                  <a:srgbClr val="00B050"/>
                </a:solidFill>
                <a:effectLst/>
                <a:latin typeface="inter-regular"/>
              </a:rPr>
              <a:t>rollno,st</a:t>
            </a:r>
            <a:r>
              <a:rPr lang="en-IN" b="1" i="0" dirty="0">
                <a:solidFill>
                  <a:srgbClr val="00B050"/>
                </a:solidFill>
                <a:effectLst/>
                <a:latin typeface="inter-regular"/>
              </a:rPr>
              <a:t>[</a:t>
            </a:r>
            <a:r>
              <a:rPr lang="en-IN" b="1" i="0" dirty="0" err="1">
                <a:solidFill>
                  <a:srgbClr val="00B050"/>
                </a:solidFill>
                <a:effectLst/>
                <a:latin typeface="inter-regular"/>
              </a:rPr>
              <a:t>i</a:t>
            </a:r>
            <a:r>
              <a:rPr lang="en-IN" b="1" i="0" dirty="0">
                <a:solidFill>
                  <a:srgbClr val="00B050"/>
                </a:solidFill>
                <a:effectLst/>
                <a:latin typeface="inter-regular"/>
              </a:rPr>
              <a:t>].name);    </a:t>
            </a:r>
          </a:p>
          <a:p>
            <a:pPr algn="just"/>
            <a:r>
              <a:rPr lang="en-IN" b="1" i="0" dirty="0">
                <a:solidFill>
                  <a:srgbClr val="00B050"/>
                </a:solidFill>
                <a:effectLst/>
                <a:latin typeface="inter-regular"/>
              </a:rPr>
              <a:t>                     }   </a:t>
            </a:r>
            <a:r>
              <a:rPr lang="en-IN" b="0" i="0" dirty="0">
                <a:solidFill>
                  <a:srgbClr val="000000"/>
                </a:solidFill>
                <a:effectLst/>
                <a:latin typeface="inter-regular"/>
              </a:rPr>
              <a:t>    </a:t>
            </a:r>
          </a:p>
          <a:p>
            <a:pPr algn="just"/>
            <a:r>
              <a:rPr lang="en-IN" b="0" i="0" dirty="0">
                <a:solidFill>
                  <a:srgbClr val="000000"/>
                </a:solidFill>
                <a:effectLst/>
                <a:latin typeface="inter-regular"/>
              </a:rPr>
              <a:t>}</a:t>
            </a:r>
          </a:p>
        </p:txBody>
      </p:sp>
      <p:sp>
        <p:nvSpPr>
          <p:cNvPr id="12" name="TextBox 11">
            <a:extLst>
              <a:ext uri="{FF2B5EF4-FFF2-40B4-BE49-F238E27FC236}">
                <a16:creationId xmlns:a16="http://schemas.microsoft.com/office/drawing/2014/main" id="{F899D3EE-414E-DD02-CB26-A47601E4C918}"/>
              </a:ext>
            </a:extLst>
          </p:cNvPr>
          <p:cNvSpPr txBox="1"/>
          <p:nvPr/>
        </p:nvSpPr>
        <p:spPr>
          <a:xfrm>
            <a:off x="4380637" y="538959"/>
            <a:ext cx="3154900" cy="1754326"/>
          </a:xfrm>
          <a:prstGeom prst="rect">
            <a:avLst/>
          </a:prstGeom>
          <a:solidFill>
            <a:schemeClr val="tx1">
              <a:lumMod val="95000"/>
            </a:schemeClr>
          </a:solidFill>
        </p:spPr>
        <p:txBody>
          <a:bodyPr wrap="square">
            <a:spAutoFit/>
          </a:bodyPr>
          <a:lstStyle/>
          <a:p>
            <a:r>
              <a:rPr lang="en-IN" sz="1200" dirty="0"/>
              <a:t>Enter Records of 4 students</a:t>
            </a:r>
          </a:p>
          <a:p>
            <a:r>
              <a:rPr lang="en-IN" sz="1200" dirty="0"/>
              <a:t>Enter Rollno:1</a:t>
            </a:r>
          </a:p>
          <a:p>
            <a:r>
              <a:rPr lang="en-IN" sz="1200" dirty="0"/>
              <a:t>Enter </a:t>
            </a:r>
            <a:r>
              <a:rPr lang="en-IN" sz="1200" dirty="0" err="1"/>
              <a:t>Name:Dharma</a:t>
            </a:r>
            <a:endParaRPr lang="en-IN" sz="1200" dirty="0"/>
          </a:p>
          <a:p>
            <a:r>
              <a:rPr lang="en-IN" sz="1200" dirty="0"/>
              <a:t>Enter Rollno:2</a:t>
            </a:r>
          </a:p>
          <a:p>
            <a:r>
              <a:rPr lang="en-IN" sz="1200" dirty="0"/>
              <a:t>Enter </a:t>
            </a:r>
            <a:r>
              <a:rPr lang="en-IN" sz="1200" dirty="0" err="1"/>
              <a:t>Name:Alex</a:t>
            </a:r>
            <a:endParaRPr lang="en-IN" sz="1200" dirty="0"/>
          </a:p>
          <a:p>
            <a:r>
              <a:rPr lang="en-IN" sz="1200" dirty="0"/>
              <a:t>Enter Rollno:3</a:t>
            </a:r>
          </a:p>
          <a:p>
            <a:r>
              <a:rPr lang="en-IN" sz="1200" dirty="0"/>
              <a:t>Enter </a:t>
            </a:r>
            <a:r>
              <a:rPr lang="en-IN" sz="1200" dirty="0" err="1"/>
              <a:t>Name:Ram</a:t>
            </a:r>
            <a:endParaRPr lang="en-IN" sz="1200" dirty="0"/>
          </a:p>
          <a:p>
            <a:r>
              <a:rPr lang="en-IN" sz="1200" dirty="0"/>
              <a:t>Enter Rollno:4</a:t>
            </a:r>
          </a:p>
          <a:p>
            <a:r>
              <a:rPr lang="en-IN" sz="1200" dirty="0"/>
              <a:t>Enter </a:t>
            </a:r>
            <a:r>
              <a:rPr lang="en-IN" sz="1200" dirty="0" err="1"/>
              <a:t>Name:Mani</a:t>
            </a:r>
            <a:endParaRPr lang="en-IN" sz="1200" dirty="0"/>
          </a:p>
        </p:txBody>
      </p:sp>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269924" y="0"/>
            <a:ext cx="6943469" cy="396300"/>
          </a:xfrm>
        </p:spPr>
        <p:txBody>
          <a:bodyPr/>
          <a:lstStyle/>
          <a:p>
            <a:pPr algn="ctr"/>
            <a:r>
              <a:rPr lang="en-IN" sz="2400" dirty="0">
                <a:solidFill>
                  <a:srgbClr val="00B050"/>
                </a:solidFill>
              </a:rPr>
              <a:t>Array of Structures Example</a:t>
            </a:r>
          </a:p>
        </p:txBody>
      </p:sp>
      <p:sp>
        <p:nvSpPr>
          <p:cNvPr id="14" name="TextBox 13">
            <a:extLst>
              <a:ext uri="{FF2B5EF4-FFF2-40B4-BE49-F238E27FC236}">
                <a16:creationId xmlns:a16="http://schemas.microsoft.com/office/drawing/2014/main" id="{95C6EA5D-4B8E-2C22-03E4-1526D7E79B5F}"/>
              </a:ext>
            </a:extLst>
          </p:cNvPr>
          <p:cNvSpPr txBox="1"/>
          <p:nvPr/>
        </p:nvSpPr>
        <p:spPr>
          <a:xfrm>
            <a:off x="6808425" y="816813"/>
            <a:ext cx="2276862" cy="1169551"/>
          </a:xfrm>
          <a:prstGeom prst="rect">
            <a:avLst/>
          </a:prstGeom>
          <a:solidFill>
            <a:schemeClr val="tx1">
              <a:lumMod val="95000"/>
            </a:schemeClr>
          </a:solidFill>
        </p:spPr>
        <p:txBody>
          <a:bodyPr wrap="square">
            <a:spAutoFit/>
          </a:bodyPr>
          <a:lstStyle/>
          <a:p>
            <a:r>
              <a:rPr lang="en-IN" sz="1400" dirty="0"/>
              <a:t>Student Information List:</a:t>
            </a:r>
          </a:p>
          <a:p>
            <a:r>
              <a:rPr lang="en-IN" sz="1400" dirty="0"/>
              <a:t>Rollno:1, </a:t>
            </a:r>
            <a:r>
              <a:rPr lang="en-IN" sz="1400" dirty="0" err="1"/>
              <a:t>Name:Dharma</a:t>
            </a:r>
            <a:endParaRPr lang="en-IN" sz="1400" dirty="0"/>
          </a:p>
          <a:p>
            <a:r>
              <a:rPr lang="en-IN" sz="1400" dirty="0"/>
              <a:t>Rollno:2, </a:t>
            </a:r>
            <a:r>
              <a:rPr lang="en-IN" sz="1400" dirty="0" err="1"/>
              <a:t>Name:Alex</a:t>
            </a:r>
            <a:endParaRPr lang="en-IN" sz="1400" dirty="0"/>
          </a:p>
          <a:p>
            <a:r>
              <a:rPr lang="en-IN" sz="1400" dirty="0"/>
              <a:t>Rollno:3, </a:t>
            </a:r>
            <a:r>
              <a:rPr lang="en-IN" sz="1400" dirty="0" err="1"/>
              <a:t>Name:Ram</a:t>
            </a:r>
            <a:endParaRPr lang="en-IN" sz="1400" dirty="0"/>
          </a:p>
          <a:p>
            <a:r>
              <a:rPr lang="en-IN" sz="1400" dirty="0"/>
              <a:t>Rollno:4, </a:t>
            </a:r>
            <a:r>
              <a:rPr lang="en-IN" sz="1400" dirty="0" err="1"/>
              <a:t>Name:Mani</a:t>
            </a:r>
            <a:endParaRPr lang="en-IN" sz="1400" dirty="0"/>
          </a:p>
        </p:txBody>
      </p:sp>
    </p:spTree>
    <p:extLst>
      <p:ext uri="{BB962C8B-B14F-4D97-AF65-F5344CB8AC3E}">
        <p14:creationId xmlns:p14="http://schemas.microsoft.com/office/powerpoint/2010/main" val="5103833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2914639" y="214039"/>
            <a:ext cx="6943469" cy="396300"/>
          </a:xfrm>
        </p:spPr>
        <p:txBody>
          <a:bodyPr/>
          <a:lstStyle/>
          <a:p>
            <a:pPr algn="ctr"/>
            <a:r>
              <a:rPr lang="en-IN" sz="2400" dirty="0"/>
              <a:t>Passing Structures to Functions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40</a:t>
            </a:fld>
            <a:endParaRPr lang="en"/>
          </a:p>
        </p:txBody>
      </p:sp>
      <p:sp>
        <p:nvSpPr>
          <p:cNvPr id="4" name="TextBox 3">
            <a:extLst>
              <a:ext uri="{FF2B5EF4-FFF2-40B4-BE49-F238E27FC236}">
                <a16:creationId xmlns:a16="http://schemas.microsoft.com/office/drawing/2014/main" id="{4775CD04-DF83-217E-AD49-D6985266C889}"/>
              </a:ext>
            </a:extLst>
          </p:cNvPr>
          <p:cNvSpPr txBox="1"/>
          <p:nvPr/>
        </p:nvSpPr>
        <p:spPr>
          <a:xfrm>
            <a:off x="3872234" y="759144"/>
            <a:ext cx="5028281" cy="69871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solidFill>
                  <a:schemeClr val="tx1"/>
                </a:solidFill>
              </a:rPr>
              <a:t>Users can use the dot </a:t>
            </a:r>
            <a:r>
              <a:rPr lang="en-US" b="1" dirty="0">
                <a:solidFill>
                  <a:schemeClr val="accent2"/>
                </a:solidFill>
              </a:rPr>
              <a:t>(.)</a:t>
            </a:r>
            <a:r>
              <a:rPr lang="en-US" dirty="0">
                <a:solidFill>
                  <a:schemeClr val="tx1"/>
                </a:solidFill>
              </a:rPr>
              <a:t> operator to access the individual members of the structure and pass them to the function</a:t>
            </a:r>
            <a:endParaRPr lang="en-IN" dirty="0">
              <a:solidFill>
                <a:schemeClr val="tx1"/>
              </a:solidFill>
            </a:endParaRPr>
          </a:p>
        </p:txBody>
      </p:sp>
      <p:pic>
        <p:nvPicPr>
          <p:cNvPr id="6" name="Picture 5">
            <a:extLst>
              <a:ext uri="{FF2B5EF4-FFF2-40B4-BE49-F238E27FC236}">
                <a16:creationId xmlns:a16="http://schemas.microsoft.com/office/drawing/2014/main" id="{5040468D-FDF5-2C29-EBF1-CD3DFB07DC4A}"/>
              </a:ext>
            </a:extLst>
          </p:cNvPr>
          <p:cNvPicPr>
            <a:picLocks noChangeAspect="1"/>
          </p:cNvPicPr>
          <p:nvPr/>
        </p:nvPicPr>
        <p:blipFill>
          <a:blip r:embed="rId2"/>
          <a:stretch>
            <a:fillRect/>
          </a:stretch>
        </p:blipFill>
        <p:spPr>
          <a:xfrm>
            <a:off x="190916" y="67934"/>
            <a:ext cx="3918376" cy="4999317"/>
          </a:xfrm>
          <a:prstGeom prst="rect">
            <a:avLst/>
          </a:prstGeom>
        </p:spPr>
      </p:pic>
      <p:pic>
        <p:nvPicPr>
          <p:cNvPr id="8" name="Picture 7">
            <a:extLst>
              <a:ext uri="{FF2B5EF4-FFF2-40B4-BE49-F238E27FC236}">
                <a16:creationId xmlns:a16="http://schemas.microsoft.com/office/drawing/2014/main" id="{D4496BB1-E04F-1A6D-8024-31D56EBBF07D}"/>
              </a:ext>
            </a:extLst>
          </p:cNvPr>
          <p:cNvPicPr>
            <a:picLocks noChangeAspect="1"/>
          </p:cNvPicPr>
          <p:nvPr/>
        </p:nvPicPr>
        <p:blipFill>
          <a:blip r:embed="rId3"/>
          <a:stretch>
            <a:fillRect/>
          </a:stretch>
        </p:blipFill>
        <p:spPr>
          <a:xfrm>
            <a:off x="4393068" y="1457861"/>
            <a:ext cx="1993305" cy="1383953"/>
          </a:xfrm>
          <a:prstGeom prst="rect">
            <a:avLst/>
          </a:prstGeom>
        </p:spPr>
      </p:pic>
    </p:spTree>
    <p:extLst>
      <p:ext uri="{BB962C8B-B14F-4D97-AF65-F5344CB8AC3E}">
        <p14:creationId xmlns:p14="http://schemas.microsoft.com/office/powerpoint/2010/main" val="27416386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942621" y="0"/>
            <a:ext cx="6943469" cy="396300"/>
          </a:xfrm>
        </p:spPr>
        <p:txBody>
          <a:bodyPr/>
          <a:lstStyle/>
          <a:p>
            <a:pPr algn="ctr"/>
            <a:r>
              <a:rPr lang="en-IN" sz="2400" dirty="0"/>
              <a:t>Structure Pointers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41</a:t>
            </a:fld>
            <a:endParaRPr lang="en"/>
          </a:p>
        </p:txBody>
      </p:sp>
      <p:sp>
        <p:nvSpPr>
          <p:cNvPr id="4" name="TextBox 3">
            <a:extLst>
              <a:ext uri="{FF2B5EF4-FFF2-40B4-BE49-F238E27FC236}">
                <a16:creationId xmlns:a16="http://schemas.microsoft.com/office/drawing/2014/main" id="{4775CD04-DF83-217E-AD49-D6985266C889}"/>
              </a:ext>
            </a:extLst>
          </p:cNvPr>
          <p:cNvSpPr txBox="1"/>
          <p:nvPr/>
        </p:nvSpPr>
        <p:spPr>
          <a:xfrm>
            <a:off x="417888" y="508037"/>
            <a:ext cx="8766550" cy="328404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solidFill>
                  <a:schemeClr val="tx1"/>
                </a:solidFill>
              </a:rPr>
              <a:t>Pointer to structure holds the add of the entire structure</a:t>
            </a:r>
          </a:p>
          <a:p>
            <a:pPr marL="285750" indent="-285750" algn="just">
              <a:lnSpc>
                <a:spcPct val="150000"/>
              </a:lnSpc>
              <a:buFont typeface="Arial" panose="020B0604020202020204" pitchFamily="34" charset="0"/>
              <a:buChar char="•"/>
            </a:pPr>
            <a:r>
              <a:rPr lang="en-US" dirty="0">
                <a:solidFill>
                  <a:schemeClr val="tx1"/>
                </a:solidFill>
              </a:rPr>
              <a:t>It is used to create complex data structures such as linked lists, trees, graphs and so on</a:t>
            </a:r>
          </a:p>
          <a:p>
            <a:pPr marL="285750" indent="-285750" algn="just">
              <a:lnSpc>
                <a:spcPct val="150000"/>
              </a:lnSpc>
              <a:buFont typeface="Arial" panose="020B0604020202020204" pitchFamily="34" charset="0"/>
              <a:buChar char="•"/>
            </a:pPr>
            <a:r>
              <a:rPr lang="en-US" dirty="0">
                <a:solidFill>
                  <a:schemeClr val="tx1"/>
                </a:solidFill>
              </a:rPr>
              <a:t>The members of the structure can be accessed using a special operator called as an arrow operator ( -&gt; )</a:t>
            </a:r>
          </a:p>
          <a:p>
            <a:pPr marL="285750" indent="-285750" algn="just">
              <a:lnSpc>
                <a:spcPct val="150000"/>
              </a:lnSpc>
              <a:buFont typeface="Arial" panose="020B0604020202020204" pitchFamily="34" charset="0"/>
              <a:buChar char="•"/>
            </a:pPr>
            <a:r>
              <a:rPr lang="en-US" b="1" dirty="0">
                <a:solidFill>
                  <a:schemeClr val="accent2"/>
                </a:solidFill>
              </a:rPr>
              <a:t>Declaration</a:t>
            </a:r>
          </a:p>
          <a:p>
            <a:pPr marL="285750" indent="-285750" algn="just">
              <a:lnSpc>
                <a:spcPct val="150000"/>
              </a:lnSpc>
              <a:buFont typeface="Arial" panose="020B0604020202020204" pitchFamily="34" charset="0"/>
              <a:buChar char="•"/>
            </a:pPr>
            <a:r>
              <a:rPr lang="en-US" dirty="0">
                <a:solidFill>
                  <a:schemeClr val="tx1"/>
                </a:solidFill>
              </a:rPr>
              <a:t>Here, it is the declaration for pointers to structures in C programming −</a:t>
            </a:r>
          </a:p>
          <a:p>
            <a:pPr marL="285750" indent="-285750" algn="just">
              <a:lnSpc>
                <a:spcPct val="150000"/>
              </a:lnSpc>
              <a:buFont typeface="Arial" panose="020B0604020202020204" pitchFamily="34" charset="0"/>
              <a:buChar char="•"/>
            </a:pPr>
            <a:r>
              <a:rPr lang="en-US" dirty="0">
                <a:solidFill>
                  <a:srgbClr val="FFC000"/>
                </a:solidFill>
              </a:rPr>
              <a:t>struct </a:t>
            </a:r>
            <a:r>
              <a:rPr lang="en-US" dirty="0" err="1">
                <a:solidFill>
                  <a:srgbClr val="FFC000"/>
                </a:solidFill>
              </a:rPr>
              <a:t>tagname</a:t>
            </a:r>
            <a:r>
              <a:rPr lang="en-US" dirty="0">
                <a:solidFill>
                  <a:srgbClr val="FFC000"/>
                </a:solidFill>
              </a:rPr>
              <a:t> *</a:t>
            </a:r>
            <a:r>
              <a:rPr lang="en-US" dirty="0" err="1">
                <a:solidFill>
                  <a:srgbClr val="FFC000"/>
                </a:solidFill>
              </a:rPr>
              <a:t>ptr</a:t>
            </a:r>
            <a:r>
              <a:rPr lang="en-US" dirty="0">
                <a:solidFill>
                  <a:schemeClr val="tx1"/>
                </a:solidFill>
              </a:rPr>
              <a:t>;    For example: </a:t>
            </a:r>
            <a:r>
              <a:rPr lang="en-US" b="1" dirty="0">
                <a:solidFill>
                  <a:srgbClr val="FFC000"/>
                </a:solidFill>
              </a:rPr>
              <a:t>struct student *s</a:t>
            </a:r>
          </a:p>
          <a:p>
            <a:pPr marL="285750" indent="-285750" algn="just">
              <a:lnSpc>
                <a:spcPct val="150000"/>
              </a:lnSpc>
              <a:buFont typeface="Arial" panose="020B0604020202020204" pitchFamily="34" charset="0"/>
              <a:buChar char="•"/>
            </a:pPr>
            <a:r>
              <a:rPr lang="en-US" b="1" dirty="0">
                <a:solidFill>
                  <a:schemeClr val="accent2"/>
                </a:solidFill>
              </a:rPr>
              <a:t>Accessing</a:t>
            </a:r>
          </a:p>
          <a:p>
            <a:pPr marL="285750" indent="-285750" algn="just">
              <a:lnSpc>
                <a:spcPct val="150000"/>
              </a:lnSpc>
              <a:buFont typeface="Arial" panose="020B0604020202020204" pitchFamily="34" charset="0"/>
              <a:buChar char="•"/>
            </a:pPr>
            <a:r>
              <a:rPr lang="en-US" dirty="0">
                <a:solidFill>
                  <a:schemeClr val="tx1"/>
                </a:solidFill>
              </a:rPr>
              <a:t>It is explained here, how to access the pointers to structures.</a:t>
            </a:r>
          </a:p>
          <a:p>
            <a:pPr marL="285750" indent="-285750" algn="just">
              <a:lnSpc>
                <a:spcPct val="150000"/>
              </a:lnSpc>
              <a:buFont typeface="Arial" panose="020B0604020202020204" pitchFamily="34" charset="0"/>
              <a:buChar char="•"/>
            </a:pPr>
            <a:r>
              <a:rPr lang="en-US" dirty="0" err="1">
                <a:solidFill>
                  <a:schemeClr val="tx1"/>
                </a:solidFill>
              </a:rPr>
              <a:t>Ptr</a:t>
            </a:r>
            <a:r>
              <a:rPr lang="en-US" b="1" dirty="0">
                <a:solidFill>
                  <a:srgbClr val="FFC000"/>
                </a:solidFill>
              </a:rPr>
              <a:t>-&gt; </a:t>
            </a:r>
            <a:r>
              <a:rPr lang="en-US" dirty="0" err="1">
                <a:solidFill>
                  <a:schemeClr val="tx1"/>
                </a:solidFill>
              </a:rPr>
              <a:t>membername</a:t>
            </a:r>
            <a:r>
              <a:rPr lang="en-US" dirty="0">
                <a:solidFill>
                  <a:schemeClr val="tx1"/>
                </a:solidFill>
              </a:rPr>
              <a:t>;</a:t>
            </a:r>
          </a:p>
          <a:p>
            <a:pPr marL="285750" indent="-285750" algn="just">
              <a:lnSpc>
                <a:spcPct val="150000"/>
              </a:lnSpc>
              <a:buFont typeface="Arial" panose="020B0604020202020204" pitchFamily="34" charset="0"/>
              <a:buChar char="•"/>
            </a:pPr>
            <a:r>
              <a:rPr lang="en-US" dirty="0">
                <a:solidFill>
                  <a:schemeClr val="tx1"/>
                </a:solidFill>
              </a:rPr>
              <a:t>For example: </a:t>
            </a:r>
            <a:r>
              <a:rPr lang="en-US" b="1" dirty="0">
                <a:solidFill>
                  <a:srgbClr val="FFC000"/>
                </a:solidFill>
              </a:rPr>
              <a:t>s-&gt;</a:t>
            </a:r>
            <a:r>
              <a:rPr lang="en-US" b="1" dirty="0" err="1">
                <a:solidFill>
                  <a:srgbClr val="FFC000"/>
                </a:solidFill>
              </a:rPr>
              <a:t>sno</a:t>
            </a:r>
            <a:r>
              <a:rPr lang="en-US" b="1" dirty="0">
                <a:solidFill>
                  <a:srgbClr val="FFC000"/>
                </a:solidFill>
              </a:rPr>
              <a:t>, s-&gt;</a:t>
            </a:r>
            <a:r>
              <a:rPr lang="en-US" b="1" dirty="0" err="1">
                <a:solidFill>
                  <a:srgbClr val="FFC000"/>
                </a:solidFill>
              </a:rPr>
              <a:t>sname</a:t>
            </a:r>
            <a:r>
              <a:rPr lang="en-US" b="1" dirty="0">
                <a:solidFill>
                  <a:srgbClr val="FFC000"/>
                </a:solidFill>
              </a:rPr>
              <a:t>, s-&gt;marks;</a:t>
            </a:r>
            <a:endParaRPr lang="en-IN" b="1" dirty="0">
              <a:solidFill>
                <a:srgbClr val="FFC000"/>
              </a:solidFill>
            </a:endParaRPr>
          </a:p>
        </p:txBody>
      </p:sp>
    </p:spTree>
    <p:extLst>
      <p:ext uri="{BB962C8B-B14F-4D97-AF65-F5344CB8AC3E}">
        <p14:creationId xmlns:p14="http://schemas.microsoft.com/office/powerpoint/2010/main" val="35823192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942621" y="0"/>
            <a:ext cx="6943469" cy="396300"/>
          </a:xfrm>
        </p:spPr>
        <p:txBody>
          <a:bodyPr/>
          <a:lstStyle/>
          <a:p>
            <a:pPr algn="ctr"/>
            <a:r>
              <a:rPr lang="en-IN" sz="2400" dirty="0"/>
              <a:t>Structure Pointers Example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42</a:t>
            </a:fld>
            <a:endParaRPr lang="en"/>
          </a:p>
        </p:txBody>
      </p:sp>
      <p:sp>
        <p:nvSpPr>
          <p:cNvPr id="4" name="TextBox 3">
            <a:extLst>
              <a:ext uri="{FF2B5EF4-FFF2-40B4-BE49-F238E27FC236}">
                <a16:creationId xmlns:a16="http://schemas.microsoft.com/office/drawing/2014/main" id="{4775CD04-DF83-217E-AD49-D6985266C889}"/>
              </a:ext>
            </a:extLst>
          </p:cNvPr>
          <p:cNvSpPr txBox="1"/>
          <p:nvPr/>
        </p:nvSpPr>
        <p:spPr>
          <a:xfrm>
            <a:off x="642609" y="396300"/>
            <a:ext cx="5141248" cy="450892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solidFill>
                  <a:schemeClr val="tx1"/>
                </a:solidFill>
              </a:rPr>
              <a:t>#include&lt;stdio.h&gt;</a:t>
            </a:r>
          </a:p>
          <a:p>
            <a:pPr marL="285750" indent="-285750" algn="just">
              <a:buFont typeface="Arial" panose="020B0604020202020204" pitchFamily="34" charset="0"/>
              <a:buChar char="•"/>
            </a:pPr>
            <a:r>
              <a:rPr lang="en-US" dirty="0">
                <a:solidFill>
                  <a:srgbClr val="FFC000"/>
                </a:solidFill>
              </a:rPr>
              <a:t>struct student</a:t>
            </a:r>
          </a:p>
          <a:p>
            <a:pPr marL="285750" indent="-285750" algn="just">
              <a:buFont typeface="Arial" panose="020B0604020202020204" pitchFamily="34" charset="0"/>
              <a:buChar char="•"/>
            </a:pPr>
            <a:r>
              <a:rPr lang="en-US" dirty="0">
                <a:solidFill>
                  <a:srgbClr val="FFC000"/>
                </a:solidFill>
              </a:rPr>
              <a:t>{</a:t>
            </a:r>
          </a:p>
          <a:p>
            <a:pPr marL="285750" indent="-285750" algn="just">
              <a:buFont typeface="Arial" panose="020B0604020202020204" pitchFamily="34" charset="0"/>
              <a:buChar char="•"/>
            </a:pPr>
            <a:r>
              <a:rPr lang="en-US" dirty="0">
                <a:solidFill>
                  <a:srgbClr val="FFC000"/>
                </a:solidFill>
              </a:rPr>
              <a:t>   int </a:t>
            </a:r>
            <a:r>
              <a:rPr lang="en-US" dirty="0" err="1">
                <a:solidFill>
                  <a:srgbClr val="FFC000"/>
                </a:solidFill>
              </a:rPr>
              <a:t>sno</a:t>
            </a:r>
            <a:r>
              <a:rPr lang="en-US" dirty="0">
                <a:solidFill>
                  <a:srgbClr val="FFC000"/>
                </a:solidFill>
              </a:rPr>
              <a:t>;</a:t>
            </a:r>
          </a:p>
          <a:p>
            <a:pPr marL="285750" indent="-285750" algn="just">
              <a:buFont typeface="Arial" panose="020B0604020202020204" pitchFamily="34" charset="0"/>
              <a:buChar char="•"/>
            </a:pPr>
            <a:r>
              <a:rPr lang="en-US" dirty="0">
                <a:solidFill>
                  <a:srgbClr val="FFC000"/>
                </a:solidFill>
              </a:rPr>
              <a:t>   char </a:t>
            </a:r>
            <a:r>
              <a:rPr lang="en-US" dirty="0" err="1">
                <a:solidFill>
                  <a:srgbClr val="FFC000"/>
                </a:solidFill>
              </a:rPr>
              <a:t>sname</a:t>
            </a:r>
            <a:r>
              <a:rPr lang="en-US" dirty="0">
                <a:solidFill>
                  <a:srgbClr val="FFC000"/>
                </a:solidFill>
              </a:rPr>
              <a:t>[30];</a:t>
            </a:r>
          </a:p>
          <a:p>
            <a:pPr marL="285750" indent="-285750" algn="just">
              <a:buFont typeface="Arial" panose="020B0604020202020204" pitchFamily="34" charset="0"/>
              <a:buChar char="•"/>
            </a:pPr>
            <a:r>
              <a:rPr lang="en-US" dirty="0">
                <a:solidFill>
                  <a:srgbClr val="FFC000"/>
                </a:solidFill>
              </a:rPr>
              <a:t>   float marks;</a:t>
            </a:r>
          </a:p>
          <a:p>
            <a:pPr marL="285750" indent="-285750" algn="just">
              <a:buFont typeface="Arial" panose="020B0604020202020204" pitchFamily="34" charset="0"/>
              <a:buChar char="•"/>
            </a:pPr>
            <a:r>
              <a:rPr lang="en-US" dirty="0">
                <a:solidFill>
                  <a:srgbClr val="FFC000"/>
                </a:solidFill>
              </a:rPr>
              <a:t>};</a:t>
            </a:r>
          </a:p>
          <a:p>
            <a:pPr marL="285750" indent="-285750" algn="just">
              <a:lnSpc>
                <a:spcPct val="150000"/>
              </a:lnSpc>
              <a:buFont typeface="Arial" panose="020B0604020202020204" pitchFamily="34" charset="0"/>
              <a:buChar char="•"/>
            </a:pPr>
            <a:r>
              <a:rPr lang="en-US" dirty="0">
                <a:solidFill>
                  <a:schemeClr val="tx1"/>
                </a:solidFill>
              </a:rPr>
              <a:t>void main ( )</a:t>
            </a:r>
          </a:p>
          <a:p>
            <a:pPr marL="285750" indent="-285750" algn="just">
              <a:lnSpc>
                <a:spcPct val="150000"/>
              </a:lnSpc>
              <a:buFont typeface="Arial" panose="020B0604020202020204" pitchFamily="34" charset="0"/>
              <a:buChar char="•"/>
            </a:pPr>
            <a:r>
              <a:rPr lang="en-US" dirty="0">
                <a:solidFill>
                  <a:schemeClr val="tx1"/>
                </a:solidFill>
              </a:rPr>
              <a:t>{</a:t>
            </a:r>
          </a:p>
          <a:p>
            <a:pPr marL="285750" indent="-285750" algn="just">
              <a:buFont typeface="Arial" panose="020B0604020202020204" pitchFamily="34" charset="0"/>
              <a:buChar char="•"/>
            </a:pPr>
            <a:r>
              <a:rPr lang="en-US" dirty="0">
                <a:solidFill>
                  <a:schemeClr val="tx1"/>
                </a:solidFill>
              </a:rPr>
              <a:t>   struct student s;</a:t>
            </a:r>
          </a:p>
          <a:p>
            <a:pPr marL="285750" indent="-285750" algn="just">
              <a:buFont typeface="Arial" panose="020B0604020202020204" pitchFamily="34" charset="0"/>
              <a:buChar char="•"/>
            </a:pPr>
            <a:r>
              <a:rPr lang="en-US" dirty="0">
                <a:solidFill>
                  <a:schemeClr val="tx1"/>
                </a:solidFill>
              </a:rPr>
              <a:t>   </a:t>
            </a:r>
            <a:r>
              <a:rPr lang="en-US" b="1" dirty="0">
                <a:solidFill>
                  <a:schemeClr val="accent3"/>
                </a:solidFill>
              </a:rPr>
              <a:t>struct student *</a:t>
            </a:r>
            <a:r>
              <a:rPr lang="en-US" b="1" dirty="0" err="1">
                <a:solidFill>
                  <a:schemeClr val="accent3"/>
                </a:solidFill>
              </a:rPr>
              <a:t>st</a:t>
            </a:r>
            <a:r>
              <a:rPr lang="en-US" b="1" dirty="0">
                <a:solidFill>
                  <a:schemeClr val="accent3"/>
                </a:solidFill>
              </a:rPr>
              <a:t>;</a:t>
            </a:r>
          </a:p>
          <a:p>
            <a:pPr marL="285750" indent="-285750" algn="just">
              <a:buFont typeface="Arial" panose="020B0604020202020204" pitchFamily="34" charset="0"/>
              <a:buChar char="•"/>
            </a:pPr>
            <a:r>
              <a:rPr lang="en-US" dirty="0">
                <a:solidFill>
                  <a:schemeClr val="tx1"/>
                </a:solidFill>
              </a:rPr>
              <a:t>   </a:t>
            </a:r>
            <a:r>
              <a:rPr lang="en-US" dirty="0" err="1">
                <a:solidFill>
                  <a:schemeClr val="tx1"/>
                </a:solidFill>
              </a:rPr>
              <a:t>printf</a:t>
            </a:r>
            <a:r>
              <a:rPr lang="en-US" dirty="0">
                <a:solidFill>
                  <a:schemeClr val="tx1"/>
                </a:solidFill>
              </a:rPr>
              <a:t>("enter </a:t>
            </a:r>
            <a:r>
              <a:rPr lang="en-US" dirty="0" err="1">
                <a:solidFill>
                  <a:schemeClr val="tx1"/>
                </a:solidFill>
              </a:rPr>
              <a:t>sno</a:t>
            </a:r>
            <a:r>
              <a:rPr lang="en-US" dirty="0">
                <a:solidFill>
                  <a:schemeClr val="tx1"/>
                </a:solidFill>
              </a:rPr>
              <a:t>, </a:t>
            </a:r>
            <a:r>
              <a:rPr lang="en-US" dirty="0" err="1">
                <a:solidFill>
                  <a:schemeClr val="tx1"/>
                </a:solidFill>
              </a:rPr>
              <a:t>sname</a:t>
            </a:r>
            <a:r>
              <a:rPr lang="en-US" dirty="0">
                <a:solidFill>
                  <a:schemeClr val="tx1"/>
                </a:solidFill>
              </a:rPr>
              <a:t>, marks:");</a:t>
            </a:r>
          </a:p>
          <a:p>
            <a:pPr marL="285750" indent="-285750" algn="just">
              <a:buFont typeface="Arial" panose="020B0604020202020204" pitchFamily="34" charset="0"/>
              <a:buChar char="•"/>
            </a:pPr>
            <a:r>
              <a:rPr lang="en-US" dirty="0">
                <a:solidFill>
                  <a:schemeClr val="tx1"/>
                </a:solidFill>
              </a:rPr>
              <a:t>   </a:t>
            </a:r>
            <a:r>
              <a:rPr lang="en-US" dirty="0" err="1">
                <a:solidFill>
                  <a:schemeClr val="tx1"/>
                </a:solidFill>
              </a:rPr>
              <a:t>scanf</a:t>
            </a:r>
            <a:r>
              <a:rPr lang="en-US" dirty="0">
                <a:solidFill>
                  <a:schemeClr val="tx1"/>
                </a:solidFill>
              </a:rPr>
              <a:t> ("%</a:t>
            </a:r>
            <a:r>
              <a:rPr lang="en-US" dirty="0" err="1">
                <a:solidFill>
                  <a:schemeClr val="tx1"/>
                </a:solidFill>
              </a:rPr>
              <a:t>d%s%f</a:t>
            </a:r>
            <a:r>
              <a:rPr lang="en-US" dirty="0">
                <a:solidFill>
                  <a:schemeClr val="tx1"/>
                </a:solidFill>
              </a:rPr>
              <a:t>", &amp; </a:t>
            </a:r>
            <a:r>
              <a:rPr lang="en-US" dirty="0" err="1">
                <a:solidFill>
                  <a:schemeClr val="tx1"/>
                </a:solidFill>
              </a:rPr>
              <a:t>s.sno</a:t>
            </a:r>
            <a:r>
              <a:rPr lang="en-US" dirty="0">
                <a:solidFill>
                  <a:schemeClr val="tx1"/>
                </a:solidFill>
              </a:rPr>
              <a:t>, </a:t>
            </a:r>
            <a:r>
              <a:rPr lang="en-US" dirty="0" err="1">
                <a:solidFill>
                  <a:schemeClr val="tx1"/>
                </a:solidFill>
              </a:rPr>
              <a:t>s.sname</a:t>
            </a:r>
            <a:r>
              <a:rPr lang="en-US" dirty="0">
                <a:solidFill>
                  <a:schemeClr val="tx1"/>
                </a:solidFill>
              </a:rPr>
              <a:t>, &amp;s. marks);</a:t>
            </a:r>
          </a:p>
          <a:p>
            <a:pPr marL="285750" indent="-285750" algn="just">
              <a:buFont typeface="Arial" panose="020B0604020202020204" pitchFamily="34" charset="0"/>
              <a:buChar char="•"/>
            </a:pPr>
            <a:r>
              <a:rPr lang="en-US" dirty="0">
                <a:solidFill>
                  <a:schemeClr val="tx1"/>
                </a:solidFill>
              </a:rPr>
              <a:t>   </a:t>
            </a:r>
            <a:r>
              <a:rPr lang="en-US" dirty="0" err="1">
                <a:solidFill>
                  <a:schemeClr val="tx1"/>
                </a:solidFill>
              </a:rPr>
              <a:t>st</a:t>
            </a:r>
            <a:r>
              <a:rPr lang="en-US" dirty="0">
                <a:solidFill>
                  <a:schemeClr val="tx1"/>
                </a:solidFill>
              </a:rPr>
              <a:t> = &amp;s;</a:t>
            </a:r>
          </a:p>
          <a:p>
            <a:pPr marL="285750" indent="-285750" algn="just">
              <a:buFont typeface="Arial" panose="020B0604020202020204" pitchFamily="34" charset="0"/>
              <a:buChar char="•"/>
            </a:pPr>
            <a:r>
              <a:rPr lang="en-US" dirty="0">
                <a:solidFill>
                  <a:schemeClr val="tx1"/>
                </a:solidFill>
              </a:rPr>
              <a:t>   </a:t>
            </a:r>
            <a:r>
              <a:rPr lang="en-US" dirty="0" err="1">
                <a:solidFill>
                  <a:schemeClr val="tx1"/>
                </a:solidFill>
              </a:rPr>
              <a:t>printf</a:t>
            </a:r>
            <a:r>
              <a:rPr lang="en-US" dirty="0">
                <a:solidFill>
                  <a:schemeClr val="tx1"/>
                </a:solidFill>
              </a:rPr>
              <a:t> ("details of the student are");</a:t>
            </a:r>
          </a:p>
          <a:p>
            <a:pPr marL="285750" indent="-285750" algn="just">
              <a:buFont typeface="Arial" panose="020B0604020202020204" pitchFamily="34" charset="0"/>
              <a:buChar char="•"/>
            </a:pPr>
            <a:r>
              <a:rPr lang="en-US" dirty="0">
                <a:solidFill>
                  <a:schemeClr val="tx1"/>
                </a:solidFill>
              </a:rPr>
              <a:t>   </a:t>
            </a:r>
            <a:r>
              <a:rPr lang="en-US" dirty="0" err="1">
                <a:solidFill>
                  <a:schemeClr val="tx1"/>
                </a:solidFill>
              </a:rPr>
              <a:t>printf</a:t>
            </a:r>
            <a:r>
              <a:rPr lang="en-US" dirty="0">
                <a:solidFill>
                  <a:schemeClr val="tx1"/>
                </a:solidFill>
              </a:rPr>
              <a:t> ("Number = %d", </a:t>
            </a:r>
            <a:r>
              <a:rPr lang="en-US" dirty="0" err="1">
                <a:solidFill>
                  <a:schemeClr val="tx1"/>
                </a:solidFill>
              </a:rPr>
              <a:t>st</a:t>
            </a:r>
            <a:r>
              <a:rPr lang="en-US" dirty="0">
                <a:solidFill>
                  <a:schemeClr val="tx1"/>
                </a:solidFill>
              </a:rPr>
              <a:t> -&gt;</a:t>
            </a:r>
            <a:r>
              <a:rPr lang="en-US" dirty="0" err="1">
                <a:solidFill>
                  <a:schemeClr val="tx1"/>
                </a:solidFill>
              </a:rPr>
              <a:t>sno</a:t>
            </a:r>
            <a:r>
              <a:rPr lang="en-US" dirty="0">
                <a:solidFill>
                  <a:schemeClr val="tx1"/>
                </a:solidFill>
              </a:rPr>
              <a:t>);</a:t>
            </a:r>
          </a:p>
          <a:p>
            <a:pPr marL="285750" indent="-285750" algn="just">
              <a:buFont typeface="Arial" panose="020B0604020202020204" pitchFamily="34" charset="0"/>
              <a:buChar char="•"/>
            </a:pPr>
            <a:r>
              <a:rPr lang="en-US" dirty="0">
                <a:solidFill>
                  <a:schemeClr val="tx1"/>
                </a:solidFill>
              </a:rPr>
              <a:t>   </a:t>
            </a:r>
            <a:r>
              <a:rPr lang="en-US" dirty="0" err="1">
                <a:solidFill>
                  <a:schemeClr val="tx1"/>
                </a:solidFill>
              </a:rPr>
              <a:t>printf</a:t>
            </a:r>
            <a:r>
              <a:rPr lang="en-US" dirty="0">
                <a:solidFill>
                  <a:schemeClr val="tx1"/>
                </a:solidFill>
              </a:rPr>
              <a:t> ("name = %s", </a:t>
            </a:r>
            <a:r>
              <a:rPr lang="en-US" dirty="0" err="1">
                <a:solidFill>
                  <a:schemeClr val="tx1"/>
                </a:solidFill>
              </a:rPr>
              <a:t>st</a:t>
            </a:r>
            <a:r>
              <a:rPr lang="en-US" dirty="0">
                <a:solidFill>
                  <a:schemeClr val="tx1"/>
                </a:solidFill>
              </a:rPr>
              <a:t>-&gt;</a:t>
            </a:r>
            <a:r>
              <a:rPr lang="en-US" dirty="0" err="1">
                <a:solidFill>
                  <a:schemeClr val="tx1"/>
                </a:solidFill>
              </a:rPr>
              <a:t>sname</a:t>
            </a:r>
            <a:r>
              <a:rPr lang="en-US" dirty="0">
                <a:solidFill>
                  <a:schemeClr val="tx1"/>
                </a:solidFill>
              </a:rPr>
              <a:t>);</a:t>
            </a:r>
          </a:p>
          <a:p>
            <a:pPr marL="285750" indent="-285750" algn="just">
              <a:buFont typeface="Arial" panose="020B0604020202020204" pitchFamily="34" charset="0"/>
              <a:buChar char="•"/>
            </a:pPr>
            <a:r>
              <a:rPr lang="en-US" dirty="0">
                <a:solidFill>
                  <a:schemeClr val="tx1"/>
                </a:solidFill>
              </a:rPr>
              <a:t>   </a:t>
            </a:r>
            <a:r>
              <a:rPr lang="en-US" dirty="0" err="1">
                <a:solidFill>
                  <a:schemeClr val="tx1"/>
                </a:solidFill>
              </a:rPr>
              <a:t>printf</a:t>
            </a:r>
            <a:r>
              <a:rPr lang="en-US" dirty="0">
                <a:solidFill>
                  <a:schemeClr val="tx1"/>
                </a:solidFill>
              </a:rPr>
              <a:t> ("marks =%f", </a:t>
            </a:r>
            <a:r>
              <a:rPr lang="en-US" dirty="0" err="1">
                <a:solidFill>
                  <a:schemeClr val="tx1"/>
                </a:solidFill>
              </a:rPr>
              <a:t>st</a:t>
            </a:r>
            <a:r>
              <a:rPr lang="en-US" dirty="0">
                <a:solidFill>
                  <a:schemeClr val="tx1"/>
                </a:solidFill>
              </a:rPr>
              <a:t> -&gt;marks);  </a:t>
            </a:r>
          </a:p>
          <a:p>
            <a:pPr algn="just"/>
            <a:r>
              <a:rPr lang="en-US" dirty="0">
                <a:solidFill>
                  <a:schemeClr val="tx1"/>
                </a:solidFill>
              </a:rPr>
              <a:t>       }</a:t>
            </a:r>
          </a:p>
        </p:txBody>
      </p:sp>
      <p:sp>
        <p:nvSpPr>
          <p:cNvPr id="6" name="TextBox 5">
            <a:extLst>
              <a:ext uri="{FF2B5EF4-FFF2-40B4-BE49-F238E27FC236}">
                <a16:creationId xmlns:a16="http://schemas.microsoft.com/office/drawing/2014/main" id="{CF631490-279E-609D-53E5-2FD378C63D97}"/>
              </a:ext>
            </a:extLst>
          </p:cNvPr>
          <p:cNvSpPr txBox="1"/>
          <p:nvPr/>
        </p:nvSpPr>
        <p:spPr>
          <a:xfrm>
            <a:off x="5218365" y="792600"/>
            <a:ext cx="3283026" cy="1384995"/>
          </a:xfrm>
          <a:prstGeom prst="rect">
            <a:avLst/>
          </a:prstGeom>
          <a:noFill/>
        </p:spPr>
        <p:txBody>
          <a:bodyPr wrap="square">
            <a:spAutoFit/>
          </a:bodyPr>
          <a:lstStyle/>
          <a:p>
            <a:r>
              <a:rPr lang="en-IN" b="1" dirty="0">
                <a:solidFill>
                  <a:srgbClr val="FFFF00"/>
                </a:solidFill>
              </a:rPr>
              <a:t>Output</a:t>
            </a:r>
          </a:p>
          <a:p>
            <a:r>
              <a:rPr lang="en-IN" dirty="0">
                <a:solidFill>
                  <a:srgbClr val="FFFF00"/>
                </a:solidFill>
              </a:rPr>
              <a:t>enter </a:t>
            </a:r>
            <a:r>
              <a:rPr lang="en-IN" dirty="0" err="1">
                <a:solidFill>
                  <a:srgbClr val="FFFF00"/>
                </a:solidFill>
              </a:rPr>
              <a:t>sno</a:t>
            </a:r>
            <a:r>
              <a:rPr lang="en-IN" dirty="0">
                <a:solidFill>
                  <a:srgbClr val="FFFF00"/>
                </a:solidFill>
              </a:rPr>
              <a:t>, </a:t>
            </a:r>
            <a:r>
              <a:rPr lang="en-IN" dirty="0" err="1">
                <a:solidFill>
                  <a:srgbClr val="FFFF00"/>
                </a:solidFill>
              </a:rPr>
              <a:t>sname</a:t>
            </a:r>
            <a:r>
              <a:rPr lang="en-IN" dirty="0">
                <a:solidFill>
                  <a:srgbClr val="FFFF00"/>
                </a:solidFill>
              </a:rPr>
              <a:t>, marks:1 Lucky 98</a:t>
            </a:r>
          </a:p>
          <a:p>
            <a:r>
              <a:rPr lang="en-IN" dirty="0">
                <a:solidFill>
                  <a:srgbClr val="FFFF00"/>
                </a:solidFill>
              </a:rPr>
              <a:t>details of the student are:</a:t>
            </a:r>
          </a:p>
          <a:p>
            <a:r>
              <a:rPr lang="en-IN" dirty="0">
                <a:solidFill>
                  <a:srgbClr val="FFFF00"/>
                </a:solidFill>
              </a:rPr>
              <a:t>Number = 1</a:t>
            </a:r>
          </a:p>
          <a:p>
            <a:r>
              <a:rPr lang="en-IN" dirty="0">
                <a:solidFill>
                  <a:srgbClr val="FFFF00"/>
                </a:solidFill>
              </a:rPr>
              <a:t>name = Lucky</a:t>
            </a:r>
          </a:p>
          <a:p>
            <a:r>
              <a:rPr lang="en-IN" dirty="0">
                <a:solidFill>
                  <a:srgbClr val="FFFF00"/>
                </a:solidFill>
              </a:rPr>
              <a:t>marks =98.000000</a:t>
            </a:r>
          </a:p>
        </p:txBody>
      </p:sp>
    </p:spTree>
    <p:extLst>
      <p:ext uri="{BB962C8B-B14F-4D97-AF65-F5344CB8AC3E}">
        <p14:creationId xmlns:p14="http://schemas.microsoft.com/office/powerpoint/2010/main" val="16589293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942621" y="0"/>
            <a:ext cx="6943469" cy="396300"/>
          </a:xfrm>
        </p:spPr>
        <p:txBody>
          <a:bodyPr/>
          <a:lstStyle/>
          <a:p>
            <a:pPr algn="ctr"/>
            <a:r>
              <a:rPr lang="en-IN" sz="2400" dirty="0"/>
              <a:t>Nested Structures </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43</a:t>
            </a:fld>
            <a:endParaRPr lang="en"/>
          </a:p>
        </p:txBody>
      </p:sp>
      <p:sp>
        <p:nvSpPr>
          <p:cNvPr id="4" name="TextBox 3">
            <a:extLst>
              <a:ext uri="{FF2B5EF4-FFF2-40B4-BE49-F238E27FC236}">
                <a16:creationId xmlns:a16="http://schemas.microsoft.com/office/drawing/2014/main" id="{4775CD04-DF83-217E-AD49-D6985266C889}"/>
              </a:ext>
            </a:extLst>
          </p:cNvPr>
          <p:cNvSpPr txBox="1"/>
          <p:nvPr/>
        </p:nvSpPr>
        <p:spPr>
          <a:xfrm>
            <a:off x="642609" y="275113"/>
            <a:ext cx="7884446" cy="134504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1" dirty="0">
                <a:solidFill>
                  <a:schemeClr val="tx1"/>
                </a:solidFill>
              </a:rPr>
              <a:t>Structures within Structures</a:t>
            </a:r>
          </a:p>
          <a:p>
            <a:pPr marL="285750" indent="-285750" algn="just">
              <a:lnSpc>
                <a:spcPct val="150000"/>
              </a:lnSpc>
              <a:buFont typeface="Arial" panose="020B0604020202020204" pitchFamily="34" charset="0"/>
              <a:buChar char="•"/>
            </a:pPr>
            <a:r>
              <a:rPr lang="en-US" dirty="0">
                <a:solidFill>
                  <a:schemeClr val="tx1"/>
                </a:solidFill>
              </a:rPr>
              <a:t>Nested structures means, that one structure has another structure as member variable</a:t>
            </a:r>
          </a:p>
          <a:p>
            <a:pPr marL="285750" indent="-285750" algn="just">
              <a:lnSpc>
                <a:spcPct val="150000"/>
              </a:lnSpc>
              <a:buFont typeface="Arial" panose="020B0604020202020204" pitchFamily="34" charset="0"/>
              <a:buChar char="•"/>
            </a:pPr>
            <a:r>
              <a:rPr lang="en-US" dirty="0">
                <a:solidFill>
                  <a:schemeClr val="tx1"/>
                </a:solidFill>
              </a:rPr>
              <a:t>C provides users the feature of nesting one structure within another structure by using which, complex data types are created</a:t>
            </a:r>
          </a:p>
        </p:txBody>
      </p:sp>
      <p:sp>
        <p:nvSpPr>
          <p:cNvPr id="7" name="TextBox 6">
            <a:extLst>
              <a:ext uri="{FF2B5EF4-FFF2-40B4-BE49-F238E27FC236}">
                <a16:creationId xmlns:a16="http://schemas.microsoft.com/office/drawing/2014/main" id="{F3F8A1DC-C852-B4EB-9AC8-A980CB2C2654}"/>
              </a:ext>
            </a:extLst>
          </p:cNvPr>
          <p:cNvSpPr txBox="1"/>
          <p:nvPr/>
        </p:nvSpPr>
        <p:spPr>
          <a:xfrm>
            <a:off x="3084723" y="1896822"/>
            <a:ext cx="3547431" cy="2677656"/>
          </a:xfrm>
          <a:prstGeom prst="rect">
            <a:avLst/>
          </a:prstGeom>
          <a:noFill/>
        </p:spPr>
        <p:txBody>
          <a:bodyPr wrap="square">
            <a:spAutoFit/>
          </a:bodyPr>
          <a:lstStyle/>
          <a:p>
            <a:r>
              <a:rPr lang="en-IN" dirty="0">
                <a:solidFill>
                  <a:schemeClr val="tx1"/>
                </a:solidFill>
              </a:rPr>
              <a:t>struct Student</a:t>
            </a:r>
          </a:p>
          <a:p>
            <a:r>
              <a:rPr lang="en-IN" dirty="0">
                <a:solidFill>
                  <a:schemeClr val="tx1"/>
                </a:solidFill>
              </a:rPr>
              <a:t>{</a:t>
            </a:r>
          </a:p>
          <a:p>
            <a:r>
              <a:rPr lang="en-IN" dirty="0">
                <a:solidFill>
                  <a:schemeClr val="tx1"/>
                </a:solidFill>
              </a:rPr>
              <a:t>    char[30] name;</a:t>
            </a:r>
          </a:p>
          <a:p>
            <a:r>
              <a:rPr lang="en-IN" dirty="0">
                <a:solidFill>
                  <a:schemeClr val="tx1"/>
                </a:solidFill>
              </a:rPr>
              <a:t>    int age;</a:t>
            </a:r>
          </a:p>
          <a:p>
            <a:r>
              <a:rPr lang="en-IN" dirty="0">
                <a:solidFill>
                  <a:schemeClr val="tx1"/>
                </a:solidFill>
              </a:rPr>
              <a:t> </a:t>
            </a:r>
          </a:p>
          <a:p>
            <a:r>
              <a:rPr lang="en-IN" dirty="0">
                <a:solidFill>
                  <a:schemeClr val="tx1"/>
                </a:solidFill>
              </a:rPr>
              <a:t>    struct Address</a:t>
            </a:r>
          </a:p>
          <a:p>
            <a:r>
              <a:rPr lang="en-IN" dirty="0">
                <a:solidFill>
                  <a:schemeClr val="tx1"/>
                </a:solidFill>
              </a:rPr>
              <a:t>    {</a:t>
            </a:r>
          </a:p>
          <a:p>
            <a:r>
              <a:rPr lang="en-IN" dirty="0">
                <a:solidFill>
                  <a:schemeClr val="tx1"/>
                </a:solidFill>
              </a:rPr>
              <a:t>        char[50] locality;</a:t>
            </a:r>
          </a:p>
          <a:p>
            <a:r>
              <a:rPr lang="en-IN" dirty="0">
                <a:solidFill>
                  <a:schemeClr val="tx1"/>
                </a:solidFill>
              </a:rPr>
              <a:t>        char[50] city;</a:t>
            </a:r>
          </a:p>
          <a:p>
            <a:r>
              <a:rPr lang="en-IN" dirty="0">
                <a:solidFill>
                  <a:schemeClr val="tx1"/>
                </a:solidFill>
              </a:rPr>
              <a:t>        int </a:t>
            </a:r>
            <a:r>
              <a:rPr lang="en-IN" dirty="0" err="1">
                <a:solidFill>
                  <a:schemeClr val="tx1"/>
                </a:solidFill>
              </a:rPr>
              <a:t>pincode</a:t>
            </a:r>
            <a:r>
              <a:rPr lang="en-IN" dirty="0">
                <a:solidFill>
                  <a:schemeClr val="tx1"/>
                </a:solidFill>
              </a:rPr>
              <a:t>;		</a:t>
            </a:r>
          </a:p>
          <a:p>
            <a:r>
              <a:rPr lang="en-IN" dirty="0">
                <a:solidFill>
                  <a:schemeClr val="tx1"/>
                </a:solidFill>
              </a:rPr>
              <a:t>    }</a:t>
            </a:r>
            <a:r>
              <a:rPr lang="en-IN" dirty="0" err="1">
                <a:solidFill>
                  <a:schemeClr val="tx1"/>
                </a:solidFill>
              </a:rPr>
              <a:t>addr</a:t>
            </a:r>
            <a:r>
              <a:rPr lang="en-IN" dirty="0">
                <a:solidFill>
                  <a:schemeClr val="tx1"/>
                </a:solidFill>
              </a:rPr>
              <a:t>;</a:t>
            </a:r>
          </a:p>
          <a:p>
            <a:r>
              <a:rPr lang="en-IN" dirty="0">
                <a:solidFill>
                  <a:schemeClr val="tx1"/>
                </a:solidFill>
              </a:rPr>
              <a:t>};</a:t>
            </a:r>
          </a:p>
        </p:txBody>
      </p:sp>
      <p:sp>
        <p:nvSpPr>
          <p:cNvPr id="9" name="TextBox 8">
            <a:extLst>
              <a:ext uri="{FF2B5EF4-FFF2-40B4-BE49-F238E27FC236}">
                <a16:creationId xmlns:a16="http://schemas.microsoft.com/office/drawing/2014/main" id="{A74E89E9-3704-FB17-133B-7506613977EA}"/>
              </a:ext>
            </a:extLst>
          </p:cNvPr>
          <p:cNvSpPr txBox="1"/>
          <p:nvPr/>
        </p:nvSpPr>
        <p:spPr>
          <a:xfrm>
            <a:off x="557030" y="2004544"/>
            <a:ext cx="2417524" cy="2462213"/>
          </a:xfrm>
          <a:prstGeom prst="rect">
            <a:avLst/>
          </a:prstGeom>
          <a:noFill/>
        </p:spPr>
        <p:txBody>
          <a:bodyPr wrap="square">
            <a:spAutoFit/>
          </a:bodyPr>
          <a:lstStyle/>
          <a:p>
            <a:r>
              <a:rPr lang="en-IN" dirty="0">
                <a:solidFill>
                  <a:schemeClr val="tx1"/>
                </a:solidFill>
              </a:rPr>
              <a:t>struct </a:t>
            </a:r>
            <a:r>
              <a:rPr lang="en-IN" dirty="0" err="1">
                <a:solidFill>
                  <a:schemeClr val="tx1"/>
                </a:solidFill>
              </a:rPr>
              <a:t>StructOuter</a:t>
            </a:r>
            <a:endParaRPr lang="en-IN" dirty="0">
              <a:solidFill>
                <a:schemeClr val="tx1"/>
              </a:solidFill>
            </a:endParaRPr>
          </a:p>
          <a:p>
            <a:r>
              <a:rPr lang="en-IN" dirty="0">
                <a:solidFill>
                  <a:schemeClr val="tx1"/>
                </a:solidFill>
              </a:rPr>
              <a:t>{</a:t>
            </a:r>
          </a:p>
          <a:p>
            <a:r>
              <a:rPr lang="en-IN" dirty="0">
                <a:solidFill>
                  <a:schemeClr val="tx1"/>
                </a:solidFill>
              </a:rPr>
              <a:t>    structure member;</a:t>
            </a:r>
          </a:p>
          <a:p>
            <a:r>
              <a:rPr lang="en-IN" dirty="0">
                <a:solidFill>
                  <a:schemeClr val="tx1"/>
                </a:solidFill>
              </a:rPr>
              <a:t>    ….</a:t>
            </a:r>
          </a:p>
          <a:p>
            <a:r>
              <a:rPr lang="en-IN" dirty="0">
                <a:solidFill>
                  <a:schemeClr val="tx1"/>
                </a:solidFill>
              </a:rPr>
              <a:t>     </a:t>
            </a:r>
          </a:p>
          <a:p>
            <a:r>
              <a:rPr lang="en-IN" dirty="0">
                <a:solidFill>
                  <a:schemeClr val="tx1"/>
                </a:solidFill>
              </a:rPr>
              <a:t>    struct  </a:t>
            </a:r>
            <a:r>
              <a:rPr lang="en-IN" dirty="0" err="1">
                <a:solidFill>
                  <a:schemeClr val="tx1"/>
                </a:solidFill>
              </a:rPr>
              <a:t>StructInner</a:t>
            </a:r>
            <a:endParaRPr lang="en-IN" dirty="0">
              <a:solidFill>
                <a:schemeClr val="tx1"/>
              </a:solidFill>
            </a:endParaRPr>
          </a:p>
          <a:p>
            <a:r>
              <a:rPr lang="en-IN" dirty="0">
                <a:solidFill>
                  <a:schemeClr val="tx1"/>
                </a:solidFill>
              </a:rPr>
              <a:t>    {</a:t>
            </a:r>
          </a:p>
          <a:p>
            <a:r>
              <a:rPr lang="en-IN" dirty="0">
                <a:solidFill>
                  <a:schemeClr val="tx1"/>
                </a:solidFill>
              </a:rPr>
              <a:t>           structure member;</a:t>
            </a:r>
          </a:p>
          <a:p>
            <a:r>
              <a:rPr lang="en-IN" dirty="0">
                <a:solidFill>
                  <a:schemeClr val="tx1"/>
                </a:solidFill>
              </a:rPr>
              <a:t>          …. 		</a:t>
            </a:r>
          </a:p>
          <a:p>
            <a:r>
              <a:rPr lang="en-IN" dirty="0">
                <a:solidFill>
                  <a:schemeClr val="tx1"/>
                </a:solidFill>
              </a:rPr>
              <a:t>    };</a:t>
            </a:r>
          </a:p>
          <a:p>
            <a:r>
              <a:rPr lang="en-IN" dirty="0">
                <a:solidFill>
                  <a:schemeClr val="tx1"/>
                </a:solidFill>
              </a:rPr>
              <a:t>};</a:t>
            </a:r>
          </a:p>
        </p:txBody>
      </p:sp>
      <p:sp>
        <p:nvSpPr>
          <p:cNvPr id="11" name="TextBox 10">
            <a:extLst>
              <a:ext uri="{FF2B5EF4-FFF2-40B4-BE49-F238E27FC236}">
                <a16:creationId xmlns:a16="http://schemas.microsoft.com/office/drawing/2014/main" id="{73FCCEB2-3D29-A8D9-42F8-403DD8D29EA5}"/>
              </a:ext>
            </a:extLst>
          </p:cNvPr>
          <p:cNvSpPr txBox="1"/>
          <p:nvPr/>
        </p:nvSpPr>
        <p:spPr>
          <a:xfrm>
            <a:off x="557030" y="1609764"/>
            <a:ext cx="1244905" cy="307777"/>
          </a:xfrm>
          <a:prstGeom prst="rect">
            <a:avLst/>
          </a:prstGeom>
          <a:noFill/>
        </p:spPr>
        <p:txBody>
          <a:bodyPr wrap="square">
            <a:spAutoFit/>
          </a:bodyPr>
          <a:lstStyle/>
          <a:p>
            <a:r>
              <a:rPr lang="en-US" b="1" dirty="0">
                <a:solidFill>
                  <a:srgbClr val="FFFF00"/>
                </a:solidFill>
              </a:rPr>
              <a:t>Syntax</a:t>
            </a:r>
            <a:endParaRPr lang="en-IN" b="1" dirty="0">
              <a:solidFill>
                <a:srgbClr val="FFFF00"/>
              </a:solidFill>
            </a:endParaRPr>
          </a:p>
        </p:txBody>
      </p:sp>
      <p:sp>
        <p:nvSpPr>
          <p:cNvPr id="12" name="TextBox 11">
            <a:extLst>
              <a:ext uri="{FF2B5EF4-FFF2-40B4-BE49-F238E27FC236}">
                <a16:creationId xmlns:a16="http://schemas.microsoft.com/office/drawing/2014/main" id="{4A32AF5A-7165-9B4B-8E7C-AB360D1F6E69}"/>
              </a:ext>
            </a:extLst>
          </p:cNvPr>
          <p:cNvSpPr txBox="1"/>
          <p:nvPr/>
        </p:nvSpPr>
        <p:spPr>
          <a:xfrm>
            <a:off x="3339927" y="1557475"/>
            <a:ext cx="1244905" cy="307777"/>
          </a:xfrm>
          <a:prstGeom prst="rect">
            <a:avLst/>
          </a:prstGeom>
          <a:noFill/>
        </p:spPr>
        <p:txBody>
          <a:bodyPr wrap="square">
            <a:spAutoFit/>
          </a:bodyPr>
          <a:lstStyle/>
          <a:p>
            <a:r>
              <a:rPr lang="en-US" b="1" dirty="0">
                <a:solidFill>
                  <a:srgbClr val="FFFF00"/>
                </a:solidFill>
              </a:rPr>
              <a:t>Example</a:t>
            </a:r>
            <a:endParaRPr lang="en-IN" b="1" dirty="0">
              <a:solidFill>
                <a:srgbClr val="FFFF00"/>
              </a:solidFill>
            </a:endParaRPr>
          </a:p>
        </p:txBody>
      </p:sp>
      <p:sp>
        <p:nvSpPr>
          <p:cNvPr id="14" name="TextBox 13">
            <a:extLst>
              <a:ext uri="{FF2B5EF4-FFF2-40B4-BE49-F238E27FC236}">
                <a16:creationId xmlns:a16="http://schemas.microsoft.com/office/drawing/2014/main" id="{A2D80047-5ED8-4657-2DAD-0CFFB294C4B9}"/>
              </a:ext>
            </a:extLst>
          </p:cNvPr>
          <p:cNvSpPr txBox="1"/>
          <p:nvPr/>
        </p:nvSpPr>
        <p:spPr>
          <a:xfrm>
            <a:off x="3084723" y="4574478"/>
            <a:ext cx="4583016" cy="307777"/>
          </a:xfrm>
          <a:prstGeom prst="rect">
            <a:avLst/>
          </a:prstGeom>
          <a:noFill/>
        </p:spPr>
        <p:txBody>
          <a:bodyPr wrap="square">
            <a:spAutoFit/>
          </a:bodyPr>
          <a:lstStyle/>
          <a:p>
            <a:r>
              <a:rPr lang="en-IN" b="1" dirty="0">
                <a:solidFill>
                  <a:schemeClr val="tx1"/>
                </a:solidFill>
              </a:rPr>
              <a:t>struct Student Sample;</a:t>
            </a:r>
          </a:p>
        </p:txBody>
      </p:sp>
    </p:spTree>
    <p:extLst>
      <p:ext uri="{BB962C8B-B14F-4D97-AF65-F5344CB8AC3E}">
        <p14:creationId xmlns:p14="http://schemas.microsoft.com/office/powerpoint/2010/main" val="4273391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2618384" y="197843"/>
            <a:ext cx="6943469" cy="396300"/>
          </a:xfrm>
        </p:spPr>
        <p:txBody>
          <a:bodyPr/>
          <a:lstStyle/>
          <a:p>
            <a:pPr algn="ctr"/>
            <a:r>
              <a:rPr lang="en-IN" sz="2400" dirty="0"/>
              <a:t>Nested Structures Example </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44</a:t>
            </a:fld>
            <a:endParaRPr lang="en"/>
          </a:p>
        </p:txBody>
      </p:sp>
      <p:sp>
        <p:nvSpPr>
          <p:cNvPr id="4" name="TextBox 3">
            <a:extLst>
              <a:ext uri="{FF2B5EF4-FFF2-40B4-BE49-F238E27FC236}">
                <a16:creationId xmlns:a16="http://schemas.microsoft.com/office/drawing/2014/main" id="{4775CD04-DF83-217E-AD49-D6985266C889}"/>
              </a:ext>
            </a:extLst>
          </p:cNvPr>
          <p:cNvSpPr txBox="1"/>
          <p:nvPr/>
        </p:nvSpPr>
        <p:spPr>
          <a:xfrm>
            <a:off x="0" y="198150"/>
            <a:ext cx="2618384" cy="425353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solidFill>
                  <a:schemeClr val="tx1"/>
                </a:solidFill>
              </a:rPr>
              <a:t>#include &lt;</a:t>
            </a:r>
            <a:r>
              <a:rPr lang="en-US" dirty="0" err="1">
                <a:solidFill>
                  <a:schemeClr val="tx1"/>
                </a:solidFill>
              </a:rPr>
              <a:t>stdio.h</a:t>
            </a:r>
            <a:r>
              <a:rPr lang="en-US" dirty="0">
                <a:solidFill>
                  <a:schemeClr val="tx1"/>
                </a:solidFill>
              </a:rPr>
              <a:t>&gt;  </a:t>
            </a:r>
          </a:p>
          <a:p>
            <a:pPr marL="285750" indent="-285750" algn="just">
              <a:lnSpc>
                <a:spcPct val="150000"/>
              </a:lnSpc>
              <a:buFont typeface="Arial" panose="020B0604020202020204" pitchFamily="34" charset="0"/>
              <a:buChar char="•"/>
            </a:pPr>
            <a:r>
              <a:rPr lang="en-US" dirty="0">
                <a:solidFill>
                  <a:schemeClr val="tx1"/>
                </a:solidFill>
              </a:rPr>
              <a:t>#include &lt;</a:t>
            </a:r>
            <a:r>
              <a:rPr lang="en-US" dirty="0" err="1">
                <a:solidFill>
                  <a:schemeClr val="tx1"/>
                </a:solidFill>
              </a:rPr>
              <a:t>string.h</a:t>
            </a:r>
            <a:r>
              <a:rPr lang="en-US" dirty="0">
                <a:solidFill>
                  <a:schemeClr val="tx1"/>
                </a:solidFill>
              </a:rPr>
              <a:t>&gt;  </a:t>
            </a:r>
          </a:p>
          <a:p>
            <a:pPr marL="285750" indent="-285750" algn="just">
              <a:lnSpc>
                <a:spcPct val="150000"/>
              </a:lnSpc>
              <a:buFont typeface="Arial" panose="020B0604020202020204" pitchFamily="34" charset="0"/>
              <a:buChar char="•"/>
            </a:pPr>
            <a:r>
              <a:rPr lang="en-US" dirty="0">
                <a:solidFill>
                  <a:schemeClr val="tx1"/>
                </a:solidFill>
              </a:rPr>
              <a:t>struct Employee  </a:t>
            </a:r>
          </a:p>
          <a:p>
            <a:pPr marL="285750" indent="-285750" algn="just">
              <a:lnSpc>
                <a:spcPct val="150000"/>
              </a:lnSpc>
              <a:buFont typeface="Arial" panose="020B0604020202020204" pitchFamily="34" charset="0"/>
              <a:buChar char="•"/>
            </a:pPr>
            <a:r>
              <a:rPr lang="en-US" dirty="0">
                <a:solidFill>
                  <a:schemeClr val="tx1"/>
                </a:solidFill>
              </a:rPr>
              <a:t>{     </a:t>
            </a:r>
          </a:p>
          <a:p>
            <a:pPr marL="285750" indent="-285750" algn="just">
              <a:lnSpc>
                <a:spcPct val="150000"/>
              </a:lnSpc>
              <a:buFont typeface="Arial" panose="020B0604020202020204" pitchFamily="34" charset="0"/>
              <a:buChar char="•"/>
            </a:pPr>
            <a:r>
              <a:rPr lang="en-US" dirty="0">
                <a:solidFill>
                  <a:schemeClr val="tx1"/>
                </a:solidFill>
              </a:rPr>
              <a:t>          int id;  </a:t>
            </a:r>
          </a:p>
          <a:p>
            <a:pPr marL="285750" indent="-285750" algn="just">
              <a:lnSpc>
                <a:spcPct val="150000"/>
              </a:lnSpc>
              <a:buFont typeface="Arial" panose="020B0604020202020204" pitchFamily="34" charset="0"/>
              <a:buChar char="•"/>
            </a:pPr>
            <a:r>
              <a:rPr lang="en-US" dirty="0">
                <a:solidFill>
                  <a:schemeClr val="tx1"/>
                </a:solidFill>
              </a:rPr>
              <a:t>          char name[20];  </a:t>
            </a:r>
          </a:p>
          <a:p>
            <a:pPr marL="285750" indent="-285750" algn="just">
              <a:lnSpc>
                <a:spcPct val="150000"/>
              </a:lnSpc>
              <a:buFont typeface="Arial" panose="020B0604020202020204" pitchFamily="34" charset="0"/>
              <a:buChar char="•"/>
            </a:pPr>
            <a:r>
              <a:rPr lang="en-US" dirty="0">
                <a:solidFill>
                  <a:schemeClr val="tx1"/>
                </a:solidFill>
              </a:rPr>
              <a:t>      struct Date  </a:t>
            </a:r>
          </a:p>
          <a:p>
            <a:pPr marL="285750" indent="-285750" algn="just">
              <a:lnSpc>
                <a:spcPct val="150000"/>
              </a:lnSpc>
              <a:buFont typeface="Arial" panose="020B0604020202020204" pitchFamily="34" charset="0"/>
              <a:buChar char="•"/>
            </a:pPr>
            <a:r>
              <a:rPr lang="en-US" dirty="0">
                <a:solidFill>
                  <a:schemeClr val="tx1"/>
                </a:solidFill>
              </a:rPr>
              <a:t>      {  </a:t>
            </a:r>
          </a:p>
          <a:p>
            <a:pPr marL="285750" indent="-285750" algn="just">
              <a:lnSpc>
                <a:spcPct val="150000"/>
              </a:lnSpc>
              <a:buFont typeface="Arial" panose="020B0604020202020204" pitchFamily="34" charset="0"/>
              <a:buChar char="•"/>
            </a:pPr>
            <a:r>
              <a:rPr lang="en-US" dirty="0">
                <a:solidFill>
                  <a:schemeClr val="tx1"/>
                </a:solidFill>
              </a:rPr>
              <a:t>          int dd;  </a:t>
            </a:r>
          </a:p>
          <a:p>
            <a:pPr marL="285750" indent="-285750" algn="just">
              <a:lnSpc>
                <a:spcPct val="150000"/>
              </a:lnSpc>
              <a:buFont typeface="Arial" panose="020B0604020202020204" pitchFamily="34" charset="0"/>
              <a:buChar char="•"/>
            </a:pPr>
            <a:r>
              <a:rPr lang="en-US" dirty="0">
                <a:solidFill>
                  <a:schemeClr val="tx1"/>
                </a:solidFill>
              </a:rPr>
              <a:t>          int mm;  </a:t>
            </a:r>
          </a:p>
          <a:p>
            <a:pPr marL="285750" indent="-285750" algn="just">
              <a:lnSpc>
                <a:spcPct val="150000"/>
              </a:lnSpc>
              <a:buFont typeface="Arial" panose="020B0604020202020204" pitchFamily="34" charset="0"/>
              <a:buChar char="•"/>
            </a:pPr>
            <a:r>
              <a:rPr lang="en-US" dirty="0">
                <a:solidFill>
                  <a:schemeClr val="tx1"/>
                </a:solidFill>
              </a:rPr>
              <a:t>          int </a:t>
            </a:r>
            <a:r>
              <a:rPr lang="en-US" dirty="0" err="1">
                <a:solidFill>
                  <a:schemeClr val="tx1"/>
                </a:solidFill>
              </a:rPr>
              <a:t>yyyy</a:t>
            </a:r>
            <a:r>
              <a:rPr lang="en-US" dirty="0">
                <a:solidFill>
                  <a:schemeClr val="tx1"/>
                </a:solidFill>
              </a:rPr>
              <a:t>;   </a:t>
            </a:r>
          </a:p>
          <a:p>
            <a:pPr marL="285750" indent="-285750" algn="just">
              <a:lnSpc>
                <a:spcPct val="150000"/>
              </a:lnSpc>
              <a:buFont typeface="Arial" panose="020B0604020202020204" pitchFamily="34" charset="0"/>
              <a:buChar char="•"/>
            </a:pPr>
            <a:r>
              <a:rPr lang="en-US" dirty="0">
                <a:solidFill>
                  <a:schemeClr val="tx1"/>
                </a:solidFill>
              </a:rPr>
              <a:t>      }</a:t>
            </a:r>
            <a:r>
              <a:rPr lang="en-US" dirty="0" err="1">
                <a:solidFill>
                  <a:schemeClr val="tx1"/>
                </a:solidFill>
              </a:rPr>
              <a:t>doj</a:t>
            </a:r>
            <a:r>
              <a:rPr lang="en-US" dirty="0">
                <a:solidFill>
                  <a:schemeClr val="tx1"/>
                </a:solidFill>
              </a:rPr>
              <a:t>;  </a:t>
            </a:r>
          </a:p>
          <a:p>
            <a:pPr marL="285750" indent="-285750" algn="just">
              <a:lnSpc>
                <a:spcPct val="150000"/>
              </a:lnSpc>
              <a:buFont typeface="Arial" panose="020B0604020202020204" pitchFamily="34" charset="0"/>
              <a:buChar char="•"/>
            </a:pPr>
            <a:r>
              <a:rPr lang="en-US" dirty="0">
                <a:solidFill>
                  <a:schemeClr val="tx1"/>
                </a:solidFill>
              </a:rPr>
              <a:t>}e1;</a:t>
            </a:r>
          </a:p>
        </p:txBody>
      </p:sp>
      <p:sp>
        <p:nvSpPr>
          <p:cNvPr id="6" name="TextBox 5">
            <a:extLst>
              <a:ext uri="{FF2B5EF4-FFF2-40B4-BE49-F238E27FC236}">
                <a16:creationId xmlns:a16="http://schemas.microsoft.com/office/drawing/2014/main" id="{D33B8BA8-38DC-6A77-608E-349E7B4E1FAB}"/>
              </a:ext>
            </a:extLst>
          </p:cNvPr>
          <p:cNvSpPr txBox="1"/>
          <p:nvPr/>
        </p:nvSpPr>
        <p:spPr>
          <a:xfrm>
            <a:off x="2142781" y="296995"/>
            <a:ext cx="7419072" cy="3108543"/>
          </a:xfrm>
          <a:prstGeom prst="rect">
            <a:avLst/>
          </a:prstGeom>
          <a:noFill/>
        </p:spPr>
        <p:txBody>
          <a:bodyPr wrap="square">
            <a:spAutoFit/>
          </a:bodyPr>
          <a:lstStyle/>
          <a:p>
            <a:r>
              <a:rPr lang="en-IN" dirty="0">
                <a:solidFill>
                  <a:schemeClr val="tx1"/>
                </a:solidFill>
              </a:rPr>
              <a:t>int main( )  </a:t>
            </a:r>
          </a:p>
          <a:p>
            <a:r>
              <a:rPr lang="en-IN" dirty="0">
                <a:solidFill>
                  <a:schemeClr val="tx1"/>
                </a:solidFill>
              </a:rPr>
              <a:t>{  </a:t>
            </a:r>
          </a:p>
          <a:p>
            <a:r>
              <a:rPr lang="en-IN" dirty="0">
                <a:solidFill>
                  <a:schemeClr val="tx1"/>
                </a:solidFill>
              </a:rPr>
              <a:t> </a:t>
            </a:r>
          </a:p>
          <a:p>
            <a:r>
              <a:rPr lang="en-IN" dirty="0">
                <a:solidFill>
                  <a:schemeClr val="tx1"/>
                </a:solidFill>
              </a:rPr>
              <a:t>   e1.id=101;  </a:t>
            </a:r>
          </a:p>
          <a:p>
            <a:r>
              <a:rPr lang="en-IN" dirty="0">
                <a:solidFill>
                  <a:schemeClr val="tx1"/>
                </a:solidFill>
              </a:rPr>
              <a:t>   </a:t>
            </a:r>
            <a:r>
              <a:rPr lang="en-IN" dirty="0" err="1">
                <a:solidFill>
                  <a:schemeClr val="tx1"/>
                </a:solidFill>
              </a:rPr>
              <a:t>strcpy</a:t>
            </a:r>
            <a:r>
              <a:rPr lang="en-IN" dirty="0">
                <a:solidFill>
                  <a:schemeClr val="tx1"/>
                </a:solidFill>
              </a:rPr>
              <a:t>(e1.name, “Mani");   </a:t>
            </a:r>
          </a:p>
          <a:p>
            <a:r>
              <a:rPr lang="en-IN" dirty="0">
                <a:solidFill>
                  <a:schemeClr val="tx1"/>
                </a:solidFill>
              </a:rPr>
              <a:t>   e1.doj.dd=10;  </a:t>
            </a:r>
          </a:p>
          <a:p>
            <a:r>
              <a:rPr lang="en-IN" dirty="0">
                <a:solidFill>
                  <a:schemeClr val="tx1"/>
                </a:solidFill>
              </a:rPr>
              <a:t>   e1.doj.mm=11;  </a:t>
            </a:r>
          </a:p>
          <a:p>
            <a:r>
              <a:rPr lang="en-IN" dirty="0">
                <a:solidFill>
                  <a:schemeClr val="tx1"/>
                </a:solidFill>
              </a:rPr>
              <a:t>   e1.doj.yyyy=2014;  </a:t>
            </a:r>
          </a:p>
          <a:p>
            <a:r>
              <a:rPr lang="en-IN" dirty="0">
                <a:solidFill>
                  <a:schemeClr val="tx1"/>
                </a:solidFill>
              </a:rPr>
              <a:t>   </a:t>
            </a:r>
            <a:r>
              <a:rPr lang="en-IN" dirty="0" err="1">
                <a:solidFill>
                  <a:schemeClr val="tx1"/>
                </a:solidFill>
              </a:rPr>
              <a:t>printf</a:t>
            </a:r>
            <a:r>
              <a:rPr lang="en-IN" dirty="0">
                <a:solidFill>
                  <a:schemeClr val="tx1"/>
                </a:solidFill>
              </a:rPr>
              <a:t>( "employee id : %d\n", e1.id);  </a:t>
            </a:r>
          </a:p>
          <a:p>
            <a:r>
              <a:rPr lang="en-IN" dirty="0">
                <a:solidFill>
                  <a:schemeClr val="tx1"/>
                </a:solidFill>
              </a:rPr>
              <a:t>   </a:t>
            </a:r>
            <a:r>
              <a:rPr lang="en-IN" dirty="0" err="1">
                <a:solidFill>
                  <a:schemeClr val="tx1"/>
                </a:solidFill>
              </a:rPr>
              <a:t>printf</a:t>
            </a:r>
            <a:r>
              <a:rPr lang="en-IN" dirty="0">
                <a:solidFill>
                  <a:schemeClr val="tx1"/>
                </a:solidFill>
              </a:rPr>
              <a:t>( "employee name : %s\n", e1.name);  </a:t>
            </a:r>
          </a:p>
          <a:p>
            <a:r>
              <a:rPr lang="en-IN" dirty="0">
                <a:solidFill>
                  <a:schemeClr val="tx1"/>
                </a:solidFill>
              </a:rPr>
              <a:t>   </a:t>
            </a:r>
            <a:r>
              <a:rPr lang="en-IN" dirty="0" err="1">
                <a:solidFill>
                  <a:schemeClr val="tx1"/>
                </a:solidFill>
              </a:rPr>
              <a:t>printf</a:t>
            </a:r>
            <a:r>
              <a:rPr lang="en-IN" dirty="0">
                <a:solidFill>
                  <a:schemeClr val="tx1"/>
                </a:solidFill>
              </a:rPr>
              <a:t>( "employee date of joining (dd/mm/</a:t>
            </a:r>
            <a:r>
              <a:rPr lang="en-IN" dirty="0" err="1">
                <a:solidFill>
                  <a:schemeClr val="tx1"/>
                </a:solidFill>
              </a:rPr>
              <a:t>yyyy</a:t>
            </a:r>
            <a:r>
              <a:rPr lang="en-IN" dirty="0">
                <a:solidFill>
                  <a:schemeClr val="tx1"/>
                </a:solidFill>
              </a:rPr>
              <a:t>) : %d/%d/%d\n", e1.doj.dd, e1.doj.mm,  </a:t>
            </a:r>
          </a:p>
          <a:p>
            <a:r>
              <a:rPr lang="en-IN" dirty="0">
                <a:solidFill>
                  <a:schemeClr val="tx1"/>
                </a:solidFill>
              </a:rPr>
              <a:t>                                        e1.doj.yyyy);  </a:t>
            </a:r>
          </a:p>
          <a:p>
            <a:r>
              <a:rPr lang="en-IN" dirty="0">
                <a:solidFill>
                  <a:schemeClr val="tx1"/>
                </a:solidFill>
              </a:rPr>
              <a:t>   return 0;  </a:t>
            </a:r>
          </a:p>
          <a:p>
            <a:r>
              <a:rPr lang="en-IN" dirty="0">
                <a:solidFill>
                  <a:schemeClr val="tx1"/>
                </a:solidFill>
              </a:rPr>
              <a:t>}</a:t>
            </a:r>
          </a:p>
        </p:txBody>
      </p:sp>
      <p:sp>
        <p:nvSpPr>
          <p:cNvPr id="10" name="TextBox 9">
            <a:extLst>
              <a:ext uri="{FF2B5EF4-FFF2-40B4-BE49-F238E27FC236}">
                <a16:creationId xmlns:a16="http://schemas.microsoft.com/office/drawing/2014/main" id="{176786CB-CFDB-C109-464E-DC147A5F3CB4}"/>
              </a:ext>
            </a:extLst>
          </p:cNvPr>
          <p:cNvSpPr txBox="1"/>
          <p:nvPr/>
        </p:nvSpPr>
        <p:spPr>
          <a:xfrm>
            <a:off x="2142781" y="3713023"/>
            <a:ext cx="4858438" cy="954107"/>
          </a:xfrm>
          <a:prstGeom prst="rect">
            <a:avLst/>
          </a:prstGeom>
          <a:noFill/>
        </p:spPr>
        <p:txBody>
          <a:bodyPr wrap="square">
            <a:spAutoFit/>
          </a:bodyPr>
          <a:lstStyle/>
          <a:p>
            <a:r>
              <a:rPr lang="en-IN" b="1" dirty="0">
                <a:solidFill>
                  <a:srgbClr val="FFFF00"/>
                </a:solidFill>
              </a:rPr>
              <a:t>Output</a:t>
            </a:r>
          </a:p>
          <a:p>
            <a:r>
              <a:rPr lang="en-IN" dirty="0">
                <a:solidFill>
                  <a:srgbClr val="FFFF00"/>
                </a:solidFill>
              </a:rPr>
              <a:t>employee id : 101</a:t>
            </a:r>
          </a:p>
          <a:p>
            <a:r>
              <a:rPr lang="en-IN" dirty="0">
                <a:solidFill>
                  <a:srgbClr val="FFFF00"/>
                </a:solidFill>
              </a:rPr>
              <a:t>employee name : Mani</a:t>
            </a:r>
          </a:p>
          <a:p>
            <a:r>
              <a:rPr lang="en-IN" dirty="0">
                <a:solidFill>
                  <a:srgbClr val="FFFF00"/>
                </a:solidFill>
              </a:rPr>
              <a:t>employee date of joining (dd/mm/</a:t>
            </a:r>
            <a:r>
              <a:rPr lang="en-IN" dirty="0" err="1">
                <a:solidFill>
                  <a:srgbClr val="FFFF00"/>
                </a:solidFill>
              </a:rPr>
              <a:t>yyyy</a:t>
            </a:r>
            <a:r>
              <a:rPr lang="en-IN" dirty="0">
                <a:solidFill>
                  <a:srgbClr val="FFFF00"/>
                </a:solidFill>
              </a:rPr>
              <a:t>) : 10/11/2014</a:t>
            </a:r>
          </a:p>
        </p:txBody>
      </p:sp>
    </p:spTree>
    <p:extLst>
      <p:ext uri="{BB962C8B-B14F-4D97-AF65-F5344CB8AC3E}">
        <p14:creationId xmlns:p14="http://schemas.microsoft.com/office/powerpoint/2010/main" val="36501122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778567" y="21266"/>
            <a:ext cx="6943469" cy="396300"/>
          </a:xfrm>
        </p:spPr>
        <p:txBody>
          <a:bodyPr/>
          <a:lstStyle/>
          <a:p>
            <a:pPr algn="ctr"/>
            <a:r>
              <a:rPr lang="en-IN" sz="2400" dirty="0"/>
              <a:t>Unions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45</a:t>
            </a:fld>
            <a:endParaRPr lang="en"/>
          </a:p>
        </p:txBody>
      </p:sp>
      <p:sp>
        <p:nvSpPr>
          <p:cNvPr id="7" name="TextBox 6">
            <a:extLst>
              <a:ext uri="{FF2B5EF4-FFF2-40B4-BE49-F238E27FC236}">
                <a16:creationId xmlns:a16="http://schemas.microsoft.com/office/drawing/2014/main" id="{D176E17A-66C8-1318-C8A9-314CED20D008}"/>
              </a:ext>
            </a:extLst>
          </p:cNvPr>
          <p:cNvSpPr txBox="1"/>
          <p:nvPr/>
        </p:nvSpPr>
        <p:spPr>
          <a:xfrm>
            <a:off x="392582" y="541394"/>
            <a:ext cx="7715438" cy="166821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dirty="0">
                <a:solidFill>
                  <a:schemeClr val="tx1"/>
                </a:solidFill>
              </a:rPr>
              <a:t>A union is a special data type available in C that allows to store different data types in the same memory location. </a:t>
            </a:r>
          </a:p>
          <a:p>
            <a:pPr marL="285750" indent="-285750" algn="just">
              <a:lnSpc>
                <a:spcPct val="150000"/>
              </a:lnSpc>
              <a:buFont typeface="Arial" panose="020B0604020202020204" pitchFamily="34" charset="0"/>
              <a:buChar char="•"/>
            </a:pPr>
            <a:r>
              <a:rPr lang="en-IN" dirty="0">
                <a:solidFill>
                  <a:schemeClr val="tx1"/>
                </a:solidFill>
              </a:rPr>
              <a:t>Users can define a union with many members, but only one member can contain a value at any given time. </a:t>
            </a:r>
          </a:p>
          <a:p>
            <a:pPr marL="285750" indent="-285750" algn="just">
              <a:lnSpc>
                <a:spcPct val="150000"/>
              </a:lnSpc>
              <a:buFont typeface="Arial" panose="020B0604020202020204" pitchFamily="34" charset="0"/>
              <a:buChar char="•"/>
            </a:pPr>
            <a:r>
              <a:rPr lang="en-IN" dirty="0">
                <a:solidFill>
                  <a:schemeClr val="tx1"/>
                </a:solidFill>
              </a:rPr>
              <a:t>Unions provide an efficient way of using the same memory location for multiple-purpose </a:t>
            </a:r>
          </a:p>
        </p:txBody>
      </p:sp>
      <p:sp>
        <p:nvSpPr>
          <p:cNvPr id="8" name="TextBox 7">
            <a:extLst>
              <a:ext uri="{FF2B5EF4-FFF2-40B4-BE49-F238E27FC236}">
                <a16:creationId xmlns:a16="http://schemas.microsoft.com/office/drawing/2014/main" id="{7AC11E31-FD08-3441-5C31-6E327585F237}"/>
              </a:ext>
            </a:extLst>
          </p:cNvPr>
          <p:cNvSpPr txBox="1"/>
          <p:nvPr/>
        </p:nvSpPr>
        <p:spPr>
          <a:xfrm>
            <a:off x="655504" y="2333436"/>
            <a:ext cx="2969045" cy="2246769"/>
          </a:xfrm>
          <a:prstGeom prst="rect">
            <a:avLst/>
          </a:prstGeom>
          <a:noFill/>
        </p:spPr>
        <p:txBody>
          <a:bodyPr wrap="square">
            <a:spAutoFit/>
          </a:bodyPr>
          <a:lstStyle/>
          <a:p>
            <a:r>
              <a:rPr lang="en-IN" b="1" dirty="0">
                <a:solidFill>
                  <a:srgbClr val="FFFF00"/>
                </a:solidFill>
              </a:rPr>
              <a:t>Syntax</a:t>
            </a:r>
          </a:p>
          <a:p>
            <a:endParaRPr lang="en-IN" b="1" dirty="0">
              <a:solidFill>
                <a:srgbClr val="FFFF00"/>
              </a:solidFill>
            </a:endParaRPr>
          </a:p>
          <a:p>
            <a:r>
              <a:rPr lang="en-IN" dirty="0">
                <a:solidFill>
                  <a:schemeClr val="tx1"/>
                </a:solidFill>
              </a:rPr>
              <a:t>Union </a:t>
            </a:r>
            <a:r>
              <a:rPr lang="en-IN" dirty="0" err="1">
                <a:solidFill>
                  <a:schemeClr val="tx1"/>
                </a:solidFill>
              </a:rPr>
              <a:t>unionName</a:t>
            </a:r>
            <a:endParaRPr lang="en-IN" dirty="0">
              <a:solidFill>
                <a:schemeClr val="tx1"/>
              </a:solidFill>
            </a:endParaRPr>
          </a:p>
          <a:p>
            <a:r>
              <a:rPr lang="en-IN" dirty="0">
                <a:solidFill>
                  <a:schemeClr val="tx1"/>
                </a:solidFill>
              </a:rPr>
              <a:t>{</a:t>
            </a:r>
          </a:p>
          <a:p>
            <a:r>
              <a:rPr lang="en-IN" dirty="0">
                <a:solidFill>
                  <a:schemeClr val="tx1"/>
                </a:solidFill>
              </a:rPr>
              <a:t>	datatype member1;</a:t>
            </a:r>
          </a:p>
          <a:p>
            <a:r>
              <a:rPr lang="en-IN" dirty="0">
                <a:solidFill>
                  <a:schemeClr val="tx1"/>
                </a:solidFill>
              </a:rPr>
              <a:t>                   datatype member2;</a:t>
            </a:r>
          </a:p>
          <a:p>
            <a:r>
              <a:rPr lang="en-IN" dirty="0">
                <a:solidFill>
                  <a:schemeClr val="tx1"/>
                </a:solidFill>
              </a:rPr>
              <a:t>                    ……</a:t>
            </a:r>
          </a:p>
          <a:p>
            <a:r>
              <a:rPr lang="en-IN" dirty="0">
                <a:solidFill>
                  <a:schemeClr val="tx1"/>
                </a:solidFill>
              </a:rPr>
              <a:t>	datatype member1;</a:t>
            </a:r>
          </a:p>
          <a:p>
            <a:r>
              <a:rPr lang="en-IN" dirty="0">
                <a:solidFill>
                  <a:schemeClr val="tx1"/>
                </a:solidFill>
              </a:rPr>
              <a:t>	</a:t>
            </a:r>
          </a:p>
          <a:p>
            <a:r>
              <a:rPr lang="en-IN" dirty="0">
                <a:solidFill>
                  <a:schemeClr val="tx1"/>
                </a:solidFill>
              </a:rPr>
              <a:t>}</a:t>
            </a:r>
          </a:p>
        </p:txBody>
      </p:sp>
      <p:sp>
        <p:nvSpPr>
          <p:cNvPr id="9" name="TextBox 8">
            <a:extLst>
              <a:ext uri="{FF2B5EF4-FFF2-40B4-BE49-F238E27FC236}">
                <a16:creationId xmlns:a16="http://schemas.microsoft.com/office/drawing/2014/main" id="{4EB367A9-155A-FABB-B41E-E4E9BB86D1EE}"/>
              </a:ext>
            </a:extLst>
          </p:cNvPr>
          <p:cNvSpPr txBox="1"/>
          <p:nvPr/>
        </p:nvSpPr>
        <p:spPr>
          <a:xfrm>
            <a:off x="3760424" y="2443472"/>
            <a:ext cx="1869195" cy="1815882"/>
          </a:xfrm>
          <a:prstGeom prst="rect">
            <a:avLst/>
          </a:prstGeom>
          <a:noFill/>
        </p:spPr>
        <p:txBody>
          <a:bodyPr wrap="square">
            <a:spAutoFit/>
          </a:bodyPr>
          <a:lstStyle/>
          <a:p>
            <a:r>
              <a:rPr lang="en-IN" b="1" dirty="0">
                <a:solidFill>
                  <a:srgbClr val="FFFF00"/>
                </a:solidFill>
              </a:rPr>
              <a:t>Example</a:t>
            </a:r>
          </a:p>
          <a:p>
            <a:endParaRPr lang="en-IN" b="1" dirty="0">
              <a:solidFill>
                <a:srgbClr val="FFFF00"/>
              </a:solidFill>
            </a:endParaRPr>
          </a:p>
          <a:p>
            <a:r>
              <a:rPr lang="en-IN" dirty="0">
                <a:solidFill>
                  <a:schemeClr val="tx1"/>
                </a:solidFill>
              </a:rPr>
              <a:t>union Data </a:t>
            </a:r>
          </a:p>
          <a:p>
            <a:r>
              <a:rPr lang="en-IN" dirty="0">
                <a:solidFill>
                  <a:schemeClr val="tx1"/>
                </a:solidFill>
              </a:rPr>
              <a:t>{</a:t>
            </a:r>
          </a:p>
          <a:p>
            <a:r>
              <a:rPr lang="en-IN" dirty="0">
                <a:solidFill>
                  <a:schemeClr val="tx1"/>
                </a:solidFill>
              </a:rPr>
              <a:t>   int </a:t>
            </a:r>
            <a:r>
              <a:rPr lang="en-IN" dirty="0" err="1">
                <a:solidFill>
                  <a:schemeClr val="tx1"/>
                </a:solidFill>
              </a:rPr>
              <a:t>i</a:t>
            </a:r>
            <a:r>
              <a:rPr lang="en-IN" dirty="0">
                <a:solidFill>
                  <a:schemeClr val="tx1"/>
                </a:solidFill>
              </a:rPr>
              <a:t>;</a:t>
            </a:r>
          </a:p>
          <a:p>
            <a:r>
              <a:rPr lang="en-IN" dirty="0">
                <a:solidFill>
                  <a:schemeClr val="tx1"/>
                </a:solidFill>
              </a:rPr>
              <a:t>   float f;</a:t>
            </a:r>
          </a:p>
          <a:p>
            <a:r>
              <a:rPr lang="en-IN" dirty="0">
                <a:solidFill>
                  <a:schemeClr val="tx1"/>
                </a:solidFill>
              </a:rPr>
              <a:t>   char str[20];</a:t>
            </a:r>
          </a:p>
          <a:p>
            <a:r>
              <a:rPr lang="en-IN" dirty="0">
                <a:solidFill>
                  <a:schemeClr val="tx1"/>
                </a:solidFill>
              </a:rPr>
              <a:t>} data;</a:t>
            </a:r>
          </a:p>
        </p:txBody>
      </p:sp>
    </p:spTree>
    <p:extLst>
      <p:ext uri="{BB962C8B-B14F-4D97-AF65-F5344CB8AC3E}">
        <p14:creationId xmlns:p14="http://schemas.microsoft.com/office/powerpoint/2010/main" val="4736533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778567" y="21266"/>
            <a:ext cx="6943469" cy="396300"/>
          </a:xfrm>
        </p:spPr>
        <p:txBody>
          <a:bodyPr/>
          <a:lstStyle/>
          <a:p>
            <a:pPr algn="ctr"/>
            <a:r>
              <a:rPr lang="en-IN" sz="2400" dirty="0"/>
              <a:t>Unions - Example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46</a:t>
            </a:fld>
            <a:endParaRPr lang="en"/>
          </a:p>
        </p:txBody>
      </p:sp>
      <p:sp>
        <p:nvSpPr>
          <p:cNvPr id="7" name="TextBox 6">
            <a:extLst>
              <a:ext uri="{FF2B5EF4-FFF2-40B4-BE49-F238E27FC236}">
                <a16:creationId xmlns:a16="http://schemas.microsoft.com/office/drawing/2014/main" id="{D176E17A-66C8-1318-C8A9-314CED20D008}"/>
              </a:ext>
            </a:extLst>
          </p:cNvPr>
          <p:cNvSpPr txBox="1"/>
          <p:nvPr/>
        </p:nvSpPr>
        <p:spPr>
          <a:xfrm>
            <a:off x="392582" y="541394"/>
            <a:ext cx="5769679" cy="425353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dirty="0">
                <a:solidFill>
                  <a:schemeClr val="tx1"/>
                </a:solidFill>
              </a:rPr>
              <a:t>#include &lt;</a:t>
            </a:r>
            <a:r>
              <a:rPr lang="en-IN" dirty="0" err="1">
                <a:solidFill>
                  <a:schemeClr val="tx1"/>
                </a:solidFill>
              </a:rPr>
              <a:t>stdio.h</a:t>
            </a:r>
            <a:r>
              <a:rPr lang="en-IN" dirty="0">
                <a:solidFill>
                  <a:schemeClr val="tx1"/>
                </a:solidFill>
              </a:rPr>
              <a:t>&gt;</a:t>
            </a:r>
          </a:p>
          <a:p>
            <a:pPr marL="285750" indent="-285750" algn="just">
              <a:lnSpc>
                <a:spcPct val="150000"/>
              </a:lnSpc>
              <a:buFont typeface="Arial" panose="020B0604020202020204" pitchFamily="34" charset="0"/>
              <a:buChar char="•"/>
            </a:pPr>
            <a:r>
              <a:rPr lang="en-IN" dirty="0">
                <a:solidFill>
                  <a:schemeClr val="tx1"/>
                </a:solidFill>
              </a:rPr>
              <a:t>#include &lt;</a:t>
            </a:r>
            <a:r>
              <a:rPr lang="en-IN" dirty="0" err="1">
                <a:solidFill>
                  <a:schemeClr val="tx1"/>
                </a:solidFill>
              </a:rPr>
              <a:t>string.h</a:t>
            </a:r>
            <a:r>
              <a:rPr lang="en-IN" dirty="0">
                <a:solidFill>
                  <a:schemeClr val="tx1"/>
                </a:solidFill>
              </a:rPr>
              <a:t>&gt;</a:t>
            </a:r>
          </a:p>
          <a:p>
            <a:pPr marL="285750" indent="-285750" algn="just">
              <a:lnSpc>
                <a:spcPct val="150000"/>
              </a:lnSpc>
              <a:buFont typeface="Arial" panose="020B0604020202020204" pitchFamily="34" charset="0"/>
              <a:buChar char="•"/>
            </a:pPr>
            <a:r>
              <a:rPr lang="en-IN" dirty="0">
                <a:solidFill>
                  <a:schemeClr val="tx1"/>
                </a:solidFill>
              </a:rPr>
              <a:t>union Data </a:t>
            </a:r>
          </a:p>
          <a:p>
            <a:pPr marL="285750" indent="-285750" algn="just">
              <a:lnSpc>
                <a:spcPct val="150000"/>
              </a:lnSpc>
              <a:buFont typeface="Arial" panose="020B0604020202020204" pitchFamily="34" charset="0"/>
              <a:buChar char="•"/>
            </a:pPr>
            <a:r>
              <a:rPr lang="en-IN" dirty="0">
                <a:solidFill>
                  <a:schemeClr val="tx1"/>
                </a:solidFill>
              </a:rPr>
              <a:t>{</a:t>
            </a:r>
          </a:p>
          <a:p>
            <a:pPr marL="285750" indent="-285750" algn="just">
              <a:lnSpc>
                <a:spcPct val="150000"/>
              </a:lnSpc>
              <a:buFont typeface="Arial" panose="020B0604020202020204" pitchFamily="34" charset="0"/>
              <a:buChar char="•"/>
            </a:pPr>
            <a:r>
              <a:rPr lang="en-IN" dirty="0">
                <a:solidFill>
                  <a:schemeClr val="tx1"/>
                </a:solidFill>
              </a:rPr>
              <a:t>   int </a:t>
            </a:r>
            <a:r>
              <a:rPr lang="en-IN" dirty="0" err="1">
                <a:solidFill>
                  <a:schemeClr val="tx1"/>
                </a:solidFill>
              </a:rPr>
              <a:t>i</a:t>
            </a:r>
            <a:r>
              <a:rPr lang="en-IN" dirty="0">
                <a:solidFill>
                  <a:schemeClr val="tx1"/>
                </a:solidFill>
              </a:rPr>
              <a:t>;</a:t>
            </a:r>
          </a:p>
          <a:p>
            <a:pPr marL="285750" indent="-285750" algn="just">
              <a:lnSpc>
                <a:spcPct val="150000"/>
              </a:lnSpc>
              <a:buFont typeface="Arial" panose="020B0604020202020204" pitchFamily="34" charset="0"/>
              <a:buChar char="•"/>
            </a:pPr>
            <a:r>
              <a:rPr lang="en-IN" dirty="0">
                <a:solidFill>
                  <a:schemeClr val="tx1"/>
                </a:solidFill>
              </a:rPr>
              <a:t>   float f;</a:t>
            </a:r>
          </a:p>
          <a:p>
            <a:pPr marL="285750" indent="-285750" algn="just">
              <a:lnSpc>
                <a:spcPct val="150000"/>
              </a:lnSpc>
              <a:buFont typeface="Arial" panose="020B0604020202020204" pitchFamily="34" charset="0"/>
              <a:buChar char="•"/>
            </a:pPr>
            <a:r>
              <a:rPr lang="en-IN" dirty="0">
                <a:solidFill>
                  <a:schemeClr val="tx1"/>
                </a:solidFill>
              </a:rPr>
              <a:t>   char str[20];</a:t>
            </a:r>
          </a:p>
          <a:p>
            <a:pPr marL="285750" indent="-285750" algn="just">
              <a:lnSpc>
                <a:spcPct val="150000"/>
              </a:lnSpc>
              <a:buFont typeface="Arial" panose="020B0604020202020204" pitchFamily="34" charset="0"/>
              <a:buChar char="•"/>
            </a:pPr>
            <a:r>
              <a:rPr lang="en-IN" dirty="0">
                <a:solidFill>
                  <a:schemeClr val="tx1"/>
                </a:solidFill>
              </a:rPr>
              <a:t>};</a:t>
            </a:r>
          </a:p>
          <a:p>
            <a:pPr marL="285750" indent="-285750" algn="just">
              <a:lnSpc>
                <a:spcPct val="150000"/>
              </a:lnSpc>
              <a:buFont typeface="Arial" panose="020B0604020202020204" pitchFamily="34" charset="0"/>
              <a:buChar char="•"/>
            </a:pPr>
            <a:r>
              <a:rPr lang="en-IN" dirty="0">
                <a:solidFill>
                  <a:schemeClr val="tx1"/>
                </a:solidFill>
              </a:rPr>
              <a:t>void main( ) </a:t>
            </a:r>
          </a:p>
          <a:p>
            <a:pPr marL="285750" indent="-285750" algn="just">
              <a:lnSpc>
                <a:spcPct val="150000"/>
              </a:lnSpc>
              <a:buFont typeface="Arial" panose="020B0604020202020204" pitchFamily="34" charset="0"/>
              <a:buChar char="•"/>
            </a:pPr>
            <a:r>
              <a:rPr lang="en-IN" dirty="0">
                <a:solidFill>
                  <a:schemeClr val="tx1"/>
                </a:solidFill>
              </a:rPr>
              <a:t>{</a:t>
            </a:r>
          </a:p>
          <a:p>
            <a:pPr marL="285750" indent="-285750" algn="just">
              <a:lnSpc>
                <a:spcPct val="150000"/>
              </a:lnSpc>
              <a:buFont typeface="Arial" panose="020B0604020202020204" pitchFamily="34" charset="0"/>
              <a:buChar char="•"/>
            </a:pPr>
            <a:r>
              <a:rPr lang="en-IN" dirty="0">
                <a:solidFill>
                  <a:schemeClr val="tx1"/>
                </a:solidFill>
              </a:rPr>
              <a:t>   union Data </a:t>
            </a:r>
            <a:r>
              <a:rPr lang="en-IN" dirty="0" err="1">
                <a:solidFill>
                  <a:schemeClr val="tx1"/>
                </a:solidFill>
              </a:rPr>
              <a:t>data</a:t>
            </a:r>
            <a:r>
              <a:rPr lang="en-IN" dirty="0">
                <a:solidFill>
                  <a:schemeClr val="tx1"/>
                </a:solidFill>
              </a:rPr>
              <a:t>;        </a:t>
            </a:r>
          </a:p>
          <a:p>
            <a:pPr marL="285750" indent="-285750" algn="just">
              <a:lnSpc>
                <a:spcPct val="150000"/>
              </a:lnSpc>
              <a:buFont typeface="Arial" panose="020B0604020202020204" pitchFamily="34" charset="0"/>
              <a:buChar char="•"/>
            </a:pPr>
            <a:r>
              <a:rPr lang="en-IN" dirty="0">
                <a:solidFill>
                  <a:schemeClr val="tx1"/>
                </a:solidFill>
              </a:rPr>
              <a:t>   </a:t>
            </a:r>
            <a:r>
              <a:rPr lang="en-IN" dirty="0" err="1">
                <a:solidFill>
                  <a:schemeClr val="tx1"/>
                </a:solidFill>
              </a:rPr>
              <a:t>printf</a:t>
            </a:r>
            <a:r>
              <a:rPr lang="en-IN" dirty="0">
                <a:solidFill>
                  <a:schemeClr val="tx1"/>
                </a:solidFill>
              </a:rPr>
              <a:t>( "Memory size occupied by data : %d\n", </a:t>
            </a:r>
            <a:r>
              <a:rPr lang="en-IN" dirty="0" err="1">
                <a:solidFill>
                  <a:schemeClr val="tx1"/>
                </a:solidFill>
              </a:rPr>
              <a:t>sizeof</a:t>
            </a:r>
            <a:r>
              <a:rPr lang="en-IN" dirty="0">
                <a:solidFill>
                  <a:schemeClr val="tx1"/>
                </a:solidFill>
              </a:rPr>
              <a:t>(data));</a:t>
            </a:r>
          </a:p>
          <a:p>
            <a:pPr marL="285750" indent="-285750" algn="just">
              <a:lnSpc>
                <a:spcPct val="150000"/>
              </a:lnSpc>
              <a:buFont typeface="Arial" panose="020B0604020202020204" pitchFamily="34" charset="0"/>
              <a:buChar char="•"/>
            </a:pPr>
            <a:r>
              <a:rPr lang="en-IN" dirty="0">
                <a:solidFill>
                  <a:schemeClr val="tx1"/>
                </a:solidFill>
              </a:rPr>
              <a:t>}</a:t>
            </a:r>
          </a:p>
        </p:txBody>
      </p:sp>
      <p:sp>
        <p:nvSpPr>
          <p:cNvPr id="5" name="TextBox 4">
            <a:extLst>
              <a:ext uri="{FF2B5EF4-FFF2-40B4-BE49-F238E27FC236}">
                <a16:creationId xmlns:a16="http://schemas.microsoft.com/office/drawing/2014/main" id="{B0FD6EE8-BBD3-8741-11A9-47B3853A3F5C}"/>
              </a:ext>
            </a:extLst>
          </p:cNvPr>
          <p:cNvSpPr txBox="1"/>
          <p:nvPr/>
        </p:nvSpPr>
        <p:spPr>
          <a:xfrm>
            <a:off x="4164510" y="1466190"/>
            <a:ext cx="4586908" cy="523220"/>
          </a:xfrm>
          <a:prstGeom prst="rect">
            <a:avLst/>
          </a:prstGeom>
          <a:noFill/>
        </p:spPr>
        <p:txBody>
          <a:bodyPr wrap="square">
            <a:spAutoFit/>
          </a:bodyPr>
          <a:lstStyle/>
          <a:p>
            <a:r>
              <a:rPr lang="en-IN" b="1" dirty="0">
                <a:solidFill>
                  <a:srgbClr val="FFFF00"/>
                </a:solidFill>
              </a:rPr>
              <a:t>Output</a:t>
            </a:r>
          </a:p>
          <a:p>
            <a:r>
              <a:rPr lang="en-IN" dirty="0">
                <a:solidFill>
                  <a:schemeClr val="tx1"/>
                </a:solidFill>
              </a:rPr>
              <a:t>Memory size occupied by data : 20</a:t>
            </a:r>
          </a:p>
        </p:txBody>
      </p:sp>
    </p:spTree>
    <p:extLst>
      <p:ext uri="{BB962C8B-B14F-4D97-AF65-F5344CB8AC3E}">
        <p14:creationId xmlns:p14="http://schemas.microsoft.com/office/powerpoint/2010/main" val="2626313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86071" y="0"/>
            <a:ext cx="6943469" cy="396300"/>
          </a:xfrm>
        </p:spPr>
        <p:txBody>
          <a:bodyPr/>
          <a:lstStyle/>
          <a:p>
            <a:pPr algn="ctr"/>
            <a:r>
              <a:rPr lang="en-IN" sz="2400" dirty="0"/>
              <a:t>Unions - Example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47</a:t>
            </a:fld>
            <a:endParaRPr lang="en"/>
          </a:p>
        </p:txBody>
      </p:sp>
      <p:sp>
        <p:nvSpPr>
          <p:cNvPr id="5" name="TextBox 4">
            <a:extLst>
              <a:ext uri="{FF2B5EF4-FFF2-40B4-BE49-F238E27FC236}">
                <a16:creationId xmlns:a16="http://schemas.microsoft.com/office/drawing/2014/main" id="{B0FD6EE8-BBD3-8741-11A9-47B3853A3F5C}"/>
              </a:ext>
            </a:extLst>
          </p:cNvPr>
          <p:cNvSpPr txBox="1"/>
          <p:nvPr/>
        </p:nvSpPr>
        <p:spPr>
          <a:xfrm>
            <a:off x="4164510" y="1466190"/>
            <a:ext cx="4586908" cy="523220"/>
          </a:xfrm>
          <a:prstGeom prst="rect">
            <a:avLst/>
          </a:prstGeom>
          <a:noFill/>
        </p:spPr>
        <p:txBody>
          <a:bodyPr wrap="square">
            <a:spAutoFit/>
          </a:bodyPr>
          <a:lstStyle/>
          <a:p>
            <a:r>
              <a:rPr lang="en-IN" b="1" dirty="0">
                <a:solidFill>
                  <a:srgbClr val="FFFF00"/>
                </a:solidFill>
              </a:rPr>
              <a:t>Output</a:t>
            </a:r>
          </a:p>
          <a:p>
            <a:endParaRPr lang="en-IN" dirty="0">
              <a:solidFill>
                <a:schemeClr val="tx1"/>
              </a:solidFill>
            </a:endParaRPr>
          </a:p>
        </p:txBody>
      </p:sp>
      <p:pic>
        <p:nvPicPr>
          <p:cNvPr id="6" name="Picture 5">
            <a:extLst>
              <a:ext uri="{FF2B5EF4-FFF2-40B4-BE49-F238E27FC236}">
                <a16:creationId xmlns:a16="http://schemas.microsoft.com/office/drawing/2014/main" id="{6D15F703-D84F-410E-0D3E-E2C6B8C970A6}"/>
              </a:ext>
            </a:extLst>
          </p:cNvPr>
          <p:cNvPicPr>
            <a:picLocks noChangeAspect="1"/>
          </p:cNvPicPr>
          <p:nvPr/>
        </p:nvPicPr>
        <p:blipFill>
          <a:blip r:embed="rId2"/>
          <a:stretch>
            <a:fillRect/>
          </a:stretch>
        </p:blipFill>
        <p:spPr>
          <a:xfrm>
            <a:off x="190916" y="174626"/>
            <a:ext cx="3028950" cy="4695825"/>
          </a:xfrm>
          <a:prstGeom prst="rect">
            <a:avLst/>
          </a:prstGeom>
        </p:spPr>
      </p:pic>
      <p:pic>
        <p:nvPicPr>
          <p:cNvPr id="9" name="Picture 8">
            <a:extLst>
              <a:ext uri="{FF2B5EF4-FFF2-40B4-BE49-F238E27FC236}">
                <a16:creationId xmlns:a16="http://schemas.microsoft.com/office/drawing/2014/main" id="{E5E5C047-31BC-107A-CC32-CB20B2E9B80F}"/>
              </a:ext>
            </a:extLst>
          </p:cNvPr>
          <p:cNvPicPr>
            <a:picLocks noChangeAspect="1"/>
          </p:cNvPicPr>
          <p:nvPr/>
        </p:nvPicPr>
        <p:blipFill>
          <a:blip r:embed="rId3"/>
          <a:stretch>
            <a:fillRect/>
          </a:stretch>
        </p:blipFill>
        <p:spPr>
          <a:xfrm>
            <a:off x="4164510" y="1989410"/>
            <a:ext cx="1838325" cy="695325"/>
          </a:xfrm>
          <a:prstGeom prst="rect">
            <a:avLst/>
          </a:prstGeom>
        </p:spPr>
      </p:pic>
    </p:spTree>
    <p:extLst>
      <p:ext uri="{BB962C8B-B14F-4D97-AF65-F5344CB8AC3E}">
        <p14:creationId xmlns:p14="http://schemas.microsoft.com/office/powerpoint/2010/main" val="36933155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86071" y="0"/>
            <a:ext cx="6943469" cy="396300"/>
          </a:xfrm>
        </p:spPr>
        <p:txBody>
          <a:bodyPr/>
          <a:lstStyle/>
          <a:p>
            <a:pPr algn="ctr"/>
            <a:r>
              <a:rPr lang="en-IN" sz="2400" dirty="0"/>
              <a:t>Structure vs. Union</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48</a:t>
            </a:fld>
            <a:endParaRPr lang="en"/>
          </a:p>
        </p:txBody>
      </p:sp>
      <p:grpSp>
        <p:nvGrpSpPr>
          <p:cNvPr id="11" name="Group 10">
            <a:extLst>
              <a:ext uri="{FF2B5EF4-FFF2-40B4-BE49-F238E27FC236}">
                <a16:creationId xmlns:a16="http://schemas.microsoft.com/office/drawing/2014/main" id="{6CAFDC4C-AF97-4663-109B-6DDCE7F9A745}"/>
              </a:ext>
            </a:extLst>
          </p:cNvPr>
          <p:cNvGrpSpPr/>
          <p:nvPr/>
        </p:nvGrpSpPr>
        <p:grpSpPr>
          <a:xfrm>
            <a:off x="88832" y="636726"/>
            <a:ext cx="6023734" cy="3502171"/>
            <a:chOff x="88832" y="636726"/>
            <a:chExt cx="6023734" cy="3502171"/>
          </a:xfrm>
        </p:grpSpPr>
        <p:pic>
          <p:nvPicPr>
            <p:cNvPr id="7" name="Picture 6">
              <a:extLst>
                <a:ext uri="{FF2B5EF4-FFF2-40B4-BE49-F238E27FC236}">
                  <a16:creationId xmlns:a16="http://schemas.microsoft.com/office/drawing/2014/main" id="{0CEE46F3-AA2A-D895-2C18-72B1D511CE6E}"/>
                </a:ext>
              </a:extLst>
            </p:cNvPr>
            <p:cNvPicPr>
              <a:picLocks noChangeAspect="1"/>
            </p:cNvPicPr>
            <p:nvPr/>
          </p:nvPicPr>
          <p:blipFill>
            <a:blip r:embed="rId2"/>
            <a:stretch>
              <a:fillRect/>
            </a:stretch>
          </p:blipFill>
          <p:spPr>
            <a:xfrm>
              <a:off x="88832" y="636726"/>
              <a:ext cx="6023734" cy="3502171"/>
            </a:xfrm>
            <a:prstGeom prst="rect">
              <a:avLst/>
            </a:prstGeom>
          </p:spPr>
        </p:pic>
        <p:pic>
          <p:nvPicPr>
            <p:cNvPr id="10" name="Picture 9">
              <a:extLst>
                <a:ext uri="{FF2B5EF4-FFF2-40B4-BE49-F238E27FC236}">
                  <a16:creationId xmlns:a16="http://schemas.microsoft.com/office/drawing/2014/main" id="{9D6E52BD-611B-301A-420B-53708C801B79}"/>
                </a:ext>
              </a:extLst>
            </p:cNvPr>
            <p:cNvPicPr>
              <a:picLocks noChangeAspect="1"/>
            </p:cNvPicPr>
            <p:nvPr/>
          </p:nvPicPr>
          <p:blipFill>
            <a:blip r:embed="rId3"/>
            <a:stretch>
              <a:fillRect/>
            </a:stretch>
          </p:blipFill>
          <p:spPr>
            <a:xfrm>
              <a:off x="5725562" y="3957922"/>
              <a:ext cx="383854" cy="180975"/>
            </a:xfrm>
            <a:prstGeom prst="rect">
              <a:avLst/>
            </a:prstGeom>
          </p:spPr>
        </p:pic>
      </p:grpSp>
    </p:spTree>
    <p:extLst>
      <p:ext uri="{BB962C8B-B14F-4D97-AF65-F5344CB8AC3E}">
        <p14:creationId xmlns:p14="http://schemas.microsoft.com/office/powerpoint/2010/main" val="27190315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86071" y="0"/>
            <a:ext cx="6943469" cy="396300"/>
          </a:xfrm>
        </p:spPr>
        <p:txBody>
          <a:bodyPr/>
          <a:lstStyle/>
          <a:p>
            <a:pPr algn="ctr"/>
            <a:r>
              <a:rPr lang="en-IN" sz="2400" dirty="0"/>
              <a:t>Structure vs. Union</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49</a:t>
            </a:fld>
            <a:endParaRPr lang="en"/>
          </a:p>
        </p:txBody>
      </p:sp>
      <p:pic>
        <p:nvPicPr>
          <p:cNvPr id="1026" name="Picture 2" descr="Difference between Structure and Union in C - GeeksforGeeks">
            <a:extLst>
              <a:ext uri="{FF2B5EF4-FFF2-40B4-BE49-F238E27FC236}">
                <a16:creationId xmlns:a16="http://schemas.microsoft.com/office/drawing/2014/main" id="{72C191F4-EBA4-1D67-9EAE-4E300FFD80F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07468" y="540026"/>
            <a:ext cx="6118540" cy="2630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67033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86071" y="0"/>
            <a:ext cx="6943469" cy="396300"/>
          </a:xfrm>
        </p:spPr>
        <p:txBody>
          <a:bodyPr/>
          <a:lstStyle/>
          <a:p>
            <a:pPr algn="ctr"/>
            <a:r>
              <a:rPr lang="en-IN" sz="2400" dirty="0"/>
              <a:t>Enumerated Data Type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50</a:t>
            </a:fld>
            <a:endParaRPr lang="en"/>
          </a:p>
        </p:txBody>
      </p:sp>
      <p:pic>
        <p:nvPicPr>
          <p:cNvPr id="6" name="Picture 5">
            <a:extLst>
              <a:ext uri="{FF2B5EF4-FFF2-40B4-BE49-F238E27FC236}">
                <a16:creationId xmlns:a16="http://schemas.microsoft.com/office/drawing/2014/main" id="{39631332-965E-9400-5C85-FF93A7247274}"/>
              </a:ext>
            </a:extLst>
          </p:cNvPr>
          <p:cNvPicPr>
            <a:picLocks noChangeAspect="1"/>
          </p:cNvPicPr>
          <p:nvPr/>
        </p:nvPicPr>
        <p:blipFill>
          <a:blip r:embed="rId2"/>
          <a:stretch>
            <a:fillRect/>
          </a:stretch>
        </p:blipFill>
        <p:spPr>
          <a:xfrm>
            <a:off x="165237" y="1785082"/>
            <a:ext cx="5887693" cy="2925841"/>
          </a:xfrm>
          <a:prstGeom prst="rect">
            <a:avLst/>
          </a:prstGeom>
        </p:spPr>
      </p:pic>
      <p:sp>
        <p:nvSpPr>
          <p:cNvPr id="5" name="TextBox 4">
            <a:extLst>
              <a:ext uri="{FF2B5EF4-FFF2-40B4-BE49-F238E27FC236}">
                <a16:creationId xmlns:a16="http://schemas.microsoft.com/office/drawing/2014/main" id="{12D5275A-820A-1916-9DB5-3361BEC8E91F}"/>
              </a:ext>
            </a:extLst>
          </p:cNvPr>
          <p:cNvSpPr txBox="1"/>
          <p:nvPr/>
        </p:nvSpPr>
        <p:spPr>
          <a:xfrm>
            <a:off x="379009" y="557532"/>
            <a:ext cx="8208399" cy="1169551"/>
          </a:xfrm>
          <a:prstGeom prst="rect">
            <a:avLst/>
          </a:prstGeom>
          <a:noFill/>
        </p:spPr>
        <p:txBody>
          <a:bodyPr wrap="square">
            <a:spAutoFit/>
          </a:bodyPr>
          <a:lstStyle/>
          <a:p>
            <a:pPr marL="285750" indent="-285750">
              <a:buFont typeface="Arial" panose="020B0604020202020204" pitchFamily="34" charset="0"/>
              <a:buChar char="•"/>
            </a:pPr>
            <a:r>
              <a:rPr lang="en-IN" dirty="0">
                <a:solidFill>
                  <a:schemeClr val="tx1"/>
                </a:solidFill>
              </a:rPr>
              <a:t>The </a:t>
            </a:r>
            <a:r>
              <a:rPr lang="en-IN" b="1" dirty="0" err="1">
                <a:solidFill>
                  <a:schemeClr val="tx1"/>
                </a:solidFill>
              </a:rPr>
              <a:t>enum</a:t>
            </a:r>
            <a:r>
              <a:rPr lang="en-IN" dirty="0">
                <a:solidFill>
                  <a:schemeClr val="tx1"/>
                </a:solidFill>
              </a:rPr>
              <a:t> is used when we want our variable to have only a set of values</a:t>
            </a:r>
          </a:p>
          <a:p>
            <a:pPr marL="285750" indent="-285750">
              <a:buFont typeface="Arial" panose="020B0604020202020204" pitchFamily="34" charset="0"/>
              <a:buChar char="•"/>
            </a:pPr>
            <a:r>
              <a:rPr lang="en-US" dirty="0">
                <a:solidFill>
                  <a:schemeClr val="tx1"/>
                </a:solidFill>
              </a:rPr>
              <a:t>The values assigned to the </a:t>
            </a:r>
            <a:r>
              <a:rPr lang="en-US" dirty="0" err="1">
                <a:solidFill>
                  <a:schemeClr val="tx1"/>
                </a:solidFill>
              </a:rPr>
              <a:t>enum</a:t>
            </a:r>
            <a:r>
              <a:rPr lang="en-US" dirty="0">
                <a:solidFill>
                  <a:schemeClr val="tx1"/>
                </a:solidFill>
              </a:rPr>
              <a:t> names must be integral constant, i.e., it should not be of other types such string, float, </a:t>
            </a:r>
            <a:r>
              <a:rPr lang="en-US" dirty="0" err="1">
                <a:solidFill>
                  <a:schemeClr val="tx1"/>
                </a:solidFill>
              </a:rPr>
              <a:t>etc</a:t>
            </a:r>
            <a:endParaRPr lang="en-US" dirty="0">
              <a:solidFill>
                <a:schemeClr val="tx1"/>
              </a:solidFill>
            </a:endParaRPr>
          </a:p>
          <a:p>
            <a:pPr marL="285750" indent="-285750">
              <a:buFont typeface="Arial" panose="020B0604020202020204" pitchFamily="34" charset="0"/>
              <a:buChar char="•"/>
            </a:pPr>
            <a:r>
              <a:rPr lang="en-US" dirty="0" err="1">
                <a:solidFill>
                  <a:schemeClr val="tx1"/>
                </a:solidFill>
              </a:rPr>
              <a:t>enum</a:t>
            </a:r>
            <a:r>
              <a:rPr lang="en-US" dirty="0">
                <a:solidFill>
                  <a:schemeClr val="tx1"/>
                </a:solidFill>
              </a:rPr>
              <a:t> names starting from 0, if users did not set values for indexing</a:t>
            </a:r>
            <a:endParaRPr lang="en-IN" dirty="0">
              <a:solidFill>
                <a:schemeClr val="tx1"/>
              </a:solidFill>
            </a:endParaRPr>
          </a:p>
          <a:p>
            <a:pPr marL="285750" indent="-285750">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30628216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86071" y="0"/>
            <a:ext cx="6943469" cy="396300"/>
          </a:xfrm>
        </p:spPr>
        <p:txBody>
          <a:bodyPr/>
          <a:lstStyle/>
          <a:p>
            <a:pPr algn="ctr"/>
            <a:r>
              <a:rPr lang="en-IN" sz="2400" dirty="0"/>
              <a:t>Enumerated Data Type - Example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51</a:t>
            </a:fld>
            <a:endParaRPr lang="en"/>
          </a:p>
        </p:txBody>
      </p:sp>
      <p:sp>
        <p:nvSpPr>
          <p:cNvPr id="6" name="TextBox 5">
            <a:extLst>
              <a:ext uri="{FF2B5EF4-FFF2-40B4-BE49-F238E27FC236}">
                <a16:creationId xmlns:a16="http://schemas.microsoft.com/office/drawing/2014/main" id="{86C5C9EA-819C-C806-E3F0-C293C9CFAE91}"/>
              </a:ext>
            </a:extLst>
          </p:cNvPr>
          <p:cNvSpPr txBox="1"/>
          <p:nvPr/>
        </p:nvSpPr>
        <p:spPr>
          <a:xfrm>
            <a:off x="385141" y="468586"/>
            <a:ext cx="4586908" cy="2893100"/>
          </a:xfrm>
          <a:prstGeom prst="rect">
            <a:avLst/>
          </a:prstGeom>
          <a:noFill/>
        </p:spPr>
        <p:txBody>
          <a:bodyPr wrap="square">
            <a:spAutoFit/>
          </a:bodyPr>
          <a:lstStyle/>
          <a:p>
            <a:r>
              <a:rPr lang="en-IN" dirty="0">
                <a:solidFill>
                  <a:schemeClr val="tx1"/>
                </a:solidFill>
              </a:rPr>
              <a:t>#include &lt;</a:t>
            </a:r>
            <a:r>
              <a:rPr lang="en-IN" dirty="0" err="1">
                <a:solidFill>
                  <a:schemeClr val="tx1"/>
                </a:solidFill>
              </a:rPr>
              <a:t>stdio.h</a:t>
            </a:r>
            <a:r>
              <a:rPr lang="en-IN" dirty="0">
                <a:solidFill>
                  <a:schemeClr val="tx1"/>
                </a:solidFill>
              </a:rPr>
              <a:t>&gt;</a:t>
            </a:r>
          </a:p>
          <a:p>
            <a:r>
              <a:rPr lang="en-IN" dirty="0">
                <a:solidFill>
                  <a:schemeClr val="tx1"/>
                </a:solidFill>
              </a:rPr>
              <a:t>void main()</a:t>
            </a:r>
          </a:p>
          <a:p>
            <a:r>
              <a:rPr lang="en-IN" dirty="0">
                <a:solidFill>
                  <a:schemeClr val="tx1"/>
                </a:solidFill>
              </a:rPr>
              <a:t>{</a:t>
            </a:r>
          </a:p>
          <a:p>
            <a:r>
              <a:rPr lang="en-IN" dirty="0">
                <a:solidFill>
                  <a:schemeClr val="tx1"/>
                </a:solidFill>
              </a:rPr>
              <a:t>    </a:t>
            </a:r>
            <a:r>
              <a:rPr lang="en-IN" b="1" dirty="0" err="1">
                <a:solidFill>
                  <a:srgbClr val="FFFF00"/>
                </a:solidFill>
              </a:rPr>
              <a:t>enum</a:t>
            </a:r>
            <a:r>
              <a:rPr lang="en-IN" b="1" dirty="0">
                <a:solidFill>
                  <a:srgbClr val="FFFF00"/>
                </a:solidFill>
              </a:rPr>
              <a:t> week{Sun, Mon, Tue, Wed, Thu, Fri, Sat};</a:t>
            </a:r>
          </a:p>
          <a:p>
            <a:r>
              <a:rPr lang="en-IN" dirty="0">
                <a:solidFill>
                  <a:schemeClr val="tx1"/>
                </a:solidFill>
              </a:rPr>
              <a:t>    </a:t>
            </a:r>
            <a:r>
              <a:rPr lang="en-IN" dirty="0" err="1">
                <a:solidFill>
                  <a:schemeClr val="tx1"/>
                </a:solidFill>
              </a:rPr>
              <a:t>printf</a:t>
            </a:r>
            <a:r>
              <a:rPr lang="en-IN" dirty="0">
                <a:solidFill>
                  <a:schemeClr val="tx1"/>
                </a:solidFill>
              </a:rPr>
              <a:t>("Sun = %d", Sun);</a:t>
            </a:r>
          </a:p>
          <a:p>
            <a:r>
              <a:rPr lang="en-IN" dirty="0">
                <a:solidFill>
                  <a:schemeClr val="tx1"/>
                </a:solidFill>
              </a:rPr>
              <a:t>    </a:t>
            </a:r>
            <a:r>
              <a:rPr lang="en-IN" dirty="0" err="1">
                <a:solidFill>
                  <a:schemeClr val="tx1"/>
                </a:solidFill>
              </a:rPr>
              <a:t>printf</a:t>
            </a:r>
            <a:r>
              <a:rPr lang="en-IN" dirty="0">
                <a:solidFill>
                  <a:schemeClr val="tx1"/>
                </a:solidFill>
              </a:rPr>
              <a:t>("\</a:t>
            </a:r>
            <a:r>
              <a:rPr lang="en-IN" dirty="0" err="1">
                <a:solidFill>
                  <a:schemeClr val="tx1"/>
                </a:solidFill>
              </a:rPr>
              <a:t>nMon</a:t>
            </a:r>
            <a:r>
              <a:rPr lang="en-IN" dirty="0">
                <a:solidFill>
                  <a:schemeClr val="tx1"/>
                </a:solidFill>
              </a:rPr>
              <a:t> = %d", Mon);</a:t>
            </a:r>
          </a:p>
          <a:p>
            <a:r>
              <a:rPr lang="en-IN" dirty="0">
                <a:solidFill>
                  <a:schemeClr val="tx1"/>
                </a:solidFill>
              </a:rPr>
              <a:t>    </a:t>
            </a:r>
            <a:r>
              <a:rPr lang="en-IN" dirty="0" err="1">
                <a:solidFill>
                  <a:schemeClr val="tx1"/>
                </a:solidFill>
              </a:rPr>
              <a:t>printf</a:t>
            </a:r>
            <a:r>
              <a:rPr lang="en-IN" dirty="0">
                <a:solidFill>
                  <a:schemeClr val="tx1"/>
                </a:solidFill>
              </a:rPr>
              <a:t>("\</a:t>
            </a:r>
            <a:r>
              <a:rPr lang="en-IN" dirty="0" err="1">
                <a:solidFill>
                  <a:schemeClr val="tx1"/>
                </a:solidFill>
              </a:rPr>
              <a:t>nTue</a:t>
            </a:r>
            <a:r>
              <a:rPr lang="en-IN" dirty="0">
                <a:solidFill>
                  <a:schemeClr val="tx1"/>
                </a:solidFill>
              </a:rPr>
              <a:t> = %d", Tue);</a:t>
            </a:r>
          </a:p>
          <a:p>
            <a:r>
              <a:rPr lang="en-IN" dirty="0">
                <a:solidFill>
                  <a:schemeClr val="tx1"/>
                </a:solidFill>
              </a:rPr>
              <a:t>    </a:t>
            </a:r>
            <a:r>
              <a:rPr lang="en-IN" dirty="0" err="1">
                <a:solidFill>
                  <a:schemeClr val="tx1"/>
                </a:solidFill>
              </a:rPr>
              <a:t>printf</a:t>
            </a:r>
            <a:r>
              <a:rPr lang="en-IN" dirty="0">
                <a:solidFill>
                  <a:schemeClr val="tx1"/>
                </a:solidFill>
              </a:rPr>
              <a:t>("\</a:t>
            </a:r>
            <a:r>
              <a:rPr lang="en-IN" dirty="0" err="1">
                <a:solidFill>
                  <a:schemeClr val="tx1"/>
                </a:solidFill>
              </a:rPr>
              <a:t>nWed</a:t>
            </a:r>
            <a:r>
              <a:rPr lang="en-IN" dirty="0">
                <a:solidFill>
                  <a:schemeClr val="tx1"/>
                </a:solidFill>
              </a:rPr>
              <a:t> = %d", Wed);</a:t>
            </a:r>
          </a:p>
          <a:p>
            <a:r>
              <a:rPr lang="en-IN" dirty="0">
                <a:solidFill>
                  <a:schemeClr val="tx1"/>
                </a:solidFill>
              </a:rPr>
              <a:t>    </a:t>
            </a:r>
            <a:r>
              <a:rPr lang="en-IN" dirty="0" err="1">
                <a:solidFill>
                  <a:schemeClr val="tx1"/>
                </a:solidFill>
              </a:rPr>
              <a:t>printf</a:t>
            </a:r>
            <a:r>
              <a:rPr lang="en-IN" dirty="0">
                <a:solidFill>
                  <a:schemeClr val="tx1"/>
                </a:solidFill>
              </a:rPr>
              <a:t>("\</a:t>
            </a:r>
            <a:r>
              <a:rPr lang="en-IN" dirty="0" err="1">
                <a:solidFill>
                  <a:schemeClr val="tx1"/>
                </a:solidFill>
              </a:rPr>
              <a:t>nThu</a:t>
            </a:r>
            <a:r>
              <a:rPr lang="en-IN" dirty="0">
                <a:solidFill>
                  <a:schemeClr val="tx1"/>
                </a:solidFill>
              </a:rPr>
              <a:t> = %d", Thu);</a:t>
            </a:r>
          </a:p>
          <a:p>
            <a:r>
              <a:rPr lang="en-IN" dirty="0">
                <a:solidFill>
                  <a:schemeClr val="tx1"/>
                </a:solidFill>
              </a:rPr>
              <a:t>    </a:t>
            </a:r>
            <a:r>
              <a:rPr lang="en-IN" dirty="0" err="1">
                <a:solidFill>
                  <a:schemeClr val="tx1"/>
                </a:solidFill>
              </a:rPr>
              <a:t>printf</a:t>
            </a:r>
            <a:r>
              <a:rPr lang="en-IN" dirty="0">
                <a:solidFill>
                  <a:schemeClr val="tx1"/>
                </a:solidFill>
              </a:rPr>
              <a:t>("\</a:t>
            </a:r>
            <a:r>
              <a:rPr lang="en-IN" dirty="0" err="1">
                <a:solidFill>
                  <a:schemeClr val="tx1"/>
                </a:solidFill>
              </a:rPr>
              <a:t>nFri</a:t>
            </a:r>
            <a:r>
              <a:rPr lang="en-IN" dirty="0">
                <a:solidFill>
                  <a:schemeClr val="tx1"/>
                </a:solidFill>
              </a:rPr>
              <a:t> = %d", Fri);</a:t>
            </a:r>
          </a:p>
          <a:p>
            <a:r>
              <a:rPr lang="en-IN" dirty="0">
                <a:solidFill>
                  <a:schemeClr val="tx1"/>
                </a:solidFill>
              </a:rPr>
              <a:t>    </a:t>
            </a:r>
            <a:r>
              <a:rPr lang="en-IN" dirty="0" err="1">
                <a:solidFill>
                  <a:schemeClr val="tx1"/>
                </a:solidFill>
              </a:rPr>
              <a:t>printf</a:t>
            </a:r>
            <a:r>
              <a:rPr lang="en-IN" dirty="0">
                <a:solidFill>
                  <a:schemeClr val="tx1"/>
                </a:solidFill>
              </a:rPr>
              <a:t>("\</a:t>
            </a:r>
            <a:r>
              <a:rPr lang="en-IN" dirty="0" err="1">
                <a:solidFill>
                  <a:schemeClr val="tx1"/>
                </a:solidFill>
              </a:rPr>
              <a:t>nSat</a:t>
            </a:r>
            <a:r>
              <a:rPr lang="en-IN" dirty="0">
                <a:solidFill>
                  <a:schemeClr val="tx1"/>
                </a:solidFill>
              </a:rPr>
              <a:t> = %d", Sat);</a:t>
            </a:r>
          </a:p>
          <a:p>
            <a:r>
              <a:rPr lang="en-IN" dirty="0">
                <a:solidFill>
                  <a:schemeClr val="tx1"/>
                </a:solidFill>
              </a:rPr>
              <a:t>  </a:t>
            </a:r>
          </a:p>
          <a:p>
            <a:r>
              <a:rPr lang="en-IN" dirty="0">
                <a:solidFill>
                  <a:schemeClr val="tx1"/>
                </a:solidFill>
              </a:rPr>
              <a:t>}</a:t>
            </a:r>
          </a:p>
        </p:txBody>
      </p:sp>
      <p:grpSp>
        <p:nvGrpSpPr>
          <p:cNvPr id="9" name="Group 8">
            <a:extLst>
              <a:ext uri="{FF2B5EF4-FFF2-40B4-BE49-F238E27FC236}">
                <a16:creationId xmlns:a16="http://schemas.microsoft.com/office/drawing/2014/main" id="{D00BD808-6861-A307-6830-D808FD80900D}"/>
              </a:ext>
            </a:extLst>
          </p:cNvPr>
          <p:cNvGrpSpPr/>
          <p:nvPr/>
        </p:nvGrpSpPr>
        <p:grpSpPr>
          <a:xfrm>
            <a:off x="3429423" y="1986835"/>
            <a:ext cx="2674969" cy="2894274"/>
            <a:chOff x="3310154" y="1780551"/>
            <a:chExt cx="2674969" cy="2894274"/>
          </a:xfrm>
        </p:grpSpPr>
        <p:pic>
          <p:nvPicPr>
            <p:cNvPr id="1026" name="Picture 2" descr="C Program: Create an enumerated data type for 7 days">
              <a:extLst>
                <a:ext uri="{FF2B5EF4-FFF2-40B4-BE49-F238E27FC236}">
                  <a16:creationId xmlns:a16="http://schemas.microsoft.com/office/drawing/2014/main" id="{DE59A526-966C-2E49-3A76-8018AC4D12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0154" y="1780551"/>
              <a:ext cx="2674969" cy="28931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F7608E6-5BFB-A4DE-49E6-1ED68008968B}"/>
                </a:ext>
              </a:extLst>
            </p:cNvPr>
            <p:cNvPicPr>
              <a:picLocks noChangeAspect="1"/>
            </p:cNvPicPr>
            <p:nvPr/>
          </p:nvPicPr>
          <p:blipFill>
            <a:blip r:embed="rId3"/>
            <a:stretch>
              <a:fillRect/>
            </a:stretch>
          </p:blipFill>
          <p:spPr>
            <a:xfrm>
              <a:off x="5357191" y="4478596"/>
              <a:ext cx="627932" cy="196229"/>
            </a:xfrm>
            <a:prstGeom prst="rect">
              <a:avLst/>
            </a:prstGeom>
          </p:spPr>
        </p:pic>
      </p:grpSp>
      <p:sp>
        <p:nvSpPr>
          <p:cNvPr id="11" name="TextBox 10">
            <a:extLst>
              <a:ext uri="{FF2B5EF4-FFF2-40B4-BE49-F238E27FC236}">
                <a16:creationId xmlns:a16="http://schemas.microsoft.com/office/drawing/2014/main" id="{3F4C8F5F-9C1C-2A36-E507-843942208EE0}"/>
              </a:ext>
            </a:extLst>
          </p:cNvPr>
          <p:cNvSpPr txBox="1"/>
          <p:nvPr/>
        </p:nvSpPr>
        <p:spPr>
          <a:xfrm>
            <a:off x="6672131" y="591259"/>
            <a:ext cx="1457409" cy="1815882"/>
          </a:xfrm>
          <a:prstGeom prst="rect">
            <a:avLst/>
          </a:prstGeom>
          <a:noFill/>
        </p:spPr>
        <p:txBody>
          <a:bodyPr wrap="square">
            <a:spAutoFit/>
          </a:bodyPr>
          <a:lstStyle/>
          <a:p>
            <a:r>
              <a:rPr lang="en-IN" b="1" dirty="0">
                <a:solidFill>
                  <a:srgbClr val="FFFF00"/>
                </a:solidFill>
              </a:rPr>
              <a:t>Output</a:t>
            </a:r>
          </a:p>
          <a:p>
            <a:r>
              <a:rPr lang="en-IN" dirty="0">
                <a:solidFill>
                  <a:srgbClr val="FFFF00"/>
                </a:solidFill>
              </a:rPr>
              <a:t>Sun = 0</a:t>
            </a:r>
          </a:p>
          <a:p>
            <a:r>
              <a:rPr lang="en-IN" dirty="0">
                <a:solidFill>
                  <a:srgbClr val="FFFF00"/>
                </a:solidFill>
              </a:rPr>
              <a:t>Mon = 1</a:t>
            </a:r>
          </a:p>
          <a:p>
            <a:r>
              <a:rPr lang="en-IN" dirty="0">
                <a:solidFill>
                  <a:srgbClr val="FFFF00"/>
                </a:solidFill>
              </a:rPr>
              <a:t>Tue = 2</a:t>
            </a:r>
          </a:p>
          <a:p>
            <a:r>
              <a:rPr lang="en-IN" dirty="0">
                <a:solidFill>
                  <a:srgbClr val="FFFF00"/>
                </a:solidFill>
              </a:rPr>
              <a:t>Wed = 3</a:t>
            </a:r>
          </a:p>
          <a:p>
            <a:r>
              <a:rPr lang="en-IN" dirty="0">
                <a:solidFill>
                  <a:srgbClr val="FFFF00"/>
                </a:solidFill>
              </a:rPr>
              <a:t>Thu = 4</a:t>
            </a:r>
          </a:p>
          <a:p>
            <a:r>
              <a:rPr lang="en-IN" dirty="0">
                <a:solidFill>
                  <a:srgbClr val="FFFF00"/>
                </a:solidFill>
              </a:rPr>
              <a:t>Fri = 5</a:t>
            </a:r>
          </a:p>
          <a:p>
            <a:r>
              <a:rPr lang="en-IN" dirty="0">
                <a:solidFill>
                  <a:srgbClr val="FFFF00"/>
                </a:solidFill>
              </a:rPr>
              <a:t>Sat = 6</a:t>
            </a:r>
          </a:p>
        </p:txBody>
      </p:sp>
    </p:spTree>
    <p:extLst>
      <p:ext uri="{BB962C8B-B14F-4D97-AF65-F5344CB8AC3E}">
        <p14:creationId xmlns:p14="http://schemas.microsoft.com/office/powerpoint/2010/main" val="6664255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86071" y="0"/>
            <a:ext cx="6943469" cy="396300"/>
          </a:xfrm>
        </p:spPr>
        <p:txBody>
          <a:bodyPr/>
          <a:lstStyle/>
          <a:p>
            <a:pPr algn="ctr"/>
            <a:r>
              <a:rPr lang="en-IN" sz="2400" dirty="0"/>
              <a:t>Enumerated Data Type - Example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52</a:t>
            </a:fld>
            <a:endParaRPr lang="en"/>
          </a:p>
        </p:txBody>
      </p:sp>
      <p:sp>
        <p:nvSpPr>
          <p:cNvPr id="5" name="TextBox 4">
            <a:extLst>
              <a:ext uri="{FF2B5EF4-FFF2-40B4-BE49-F238E27FC236}">
                <a16:creationId xmlns:a16="http://schemas.microsoft.com/office/drawing/2014/main" id="{44F4E1F8-2AC6-CCC0-1CB4-A1451CB19FA9}"/>
              </a:ext>
            </a:extLst>
          </p:cNvPr>
          <p:cNvSpPr txBox="1"/>
          <p:nvPr/>
        </p:nvSpPr>
        <p:spPr>
          <a:xfrm>
            <a:off x="303183" y="662988"/>
            <a:ext cx="8537633" cy="2031325"/>
          </a:xfrm>
          <a:prstGeom prst="rect">
            <a:avLst/>
          </a:prstGeom>
          <a:noFill/>
        </p:spPr>
        <p:txBody>
          <a:bodyPr wrap="square">
            <a:spAutoFit/>
          </a:bodyPr>
          <a:lstStyle/>
          <a:p>
            <a:r>
              <a:rPr lang="en-IN" dirty="0">
                <a:solidFill>
                  <a:schemeClr val="tx1"/>
                </a:solidFill>
              </a:rPr>
              <a:t>#include &lt;</a:t>
            </a:r>
            <a:r>
              <a:rPr lang="en-IN" dirty="0" err="1">
                <a:solidFill>
                  <a:schemeClr val="tx1"/>
                </a:solidFill>
              </a:rPr>
              <a:t>stdio.h</a:t>
            </a:r>
            <a:r>
              <a:rPr lang="en-IN" dirty="0">
                <a:solidFill>
                  <a:schemeClr val="tx1"/>
                </a:solidFill>
              </a:rPr>
              <a:t>&gt;  </a:t>
            </a:r>
          </a:p>
          <a:p>
            <a:r>
              <a:rPr lang="en-IN" dirty="0" err="1">
                <a:solidFill>
                  <a:schemeClr val="tx1"/>
                </a:solidFill>
              </a:rPr>
              <a:t>enum</a:t>
            </a:r>
            <a:r>
              <a:rPr lang="en-IN" dirty="0">
                <a:solidFill>
                  <a:schemeClr val="tx1"/>
                </a:solidFill>
              </a:rPr>
              <a:t> months {</a:t>
            </a:r>
            <a:r>
              <a:rPr lang="en-IN" dirty="0" err="1">
                <a:solidFill>
                  <a:schemeClr val="tx1"/>
                </a:solidFill>
              </a:rPr>
              <a:t>jan</a:t>
            </a:r>
            <a:r>
              <a:rPr lang="en-IN" dirty="0">
                <a:solidFill>
                  <a:schemeClr val="tx1"/>
                </a:solidFill>
              </a:rPr>
              <a:t>=1, </a:t>
            </a:r>
            <a:r>
              <a:rPr lang="en-IN" dirty="0" err="1">
                <a:solidFill>
                  <a:schemeClr val="tx1"/>
                </a:solidFill>
              </a:rPr>
              <a:t>feb</a:t>
            </a:r>
            <a:r>
              <a:rPr lang="en-IN" dirty="0">
                <a:solidFill>
                  <a:schemeClr val="tx1"/>
                </a:solidFill>
              </a:rPr>
              <a:t>, march, </a:t>
            </a:r>
            <a:r>
              <a:rPr lang="en-IN" dirty="0" err="1">
                <a:solidFill>
                  <a:schemeClr val="tx1"/>
                </a:solidFill>
              </a:rPr>
              <a:t>april</a:t>
            </a:r>
            <a:r>
              <a:rPr lang="en-IN" dirty="0">
                <a:solidFill>
                  <a:schemeClr val="tx1"/>
                </a:solidFill>
              </a:rPr>
              <a:t>, may, </a:t>
            </a:r>
            <a:r>
              <a:rPr lang="en-IN" dirty="0" err="1">
                <a:solidFill>
                  <a:schemeClr val="tx1"/>
                </a:solidFill>
              </a:rPr>
              <a:t>june</a:t>
            </a:r>
            <a:r>
              <a:rPr lang="en-IN" dirty="0">
                <a:solidFill>
                  <a:schemeClr val="tx1"/>
                </a:solidFill>
              </a:rPr>
              <a:t>, </a:t>
            </a:r>
            <a:r>
              <a:rPr lang="en-IN" dirty="0" err="1">
                <a:solidFill>
                  <a:schemeClr val="tx1"/>
                </a:solidFill>
              </a:rPr>
              <a:t>july</a:t>
            </a:r>
            <a:r>
              <a:rPr lang="en-IN" dirty="0">
                <a:solidFill>
                  <a:schemeClr val="tx1"/>
                </a:solidFill>
              </a:rPr>
              <a:t>, august, </a:t>
            </a:r>
            <a:r>
              <a:rPr lang="en-IN" dirty="0" err="1">
                <a:solidFill>
                  <a:schemeClr val="tx1"/>
                </a:solidFill>
              </a:rPr>
              <a:t>september</a:t>
            </a:r>
            <a:r>
              <a:rPr lang="en-IN" dirty="0">
                <a:solidFill>
                  <a:schemeClr val="tx1"/>
                </a:solidFill>
              </a:rPr>
              <a:t>, </a:t>
            </a:r>
            <a:r>
              <a:rPr lang="en-IN" dirty="0" err="1">
                <a:solidFill>
                  <a:schemeClr val="tx1"/>
                </a:solidFill>
              </a:rPr>
              <a:t>october</a:t>
            </a:r>
            <a:r>
              <a:rPr lang="en-IN" dirty="0">
                <a:solidFill>
                  <a:schemeClr val="tx1"/>
                </a:solidFill>
              </a:rPr>
              <a:t>, </a:t>
            </a:r>
            <a:r>
              <a:rPr lang="en-IN" dirty="0" err="1">
                <a:solidFill>
                  <a:schemeClr val="tx1"/>
                </a:solidFill>
              </a:rPr>
              <a:t>november</a:t>
            </a:r>
            <a:r>
              <a:rPr lang="en-IN" dirty="0">
                <a:solidFill>
                  <a:schemeClr val="tx1"/>
                </a:solidFill>
              </a:rPr>
              <a:t>, </a:t>
            </a:r>
            <a:r>
              <a:rPr lang="en-IN" dirty="0" err="1">
                <a:solidFill>
                  <a:schemeClr val="tx1"/>
                </a:solidFill>
              </a:rPr>
              <a:t>december</a:t>
            </a:r>
            <a:r>
              <a:rPr lang="en-IN" dirty="0">
                <a:solidFill>
                  <a:schemeClr val="tx1"/>
                </a:solidFill>
              </a:rPr>
              <a:t>};  </a:t>
            </a:r>
          </a:p>
          <a:p>
            <a:r>
              <a:rPr lang="en-IN" dirty="0">
                <a:solidFill>
                  <a:schemeClr val="tx1"/>
                </a:solidFill>
              </a:rPr>
              <a:t>void main()  </a:t>
            </a:r>
          </a:p>
          <a:p>
            <a:r>
              <a:rPr lang="en-IN" dirty="0">
                <a:solidFill>
                  <a:schemeClr val="tx1"/>
                </a:solidFill>
              </a:rPr>
              <a:t>{  </a:t>
            </a:r>
          </a:p>
          <a:p>
            <a:r>
              <a:rPr lang="en-IN" dirty="0">
                <a:solidFill>
                  <a:schemeClr val="tx1"/>
                </a:solidFill>
              </a:rPr>
              <a:t>         for (int </a:t>
            </a:r>
            <a:r>
              <a:rPr lang="en-IN" dirty="0" err="1">
                <a:solidFill>
                  <a:schemeClr val="tx1"/>
                </a:solidFill>
              </a:rPr>
              <a:t>i</a:t>
            </a:r>
            <a:r>
              <a:rPr lang="en-IN" dirty="0">
                <a:solidFill>
                  <a:schemeClr val="tx1"/>
                </a:solidFill>
              </a:rPr>
              <a:t>=</a:t>
            </a:r>
            <a:r>
              <a:rPr lang="en-IN" dirty="0" err="1">
                <a:solidFill>
                  <a:schemeClr val="tx1"/>
                </a:solidFill>
              </a:rPr>
              <a:t>jan</a:t>
            </a:r>
            <a:r>
              <a:rPr lang="en-IN" dirty="0">
                <a:solidFill>
                  <a:schemeClr val="tx1"/>
                </a:solidFill>
              </a:rPr>
              <a:t>; </a:t>
            </a:r>
            <a:r>
              <a:rPr lang="en-IN" dirty="0" err="1">
                <a:solidFill>
                  <a:schemeClr val="tx1"/>
                </a:solidFill>
              </a:rPr>
              <a:t>i</a:t>
            </a:r>
            <a:r>
              <a:rPr lang="en-IN" dirty="0">
                <a:solidFill>
                  <a:schemeClr val="tx1"/>
                </a:solidFill>
              </a:rPr>
              <a:t>&lt;=</a:t>
            </a:r>
            <a:r>
              <a:rPr lang="en-IN" dirty="0" err="1">
                <a:solidFill>
                  <a:schemeClr val="tx1"/>
                </a:solidFill>
              </a:rPr>
              <a:t>december</a:t>
            </a:r>
            <a:r>
              <a:rPr lang="en-IN" dirty="0">
                <a:solidFill>
                  <a:schemeClr val="tx1"/>
                </a:solidFill>
              </a:rPr>
              <a:t>; </a:t>
            </a:r>
            <a:r>
              <a:rPr lang="en-IN" dirty="0" err="1">
                <a:solidFill>
                  <a:schemeClr val="tx1"/>
                </a:solidFill>
              </a:rPr>
              <a:t>i</a:t>
            </a:r>
            <a:r>
              <a:rPr lang="en-IN" dirty="0">
                <a:solidFill>
                  <a:schemeClr val="tx1"/>
                </a:solidFill>
              </a:rPr>
              <a:t>++)  </a:t>
            </a:r>
          </a:p>
          <a:p>
            <a:r>
              <a:rPr lang="en-IN" dirty="0">
                <a:solidFill>
                  <a:schemeClr val="tx1"/>
                </a:solidFill>
              </a:rPr>
              <a:t>          {  </a:t>
            </a:r>
          </a:p>
          <a:p>
            <a:r>
              <a:rPr lang="en-IN" dirty="0">
                <a:solidFill>
                  <a:schemeClr val="tx1"/>
                </a:solidFill>
              </a:rPr>
              <a:t>                  </a:t>
            </a:r>
            <a:r>
              <a:rPr lang="en-IN" dirty="0" err="1">
                <a:solidFill>
                  <a:schemeClr val="tx1"/>
                </a:solidFill>
              </a:rPr>
              <a:t>printf</a:t>
            </a:r>
            <a:r>
              <a:rPr lang="en-IN" dirty="0">
                <a:solidFill>
                  <a:schemeClr val="tx1"/>
                </a:solidFill>
              </a:rPr>
              <a:t>("%d, ",</a:t>
            </a:r>
            <a:r>
              <a:rPr lang="en-IN" dirty="0" err="1">
                <a:solidFill>
                  <a:schemeClr val="tx1"/>
                </a:solidFill>
              </a:rPr>
              <a:t>i</a:t>
            </a:r>
            <a:r>
              <a:rPr lang="en-IN" dirty="0">
                <a:solidFill>
                  <a:schemeClr val="tx1"/>
                </a:solidFill>
              </a:rPr>
              <a:t>);  </a:t>
            </a:r>
          </a:p>
          <a:p>
            <a:r>
              <a:rPr lang="en-IN" dirty="0">
                <a:solidFill>
                  <a:schemeClr val="tx1"/>
                </a:solidFill>
              </a:rPr>
              <a:t>          }  </a:t>
            </a:r>
          </a:p>
          <a:p>
            <a:r>
              <a:rPr lang="en-IN" dirty="0">
                <a:solidFill>
                  <a:schemeClr val="tx1"/>
                </a:solidFill>
              </a:rPr>
              <a:t>} </a:t>
            </a:r>
          </a:p>
        </p:txBody>
      </p:sp>
      <p:sp>
        <p:nvSpPr>
          <p:cNvPr id="8" name="TextBox 7">
            <a:extLst>
              <a:ext uri="{FF2B5EF4-FFF2-40B4-BE49-F238E27FC236}">
                <a16:creationId xmlns:a16="http://schemas.microsoft.com/office/drawing/2014/main" id="{11A70E0E-DFE2-BC70-0C0B-D60BB5A3DD18}"/>
              </a:ext>
            </a:extLst>
          </p:cNvPr>
          <p:cNvSpPr txBox="1"/>
          <p:nvPr/>
        </p:nvSpPr>
        <p:spPr>
          <a:xfrm>
            <a:off x="949226" y="3464849"/>
            <a:ext cx="4885082" cy="523220"/>
          </a:xfrm>
          <a:prstGeom prst="rect">
            <a:avLst/>
          </a:prstGeom>
          <a:noFill/>
        </p:spPr>
        <p:txBody>
          <a:bodyPr wrap="square">
            <a:spAutoFit/>
          </a:bodyPr>
          <a:lstStyle/>
          <a:p>
            <a:r>
              <a:rPr lang="en-IN" b="1" dirty="0">
                <a:solidFill>
                  <a:srgbClr val="FFFF00"/>
                </a:solidFill>
              </a:rPr>
              <a:t>Output</a:t>
            </a:r>
          </a:p>
          <a:p>
            <a:r>
              <a:rPr lang="en-IN" b="1" dirty="0">
                <a:solidFill>
                  <a:srgbClr val="FFFF00"/>
                </a:solidFill>
              </a:rPr>
              <a:t>1 2 3 4 5 6 7 8 9 10 11 12</a:t>
            </a:r>
          </a:p>
        </p:txBody>
      </p:sp>
    </p:spTree>
    <p:extLst>
      <p:ext uri="{BB962C8B-B14F-4D97-AF65-F5344CB8AC3E}">
        <p14:creationId xmlns:p14="http://schemas.microsoft.com/office/powerpoint/2010/main" val="19138620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86071" y="0"/>
            <a:ext cx="6943469" cy="396300"/>
          </a:xfrm>
        </p:spPr>
        <p:txBody>
          <a:bodyPr/>
          <a:lstStyle/>
          <a:p>
            <a:pPr algn="ctr"/>
            <a:r>
              <a:rPr lang="en-IN" sz="2400" dirty="0"/>
              <a:t>Typedef</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53</a:t>
            </a:fld>
            <a:endParaRPr lang="en"/>
          </a:p>
        </p:txBody>
      </p:sp>
      <p:sp>
        <p:nvSpPr>
          <p:cNvPr id="6" name="TextBox 5">
            <a:extLst>
              <a:ext uri="{FF2B5EF4-FFF2-40B4-BE49-F238E27FC236}">
                <a16:creationId xmlns:a16="http://schemas.microsoft.com/office/drawing/2014/main" id="{E99E64E4-BE67-FBD9-3EEB-EC562C47FF3E}"/>
              </a:ext>
            </a:extLst>
          </p:cNvPr>
          <p:cNvSpPr txBox="1"/>
          <p:nvPr/>
        </p:nvSpPr>
        <p:spPr>
          <a:xfrm>
            <a:off x="375202" y="396300"/>
            <a:ext cx="8162512" cy="1749005"/>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IN" dirty="0">
                <a:solidFill>
                  <a:schemeClr val="tx1"/>
                </a:solidFill>
              </a:rPr>
              <a:t>The typedef is a keyword used in C programming to provide some meaningful names to the already existing variable in the C program. </a:t>
            </a:r>
          </a:p>
          <a:p>
            <a:pPr marL="285750" indent="-285750" algn="just">
              <a:lnSpc>
                <a:spcPct val="200000"/>
              </a:lnSpc>
              <a:buFont typeface="Arial" panose="020B0604020202020204" pitchFamily="34" charset="0"/>
              <a:buChar char="•"/>
            </a:pPr>
            <a:r>
              <a:rPr lang="en-IN" dirty="0">
                <a:solidFill>
                  <a:schemeClr val="tx1"/>
                </a:solidFill>
              </a:rPr>
              <a:t>It equals the alias for the commands. </a:t>
            </a:r>
          </a:p>
          <a:p>
            <a:pPr marL="285750" indent="-285750" algn="just">
              <a:lnSpc>
                <a:spcPct val="200000"/>
              </a:lnSpc>
              <a:buFont typeface="Arial" panose="020B0604020202020204" pitchFamily="34" charset="0"/>
              <a:buChar char="•"/>
            </a:pPr>
            <a:r>
              <a:rPr lang="en-IN" dirty="0">
                <a:solidFill>
                  <a:schemeClr val="tx1"/>
                </a:solidFill>
              </a:rPr>
              <a:t>I is used to redefine the name of an already existing variable.</a:t>
            </a:r>
          </a:p>
        </p:txBody>
      </p:sp>
      <p:sp>
        <p:nvSpPr>
          <p:cNvPr id="9" name="TextBox 8">
            <a:extLst>
              <a:ext uri="{FF2B5EF4-FFF2-40B4-BE49-F238E27FC236}">
                <a16:creationId xmlns:a16="http://schemas.microsoft.com/office/drawing/2014/main" id="{4E03FAC5-6BFB-4660-1657-A67BD90B3196}"/>
              </a:ext>
            </a:extLst>
          </p:cNvPr>
          <p:cNvSpPr txBox="1"/>
          <p:nvPr/>
        </p:nvSpPr>
        <p:spPr>
          <a:xfrm>
            <a:off x="669237" y="2310140"/>
            <a:ext cx="4586908" cy="523220"/>
          </a:xfrm>
          <a:prstGeom prst="rect">
            <a:avLst/>
          </a:prstGeom>
          <a:noFill/>
        </p:spPr>
        <p:txBody>
          <a:bodyPr wrap="square">
            <a:spAutoFit/>
          </a:bodyPr>
          <a:lstStyle/>
          <a:p>
            <a:r>
              <a:rPr lang="en-IN" b="1" dirty="0">
                <a:solidFill>
                  <a:srgbClr val="FFFF00"/>
                </a:solidFill>
              </a:rPr>
              <a:t>Syntax</a:t>
            </a:r>
          </a:p>
          <a:p>
            <a:r>
              <a:rPr lang="en-IN" dirty="0">
                <a:solidFill>
                  <a:srgbClr val="FFFF00"/>
                </a:solidFill>
              </a:rPr>
              <a:t>                </a:t>
            </a:r>
            <a:r>
              <a:rPr lang="en-IN" dirty="0">
                <a:solidFill>
                  <a:schemeClr val="tx1"/>
                </a:solidFill>
              </a:rPr>
              <a:t>typedef </a:t>
            </a:r>
            <a:r>
              <a:rPr lang="en-IN" b="1" dirty="0">
                <a:solidFill>
                  <a:schemeClr val="accent2"/>
                </a:solidFill>
              </a:rPr>
              <a:t>&lt;</a:t>
            </a:r>
            <a:r>
              <a:rPr lang="en-IN" b="1" dirty="0" err="1">
                <a:solidFill>
                  <a:schemeClr val="accent2"/>
                </a:solidFill>
              </a:rPr>
              <a:t>existing_name</a:t>
            </a:r>
            <a:r>
              <a:rPr lang="en-IN" b="1" dirty="0">
                <a:solidFill>
                  <a:schemeClr val="accent2"/>
                </a:solidFill>
              </a:rPr>
              <a:t>&gt; </a:t>
            </a:r>
            <a:r>
              <a:rPr lang="en-IN" b="1" dirty="0">
                <a:solidFill>
                  <a:srgbClr val="00B050"/>
                </a:solidFill>
              </a:rPr>
              <a:t>&lt;</a:t>
            </a:r>
            <a:r>
              <a:rPr lang="en-IN" b="1" dirty="0" err="1">
                <a:solidFill>
                  <a:srgbClr val="00B050"/>
                </a:solidFill>
              </a:rPr>
              <a:t>alias_name</a:t>
            </a:r>
            <a:r>
              <a:rPr lang="en-IN" b="1" dirty="0">
                <a:solidFill>
                  <a:srgbClr val="00B050"/>
                </a:solidFill>
              </a:rPr>
              <a:t>&gt; </a:t>
            </a:r>
          </a:p>
        </p:txBody>
      </p:sp>
      <p:sp>
        <p:nvSpPr>
          <p:cNvPr id="11" name="TextBox 10">
            <a:extLst>
              <a:ext uri="{FF2B5EF4-FFF2-40B4-BE49-F238E27FC236}">
                <a16:creationId xmlns:a16="http://schemas.microsoft.com/office/drawing/2014/main" id="{14806594-1FAE-68C8-8462-F8199930F0C9}"/>
              </a:ext>
            </a:extLst>
          </p:cNvPr>
          <p:cNvSpPr txBox="1"/>
          <p:nvPr/>
        </p:nvSpPr>
        <p:spPr>
          <a:xfrm>
            <a:off x="669237" y="2998195"/>
            <a:ext cx="5264424" cy="738664"/>
          </a:xfrm>
          <a:prstGeom prst="rect">
            <a:avLst/>
          </a:prstGeom>
          <a:noFill/>
        </p:spPr>
        <p:txBody>
          <a:bodyPr wrap="square">
            <a:spAutoFit/>
          </a:bodyPr>
          <a:lstStyle/>
          <a:p>
            <a:pPr algn="just"/>
            <a:r>
              <a:rPr lang="en-IN" dirty="0">
                <a:solidFill>
                  <a:schemeClr val="tx1"/>
                </a:solidFill>
              </a:rPr>
              <a:t>Here, '</a:t>
            </a:r>
            <a:r>
              <a:rPr lang="en-IN" b="1" dirty="0" err="1">
                <a:solidFill>
                  <a:schemeClr val="accent2"/>
                </a:solidFill>
              </a:rPr>
              <a:t>existing_name</a:t>
            </a:r>
            <a:r>
              <a:rPr lang="en-IN" dirty="0">
                <a:solidFill>
                  <a:schemeClr val="tx1"/>
                </a:solidFill>
              </a:rPr>
              <a:t>' is the name of an already existing variable while </a:t>
            </a:r>
            <a:r>
              <a:rPr lang="en-IN" b="1" dirty="0">
                <a:solidFill>
                  <a:srgbClr val="00B050"/>
                </a:solidFill>
              </a:rPr>
              <a:t>'alias name</a:t>
            </a:r>
            <a:r>
              <a:rPr lang="en-IN" dirty="0">
                <a:solidFill>
                  <a:schemeClr val="tx1"/>
                </a:solidFill>
              </a:rPr>
              <a:t>' is another name given to the existing variable</a:t>
            </a:r>
          </a:p>
        </p:txBody>
      </p:sp>
      <p:sp>
        <p:nvSpPr>
          <p:cNvPr id="13" name="TextBox 12">
            <a:extLst>
              <a:ext uri="{FF2B5EF4-FFF2-40B4-BE49-F238E27FC236}">
                <a16:creationId xmlns:a16="http://schemas.microsoft.com/office/drawing/2014/main" id="{ED451956-95EC-903C-5E5B-B000DF3EDA47}"/>
              </a:ext>
            </a:extLst>
          </p:cNvPr>
          <p:cNvSpPr txBox="1"/>
          <p:nvPr/>
        </p:nvSpPr>
        <p:spPr>
          <a:xfrm>
            <a:off x="762828" y="3952097"/>
            <a:ext cx="4586908" cy="738664"/>
          </a:xfrm>
          <a:prstGeom prst="rect">
            <a:avLst/>
          </a:prstGeom>
          <a:noFill/>
        </p:spPr>
        <p:txBody>
          <a:bodyPr wrap="square">
            <a:spAutoFit/>
          </a:bodyPr>
          <a:lstStyle/>
          <a:p>
            <a:r>
              <a:rPr lang="en-IN" b="1" dirty="0">
                <a:solidFill>
                  <a:srgbClr val="FFFF00"/>
                </a:solidFill>
              </a:rPr>
              <a:t>Example</a:t>
            </a:r>
          </a:p>
          <a:p>
            <a:r>
              <a:rPr lang="en-IN" dirty="0">
                <a:solidFill>
                  <a:schemeClr val="tx1"/>
                </a:solidFill>
              </a:rPr>
              <a:t>                 </a:t>
            </a:r>
            <a:r>
              <a:rPr lang="en-IN" b="1" dirty="0">
                <a:solidFill>
                  <a:srgbClr val="00B0F0"/>
                </a:solidFill>
              </a:rPr>
              <a:t>typedef</a:t>
            </a:r>
            <a:r>
              <a:rPr lang="en-IN" dirty="0">
                <a:solidFill>
                  <a:schemeClr val="tx1"/>
                </a:solidFill>
              </a:rPr>
              <a:t> </a:t>
            </a:r>
            <a:r>
              <a:rPr lang="en-IN" b="1" dirty="0">
                <a:solidFill>
                  <a:srgbClr val="C00000"/>
                </a:solidFill>
              </a:rPr>
              <a:t>int</a:t>
            </a:r>
            <a:r>
              <a:rPr lang="en-IN" dirty="0">
                <a:solidFill>
                  <a:schemeClr val="tx1"/>
                </a:solidFill>
              </a:rPr>
              <a:t> </a:t>
            </a:r>
            <a:r>
              <a:rPr lang="en-IN" b="1" dirty="0" err="1">
                <a:solidFill>
                  <a:schemeClr val="tx1"/>
                </a:solidFill>
              </a:rPr>
              <a:t>hai</a:t>
            </a:r>
            <a:r>
              <a:rPr lang="en-IN" dirty="0">
                <a:solidFill>
                  <a:schemeClr val="tx1"/>
                </a:solidFill>
              </a:rPr>
              <a:t>;  </a:t>
            </a:r>
          </a:p>
          <a:p>
            <a:r>
              <a:rPr lang="en-IN" dirty="0">
                <a:solidFill>
                  <a:schemeClr val="tx1"/>
                </a:solidFill>
              </a:rPr>
              <a:t>                 </a:t>
            </a:r>
            <a:r>
              <a:rPr lang="en-IN" dirty="0" err="1">
                <a:solidFill>
                  <a:schemeClr val="tx1"/>
                </a:solidFill>
              </a:rPr>
              <a:t>hai</a:t>
            </a:r>
            <a:r>
              <a:rPr lang="en-IN" dirty="0">
                <a:solidFill>
                  <a:schemeClr val="tx1"/>
                </a:solidFill>
              </a:rPr>
              <a:t> </a:t>
            </a:r>
            <a:r>
              <a:rPr lang="en-IN" dirty="0" err="1">
                <a:solidFill>
                  <a:schemeClr val="tx1"/>
                </a:solidFill>
              </a:rPr>
              <a:t>i</a:t>
            </a:r>
            <a:r>
              <a:rPr lang="en-IN" dirty="0">
                <a:solidFill>
                  <a:schemeClr val="tx1"/>
                </a:solidFill>
              </a:rPr>
              <a:t>;</a:t>
            </a:r>
          </a:p>
        </p:txBody>
      </p:sp>
    </p:spTree>
    <p:extLst>
      <p:ext uri="{BB962C8B-B14F-4D97-AF65-F5344CB8AC3E}">
        <p14:creationId xmlns:p14="http://schemas.microsoft.com/office/powerpoint/2010/main" val="42285230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86071" y="0"/>
            <a:ext cx="6943469" cy="396300"/>
          </a:xfrm>
        </p:spPr>
        <p:txBody>
          <a:bodyPr/>
          <a:lstStyle/>
          <a:p>
            <a:pPr algn="ctr"/>
            <a:r>
              <a:rPr lang="en-IN" sz="2400" dirty="0"/>
              <a:t>Typedef Example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54</a:t>
            </a:fld>
            <a:endParaRPr lang="en"/>
          </a:p>
        </p:txBody>
      </p:sp>
      <p:sp>
        <p:nvSpPr>
          <p:cNvPr id="6" name="TextBox 5">
            <a:extLst>
              <a:ext uri="{FF2B5EF4-FFF2-40B4-BE49-F238E27FC236}">
                <a16:creationId xmlns:a16="http://schemas.microsoft.com/office/drawing/2014/main" id="{E99E64E4-BE67-FBD9-3EEB-EC562C47FF3E}"/>
              </a:ext>
            </a:extLst>
          </p:cNvPr>
          <p:cNvSpPr txBox="1"/>
          <p:nvPr/>
        </p:nvSpPr>
        <p:spPr>
          <a:xfrm>
            <a:off x="17394" y="266640"/>
            <a:ext cx="3232702" cy="360720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solidFill>
                  <a:schemeClr val="tx1"/>
                </a:solidFill>
              </a:rPr>
              <a:t>#include &lt;</a:t>
            </a:r>
            <a:r>
              <a:rPr lang="en-US" dirty="0" err="1">
                <a:solidFill>
                  <a:schemeClr val="tx1"/>
                </a:solidFill>
              </a:rPr>
              <a:t>stdio.h</a:t>
            </a:r>
            <a:r>
              <a:rPr lang="en-US" dirty="0">
                <a:solidFill>
                  <a:schemeClr val="tx1"/>
                </a:solidFill>
              </a:rPr>
              <a:t>&gt;  </a:t>
            </a:r>
          </a:p>
          <a:p>
            <a:pPr marL="285750" indent="-285750" algn="just">
              <a:lnSpc>
                <a:spcPct val="150000"/>
              </a:lnSpc>
              <a:buFont typeface="Arial" panose="020B0604020202020204" pitchFamily="34" charset="0"/>
              <a:buChar char="•"/>
            </a:pPr>
            <a:r>
              <a:rPr lang="en-US" dirty="0">
                <a:solidFill>
                  <a:schemeClr val="tx1"/>
                </a:solidFill>
              </a:rPr>
              <a:t>void main()  </a:t>
            </a:r>
          </a:p>
          <a:p>
            <a:pPr marL="285750" indent="-285750" algn="just">
              <a:lnSpc>
                <a:spcPct val="150000"/>
              </a:lnSpc>
              <a:buFont typeface="Arial" panose="020B0604020202020204" pitchFamily="34" charset="0"/>
              <a:buChar char="•"/>
            </a:pPr>
            <a:r>
              <a:rPr lang="en-US" dirty="0">
                <a:solidFill>
                  <a:schemeClr val="tx1"/>
                </a:solidFill>
              </a:rPr>
              <a:t>{  </a:t>
            </a:r>
          </a:p>
          <a:p>
            <a:pPr marL="285750" indent="-285750" algn="just">
              <a:lnSpc>
                <a:spcPct val="150000"/>
              </a:lnSpc>
              <a:buFont typeface="Arial" panose="020B0604020202020204" pitchFamily="34" charset="0"/>
              <a:buChar char="•"/>
            </a:pPr>
            <a:r>
              <a:rPr lang="en-US" dirty="0">
                <a:solidFill>
                  <a:schemeClr val="tx1"/>
                </a:solidFill>
              </a:rPr>
              <a:t>     typedef int </a:t>
            </a:r>
            <a:r>
              <a:rPr lang="en-US" b="1" dirty="0">
                <a:solidFill>
                  <a:schemeClr val="tx1"/>
                </a:solidFill>
              </a:rPr>
              <a:t>Fish</a:t>
            </a:r>
            <a:r>
              <a:rPr lang="en-US" dirty="0">
                <a:solidFill>
                  <a:schemeClr val="tx1"/>
                </a:solidFill>
              </a:rPr>
              <a:t>;  </a:t>
            </a:r>
          </a:p>
          <a:p>
            <a:pPr marL="285750" indent="-285750" algn="just">
              <a:lnSpc>
                <a:spcPct val="150000"/>
              </a:lnSpc>
              <a:buFont typeface="Arial" panose="020B0604020202020204" pitchFamily="34" charset="0"/>
              <a:buChar char="•"/>
            </a:pPr>
            <a:r>
              <a:rPr lang="en-US" dirty="0">
                <a:solidFill>
                  <a:schemeClr val="tx1"/>
                </a:solidFill>
              </a:rPr>
              <a:t>     Fish </a:t>
            </a:r>
            <a:r>
              <a:rPr lang="en-US" dirty="0" err="1">
                <a:solidFill>
                  <a:schemeClr val="tx1"/>
                </a:solidFill>
              </a:rPr>
              <a:t>i</a:t>
            </a:r>
            <a:r>
              <a:rPr lang="en-US" dirty="0">
                <a:solidFill>
                  <a:schemeClr val="tx1"/>
                </a:solidFill>
              </a:rPr>
              <a:t>, j;  </a:t>
            </a:r>
          </a:p>
          <a:p>
            <a:pPr marL="285750" indent="-285750" algn="just">
              <a:lnSpc>
                <a:spcPct val="150000"/>
              </a:lnSpc>
              <a:buFont typeface="Arial" panose="020B0604020202020204" pitchFamily="34" charset="0"/>
              <a:buChar char="•"/>
            </a:pPr>
            <a:r>
              <a:rPr lang="en-US" dirty="0">
                <a:solidFill>
                  <a:schemeClr val="tx1"/>
                </a:solidFill>
              </a:rPr>
              <a:t>     </a:t>
            </a:r>
            <a:r>
              <a:rPr lang="en-US" dirty="0" err="1">
                <a:solidFill>
                  <a:schemeClr val="tx1"/>
                </a:solidFill>
              </a:rPr>
              <a:t>i</a:t>
            </a:r>
            <a:r>
              <a:rPr lang="en-US" dirty="0">
                <a:solidFill>
                  <a:schemeClr val="tx1"/>
                </a:solidFill>
              </a:rPr>
              <a:t>=10;  </a:t>
            </a:r>
          </a:p>
          <a:p>
            <a:pPr marL="285750" indent="-285750" algn="just">
              <a:lnSpc>
                <a:spcPct val="150000"/>
              </a:lnSpc>
              <a:buFont typeface="Arial" panose="020B0604020202020204" pitchFamily="34" charset="0"/>
              <a:buChar char="•"/>
            </a:pPr>
            <a:r>
              <a:rPr lang="en-US" dirty="0">
                <a:solidFill>
                  <a:schemeClr val="tx1"/>
                </a:solidFill>
              </a:rPr>
              <a:t>     j=20;  </a:t>
            </a:r>
          </a:p>
          <a:p>
            <a:pPr marL="285750" indent="-285750" algn="just">
              <a:lnSpc>
                <a:spcPct val="150000"/>
              </a:lnSpc>
              <a:buFont typeface="Arial" panose="020B0604020202020204" pitchFamily="34" charset="0"/>
              <a:buChar char="•"/>
            </a:pPr>
            <a:r>
              <a:rPr lang="en-US" dirty="0">
                <a:solidFill>
                  <a:schemeClr val="tx1"/>
                </a:solidFill>
              </a:rPr>
              <a:t>     </a:t>
            </a:r>
            <a:r>
              <a:rPr lang="en-US" dirty="0" err="1">
                <a:solidFill>
                  <a:schemeClr val="tx1"/>
                </a:solidFill>
              </a:rPr>
              <a:t>printf</a:t>
            </a:r>
            <a:r>
              <a:rPr lang="en-US" dirty="0">
                <a:solidFill>
                  <a:schemeClr val="tx1"/>
                </a:solidFill>
              </a:rPr>
              <a:t>(“\n Value of </a:t>
            </a:r>
            <a:r>
              <a:rPr lang="en-US" dirty="0" err="1">
                <a:solidFill>
                  <a:schemeClr val="tx1"/>
                </a:solidFill>
              </a:rPr>
              <a:t>i</a:t>
            </a:r>
            <a:r>
              <a:rPr lang="en-US" dirty="0">
                <a:solidFill>
                  <a:schemeClr val="tx1"/>
                </a:solidFill>
              </a:rPr>
              <a:t> is :%d", </a:t>
            </a:r>
            <a:r>
              <a:rPr lang="en-US" dirty="0" err="1">
                <a:solidFill>
                  <a:schemeClr val="tx1"/>
                </a:solidFill>
              </a:rPr>
              <a:t>i</a:t>
            </a:r>
            <a:r>
              <a:rPr lang="en-US" dirty="0">
                <a:solidFill>
                  <a:schemeClr val="tx1"/>
                </a:solidFill>
              </a:rPr>
              <a:t>);  </a:t>
            </a:r>
          </a:p>
          <a:p>
            <a:pPr marL="285750" indent="-285750" algn="just">
              <a:lnSpc>
                <a:spcPct val="150000"/>
              </a:lnSpc>
              <a:buFont typeface="Arial" panose="020B0604020202020204" pitchFamily="34" charset="0"/>
              <a:buChar char="•"/>
            </a:pPr>
            <a:r>
              <a:rPr lang="en-US" dirty="0">
                <a:solidFill>
                  <a:schemeClr val="tx1"/>
                </a:solidFill>
              </a:rPr>
              <a:t>     </a:t>
            </a:r>
            <a:r>
              <a:rPr lang="en-US" dirty="0" err="1">
                <a:solidFill>
                  <a:schemeClr val="tx1"/>
                </a:solidFill>
              </a:rPr>
              <a:t>printf</a:t>
            </a:r>
            <a:r>
              <a:rPr lang="en-US" dirty="0">
                <a:solidFill>
                  <a:schemeClr val="tx1"/>
                </a:solidFill>
              </a:rPr>
              <a:t>("\n Value of j is :%d", j);  </a:t>
            </a:r>
          </a:p>
          <a:p>
            <a:pPr marL="285750" indent="-285750" algn="just">
              <a:lnSpc>
                <a:spcPct val="150000"/>
              </a:lnSpc>
              <a:buFont typeface="Arial" panose="020B0604020202020204" pitchFamily="34" charset="0"/>
              <a:buChar char="•"/>
            </a:pPr>
            <a:r>
              <a:rPr lang="en-US" dirty="0">
                <a:solidFill>
                  <a:schemeClr val="tx1"/>
                </a:solidFill>
              </a:rPr>
              <a:t> </a:t>
            </a:r>
          </a:p>
          <a:p>
            <a:pPr marL="285750" indent="-285750" algn="just">
              <a:lnSpc>
                <a:spcPct val="150000"/>
              </a:lnSpc>
              <a:buFont typeface="Arial" panose="020B0604020202020204" pitchFamily="34" charset="0"/>
              <a:buChar char="•"/>
            </a:pPr>
            <a:r>
              <a:rPr lang="en-US" dirty="0">
                <a:solidFill>
                  <a:schemeClr val="tx1"/>
                </a:solidFill>
              </a:rPr>
              <a:t>} </a:t>
            </a:r>
            <a:endParaRPr lang="en-IN" dirty="0">
              <a:solidFill>
                <a:schemeClr val="tx1"/>
              </a:solidFill>
            </a:endParaRPr>
          </a:p>
        </p:txBody>
      </p:sp>
      <p:sp>
        <p:nvSpPr>
          <p:cNvPr id="5" name="TextBox 4">
            <a:extLst>
              <a:ext uri="{FF2B5EF4-FFF2-40B4-BE49-F238E27FC236}">
                <a16:creationId xmlns:a16="http://schemas.microsoft.com/office/drawing/2014/main" id="{D0930EF4-A476-8B0E-E11A-AA7B94EAA1A9}"/>
              </a:ext>
            </a:extLst>
          </p:cNvPr>
          <p:cNvSpPr txBox="1"/>
          <p:nvPr/>
        </p:nvSpPr>
        <p:spPr>
          <a:xfrm>
            <a:off x="190916" y="4117355"/>
            <a:ext cx="2387877" cy="738664"/>
          </a:xfrm>
          <a:prstGeom prst="rect">
            <a:avLst/>
          </a:prstGeom>
          <a:noFill/>
        </p:spPr>
        <p:txBody>
          <a:bodyPr wrap="square">
            <a:spAutoFit/>
          </a:bodyPr>
          <a:lstStyle/>
          <a:p>
            <a:r>
              <a:rPr lang="en-IN" b="1" dirty="0">
                <a:solidFill>
                  <a:srgbClr val="FFFF00"/>
                </a:solidFill>
              </a:rPr>
              <a:t>Output</a:t>
            </a:r>
          </a:p>
          <a:p>
            <a:r>
              <a:rPr lang="en-IN" dirty="0">
                <a:solidFill>
                  <a:srgbClr val="FFFF00"/>
                </a:solidFill>
              </a:rPr>
              <a:t>              Value of </a:t>
            </a:r>
            <a:r>
              <a:rPr lang="en-IN" dirty="0" err="1">
                <a:solidFill>
                  <a:srgbClr val="FFFF00"/>
                </a:solidFill>
              </a:rPr>
              <a:t>i</a:t>
            </a:r>
            <a:r>
              <a:rPr lang="en-IN" dirty="0">
                <a:solidFill>
                  <a:srgbClr val="FFFF00"/>
                </a:solidFill>
              </a:rPr>
              <a:t> is :10 </a:t>
            </a:r>
          </a:p>
          <a:p>
            <a:r>
              <a:rPr lang="en-IN" dirty="0">
                <a:solidFill>
                  <a:srgbClr val="FFFF00"/>
                </a:solidFill>
              </a:rPr>
              <a:t>              Value of j is :20</a:t>
            </a:r>
          </a:p>
        </p:txBody>
      </p:sp>
      <p:sp>
        <p:nvSpPr>
          <p:cNvPr id="8" name="TextBox 7">
            <a:extLst>
              <a:ext uri="{FF2B5EF4-FFF2-40B4-BE49-F238E27FC236}">
                <a16:creationId xmlns:a16="http://schemas.microsoft.com/office/drawing/2014/main" id="{F7B11AD1-4DB2-93C0-7E2F-25FD3C661120}"/>
              </a:ext>
            </a:extLst>
          </p:cNvPr>
          <p:cNvSpPr txBox="1"/>
          <p:nvPr/>
        </p:nvSpPr>
        <p:spPr>
          <a:xfrm>
            <a:off x="3250096" y="456171"/>
            <a:ext cx="3091069" cy="3284041"/>
          </a:xfrm>
          <a:prstGeom prst="rect">
            <a:avLst/>
          </a:prstGeom>
          <a:noFill/>
        </p:spPr>
        <p:txBody>
          <a:bodyPr wrap="square">
            <a:spAutoFit/>
          </a:bodyPr>
          <a:lstStyle/>
          <a:p>
            <a:pPr>
              <a:lnSpc>
                <a:spcPct val="150000"/>
              </a:lnSpc>
            </a:pPr>
            <a:r>
              <a:rPr lang="en-IN" dirty="0">
                <a:solidFill>
                  <a:schemeClr val="tx1"/>
                </a:solidFill>
              </a:rPr>
              <a:t>#include&lt;stdio.h&gt;</a:t>
            </a:r>
          </a:p>
          <a:p>
            <a:pPr>
              <a:lnSpc>
                <a:spcPct val="150000"/>
              </a:lnSpc>
            </a:pPr>
            <a:r>
              <a:rPr lang="en-IN" dirty="0">
                <a:solidFill>
                  <a:schemeClr val="tx1"/>
                </a:solidFill>
              </a:rPr>
              <a:t>void main()</a:t>
            </a:r>
          </a:p>
          <a:p>
            <a:pPr>
              <a:lnSpc>
                <a:spcPct val="150000"/>
              </a:lnSpc>
            </a:pPr>
            <a:r>
              <a:rPr lang="en-IN" dirty="0">
                <a:solidFill>
                  <a:schemeClr val="tx1"/>
                </a:solidFill>
              </a:rPr>
              <a:t>{</a:t>
            </a:r>
          </a:p>
          <a:p>
            <a:pPr>
              <a:lnSpc>
                <a:spcPct val="150000"/>
              </a:lnSpc>
            </a:pPr>
            <a:r>
              <a:rPr lang="en-IN" dirty="0">
                <a:solidFill>
                  <a:schemeClr val="tx1"/>
                </a:solidFill>
              </a:rPr>
              <a:t>   typedef int </a:t>
            </a:r>
            <a:r>
              <a:rPr lang="en-IN" dirty="0" err="1">
                <a:solidFill>
                  <a:schemeClr val="tx1"/>
                </a:solidFill>
              </a:rPr>
              <a:t>num</a:t>
            </a:r>
            <a:r>
              <a:rPr lang="en-IN" dirty="0">
                <a:solidFill>
                  <a:schemeClr val="tx1"/>
                </a:solidFill>
              </a:rPr>
              <a:t>;</a:t>
            </a:r>
          </a:p>
          <a:p>
            <a:pPr>
              <a:lnSpc>
                <a:spcPct val="150000"/>
              </a:lnSpc>
            </a:pPr>
            <a:r>
              <a:rPr lang="en-IN" dirty="0">
                <a:solidFill>
                  <a:schemeClr val="tx1"/>
                </a:solidFill>
              </a:rPr>
              <a:t>   typedef </a:t>
            </a:r>
            <a:r>
              <a:rPr lang="en-IN" dirty="0" err="1">
                <a:solidFill>
                  <a:schemeClr val="tx1"/>
                </a:solidFill>
              </a:rPr>
              <a:t>num</a:t>
            </a:r>
            <a:r>
              <a:rPr lang="en-IN" dirty="0">
                <a:solidFill>
                  <a:schemeClr val="tx1"/>
                </a:solidFill>
              </a:rPr>
              <a:t> </a:t>
            </a:r>
            <a:r>
              <a:rPr lang="en-IN" dirty="0" err="1">
                <a:solidFill>
                  <a:schemeClr val="tx1"/>
                </a:solidFill>
              </a:rPr>
              <a:t>over_num</a:t>
            </a:r>
            <a:r>
              <a:rPr lang="en-IN" dirty="0">
                <a:solidFill>
                  <a:schemeClr val="tx1"/>
                </a:solidFill>
              </a:rPr>
              <a:t>;</a:t>
            </a:r>
          </a:p>
          <a:p>
            <a:pPr>
              <a:lnSpc>
                <a:spcPct val="150000"/>
              </a:lnSpc>
            </a:pPr>
            <a:r>
              <a:rPr lang="en-IN" dirty="0">
                <a:solidFill>
                  <a:schemeClr val="tx1"/>
                </a:solidFill>
              </a:rPr>
              <a:t>   </a:t>
            </a:r>
            <a:r>
              <a:rPr lang="en-IN" dirty="0" err="1">
                <a:solidFill>
                  <a:schemeClr val="tx1"/>
                </a:solidFill>
              </a:rPr>
              <a:t>over_num</a:t>
            </a:r>
            <a:r>
              <a:rPr lang="en-IN" dirty="0">
                <a:solidFill>
                  <a:schemeClr val="tx1"/>
                </a:solidFill>
              </a:rPr>
              <a:t> a;</a:t>
            </a:r>
          </a:p>
          <a:p>
            <a:pPr>
              <a:lnSpc>
                <a:spcPct val="150000"/>
              </a:lnSpc>
            </a:pPr>
            <a:r>
              <a:rPr lang="en-IN" dirty="0">
                <a:solidFill>
                  <a:schemeClr val="tx1"/>
                </a:solidFill>
              </a:rPr>
              <a:t>   </a:t>
            </a:r>
            <a:r>
              <a:rPr lang="en-IN" dirty="0" err="1">
                <a:solidFill>
                  <a:schemeClr val="tx1"/>
                </a:solidFill>
              </a:rPr>
              <a:t>printf</a:t>
            </a:r>
            <a:r>
              <a:rPr lang="en-IN" dirty="0">
                <a:solidFill>
                  <a:schemeClr val="tx1"/>
                </a:solidFill>
              </a:rPr>
              <a:t>("Enter a number: ");</a:t>
            </a:r>
          </a:p>
          <a:p>
            <a:pPr>
              <a:lnSpc>
                <a:spcPct val="150000"/>
              </a:lnSpc>
            </a:pPr>
            <a:r>
              <a:rPr lang="en-IN" dirty="0">
                <a:solidFill>
                  <a:schemeClr val="tx1"/>
                </a:solidFill>
              </a:rPr>
              <a:t>   </a:t>
            </a:r>
            <a:r>
              <a:rPr lang="en-IN" dirty="0" err="1">
                <a:solidFill>
                  <a:schemeClr val="tx1"/>
                </a:solidFill>
              </a:rPr>
              <a:t>scanf</a:t>
            </a:r>
            <a:r>
              <a:rPr lang="en-IN" dirty="0">
                <a:solidFill>
                  <a:schemeClr val="tx1"/>
                </a:solidFill>
              </a:rPr>
              <a:t>("%d", &amp;a);</a:t>
            </a:r>
          </a:p>
          <a:p>
            <a:pPr>
              <a:lnSpc>
                <a:spcPct val="150000"/>
              </a:lnSpc>
            </a:pPr>
            <a:r>
              <a:rPr lang="en-IN" dirty="0">
                <a:solidFill>
                  <a:schemeClr val="tx1"/>
                </a:solidFill>
              </a:rPr>
              <a:t>   </a:t>
            </a:r>
            <a:r>
              <a:rPr lang="en-IN" dirty="0" err="1">
                <a:solidFill>
                  <a:schemeClr val="tx1"/>
                </a:solidFill>
              </a:rPr>
              <a:t>printf</a:t>
            </a:r>
            <a:r>
              <a:rPr lang="en-IN" dirty="0">
                <a:solidFill>
                  <a:schemeClr val="tx1"/>
                </a:solidFill>
              </a:rPr>
              <a:t>("You entered %d", a);</a:t>
            </a:r>
          </a:p>
          <a:p>
            <a:pPr>
              <a:lnSpc>
                <a:spcPct val="150000"/>
              </a:lnSpc>
            </a:pPr>
            <a:r>
              <a:rPr lang="en-IN" dirty="0">
                <a:solidFill>
                  <a:schemeClr val="tx1"/>
                </a:solidFill>
              </a:rPr>
              <a:t>}</a:t>
            </a:r>
          </a:p>
        </p:txBody>
      </p:sp>
      <p:sp>
        <p:nvSpPr>
          <p:cNvPr id="10" name="TextBox 9">
            <a:extLst>
              <a:ext uri="{FF2B5EF4-FFF2-40B4-BE49-F238E27FC236}">
                <a16:creationId xmlns:a16="http://schemas.microsoft.com/office/drawing/2014/main" id="{7B4B8700-F536-745F-E875-C6A8BA528A22}"/>
              </a:ext>
            </a:extLst>
          </p:cNvPr>
          <p:cNvSpPr txBox="1"/>
          <p:nvPr/>
        </p:nvSpPr>
        <p:spPr>
          <a:xfrm>
            <a:off x="3463866" y="3948665"/>
            <a:ext cx="2387877" cy="738664"/>
          </a:xfrm>
          <a:prstGeom prst="rect">
            <a:avLst/>
          </a:prstGeom>
          <a:noFill/>
        </p:spPr>
        <p:txBody>
          <a:bodyPr wrap="square">
            <a:spAutoFit/>
          </a:bodyPr>
          <a:lstStyle/>
          <a:p>
            <a:r>
              <a:rPr lang="en-IN" b="1" dirty="0">
                <a:solidFill>
                  <a:srgbClr val="FFFF00"/>
                </a:solidFill>
              </a:rPr>
              <a:t>Output</a:t>
            </a:r>
          </a:p>
          <a:p>
            <a:r>
              <a:rPr lang="en-IN" dirty="0">
                <a:solidFill>
                  <a:srgbClr val="FFFF00"/>
                </a:solidFill>
              </a:rPr>
              <a:t>             Enter a number :10 </a:t>
            </a:r>
          </a:p>
          <a:p>
            <a:r>
              <a:rPr lang="en-IN" dirty="0">
                <a:solidFill>
                  <a:srgbClr val="FFFF00"/>
                </a:solidFill>
              </a:rPr>
              <a:t>              You entered : 10</a:t>
            </a:r>
          </a:p>
        </p:txBody>
      </p:sp>
    </p:spTree>
    <p:extLst>
      <p:ext uri="{BB962C8B-B14F-4D97-AF65-F5344CB8AC3E}">
        <p14:creationId xmlns:p14="http://schemas.microsoft.com/office/powerpoint/2010/main" val="1357235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86071" y="0"/>
            <a:ext cx="6943469" cy="396300"/>
          </a:xfrm>
        </p:spPr>
        <p:txBody>
          <a:bodyPr/>
          <a:lstStyle/>
          <a:p>
            <a:pPr algn="ctr"/>
            <a:r>
              <a:rPr lang="en-IN" sz="2400" dirty="0"/>
              <a:t>Typedef</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55</a:t>
            </a:fld>
            <a:endParaRPr lang="en"/>
          </a:p>
        </p:txBody>
      </p:sp>
      <p:pic>
        <p:nvPicPr>
          <p:cNvPr id="2050" name="Picture 2" descr="Typedef in C - C Tutorial">
            <a:extLst>
              <a:ext uri="{FF2B5EF4-FFF2-40B4-BE49-F238E27FC236}">
                <a16:creationId xmlns:a16="http://schemas.microsoft.com/office/drawing/2014/main" id="{666F5F30-49AB-7B6F-A232-F9F6441C40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26" y="487846"/>
            <a:ext cx="6096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906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6"/>
          <p:cNvSpPr txBox="1">
            <a:spLocks noGrp="1"/>
          </p:cNvSpPr>
          <p:nvPr>
            <p:ph type="body" idx="1"/>
          </p:nvPr>
        </p:nvSpPr>
        <p:spPr>
          <a:xfrm>
            <a:off x="257584" y="716637"/>
            <a:ext cx="8886416" cy="2993400"/>
          </a:xfrm>
          <a:prstGeom prst="rect">
            <a:avLst/>
          </a:prstGeom>
        </p:spPr>
        <p:txBody>
          <a:bodyPr spcFirstLastPara="1" wrap="square" lIns="0" tIns="0" rIns="0" bIns="0" anchor="t" anchorCtr="0">
            <a:noAutofit/>
          </a:bodyPr>
          <a:lstStyle/>
          <a:p>
            <a:pPr marL="285750" indent="-285750" algn="just"/>
            <a:r>
              <a:rPr lang="en-IN" sz="1800" dirty="0">
                <a:hlinkClick r:id="rId3"/>
              </a:rPr>
              <a:t>https://www.tutorialspoint.com/cprogramming/c_pointers.htm</a:t>
            </a:r>
            <a:endParaRPr lang="en-IN" sz="1800" dirty="0"/>
          </a:p>
          <a:p>
            <a:pPr marL="285750" indent="-285750" algn="just"/>
            <a:r>
              <a:rPr lang="en-IN" sz="1800" dirty="0">
                <a:hlinkClick r:id="rId4"/>
              </a:rPr>
              <a:t>https://www.javatpoint.com/malloc-in-c</a:t>
            </a:r>
            <a:r>
              <a:rPr lang="en-IN" sz="1800" dirty="0"/>
              <a:t>  </a:t>
            </a:r>
          </a:p>
          <a:p>
            <a:pPr marL="285750" indent="-285750" algn="just"/>
            <a:r>
              <a:rPr lang="en-IN" sz="1800" dirty="0">
                <a:hlinkClick r:id="rId5"/>
              </a:rPr>
              <a:t>https://www.guru99.com/difference-between-malloc-and-calloc.html</a:t>
            </a:r>
            <a:endParaRPr lang="en-IN" sz="1800" dirty="0"/>
          </a:p>
          <a:p>
            <a:pPr marL="285750" indent="-285750" algn="just"/>
            <a:r>
              <a:rPr lang="en-IN" sz="1800" dirty="0">
                <a:hlinkClick r:id="rId6"/>
              </a:rPr>
              <a:t>https://www.log2base2.com/C/pointer/pointer-to-pointer-in-c.html</a:t>
            </a:r>
            <a:r>
              <a:rPr lang="en-IN" sz="1800" dirty="0"/>
              <a:t>  </a:t>
            </a:r>
            <a:endParaRPr sz="1800" dirty="0"/>
          </a:p>
        </p:txBody>
      </p:sp>
      <p:sp>
        <p:nvSpPr>
          <p:cNvPr id="316" name="Google Shape;316;p36"/>
          <p:cNvSpPr txBox="1">
            <a:spLocks noGrp="1"/>
          </p:cNvSpPr>
          <p:nvPr>
            <p:ph type="title"/>
          </p:nvPr>
        </p:nvSpPr>
        <p:spPr>
          <a:xfrm>
            <a:off x="4010116" y="155950"/>
            <a:ext cx="5462700" cy="396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Credits</a:t>
            </a:r>
            <a:endParaRPr dirty="0"/>
          </a:p>
        </p:txBody>
      </p:sp>
      <p:sp>
        <p:nvSpPr>
          <p:cNvPr id="317" name="Google Shape;317;p36"/>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0"/>
          <p:cNvSpPr txBox="1">
            <a:spLocks noGrp="1"/>
          </p:cNvSpPr>
          <p:nvPr>
            <p:ph type="title"/>
          </p:nvPr>
        </p:nvSpPr>
        <p:spPr>
          <a:xfrm>
            <a:off x="1984939" y="483419"/>
            <a:ext cx="5462700" cy="396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Roadmap for Unit IV</a:t>
            </a:r>
            <a:endParaRPr dirty="0"/>
          </a:p>
        </p:txBody>
      </p:sp>
      <p:sp>
        <p:nvSpPr>
          <p:cNvPr id="380" name="Google Shape;380;p40"/>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solidFill>
                  <a:schemeClr val="accent5"/>
                </a:solidFill>
              </a:rPr>
              <a:t>57</a:t>
            </a:fld>
            <a:endParaRPr>
              <a:solidFill>
                <a:schemeClr val="accent5"/>
              </a:solidFill>
            </a:endParaRPr>
          </a:p>
        </p:txBody>
      </p:sp>
      <p:sp>
        <p:nvSpPr>
          <p:cNvPr id="381" name="Google Shape;381;p40"/>
          <p:cNvSpPr/>
          <p:nvPr/>
        </p:nvSpPr>
        <p:spPr>
          <a:xfrm>
            <a:off x="0" y="25234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228600"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 name="Google Shape;382;p40"/>
          <p:cNvSpPr/>
          <p:nvPr/>
        </p:nvSpPr>
        <p:spPr>
          <a:xfrm>
            <a:off x="0" y="25234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19050" cap="flat" cmpd="sng">
            <a:solidFill>
              <a:schemeClr val="dk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nvGrpSpPr>
          <p:cNvPr id="383" name="Google Shape;383;p40"/>
          <p:cNvGrpSpPr/>
          <p:nvPr/>
        </p:nvGrpSpPr>
        <p:grpSpPr>
          <a:xfrm>
            <a:off x="1786339" y="1855801"/>
            <a:ext cx="473400" cy="473400"/>
            <a:chOff x="1786339" y="1703401"/>
            <a:chExt cx="473400" cy="473400"/>
          </a:xfrm>
        </p:grpSpPr>
        <p:sp>
          <p:nvSpPr>
            <p:cNvPr id="384" name="Google Shape;384;p40"/>
            <p:cNvSpPr/>
            <p:nvPr/>
          </p:nvSpPr>
          <p:spPr>
            <a:xfrm rot="8100000">
              <a:off x="1855667" y="1772729"/>
              <a:ext cx="334744" cy="334744"/>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85" name="Google Shape;385;p40"/>
            <p:cNvSpPr/>
            <p:nvPr/>
          </p:nvSpPr>
          <p:spPr>
            <a:xfrm>
              <a:off x="195598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1</a:t>
              </a:r>
              <a:endParaRPr sz="600">
                <a:solidFill>
                  <a:schemeClr val="dk2"/>
                </a:solidFill>
                <a:latin typeface="Lora"/>
                <a:ea typeface="Lora"/>
                <a:cs typeface="Lora"/>
                <a:sym typeface="Lora"/>
              </a:endParaRPr>
            </a:p>
          </p:txBody>
        </p:sp>
      </p:grpSp>
      <p:grpSp>
        <p:nvGrpSpPr>
          <p:cNvPr id="386" name="Google Shape;386;p40"/>
          <p:cNvGrpSpPr/>
          <p:nvPr/>
        </p:nvGrpSpPr>
        <p:grpSpPr>
          <a:xfrm>
            <a:off x="3814414" y="1855801"/>
            <a:ext cx="473400" cy="473400"/>
            <a:chOff x="3814414" y="1703401"/>
            <a:chExt cx="473400" cy="473400"/>
          </a:xfrm>
        </p:grpSpPr>
        <p:sp>
          <p:nvSpPr>
            <p:cNvPr id="387" name="Google Shape;387;p40"/>
            <p:cNvSpPr/>
            <p:nvPr/>
          </p:nvSpPr>
          <p:spPr>
            <a:xfrm rot="8100000">
              <a:off x="3883742" y="1772729"/>
              <a:ext cx="334744" cy="334744"/>
            </a:xfrm>
            <a:prstGeom prst="teardrop">
              <a:avLst>
                <a:gd name="adj" fmla="val 10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88" name="Google Shape;388;p40"/>
            <p:cNvSpPr/>
            <p:nvPr/>
          </p:nvSpPr>
          <p:spPr>
            <a:xfrm>
              <a:off x="3984064"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3</a:t>
              </a:r>
              <a:endParaRPr sz="600">
                <a:solidFill>
                  <a:schemeClr val="dk2"/>
                </a:solidFill>
                <a:latin typeface="Lora"/>
                <a:ea typeface="Lora"/>
                <a:cs typeface="Lora"/>
                <a:sym typeface="Lora"/>
              </a:endParaRPr>
            </a:p>
          </p:txBody>
        </p:sp>
      </p:grpSp>
      <p:grpSp>
        <p:nvGrpSpPr>
          <p:cNvPr id="389" name="Google Shape;389;p40"/>
          <p:cNvGrpSpPr/>
          <p:nvPr/>
        </p:nvGrpSpPr>
        <p:grpSpPr>
          <a:xfrm>
            <a:off x="5842489" y="1855801"/>
            <a:ext cx="473400" cy="473400"/>
            <a:chOff x="5842489" y="1703401"/>
            <a:chExt cx="473400" cy="473400"/>
          </a:xfrm>
        </p:grpSpPr>
        <p:sp>
          <p:nvSpPr>
            <p:cNvPr id="390" name="Google Shape;390;p40"/>
            <p:cNvSpPr/>
            <p:nvPr/>
          </p:nvSpPr>
          <p:spPr>
            <a:xfrm rot="8100000">
              <a:off x="5911817" y="1772729"/>
              <a:ext cx="334744" cy="334744"/>
            </a:xfrm>
            <a:prstGeom prst="teardrop">
              <a:avLst>
                <a:gd name="adj" fmla="val 10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91" name="Google Shape;391;p40"/>
            <p:cNvSpPr/>
            <p:nvPr/>
          </p:nvSpPr>
          <p:spPr>
            <a:xfrm>
              <a:off x="601213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5</a:t>
              </a:r>
              <a:endParaRPr sz="600">
                <a:solidFill>
                  <a:schemeClr val="dk2"/>
                </a:solidFill>
                <a:latin typeface="Lora"/>
                <a:ea typeface="Lora"/>
                <a:cs typeface="Lora"/>
                <a:sym typeface="Lora"/>
              </a:endParaRPr>
            </a:p>
          </p:txBody>
        </p:sp>
      </p:grpSp>
      <p:grpSp>
        <p:nvGrpSpPr>
          <p:cNvPr id="392" name="Google Shape;392;p40"/>
          <p:cNvGrpSpPr/>
          <p:nvPr/>
        </p:nvGrpSpPr>
        <p:grpSpPr>
          <a:xfrm>
            <a:off x="6880814" y="3728700"/>
            <a:ext cx="473400" cy="473400"/>
            <a:chOff x="6880814" y="3576300"/>
            <a:chExt cx="473400" cy="473400"/>
          </a:xfrm>
        </p:grpSpPr>
        <p:sp>
          <p:nvSpPr>
            <p:cNvPr id="393" name="Google Shape;393;p40"/>
            <p:cNvSpPr/>
            <p:nvPr/>
          </p:nvSpPr>
          <p:spPr>
            <a:xfrm rot="-2700000">
              <a:off x="6950142" y="3645628"/>
              <a:ext cx="334744" cy="334744"/>
            </a:xfrm>
            <a:prstGeom prst="teardrop">
              <a:avLst>
                <a:gd name="adj" fmla="val 10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94" name="Google Shape;394;p40"/>
            <p:cNvSpPr/>
            <p:nvPr/>
          </p:nvSpPr>
          <p:spPr>
            <a:xfrm flipH="1">
              <a:off x="705046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6</a:t>
              </a:r>
              <a:endParaRPr sz="600">
                <a:solidFill>
                  <a:schemeClr val="dk2"/>
                </a:solidFill>
                <a:latin typeface="Lora"/>
                <a:ea typeface="Lora"/>
                <a:cs typeface="Lora"/>
                <a:sym typeface="Lora"/>
              </a:endParaRPr>
            </a:p>
          </p:txBody>
        </p:sp>
      </p:grpSp>
      <p:grpSp>
        <p:nvGrpSpPr>
          <p:cNvPr id="395" name="Google Shape;395;p40"/>
          <p:cNvGrpSpPr/>
          <p:nvPr/>
        </p:nvGrpSpPr>
        <p:grpSpPr>
          <a:xfrm>
            <a:off x="4852739" y="3728700"/>
            <a:ext cx="473400" cy="473400"/>
            <a:chOff x="4852739" y="3576300"/>
            <a:chExt cx="473400" cy="473400"/>
          </a:xfrm>
        </p:grpSpPr>
        <p:sp>
          <p:nvSpPr>
            <p:cNvPr id="396" name="Google Shape;396;p40"/>
            <p:cNvSpPr/>
            <p:nvPr/>
          </p:nvSpPr>
          <p:spPr>
            <a:xfrm rot="-2700000">
              <a:off x="4922067" y="3645628"/>
              <a:ext cx="334744" cy="334744"/>
            </a:xfrm>
            <a:prstGeom prst="teardrop">
              <a:avLst>
                <a:gd name="adj" fmla="val 10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97" name="Google Shape;397;p40"/>
            <p:cNvSpPr/>
            <p:nvPr/>
          </p:nvSpPr>
          <p:spPr>
            <a:xfrm flipH="1">
              <a:off x="5022389"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4</a:t>
              </a:r>
              <a:endParaRPr sz="600">
                <a:solidFill>
                  <a:schemeClr val="dk2"/>
                </a:solidFill>
                <a:latin typeface="Lora"/>
                <a:ea typeface="Lora"/>
                <a:cs typeface="Lora"/>
                <a:sym typeface="Lora"/>
              </a:endParaRPr>
            </a:p>
          </p:txBody>
        </p:sp>
      </p:grpSp>
      <p:grpSp>
        <p:nvGrpSpPr>
          <p:cNvPr id="398" name="Google Shape;398;p40"/>
          <p:cNvGrpSpPr/>
          <p:nvPr/>
        </p:nvGrpSpPr>
        <p:grpSpPr>
          <a:xfrm>
            <a:off x="2824664" y="3728700"/>
            <a:ext cx="473400" cy="473400"/>
            <a:chOff x="2824664" y="3576300"/>
            <a:chExt cx="473400" cy="473400"/>
          </a:xfrm>
        </p:grpSpPr>
        <p:sp>
          <p:nvSpPr>
            <p:cNvPr id="399" name="Google Shape;399;p40"/>
            <p:cNvSpPr/>
            <p:nvPr/>
          </p:nvSpPr>
          <p:spPr>
            <a:xfrm rot="-2700000">
              <a:off x="2893992" y="3645628"/>
              <a:ext cx="334744" cy="334744"/>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400" name="Google Shape;400;p40"/>
            <p:cNvSpPr/>
            <p:nvPr/>
          </p:nvSpPr>
          <p:spPr>
            <a:xfrm flipH="1">
              <a:off x="299431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2</a:t>
              </a:r>
              <a:endParaRPr sz="600">
                <a:solidFill>
                  <a:schemeClr val="dk2"/>
                </a:solidFill>
                <a:latin typeface="Lora"/>
                <a:ea typeface="Lora"/>
                <a:cs typeface="Lora"/>
                <a:sym typeface="Lora"/>
              </a:endParaRPr>
            </a:p>
          </p:txBody>
        </p:sp>
      </p:grpSp>
      <p:sp>
        <p:nvSpPr>
          <p:cNvPr id="401" name="Google Shape;401;p40"/>
          <p:cNvSpPr txBox="1"/>
          <p:nvPr/>
        </p:nvSpPr>
        <p:spPr>
          <a:xfrm>
            <a:off x="1379850" y="1308500"/>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dirty="0">
                <a:solidFill>
                  <a:schemeClr val="accent3"/>
                </a:solidFill>
                <a:latin typeface="Lora"/>
                <a:ea typeface="Lora"/>
                <a:cs typeface="Lora"/>
                <a:sym typeface="Lora"/>
              </a:rPr>
              <a:t>Introduction to Pointers</a:t>
            </a:r>
            <a:endParaRPr sz="900" dirty="0">
              <a:solidFill>
                <a:schemeClr val="accent3"/>
              </a:solidFill>
              <a:latin typeface="Lora"/>
              <a:ea typeface="Lora"/>
              <a:cs typeface="Lora"/>
              <a:sym typeface="Lora"/>
            </a:endParaRPr>
          </a:p>
        </p:txBody>
      </p:sp>
      <p:sp>
        <p:nvSpPr>
          <p:cNvPr id="402" name="Google Shape;402;p40"/>
          <p:cNvSpPr txBox="1"/>
          <p:nvPr/>
        </p:nvSpPr>
        <p:spPr>
          <a:xfrm>
            <a:off x="3377205" y="1308500"/>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Structures </a:t>
            </a:r>
            <a:endParaRPr sz="900" dirty="0">
              <a:solidFill>
                <a:schemeClr val="dk2"/>
              </a:solidFill>
              <a:latin typeface="Lora"/>
              <a:ea typeface="Lora"/>
              <a:cs typeface="Lora"/>
              <a:sym typeface="Lora"/>
            </a:endParaRPr>
          </a:p>
        </p:txBody>
      </p:sp>
      <p:sp>
        <p:nvSpPr>
          <p:cNvPr id="403" name="Google Shape;403;p40"/>
          <p:cNvSpPr txBox="1"/>
          <p:nvPr/>
        </p:nvSpPr>
        <p:spPr>
          <a:xfrm>
            <a:off x="5436010" y="1308500"/>
            <a:ext cx="1444804"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Enum and Typedef</a:t>
            </a:r>
            <a:endParaRPr sz="900" dirty="0">
              <a:solidFill>
                <a:schemeClr val="dk2"/>
              </a:solidFill>
              <a:latin typeface="Lora"/>
              <a:ea typeface="Lora"/>
              <a:cs typeface="Lora"/>
              <a:sym typeface="Lora"/>
            </a:endParaRPr>
          </a:p>
        </p:txBody>
      </p:sp>
      <p:sp>
        <p:nvSpPr>
          <p:cNvPr id="404" name="Google Shape;404;p40"/>
          <p:cNvSpPr txBox="1"/>
          <p:nvPr/>
        </p:nvSpPr>
        <p:spPr>
          <a:xfrm>
            <a:off x="2418175" y="4216000"/>
            <a:ext cx="1477964"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Pointer Expressions and Arithmetic</a:t>
            </a:r>
            <a:endParaRPr sz="900" dirty="0">
              <a:solidFill>
                <a:schemeClr val="dk2"/>
              </a:solidFill>
              <a:latin typeface="Lora"/>
              <a:ea typeface="Lora"/>
              <a:cs typeface="Lora"/>
              <a:sym typeface="Lora"/>
            </a:endParaRPr>
          </a:p>
        </p:txBody>
      </p:sp>
      <p:sp>
        <p:nvSpPr>
          <p:cNvPr id="405" name="Google Shape;405;p40"/>
          <p:cNvSpPr txBox="1"/>
          <p:nvPr/>
        </p:nvSpPr>
        <p:spPr>
          <a:xfrm>
            <a:off x="4446255" y="4216000"/>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Union</a:t>
            </a:r>
            <a:endParaRPr sz="900" dirty="0">
              <a:solidFill>
                <a:schemeClr val="dk2"/>
              </a:solidFill>
              <a:latin typeface="Lora"/>
              <a:ea typeface="Lora"/>
              <a:cs typeface="Lora"/>
              <a:sym typeface="Lora"/>
            </a:endParaRPr>
          </a:p>
        </p:txBody>
      </p:sp>
      <p:sp>
        <p:nvSpPr>
          <p:cNvPr id="406" name="Google Shape;406;p40"/>
          <p:cNvSpPr txBox="1"/>
          <p:nvPr/>
        </p:nvSpPr>
        <p:spPr>
          <a:xfrm>
            <a:off x="6474335" y="4216000"/>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Summary</a:t>
            </a:r>
            <a:endParaRPr sz="900" b="1" dirty="0">
              <a:solidFill>
                <a:schemeClr val="accent3"/>
              </a:solidFill>
              <a:latin typeface="Lora"/>
              <a:ea typeface="Lora"/>
              <a:cs typeface="Lora"/>
              <a:sym typeface="Lor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0"/>
          <p:cNvSpPr txBox="1">
            <a:spLocks noGrp="1"/>
          </p:cNvSpPr>
          <p:nvPr>
            <p:ph type="title"/>
          </p:nvPr>
        </p:nvSpPr>
        <p:spPr>
          <a:xfrm>
            <a:off x="2121389" y="230671"/>
            <a:ext cx="5462700" cy="396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Roadmap to Programming in C</a:t>
            </a:r>
            <a:endParaRPr dirty="0"/>
          </a:p>
        </p:txBody>
      </p:sp>
      <p:sp>
        <p:nvSpPr>
          <p:cNvPr id="380" name="Google Shape;380;p40"/>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solidFill>
                  <a:schemeClr val="accent5"/>
                </a:solidFill>
              </a:rPr>
              <a:t>58</a:t>
            </a:fld>
            <a:endParaRPr>
              <a:solidFill>
                <a:schemeClr val="accent5"/>
              </a:solidFill>
            </a:endParaRPr>
          </a:p>
        </p:txBody>
      </p:sp>
      <p:sp>
        <p:nvSpPr>
          <p:cNvPr id="381" name="Google Shape;381;p40"/>
          <p:cNvSpPr/>
          <p:nvPr/>
        </p:nvSpPr>
        <p:spPr>
          <a:xfrm>
            <a:off x="0" y="25234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228600"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 name="Google Shape;382;p40"/>
          <p:cNvSpPr/>
          <p:nvPr/>
        </p:nvSpPr>
        <p:spPr>
          <a:xfrm>
            <a:off x="0" y="25234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19050" cap="flat" cmpd="sng">
            <a:solidFill>
              <a:schemeClr val="dk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nvGrpSpPr>
          <p:cNvPr id="383" name="Google Shape;383;p40"/>
          <p:cNvGrpSpPr/>
          <p:nvPr/>
        </p:nvGrpSpPr>
        <p:grpSpPr>
          <a:xfrm>
            <a:off x="1786339" y="1855801"/>
            <a:ext cx="473400" cy="473400"/>
            <a:chOff x="1786339" y="1703401"/>
            <a:chExt cx="473400" cy="473400"/>
          </a:xfrm>
        </p:grpSpPr>
        <p:sp>
          <p:nvSpPr>
            <p:cNvPr id="384" name="Google Shape;384;p40"/>
            <p:cNvSpPr/>
            <p:nvPr/>
          </p:nvSpPr>
          <p:spPr>
            <a:xfrm rot="8100000">
              <a:off x="1855667" y="1772729"/>
              <a:ext cx="334744" cy="334744"/>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85" name="Google Shape;385;p40"/>
            <p:cNvSpPr/>
            <p:nvPr/>
          </p:nvSpPr>
          <p:spPr>
            <a:xfrm>
              <a:off x="195598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1</a:t>
              </a:r>
              <a:endParaRPr sz="600">
                <a:solidFill>
                  <a:schemeClr val="dk2"/>
                </a:solidFill>
                <a:latin typeface="Lora"/>
                <a:ea typeface="Lora"/>
                <a:cs typeface="Lora"/>
                <a:sym typeface="Lora"/>
              </a:endParaRPr>
            </a:p>
          </p:txBody>
        </p:sp>
      </p:grpSp>
      <p:grpSp>
        <p:nvGrpSpPr>
          <p:cNvPr id="386" name="Google Shape;386;p40"/>
          <p:cNvGrpSpPr/>
          <p:nvPr/>
        </p:nvGrpSpPr>
        <p:grpSpPr>
          <a:xfrm>
            <a:off x="3814414" y="1855801"/>
            <a:ext cx="473400" cy="473400"/>
            <a:chOff x="3814414" y="1703401"/>
            <a:chExt cx="473400" cy="473400"/>
          </a:xfrm>
        </p:grpSpPr>
        <p:sp>
          <p:nvSpPr>
            <p:cNvPr id="387" name="Google Shape;387;p40"/>
            <p:cNvSpPr/>
            <p:nvPr/>
          </p:nvSpPr>
          <p:spPr>
            <a:xfrm rot="8100000">
              <a:off x="3883742" y="1772729"/>
              <a:ext cx="334744" cy="334744"/>
            </a:xfrm>
            <a:prstGeom prst="teardrop">
              <a:avLst>
                <a:gd name="adj" fmla="val 10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88" name="Google Shape;388;p40"/>
            <p:cNvSpPr/>
            <p:nvPr/>
          </p:nvSpPr>
          <p:spPr>
            <a:xfrm>
              <a:off x="3984064"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3</a:t>
              </a:r>
              <a:endParaRPr sz="600">
                <a:solidFill>
                  <a:schemeClr val="dk2"/>
                </a:solidFill>
                <a:latin typeface="Lora"/>
                <a:ea typeface="Lora"/>
                <a:cs typeface="Lora"/>
                <a:sym typeface="Lora"/>
              </a:endParaRPr>
            </a:p>
          </p:txBody>
        </p:sp>
      </p:grpSp>
      <p:grpSp>
        <p:nvGrpSpPr>
          <p:cNvPr id="389" name="Google Shape;389;p40"/>
          <p:cNvGrpSpPr/>
          <p:nvPr/>
        </p:nvGrpSpPr>
        <p:grpSpPr>
          <a:xfrm>
            <a:off x="5842489" y="1855801"/>
            <a:ext cx="473400" cy="473400"/>
            <a:chOff x="5842489" y="1703401"/>
            <a:chExt cx="473400" cy="473400"/>
          </a:xfrm>
        </p:grpSpPr>
        <p:sp>
          <p:nvSpPr>
            <p:cNvPr id="390" name="Google Shape;390;p40"/>
            <p:cNvSpPr/>
            <p:nvPr/>
          </p:nvSpPr>
          <p:spPr>
            <a:xfrm rot="8100000">
              <a:off x="5911817" y="1772729"/>
              <a:ext cx="334744" cy="334744"/>
            </a:xfrm>
            <a:prstGeom prst="teardrop">
              <a:avLst>
                <a:gd name="adj" fmla="val 10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91" name="Google Shape;391;p40"/>
            <p:cNvSpPr/>
            <p:nvPr/>
          </p:nvSpPr>
          <p:spPr>
            <a:xfrm>
              <a:off x="601213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5</a:t>
              </a:r>
              <a:endParaRPr sz="600">
                <a:solidFill>
                  <a:schemeClr val="dk2"/>
                </a:solidFill>
                <a:latin typeface="Lora"/>
                <a:ea typeface="Lora"/>
                <a:cs typeface="Lora"/>
                <a:sym typeface="Lora"/>
              </a:endParaRPr>
            </a:p>
          </p:txBody>
        </p:sp>
      </p:grpSp>
      <p:grpSp>
        <p:nvGrpSpPr>
          <p:cNvPr id="392" name="Google Shape;392;p40"/>
          <p:cNvGrpSpPr/>
          <p:nvPr/>
        </p:nvGrpSpPr>
        <p:grpSpPr>
          <a:xfrm>
            <a:off x="6880814" y="3728700"/>
            <a:ext cx="473400" cy="473400"/>
            <a:chOff x="6880814" y="3576300"/>
            <a:chExt cx="473400" cy="473400"/>
          </a:xfrm>
        </p:grpSpPr>
        <p:sp>
          <p:nvSpPr>
            <p:cNvPr id="393" name="Google Shape;393;p40"/>
            <p:cNvSpPr/>
            <p:nvPr/>
          </p:nvSpPr>
          <p:spPr>
            <a:xfrm rot="-2700000">
              <a:off x="6950142" y="3645628"/>
              <a:ext cx="334744" cy="334744"/>
            </a:xfrm>
            <a:prstGeom prst="teardrop">
              <a:avLst>
                <a:gd name="adj" fmla="val 10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94" name="Google Shape;394;p40"/>
            <p:cNvSpPr/>
            <p:nvPr/>
          </p:nvSpPr>
          <p:spPr>
            <a:xfrm flipH="1">
              <a:off x="705046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6</a:t>
              </a:r>
              <a:endParaRPr sz="600">
                <a:solidFill>
                  <a:schemeClr val="dk2"/>
                </a:solidFill>
                <a:latin typeface="Lora"/>
                <a:ea typeface="Lora"/>
                <a:cs typeface="Lora"/>
                <a:sym typeface="Lora"/>
              </a:endParaRPr>
            </a:p>
          </p:txBody>
        </p:sp>
      </p:grpSp>
      <p:grpSp>
        <p:nvGrpSpPr>
          <p:cNvPr id="395" name="Google Shape;395;p40"/>
          <p:cNvGrpSpPr/>
          <p:nvPr/>
        </p:nvGrpSpPr>
        <p:grpSpPr>
          <a:xfrm>
            <a:off x="4852739" y="3728700"/>
            <a:ext cx="473400" cy="473400"/>
            <a:chOff x="4852739" y="3576300"/>
            <a:chExt cx="473400" cy="473400"/>
          </a:xfrm>
        </p:grpSpPr>
        <p:sp>
          <p:nvSpPr>
            <p:cNvPr id="396" name="Google Shape;396;p40"/>
            <p:cNvSpPr/>
            <p:nvPr/>
          </p:nvSpPr>
          <p:spPr>
            <a:xfrm rot="-2700000">
              <a:off x="4922067" y="3645628"/>
              <a:ext cx="334744" cy="334744"/>
            </a:xfrm>
            <a:prstGeom prst="teardrop">
              <a:avLst>
                <a:gd name="adj" fmla="val 10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97" name="Google Shape;397;p40"/>
            <p:cNvSpPr/>
            <p:nvPr/>
          </p:nvSpPr>
          <p:spPr>
            <a:xfrm flipH="1">
              <a:off x="5022389"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4</a:t>
              </a:r>
              <a:endParaRPr sz="600">
                <a:solidFill>
                  <a:schemeClr val="dk2"/>
                </a:solidFill>
                <a:latin typeface="Lora"/>
                <a:ea typeface="Lora"/>
                <a:cs typeface="Lora"/>
                <a:sym typeface="Lora"/>
              </a:endParaRPr>
            </a:p>
          </p:txBody>
        </p:sp>
      </p:grpSp>
      <p:grpSp>
        <p:nvGrpSpPr>
          <p:cNvPr id="398" name="Google Shape;398;p40"/>
          <p:cNvGrpSpPr/>
          <p:nvPr/>
        </p:nvGrpSpPr>
        <p:grpSpPr>
          <a:xfrm>
            <a:off x="2824664" y="3728700"/>
            <a:ext cx="473400" cy="473400"/>
            <a:chOff x="2824664" y="3576300"/>
            <a:chExt cx="473400" cy="473400"/>
          </a:xfrm>
        </p:grpSpPr>
        <p:sp>
          <p:nvSpPr>
            <p:cNvPr id="399" name="Google Shape;399;p40"/>
            <p:cNvSpPr/>
            <p:nvPr/>
          </p:nvSpPr>
          <p:spPr>
            <a:xfrm rot="-2700000">
              <a:off x="2893992" y="3645628"/>
              <a:ext cx="334744" cy="334744"/>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400" name="Google Shape;400;p40"/>
            <p:cNvSpPr/>
            <p:nvPr/>
          </p:nvSpPr>
          <p:spPr>
            <a:xfrm flipH="1">
              <a:off x="299431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2</a:t>
              </a:r>
              <a:endParaRPr sz="600">
                <a:solidFill>
                  <a:schemeClr val="dk2"/>
                </a:solidFill>
                <a:latin typeface="Lora"/>
                <a:ea typeface="Lora"/>
                <a:cs typeface="Lora"/>
                <a:sym typeface="Lora"/>
              </a:endParaRPr>
            </a:p>
          </p:txBody>
        </p:sp>
      </p:grpSp>
      <p:sp>
        <p:nvSpPr>
          <p:cNvPr id="401" name="Google Shape;401;p40"/>
          <p:cNvSpPr txBox="1"/>
          <p:nvPr/>
        </p:nvSpPr>
        <p:spPr>
          <a:xfrm>
            <a:off x="1379850" y="1308500"/>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Unit I</a:t>
            </a:r>
            <a:r>
              <a:rPr lang="en" sz="900" b="1" dirty="0">
                <a:solidFill>
                  <a:schemeClr val="dk2"/>
                </a:solidFill>
                <a:latin typeface="Lora"/>
                <a:ea typeface="Lora"/>
                <a:cs typeface="Lora"/>
                <a:sym typeface="Lora"/>
              </a:rPr>
              <a:t> </a:t>
            </a:r>
          </a:p>
          <a:p>
            <a:pPr marL="0" marR="0" lvl="0" indent="0" algn="ctr" rtl="0">
              <a:lnSpc>
                <a:spcPct val="100000"/>
              </a:lnSpc>
              <a:spcBef>
                <a:spcPts val="0"/>
              </a:spcBef>
              <a:spcAft>
                <a:spcPts val="0"/>
              </a:spcAft>
              <a:buNone/>
            </a:pPr>
            <a:r>
              <a:rPr lang="en" sz="900" dirty="0">
                <a:solidFill>
                  <a:schemeClr val="dk2"/>
                </a:solidFill>
                <a:latin typeface="Lora"/>
                <a:ea typeface="Lora"/>
                <a:cs typeface="Lora"/>
                <a:sym typeface="Lora"/>
              </a:rPr>
              <a:t>Computer Based Problem Solvingand Overview of C</a:t>
            </a:r>
            <a:endParaRPr sz="900" dirty="0">
              <a:solidFill>
                <a:schemeClr val="dk2"/>
              </a:solidFill>
              <a:latin typeface="Lora"/>
              <a:ea typeface="Lora"/>
              <a:cs typeface="Lora"/>
              <a:sym typeface="Lora"/>
            </a:endParaRPr>
          </a:p>
        </p:txBody>
      </p:sp>
      <p:sp>
        <p:nvSpPr>
          <p:cNvPr id="402" name="Google Shape;402;p40"/>
          <p:cNvSpPr txBox="1"/>
          <p:nvPr/>
        </p:nvSpPr>
        <p:spPr>
          <a:xfrm>
            <a:off x="3377205" y="1308500"/>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Unit III </a:t>
            </a:r>
          </a:p>
          <a:p>
            <a:pPr marL="0" marR="0" lvl="0" indent="0" algn="ctr" rtl="0">
              <a:lnSpc>
                <a:spcPct val="100000"/>
              </a:lnSpc>
              <a:spcBef>
                <a:spcPts val="0"/>
              </a:spcBef>
              <a:spcAft>
                <a:spcPts val="0"/>
              </a:spcAft>
              <a:buNone/>
            </a:pPr>
            <a:r>
              <a:rPr lang="en" sz="900" dirty="0">
                <a:solidFill>
                  <a:schemeClr val="dk2"/>
                </a:solidFill>
                <a:latin typeface="Lora"/>
                <a:ea typeface="Lora"/>
                <a:cs typeface="Lora"/>
                <a:sym typeface="Lora"/>
              </a:rPr>
              <a:t>Functions and Recursions</a:t>
            </a:r>
            <a:endParaRPr sz="900" dirty="0">
              <a:solidFill>
                <a:schemeClr val="dk2"/>
              </a:solidFill>
              <a:latin typeface="Lora"/>
              <a:ea typeface="Lora"/>
              <a:cs typeface="Lora"/>
              <a:sym typeface="Lora"/>
            </a:endParaRPr>
          </a:p>
        </p:txBody>
      </p:sp>
      <p:sp>
        <p:nvSpPr>
          <p:cNvPr id="403" name="Google Shape;403;p40"/>
          <p:cNvSpPr txBox="1"/>
          <p:nvPr/>
        </p:nvSpPr>
        <p:spPr>
          <a:xfrm>
            <a:off x="5436010" y="1308500"/>
            <a:ext cx="1444804"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Unit V </a:t>
            </a:r>
          </a:p>
          <a:p>
            <a:pPr marL="0" marR="0" lvl="0" indent="0" algn="ctr" rtl="0">
              <a:lnSpc>
                <a:spcPct val="100000"/>
              </a:lnSpc>
              <a:spcBef>
                <a:spcPts val="0"/>
              </a:spcBef>
              <a:spcAft>
                <a:spcPts val="0"/>
              </a:spcAft>
              <a:buNone/>
            </a:pPr>
            <a:r>
              <a:rPr lang="en" sz="900" dirty="0">
                <a:solidFill>
                  <a:schemeClr val="dk2"/>
                </a:solidFill>
                <a:latin typeface="Lora"/>
                <a:ea typeface="Lora"/>
                <a:cs typeface="Lora"/>
                <a:sym typeface="Lora"/>
              </a:rPr>
              <a:t>File Handling, Preprocessor, Standard Library and Header Files</a:t>
            </a:r>
            <a:endParaRPr sz="900" dirty="0">
              <a:solidFill>
                <a:schemeClr val="dk2"/>
              </a:solidFill>
              <a:latin typeface="Lora"/>
              <a:ea typeface="Lora"/>
              <a:cs typeface="Lora"/>
              <a:sym typeface="Lora"/>
            </a:endParaRPr>
          </a:p>
        </p:txBody>
      </p:sp>
      <p:sp>
        <p:nvSpPr>
          <p:cNvPr id="404" name="Google Shape;404;p40"/>
          <p:cNvSpPr txBox="1"/>
          <p:nvPr/>
        </p:nvSpPr>
        <p:spPr>
          <a:xfrm>
            <a:off x="2418175" y="4216000"/>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Unit – II</a:t>
            </a:r>
          </a:p>
          <a:p>
            <a:pPr marL="0" marR="0" lvl="0" indent="0" algn="ctr" rtl="0">
              <a:lnSpc>
                <a:spcPct val="100000"/>
              </a:lnSpc>
              <a:spcBef>
                <a:spcPts val="0"/>
              </a:spcBef>
              <a:spcAft>
                <a:spcPts val="0"/>
              </a:spcAft>
              <a:buNone/>
            </a:pPr>
            <a:r>
              <a:rPr lang="en" sz="900" dirty="0">
                <a:solidFill>
                  <a:schemeClr val="dk2"/>
                </a:solidFill>
                <a:latin typeface="Lora"/>
                <a:ea typeface="Lora"/>
                <a:cs typeface="Lora"/>
                <a:sym typeface="Lora"/>
              </a:rPr>
              <a:t>Branching, Looping, Arrays, Strings</a:t>
            </a:r>
            <a:endParaRPr sz="900" dirty="0">
              <a:solidFill>
                <a:schemeClr val="dk2"/>
              </a:solidFill>
              <a:latin typeface="Lora"/>
              <a:ea typeface="Lora"/>
              <a:cs typeface="Lora"/>
              <a:sym typeface="Lora"/>
            </a:endParaRPr>
          </a:p>
        </p:txBody>
      </p:sp>
      <p:sp>
        <p:nvSpPr>
          <p:cNvPr id="405" name="Google Shape;405;p40"/>
          <p:cNvSpPr txBox="1"/>
          <p:nvPr/>
        </p:nvSpPr>
        <p:spPr>
          <a:xfrm>
            <a:off x="4446255" y="4216000"/>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Unit IV </a:t>
            </a:r>
          </a:p>
          <a:p>
            <a:pPr marL="0" marR="0" lvl="0" indent="0" algn="ctr" rtl="0">
              <a:lnSpc>
                <a:spcPct val="100000"/>
              </a:lnSpc>
              <a:spcBef>
                <a:spcPts val="0"/>
              </a:spcBef>
              <a:spcAft>
                <a:spcPts val="0"/>
              </a:spcAft>
              <a:buNone/>
            </a:pPr>
            <a:r>
              <a:rPr lang="en" sz="900" dirty="0">
                <a:solidFill>
                  <a:schemeClr val="dk2"/>
                </a:solidFill>
                <a:latin typeface="Lora"/>
                <a:ea typeface="Lora"/>
                <a:cs typeface="Lora"/>
                <a:sym typeface="Lora"/>
              </a:rPr>
              <a:t>Dynamic Data Structures, Pointers, Union</a:t>
            </a:r>
            <a:endParaRPr sz="900" dirty="0">
              <a:solidFill>
                <a:schemeClr val="dk2"/>
              </a:solidFill>
              <a:latin typeface="Lora"/>
              <a:ea typeface="Lora"/>
              <a:cs typeface="Lora"/>
              <a:sym typeface="Lora"/>
            </a:endParaRPr>
          </a:p>
        </p:txBody>
      </p:sp>
      <p:sp>
        <p:nvSpPr>
          <p:cNvPr id="406" name="Google Shape;406;p40"/>
          <p:cNvSpPr txBox="1"/>
          <p:nvPr/>
        </p:nvSpPr>
        <p:spPr>
          <a:xfrm>
            <a:off x="6474335" y="4216000"/>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Revision</a:t>
            </a:r>
            <a:endParaRPr sz="900" b="1" dirty="0">
              <a:solidFill>
                <a:schemeClr val="accent3"/>
              </a:solidFill>
              <a:latin typeface="Lora"/>
              <a:ea typeface="Lora"/>
              <a:cs typeface="Lora"/>
              <a:sym typeface="Lora"/>
            </a:endParaRPr>
          </a:p>
        </p:txBody>
      </p:sp>
      <p:sp>
        <p:nvSpPr>
          <p:cNvPr id="6" name="Rectangle: Rounded Corners 5">
            <a:extLst>
              <a:ext uri="{FF2B5EF4-FFF2-40B4-BE49-F238E27FC236}">
                <a16:creationId xmlns:a16="http://schemas.microsoft.com/office/drawing/2014/main" id="{8BFC7BCE-A3EE-D5E4-CCAE-3CCC40241D6A}"/>
              </a:ext>
            </a:extLst>
          </p:cNvPr>
          <p:cNvSpPr/>
          <p:nvPr/>
        </p:nvSpPr>
        <p:spPr>
          <a:xfrm flipV="1">
            <a:off x="19878" y="3458932"/>
            <a:ext cx="248478" cy="148971"/>
          </a:xfrm>
          <a:prstGeom prst="roundRect">
            <a:avLst/>
          </a:prstGeom>
          <a:blipFill>
            <a:blip r:embed="rId3"/>
            <a:tile tx="0" ty="0" sx="100000" sy="100000" flip="none" algn="tl"/>
          </a:blip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9347955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44"/>
          <p:cNvSpPr txBox="1">
            <a:spLocks noGrp="1"/>
          </p:cNvSpPr>
          <p:nvPr>
            <p:ph type="title"/>
          </p:nvPr>
        </p:nvSpPr>
        <p:spPr>
          <a:xfrm>
            <a:off x="2373150" y="339143"/>
            <a:ext cx="5462700" cy="396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Feedback – Rating Star</a:t>
            </a:r>
            <a:endParaRPr dirty="0"/>
          </a:p>
        </p:txBody>
      </p:sp>
      <p:sp>
        <p:nvSpPr>
          <p:cNvPr id="461" name="Google Shape;461;p44"/>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solidFill>
                  <a:schemeClr val="accent5"/>
                </a:solidFill>
              </a:rPr>
              <a:t>59</a:t>
            </a:fld>
            <a:endParaRPr>
              <a:solidFill>
                <a:schemeClr val="accent5"/>
              </a:solidFill>
            </a:endParaRPr>
          </a:p>
        </p:txBody>
      </p:sp>
      <p:grpSp>
        <p:nvGrpSpPr>
          <p:cNvPr id="462" name="Google Shape;462;p44"/>
          <p:cNvGrpSpPr/>
          <p:nvPr/>
        </p:nvGrpSpPr>
        <p:grpSpPr>
          <a:xfrm>
            <a:off x="1236292" y="1413043"/>
            <a:ext cx="3608219" cy="3243858"/>
            <a:chOff x="3778727" y="4460423"/>
            <a:chExt cx="720160" cy="647438"/>
          </a:xfrm>
        </p:grpSpPr>
        <p:sp>
          <p:nvSpPr>
            <p:cNvPr id="463" name="Google Shape;463;p44"/>
            <p:cNvSpPr/>
            <p:nvPr/>
          </p:nvSpPr>
          <p:spPr>
            <a:xfrm>
              <a:off x="3957011" y="4902228"/>
              <a:ext cx="364723" cy="110621"/>
            </a:xfrm>
            <a:custGeom>
              <a:avLst/>
              <a:gdLst/>
              <a:ahLst/>
              <a:cxnLst/>
              <a:rect l="l" t="t" r="r" b="b"/>
              <a:pathLst>
                <a:path w="640" h="194" extrusionOk="0">
                  <a:moveTo>
                    <a:pt x="0" y="0"/>
                  </a:moveTo>
                  <a:cubicBezTo>
                    <a:pt x="63" y="130"/>
                    <a:pt x="63" y="130"/>
                    <a:pt x="63" y="130"/>
                  </a:cubicBezTo>
                  <a:cubicBezTo>
                    <a:pt x="64" y="130"/>
                    <a:pt x="64" y="130"/>
                    <a:pt x="64" y="130"/>
                  </a:cubicBezTo>
                  <a:cubicBezTo>
                    <a:pt x="64" y="130"/>
                    <a:pt x="64" y="130"/>
                    <a:pt x="64" y="131"/>
                  </a:cubicBezTo>
                  <a:cubicBezTo>
                    <a:pt x="70" y="143"/>
                    <a:pt x="70" y="143"/>
                    <a:pt x="70" y="143"/>
                  </a:cubicBezTo>
                  <a:cubicBezTo>
                    <a:pt x="93" y="170"/>
                    <a:pt x="188" y="194"/>
                    <a:pt x="320" y="194"/>
                  </a:cubicBezTo>
                  <a:cubicBezTo>
                    <a:pt x="452" y="194"/>
                    <a:pt x="547" y="170"/>
                    <a:pt x="571" y="143"/>
                  </a:cubicBezTo>
                  <a:cubicBezTo>
                    <a:pt x="577" y="131"/>
                    <a:pt x="577" y="131"/>
                    <a:pt x="577" y="131"/>
                  </a:cubicBezTo>
                  <a:cubicBezTo>
                    <a:pt x="577" y="130"/>
                    <a:pt x="577" y="130"/>
                    <a:pt x="577" y="130"/>
                  </a:cubicBezTo>
                  <a:cubicBezTo>
                    <a:pt x="577" y="130"/>
                    <a:pt x="577" y="130"/>
                    <a:pt x="577" y="130"/>
                  </a:cubicBezTo>
                  <a:cubicBezTo>
                    <a:pt x="640" y="0"/>
                    <a:pt x="640" y="0"/>
                    <a:pt x="640" y="0"/>
                  </a:cubicBezTo>
                  <a:cubicBezTo>
                    <a:pt x="587" y="29"/>
                    <a:pt x="452" y="46"/>
                    <a:pt x="320" y="46"/>
                  </a:cubicBezTo>
                  <a:cubicBezTo>
                    <a:pt x="189" y="46"/>
                    <a:pt x="53" y="29"/>
                    <a:pt x="0" y="0"/>
                  </a:cubicBezTo>
                  <a:close/>
                </a:path>
              </a:pathLst>
            </a:custGeom>
            <a:solidFill>
              <a:schemeClr val="accent5"/>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r>
                <a:rPr lang="en" sz="1200" b="1" dirty="0">
                  <a:solidFill>
                    <a:schemeClr val="lt1"/>
                  </a:solidFill>
                  <a:latin typeface="Lora"/>
                  <a:ea typeface="Lora"/>
                  <a:cs typeface="Lora"/>
                  <a:sym typeface="Lora"/>
                </a:rPr>
                <a:t>Communication, Presentation</a:t>
              </a:r>
              <a:endParaRPr sz="1200" b="1" i="0" u="none" strike="noStrike" cap="none" dirty="0">
                <a:solidFill>
                  <a:schemeClr val="lt1"/>
                </a:solidFill>
                <a:latin typeface="Lora"/>
                <a:ea typeface="Lora"/>
                <a:cs typeface="Lora"/>
                <a:sym typeface="Lora"/>
              </a:endParaRPr>
            </a:p>
          </p:txBody>
        </p:sp>
        <p:sp>
          <p:nvSpPr>
            <p:cNvPr id="464" name="Google Shape;464;p44"/>
            <p:cNvSpPr/>
            <p:nvPr/>
          </p:nvSpPr>
          <p:spPr>
            <a:xfrm>
              <a:off x="4002092" y="4999728"/>
              <a:ext cx="275015" cy="108132"/>
            </a:xfrm>
            <a:custGeom>
              <a:avLst/>
              <a:gdLst/>
              <a:ahLst/>
              <a:cxnLst/>
              <a:rect l="l" t="t" r="r" b="b"/>
              <a:pathLst>
                <a:path w="483" h="190" extrusionOk="0">
                  <a:moveTo>
                    <a:pt x="0" y="0"/>
                  </a:moveTo>
                  <a:cubicBezTo>
                    <a:pt x="61" y="125"/>
                    <a:pt x="61" y="125"/>
                    <a:pt x="61" y="125"/>
                  </a:cubicBezTo>
                  <a:cubicBezTo>
                    <a:pt x="62" y="126"/>
                    <a:pt x="62" y="127"/>
                    <a:pt x="63" y="128"/>
                  </a:cubicBezTo>
                  <a:cubicBezTo>
                    <a:pt x="70" y="144"/>
                    <a:pt x="70" y="144"/>
                    <a:pt x="70" y="144"/>
                  </a:cubicBezTo>
                  <a:cubicBezTo>
                    <a:pt x="93" y="170"/>
                    <a:pt x="162" y="190"/>
                    <a:pt x="241" y="190"/>
                  </a:cubicBezTo>
                  <a:cubicBezTo>
                    <a:pt x="320" y="190"/>
                    <a:pt x="389" y="170"/>
                    <a:pt x="412" y="144"/>
                  </a:cubicBezTo>
                  <a:cubicBezTo>
                    <a:pt x="420" y="128"/>
                    <a:pt x="420" y="128"/>
                    <a:pt x="420" y="128"/>
                  </a:cubicBezTo>
                  <a:cubicBezTo>
                    <a:pt x="421" y="127"/>
                    <a:pt x="421" y="126"/>
                    <a:pt x="421" y="125"/>
                  </a:cubicBezTo>
                  <a:cubicBezTo>
                    <a:pt x="483" y="0"/>
                    <a:pt x="483" y="0"/>
                    <a:pt x="483" y="0"/>
                  </a:cubicBezTo>
                  <a:cubicBezTo>
                    <a:pt x="437" y="26"/>
                    <a:pt x="338" y="41"/>
                    <a:pt x="241" y="41"/>
                  </a:cubicBezTo>
                  <a:cubicBezTo>
                    <a:pt x="144" y="41"/>
                    <a:pt x="45" y="26"/>
                    <a:pt x="0" y="0"/>
                  </a:cubicBezTo>
                  <a:close/>
                </a:path>
              </a:pathLst>
            </a:cu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r>
                <a:rPr lang="en" sz="1200" b="1" dirty="0">
                  <a:solidFill>
                    <a:schemeClr val="lt1"/>
                  </a:solidFill>
                  <a:latin typeface="Lora"/>
                  <a:ea typeface="Lora"/>
                  <a:cs typeface="Lora"/>
                  <a:sym typeface="Lora"/>
                </a:rPr>
                <a:t>Communication only</a:t>
              </a:r>
              <a:endParaRPr sz="1200" b="1" i="0" u="none" strike="noStrike" cap="none" dirty="0">
                <a:solidFill>
                  <a:schemeClr val="lt1"/>
                </a:solidFill>
                <a:latin typeface="Lora"/>
                <a:ea typeface="Lora"/>
                <a:cs typeface="Lora"/>
                <a:sym typeface="Lora"/>
              </a:endParaRPr>
            </a:p>
          </p:txBody>
        </p:sp>
        <p:sp>
          <p:nvSpPr>
            <p:cNvPr id="465" name="Google Shape;465;p44"/>
            <p:cNvSpPr/>
            <p:nvPr/>
          </p:nvSpPr>
          <p:spPr>
            <a:xfrm>
              <a:off x="3780312" y="4519014"/>
              <a:ext cx="718575" cy="115145"/>
            </a:xfrm>
            <a:custGeom>
              <a:avLst/>
              <a:gdLst/>
              <a:ahLst/>
              <a:cxnLst/>
              <a:rect l="l" t="t" r="r" b="b"/>
              <a:pathLst>
                <a:path w="1261" h="202" extrusionOk="0">
                  <a:moveTo>
                    <a:pt x="630" y="53"/>
                  </a:moveTo>
                  <a:cubicBezTo>
                    <a:pt x="363" y="53"/>
                    <a:pt x="82" y="34"/>
                    <a:pt x="0" y="0"/>
                  </a:cubicBezTo>
                  <a:cubicBezTo>
                    <a:pt x="71" y="146"/>
                    <a:pt x="71" y="146"/>
                    <a:pt x="71" y="146"/>
                  </a:cubicBezTo>
                  <a:cubicBezTo>
                    <a:pt x="88" y="157"/>
                    <a:pt x="134" y="170"/>
                    <a:pt x="227" y="181"/>
                  </a:cubicBezTo>
                  <a:cubicBezTo>
                    <a:pt x="334" y="194"/>
                    <a:pt x="478" y="202"/>
                    <a:pt x="630" y="202"/>
                  </a:cubicBezTo>
                  <a:cubicBezTo>
                    <a:pt x="630" y="202"/>
                    <a:pt x="630" y="202"/>
                    <a:pt x="630" y="202"/>
                  </a:cubicBezTo>
                  <a:cubicBezTo>
                    <a:pt x="929" y="202"/>
                    <a:pt x="1147" y="174"/>
                    <a:pt x="1189" y="146"/>
                  </a:cubicBezTo>
                  <a:cubicBezTo>
                    <a:pt x="1261" y="0"/>
                    <a:pt x="1261" y="0"/>
                    <a:pt x="1261" y="0"/>
                  </a:cubicBezTo>
                  <a:cubicBezTo>
                    <a:pt x="1179" y="34"/>
                    <a:pt x="897" y="53"/>
                    <a:pt x="630" y="53"/>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r>
                <a:rPr lang="en" sz="1200" b="1" dirty="0">
                  <a:solidFill>
                    <a:schemeClr val="lt1"/>
                  </a:solidFill>
                  <a:latin typeface="Lora"/>
                  <a:ea typeface="Lora"/>
                  <a:cs typeface="Lora"/>
                  <a:sym typeface="Lora"/>
                </a:rPr>
                <a:t>Communication, Presentation, Examples and Exercises</a:t>
              </a:r>
              <a:endParaRPr sz="1200" b="1" i="0" u="none" strike="noStrike" cap="none" dirty="0">
                <a:solidFill>
                  <a:schemeClr val="lt1"/>
                </a:solidFill>
                <a:latin typeface="Lora"/>
                <a:ea typeface="Lora"/>
                <a:cs typeface="Lora"/>
                <a:sym typeface="Lora"/>
              </a:endParaRPr>
            </a:p>
          </p:txBody>
        </p:sp>
        <p:sp>
          <p:nvSpPr>
            <p:cNvPr id="466" name="Google Shape;466;p44"/>
            <p:cNvSpPr/>
            <p:nvPr/>
          </p:nvSpPr>
          <p:spPr>
            <a:xfrm>
              <a:off x="3868662" y="4710395"/>
              <a:ext cx="541875" cy="112657"/>
            </a:xfrm>
            <a:custGeom>
              <a:avLst/>
              <a:gdLst/>
              <a:ahLst/>
              <a:cxnLst/>
              <a:rect l="l" t="t" r="r" b="b"/>
              <a:pathLst>
                <a:path w="951" h="198" extrusionOk="0">
                  <a:moveTo>
                    <a:pt x="0" y="0"/>
                  </a:moveTo>
                  <a:cubicBezTo>
                    <a:pt x="70" y="144"/>
                    <a:pt x="70" y="144"/>
                    <a:pt x="70" y="144"/>
                  </a:cubicBezTo>
                  <a:cubicBezTo>
                    <a:pt x="101" y="171"/>
                    <a:pt x="259" y="198"/>
                    <a:pt x="475" y="198"/>
                  </a:cubicBezTo>
                  <a:cubicBezTo>
                    <a:pt x="692" y="198"/>
                    <a:pt x="849" y="171"/>
                    <a:pt x="881" y="144"/>
                  </a:cubicBezTo>
                  <a:cubicBezTo>
                    <a:pt x="951" y="0"/>
                    <a:pt x="951" y="0"/>
                    <a:pt x="951" y="0"/>
                  </a:cubicBezTo>
                  <a:cubicBezTo>
                    <a:pt x="881" y="32"/>
                    <a:pt x="673" y="50"/>
                    <a:pt x="475" y="50"/>
                  </a:cubicBezTo>
                  <a:cubicBezTo>
                    <a:pt x="277" y="50"/>
                    <a:pt x="69" y="32"/>
                    <a:pt x="0" y="0"/>
                  </a:cubicBezTo>
                  <a:close/>
                </a:path>
              </a:pathLst>
            </a:custGeom>
            <a:solidFill>
              <a:schemeClr val="accent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r>
                <a:rPr lang="en" sz="1200" b="1" dirty="0">
                  <a:solidFill>
                    <a:schemeClr val="lt1"/>
                  </a:solidFill>
                  <a:latin typeface="Lora"/>
                  <a:ea typeface="Lora"/>
                  <a:cs typeface="Lora"/>
                  <a:sym typeface="Lora"/>
                </a:rPr>
                <a:t>Communication, Presentation, Exercises</a:t>
              </a:r>
              <a:endParaRPr sz="1200" b="1" i="0" u="none" strike="noStrike" cap="none" dirty="0">
                <a:solidFill>
                  <a:schemeClr val="lt1"/>
                </a:solidFill>
                <a:latin typeface="Lora"/>
                <a:ea typeface="Lora"/>
                <a:cs typeface="Lora"/>
                <a:sym typeface="Lora"/>
              </a:endParaRPr>
            </a:p>
          </p:txBody>
        </p:sp>
        <p:sp>
          <p:nvSpPr>
            <p:cNvPr id="467" name="Google Shape;467;p44"/>
            <p:cNvSpPr/>
            <p:nvPr/>
          </p:nvSpPr>
          <p:spPr>
            <a:xfrm>
              <a:off x="3824940" y="4614704"/>
              <a:ext cx="629543" cy="114014"/>
            </a:xfrm>
            <a:custGeom>
              <a:avLst/>
              <a:gdLst/>
              <a:ahLst/>
              <a:cxnLst/>
              <a:rect l="l" t="t" r="r" b="b"/>
              <a:pathLst>
                <a:path w="1105" h="200" extrusionOk="0">
                  <a:moveTo>
                    <a:pt x="552" y="51"/>
                  </a:moveTo>
                  <a:cubicBezTo>
                    <a:pt x="399" y="51"/>
                    <a:pt x="255" y="44"/>
                    <a:pt x="147" y="31"/>
                  </a:cubicBezTo>
                  <a:cubicBezTo>
                    <a:pt x="76" y="22"/>
                    <a:pt x="26" y="12"/>
                    <a:pt x="0" y="0"/>
                  </a:cubicBezTo>
                  <a:cubicBezTo>
                    <a:pt x="70" y="145"/>
                    <a:pt x="70" y="145"/>
                    <a:pt x="70" y="145"/>
                  </a:cubicBezTo>
                  <a:cubicBezTo>
                    <a:pt x="108" y="173"/>
                    <a:pt x="296" y="200"/>
                    <a:pt x="552" y="200"/>
                  </a:cubicBezTo>
                  <a:cubicBezTo>
                    <a:pt x="809" y="200"/>
                    <a:pt x="996" y="173"/>
                    <a:pt x="1034" y="145"/>
                  </a:cubicBezTo>
                  <a:cubicBezTo>
                    <a:pt x="1105" y="0"/>
                    <a:pt x="1105" y="0"/>
                    <a:pt x="1105" y="0"/>
                  </a:cubicBezTo>
                  <a:cubicBezTo>
                    <a:pt x="1030" y="33"/>
                    <a:pt x="785" y="51"/>
                    <a:pt x="552" y="51"/>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r>
                <a:rPr lang="en" sz="1200" b="1" dirty="0">
                  <a:solidFill>
                    <a:schemeClr val="lt1"/>
                  </a:solidFill>
                  <a:latin typeface="Lora"/>
                  <a:ea typeface="Lora"/>
                  <a:cs typeface="Lora"/>
                  <a:sym typeface="Lora"/>
                </a:rPr>
                <a:t>Communication, Presentation, Exercises</a:t>
              </a:r>
              <a:endParaRPr sz="1200" b="1" i="0" u="none" strike="noStrike" cap="none" dirty="0">
                <a:solidFill>
                  <a:schemeClr val="lt1"/>
                </a:solidFill>
                <a:latin typeface="Lora"/>
                <a:ea typeface="Lora"/>
                <a:cs typeface="Lora"/>
                <a:sym typeface="Lora"/>
              </a:endParaRPr>
            </a:p>
          </p:txBody>
        </p:sp>
        <p:sp>
          <p:nvSpPr>
            <p:cNvPr id="468" name="Google Shape;468;p44"/>
            <p:cNvSpPr/>
            <p:nvPr/>
          </p:nvSpPr>
          <p:spPr>
            <a:xfrm>
              <a:off x="3912610" y="4806085"/>
              <a:ext cx="453525" cy="112204"/>
            </a:xfrm>
            <a:custGeom>
              <a:avLst/>
              <a:gdLst/>
              <a:ahLst/>
              <a:cxnLst/>
              <a:rect l="l" t="t" r="r" b="b"/>
              <a:pathLst>
                <a:path w="796" h="197" extrusionOk="0">
                  <a:moveTo>
                    <a:pt x="0" y="0"/>
                  </a:moveTo>
                  <a:cubicBezTo>
                    <a:pt x="65" y="132"/>
                    <a:pt x="65" y="132"/>
                    <a:pt x="65" y="132"/>
                  </a:cubicBezTo>
                  <a:cubicBezTo>
                    <a:pt x="65" y="132"/>
                    <a:pt x="65" y="132"/>
                    <a:pt x="65" y="132"/>
                  </a:cubicBezTo>
                  <a:cubicBezTo>
                    <a:pt x="65" y="133"/>
                    <a:pt x="65" y="133"/>
                    <a:pt x="65" y="133"/>
                  </a:cubicBezTo>
                  <a:cubicBezTo>
                    <a:pt x="70" y="142"/>
                    <a:pt x="70" y="142"/>
                    <a:pt x="70" y="142"/>
                  </a:cubicBezTo>
                  <a:cubicBezTo>
                    <a:pt x="95" y="170"/>
                    <a:pt x="221" y="197"/>
                    <a:pt x="398" y="197"/>
                  </a:cubicBezTo>
                  <a:cubicBezTo>
                    <a:pt x="576" y="197"/>
                    <a:pt x="702" y="170"/>
                    <a:pt x="727" y="142"/>
                  </a:cubicBezTo>
                  <a:cubicBezTo>
                    <a:pt x="732" y="133"/>
                    <a:pt x="732" y="133"/>
                    <a:pt x="732" y="133"/>
                  </a:cubicBezTo>
                  <a:cubicBezTo>
                    <a:pt x="732" y="132"/>
                    <a:pt x="732" y="132"/>
                    <a:pt x="732" y="132"/>
                  </a:cubicBezTo>
                  <a:cubicBezTo>
                    <a:pt x="732" y="132"/>
                    <a:pt x="732" y="132"/>
                    <a:pt x="732" y="132"/>
                  </a:cubicBezTo>
                  <a:cubicBezTo>
                    <a:pt x="796" y="0"/>
                    <a:pt x="796" y="0"/>
                    <a:pt x="796" y="0"/>
                  </a:cubicBezTo>
                  <a:cubicBezTo>
                    <a:pt x="735" y="31"/>
                    <a:pt x="562" y="48"/>
                    <a:pt x="398" y="48"/>
                  </a:cubicBezTo>
                  <a:cubicBezTo>
                    <a:pt x="234" y="48"/>
                    <a:pt x="62" y="31"/>
                    <a:pt x="0" y="0"/>
                  </a:cubicBezTo>
                  <a:close/>
                </a:path>
              </a:pathLst>
            </a:cu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r>
                <a:rPr lang="en" sz="1200" b="1" dirty="0">
                  <a:solidFill>
                    <a:schemeClr val="lt1"/>
                  </a:solidFill>
                  <a:latin typeface="Lora"/>
                  <a:ea typeface="Lora"/>
                  <a:cs typeface="Lora"/>
                  <a:sym typeface="Lora"/>
                </a:rPr>
                <a:t>Communication, Presentation, Example</a:t>
              </a:r>
              <a:endParaRPr sz="1200" b="1" i="0" u="none" strike="noStrike" cap="none" dirty="0">
                <a:solidFill>
                  <a:schemeClr val="lt1"/>
                </a:solidFill>
                <a:latin typeface="Lora"/>
                <a:ea typeface="Lora"/>
                <a:cs typeface="Lora"/>
                <a:sym typeface="Lora"/>
              </a:endParaRPr>
            </a:p>
          </p:txBody>
        </p:sp>
        <p:sp>
          <p:nvSpPr>
            <p:cNvPr id="469" name="Google Shape;469;p44"/>
            <p:cNvSpPr/>
            <p:nvPr/>
          </p:nvSpPr>
          <p:spPr>
            <a:xfrm>
              <a:off x="3778727" y="4460423"/>
              <a:ext cx="719100" cy="79200"/>
            </a:xfrm>
            <a:prstGeom prst="ellipse">
              <a:avLst/>
            </a:prstGeom>
            <a:solidFill>
              <a:schemeClr val="l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200" b="1" i="0" u="none" strike="noStrike" cap="none">
                <a:solidFill>
                  <a:schemeClr val="lt1"/>
                </a:solidFill>
                <a:latin typeface="Lora"/>
                <a:ea typeface="Lora"/>
                <a:cs typeface="Lora"/>
                <a:sym typeface="Lora"/>
              </a:endParaRPr>
            </a:p>
          </p:txBody>
        </p:sp>
      </p:grpSp>
      <p:cxnSp>
        <p:nvCxnSpPr>
          <p:cNvPr id="470" name="Google Shape;470;p44"/>
          <p:cNvCxnSpPr/>
          <p:nvPr/>
        </p:nvCxnSpPr>
        <p:spPr>
          <a:xfrm>
            <a:off x="4764550" y="1950075"/>
            <a:ext cx="1056900" cy="0"/>
          </a:xfrm>
          <a:prstGeom prst="straightConnector1">
            <a:avLst/>
          </a:prstGeom>
          <a:noFill/>
          <a:ln w="9525" cap="flat" cmpd="sng">
            <a:solidFill>
              <a:schemeClr val="accent1"/>
            </a:solidFill>
            <a:prstDash val="solid"/>
            <a:round/>
            <a:headEnd type="oval" w="med" len="med"/>
            <a:tailEnd type="oval" w="med" len="med"/>
          </a:ln>
        </p:spPr>
      </p:cxnSp>
      <p:sp>
        <p:nvSpPr>
          <p:cNvPr id="471" name="Google Shape;471;p44"/>
          <p:cNvSpPr txBox="1"/>
          <p:nvPr/>
        </p:nvSpPr>
        <p:spPr>
          <a:xfrm>
            <a:off x="5883050" y="1778025"/>
            <a:ext cx="2786700" cy="344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1800" b="1" dirty="0">
                <a:solidFill>
                  <a:schemeClr val="dk2"/>
                </a:solidFill>
                <a:latin typeface="Lora"/>
                <a:ea typeface="Lora"/>
                <a:cs typeface="Lora"/>
                <a:sym typeface="Lora"/>
              </a:rPr>
              <a:t>$90</a:t>
            </a:r>
            <a:endParaRPr sz="1800" b="1" dirty="0">
              <a:solidFill>
                <a:schemeClr val="dk2"/>
              </a:solidFill>
              <a:latin typeface="Lora"/>
              <a:ea typeface="Lora"/>
              <a:cs typeface="Lora"/>
              <a:sym typeface="Lora"/>
            </a:endParaRPr>
          </a:p>
        </p:txBody>
      </p:sp>
      <p:cxnSp>
        <p:nvCxnSpPr>
          <p:cNvPr id="472" name="Google Shape;472;p44"/>
          <p:cNvCxnSpPr/>
          <p:nvPr/>
        </p:nvCxnSpPr>
        <p:spPr>
          <a:xfrm>
            <a:off x="4608875" y="2431700"/>
            <a:ext cx="1212600" cy="0"/>
          </a:xfrm>
          <a:prstGeom prst="straightConnector1">
            <a:avLst/>
          </a:prstGeom>
          <a:noFill/>
          <a:ln w="9525" cap="flat" cmpd="sng">
            <a:solidFill>
              <a:schemeClr val="accent2"/>
            </a:solidFill>
            <a:prstDash val="solid"/>
            <a:round/>
            <a:headEnd type="oval" w="med" len="med"/>
            <a:tailEnd type="oval" w="med" len="med"/>
          </a:ln>
        </p:spPr>
      </p:cxnSp>
      <p:sp>
        <p:nvSpPr>
          <p:cNvPr id="473" name="Google Shape;473;p44"/>
          <p:cNvSpPr txBox="1"/>
          <p:nvPr/>
        </p:nvSpPr>
        <p:spPr>
          <a:xfrm>
            <a:off x="5883050" y="2259640"/>
            <a:ext cx="2786700" cy="344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1800" b="1" dirty="0">
                <a:solidFill>
                  <a:schemeClr val="dk2"/>
                </a:solidFill>
                <a:latin typeface="Lora"/>
                <a:ea typeface="Lora"/>
                <a:cs typeface="Lora"/>
                <a:sym typeface="Lora"/>
              </a:rPr>
              <a:t>$80</a:t>
            </a:r>
            <a:endParaRPr sz="1800" b="1" dirty="0">
              <a:solidFill>
                <a:schemeClr val="dk2"/>
              </a:solidFill>
              <a:latin typeface="Lora"/>
              <a:ea typeface="Lora"/>
              <a:cs typeface="Lora"/>
              <a:sym typeface="Lora"/>
            </a:endParaRPr>
          </a:p>
        </p:txBody>
      </p:sp>
      <p:cxnSp>
        <p:nvCxnSpPr>
          <p:cNvPr id="474" name="Google Shape;474;p44"/>
          <p:cNvCxnSpPr/>
          <p:nvPr/>
        </p:nvCxnSpPr>
        <p:spPr>
          <a:xfrm>
            <a:off x="4387650" y="2913325"/>
            <a:ext cx="1433700" cy="0"/>
          </a:xfrm>
          <a:prstGeom prst="straightConnector1">
            <a:avLst/>
          </a:prstGeom>
          <a:noFill/>
          <a:ln w="9525" cap="flat" cmpd="sng">
            <a:solidFill>
              <a:schemeClr val="accent3"/>
            </a:solidFill>
            <a:prstDash val="solid"/>
            <a:round/>
            <a:headEnd type="oval" w="med" len="med"/>
            <a:tailEnd type="oval" w="med" len="med"/>
          </a:ln>
        </p:spPr>
      </p:cxnSp>
      <p:sp>
        <p:nvSpPr>
          <p:cNvPr id="475" name="Google Shape;475;p44"/>
          <p:cNvSpPr txBox="1"/>
          <p:nvPr/>
        </p:nvSpPr>
        <p:spPr>
          <a:xfrm>
            <a:off x="5883050" y="2741255"/>
            <a:ext cx="2786700" cy="344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1800" b="1" dirty="0">
                <a:solidFill>
                  <a:schemeClr val="dk2"/>
                </a:solidFill>
                <a:latin typeface="Lora"/>
                <a:ea typeface="Lora"/>
                <a:cs typeface="Lora"/>
                <a:sym typeface="Lora"/>
              </a:rPr>
              <a:t>$60</a:t>
            </a:r>
            <a:endParaRPr sz="1800" b="1" dirty="0">
              <a:solidFill>
                <a:schemeClr val="dk2"/>
              </a:solidFill>
              <a:latin typeface="Lora"/>
              <a:ea typeface="Lora"/>
              <a:cs typeface="Lora"/>
              <a:sym typeface="Lora"/>
            </a:endParaRPr>
          </a:p>
        </p:txBody>
      </p:sp>
      <p:cxnSp>
        <p:nvCxnSpPr>
          <p:cNvPr id="476" name="Google Shape;476;p44"/>
          <p:cNvCxnSpPr/>
          <p:nvPr/>
        </p:nvCxnSpPr>
        <p:spPr>
          <a:xfrm>
            <a:off x="4199200" y="3394925"/>
            <a:ext cx="1622100" cy="0"/>
          </a:xfrm>
          <a:prstGeom prst="straightConnector1">
            <a:avLst/>
          </a:prstGeom>
          <a:noFill/>
          <a:ln w="9525" cap="flat" cmpd="sng">
            <a:solidFill>
              <a:schemeClr val="accent4"/>
            </a:solidFill>
            <a:prstDash val="solid"/>
            <a:round/>
            <a:headEnd type="oval" w="med" len="med"/>
            <a:tailEnd type="oval" w="med" len="med"/>
          </a:ln>
        </p:spPr>
      </p:cxnSp>
      <p:sp>
        <p:nvSpPr>
          <p:cNvPr id="477" name="Google Shape;477;p44"/>
          <p:cNvSpPr txBox="1"/>
          <p:nvPr/>
        </p:nvSpPr>
        <p:spPr>
          <a:xfrm>
            <a:off x="5883050" y="3222870"/>
            <a:ext cx="2786700" cy="344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1800" b="1" dirty="0">
                <a:solidFill>
                  <a:schemeClr val="dk2"/>
                </a:solidFill>
                <a:latin typeface="Lora"/>
                <a:ea typeface="Lora"/>
                <a:cs typeface="Lora"/>
                <a:sym typeface="Lora"/>
              </a:rPr>
              <a:t>$50</a:t>
            </a:r>
            <a:endParaRPr sz="1800" b="1" dirty="0">
              <a:solidFill>
                <a:schemeClr val="dk2"/>
              </a:solidFill>
              <a:latin typeface="Lora"/>
              <a:ea typeface="Lora"/>
              <a:cs typeface="Lora"/>
              <a:sym typeface="Lora"/>
            </a:endParaRPr>
          </a:p>
        </p:txBody>
      </p:sp>
      <p:cxnSp>
        <p:nvCxnSpPr>
          <p:cNvPr id="478" name="Google Shape;478;p44"/>
          <p:cNvCxnSpPr/>
          <p:nvPr/>
        </p:nvCxnSpPr>
        <p:spPr>
          <a:xfrm>
            <a:off x="3994350" y="3876550"/>
            <a:ext cx="1827000" cy="0"/>
          </a:xfrm>
          <a:prstGeom prst="straightConnector1">
            <a:avLst/>
          </a:prstGeom>
          <a:noFill/>
          <a:ln w="9525" cap="flat" cmpd="sng">
            <a:solidFill>
              <a:schemeClr val="accent5"/>
            </a:solidFill>
            <a:prstDash val="solid"/>
            <a:round/>
            <a:headEnd type="oval" w="med" len="med"/>
            <a:tailEnd type="oval" w="med" len="med"/>
          </a:ln>
        </p:spPr>
      </p:cxnSp>
      <p:sp>
        <p:nvSpPr>
          <p:cNvPr id="479" name="Google Shape;479;p44"/>
          <p:cNvSpPr txBox="1"/>
          <p:nvPr/>
        </p:nvSpPr>
        <p:spPr>
          <a:xfrm>
            <a:off x="5883050" y="3704485"/>
            <a:ext cx="2786700" cy="344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1800" b="1" dirty="0">
                <a:solidFill>
                  <a:schemeClr val="dk2"/>
                </a:solidFill>
                <a:latin typeface="Lora"/>
                <a:ea typeface="Lora"/>
                <a:cs typeface="Lora"/>
                <a:sym typeface="Lora"/>
              </a:rPr>
              <a:t>$40</a:t>
            </a:r>
            <a:endParaRPr sz="1800" b="1" dirty="0">
              <a:solidFill>
                <a:schemeClr val="dk2"/>
              </a:solidFill>
              <a:latin typeface="Lora"/>
              <a:ea typeface="Lora"/>
              <a:cs typeface="Lora"/>
              <a:sym typeface="Lora"/>
            </a:endParaRPr>
          </a:p>
        </p:txBody>
      </p:sp>
      <p:cxnSp>
        <p:nvCxnSpPr>
          <p:cNvPr id="480" name="Google Shape;480;p44"/>
          <p:cNvCxnSpPr/>
          <p:nvPr/>
        </p:nvCxnSpPr>
        <p:spPr>
          <a:xfrm>
            <a:off x="3781325" y="4358150"/>
            <a:ext cx="2031600" cy="0"/>
          </a:xfrm>
          <a:prstGeom prst="straightConnector1">
            <a:avLst/>
          </a:prstGeom>
          <a:noFill/>
          <a:ln w="9525" cap="flat" cmpd="sng">
            <a:solidFill>
              <a:schemeClr val="accent6"/>
            </a:solidFill>
            <a:prstDash val="solid"/>
            <a:round/>
            <a:headEnd type="oval" w="med" len="med"/>
            <a:tailEnd type="oval" w="med" len="med"/>
          </a:ln>
        </p:spPr>
      </p:cxnSp>
      <p:sp>
        <p:nvSpPr>
          <p:cNvPr id="481" name="Google Shape;481;p44"/>
          <p:cNvSpPr txBox="1"/>
          <p:nvPr/>
        </p:nvSpPr>
        <p:spPr>
          <a:xfrm>
            <a:off x="5883050" y="4186100"/>
            <a:ext cx="2786700" cy="344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1800" b="1" dirty="0">
                <a:solidFill>
                  <a:schemeClr val="dk2"/>
                </a:solidFill>
                <a:latin typeface="Lora"/>
                <a:ea typeface="Lora"/>
                <a:cs typeface="Lora"/>
                <a:sym typeface="Lora"/>
              </a:rPr>
              <a:t>$30</a:t>
            </a:r>
            <a:endParaRPr sz="1800" b="1" dirty="0">
              <a:solidFill>
                <a:schemeClr val="dk2"/>
              </a:solidFill>
              <a:latin typeface="Lora"/>
              <a:ea typeface="Lora"/>
              <a:cs typeface="Lora"/>
              <a:sym typeface="Lora"/>
            </a:endParaRPr>
          </a:p>
        </p:txBody>
      </p:sp>
      <p:pic>
        <p:nvPicPr>
          <p:cNvPr id="7172" name="Picture 4">
            <a:extLst>
              <a:ext uri="{FF2B5EF4-FFF2-40B4-BE49-F238E27FC236}">
                <a16:creationId xmlns:a16="http://schemas.microsoft.com/office/drawing/2014/main" id="{08723E8B-C33A-1553-A912-0ED2183567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7829" y="925322"/>
            <a:ext cx="873083" cy="8730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5"/>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60</a:t>
            </a:fld>
            <a:endParaRPr/>
          </a:p>
        </p:txBody>
      </p:sp>
      <p:sp>
        <p:nvSpPr>
          <p:cNvPr id="307" name="Google Shape;307;p35"/>
          <p:cNvSpPr txBox="1">
            <a:spLocks noGrp="1"/>
          </p:cNvSpPr>
          <p:nvPr>
            <p:ph type="ctrTitle" idx="4294967295"/>
          </p:nvPr>
        </p:nvSpPr>
        <p:spPr>
          <a:xfrm>
            <a:off x="855300" y="1262586"/>
            <a:ext cx="4125300" cy="7449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7200"/>
              <a:t>Thanks!</a:t>
            </a:r>
            <a:endParaRPr sz="7200"/>
          </a:p>
        </p:txBody>
      </p:sp>
      <p:sp>
        <p:nvSpPr>
          <p:cNvPr id="308" name="Google Shape;308;p35"/>
          <p:cNvSpPr txBox="1">
            <a:spLocks noGrp="1"/>
          </p:cNvSpPr>
          <p:nvPr>
            <p:ph type="subTitle" idx="4294967295"/>
          </p:nvPr>
        </p:nvSpPr>
        <p:spPr>
          <a:xfrm>
            <a:off x="855300" y="2109113"/>
            <a:ext cx="4423200" cy="1771800"/>
          </a:xfrm>
          <a:prstGeom prst="rect">
            <a:avLst/>
          </a:prstGeom>
        </p:spPr>
        <p:txBody>
          <a:bodyPr spcFirstLastPara="1" wrap="square" lIns="0" tIns="0" rIns="0" bIns="0" anchor="t" anchorCtr="0">
            <a:noAutofit/>
          </a:bodyPr>
          <a:lstStyle/>
          <a:p>
            <a:pPr marL="0" lvl="0" indent="0" algn="l" rtl="0">
              <a:spcBef>
                <a:spcPts val="600"/>
              </a:spcBef>
              <a:spcAft>
                <a:spcPts val="0"/>
              </a:spcAft>
              <a:buClr>
                <a:schemeClr val="lt1"/>
              </a:buClr>
              <a:buSzPts val="1100"/>
              <a:buFont typeface="Arial"/>
              <a:buNone/>
            </a:pPr>
            <a:r>
              <a:rPr lang="en" b="1" dirty="0"/>
              <a:t>Any questions?</a:t>
            </a:r>
            <a:endParaRPr b="1" dirty="0"/>
          </a:p>
          <a:p>
            <a:pPr marL="0" lvl="0" indent="0" algn="l" rtl="0">
              <a:spcBef>
                <a:spcPts val="600"/>
              </a:spcBef>
              <a:spcAft>
                <a:spcPts val="0"/>
              </a:spcAft>
              <a:buClr>
                <a:schemeClr val="lt1"/>
              </a:buClr>
              <a:buSzPts val="1100"/>
              <a:buFont typeface="Arial"/>
              <a:buNone/>
            </a:pPr>
            <a:r>
              <a:rPr lang="en" dirty="0"/>
              <a:t>You can find me at:</a:t>
            </a:r>
            <a:endParaRPr dirty="0"/>
          </a:p>
          <a:p>
            <a:pPr marL="457200" lvl="0" indent="-355600" algn="l" rtl="0">
              <a:spcBef>
                <a:spcPts val="600"/>
              </a:spcBef>
              <a:spcAft>
                <a:spcPts val="0"/>
              </a:spcAft>
              <a:buSzPts val="2000"/>
              <a:buChar char="✦"/>
            </a:pPr>
            <a:r>
              <a:rPr lang="en-IN" dirty="0"/>
              <a:t>Kriti29kausik@gmail.com</a:t>
            </a:r>
            <a:endParaRPr dirty="0"/>
          </a:p>
        </p:txBody>
      </p:sp>
      <p:sp>
        <p:nvSpPr>
          <p:cNvPr id="309" name="Google Shape;309;p35"/>
          <p:cNvSpPr/>
          <p:nvPr/>
        </p:nvSpPr>
        <p:spPr>
          <a:xfrm>
            <a:off x="4365450" y="866725"/>
            <a:ext cx="2538600" cy="1964100"/>
          </a:xfrm>
          <a:prstGeom prst="cloudCallout">
            <a:avLst>
              <a:gd name="adj1" fmla="val 56798"/>
              <a:gd name="adj2" fmla="val 53281"/>
            </a:avLst>
          </a:prstGeom>
          <a:solidFill>
            <a:srgbClr val="0072FF">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5"/>
          <p:cNvSpPr/>
          <p:nvPr/>
        </p:nvSpPr>
        <p:spPr>
          <a:xfrm>
            <a:off x="5272624" y="1414182"/>
            <a:ext cx="724260" cy="869187"/>
          </a:xfrm>
          <a:custGeom>
            <a:avLst/>
            <a:gdLst/>
            <a:ahLst/>
            <a:cxnLst/>
            <a:rect l="l" t="t" r="r" b="b"/>
            <a:pathLst>
              <a:path w="15817" h="18981" extrusionOk="0">
                <a:moveTo>
                  <a:pt x="11364" y="1"/>
                </a:moveTo>
                <a:lnTo>
                  <a:pt x="11242" y="25"/>
                </a:lnTo>
                <a:lnTo>
                  <a:pt x="11169" y="74"/>
                </a:lnTo>
                <a:lnTo>
                  <a:pt x="11096" y="171"/>
                </a:lnTo>
                <a:lnTo>
                  <a:pt x="10780" y="731"/>
                </a:lnTo>
                <a:lnTo>
                  <a:pt x="10634" y="999"/>
                </a:lnTo>
                <a:lnTo>
                  <a:pt x="10537" y="1315"/>
                </a:lnTo>
                <a:lnTo>
                  <a:pt x="10512" y="1388"/>
                </a:lnTo>
                <a:lnTo>
                  <a:pt x="10537" y="1461"/>
                </a:lnTo>
                <a:lnTo>
                  <a:pt x="10585" y="1534"/>
                </a:lnTo>
                <a:lnTo>
                  <a:pt x="10634" y="1583"/>
                </a:lnTo>
                <a:lnTo>
                  <a:pt x="10707" y="1607"/>
                </a:lnTo>
                <a:lnTo>
                  <a:pt x="10804" y="1631"/>
                </a:lnTo>
                <a:lnTo>
                  <a:pt x="10877" y="1607"/>
                </a:lnTo>
                <a:lnTo>
                  <a:pt x="10950" y="1558"/>
                </a:lnTo>
                <a:lnTo>
                  <a:pt x="11145" y="1315"/>
                </a:lnTo>
                <a:lnTo>
                  <a:pt x="11291" y="1047"/>
                </a:lnTo>
                <a:lnTo>
                  <a:pt x="11510" y="731"/>
                </a:lnTo>
                <a:lnTo>
                  <a:pt x="11583" y="682"/>
                </a:lnTo>
                <a:lnTo>
                  <a:pt x="11656" y="609"/>
                </a:lnTo>
                <a:lnTo>
                  <a:pt x="11705" y="463"/>
                </a:lnTo>
                <a:lnTo>
                  <a:pt x="11729" y="342"/>
                </a:lnTo>
                <a:lnTo>
                  <a:pt x="11705" y="220"/>
                </a:lnTo>
                <a:lnTo>
                  <a:pt x="11656" y="123"/>
                </a:lnTo>
                <a:lnTo>
                  <a:pt x="11583" y="50"/>
                </a:lnTo>
                <a:lnTo>
                  <a:pt x="11486" y="25"/>
                </a:lnTo>
                <a:lnTo>
                  <a:pt x="11461" y="1"/>
                </a:lnTo>
                <a:close/>
                <a:moveTo>
                  <a:pt x="3821" y="171"/>
                </a:moveTo>
                <a:lnTo>
                  <a:pt x="3748" y="196"/>
                </a:lnTo>
                <a:lnTo>
                  <a:pt x="3699" y="244"/>
                </a:lnTo>
                <a:lnTo>
                  <a:pt x="3651" y="317"/>
                </a:lnTo>
                <a:lnTo>
                  <a:pt x="3651" y="390"/>
                </a:lnTo>
                <a:lnTo>
                  <a:pt x="3651" y="463"/>
                </a:lnTo>
                <a:lnTo>
                  <a:pt x="3699" y="634"/>
                </a:lnTo>
                <a:lnTo>
                  <a:pt x="3772" y="804"/>
                </a:lnTo>
                <a:lnTo>
                  <a:pt x="3943" y="1120"/>
                </a:lnTo>
                <a:lnTo>
                  <a:pt x="4113" y="1461"/>
                </a:lnTo>
                <a:lnTo>
                  <a:pt x="4259" y="1802"/>
                </a:lnTo>
                <a:lnTo>
                  <a:pt x="4332" y="1923"/>
                </a:lnTo>
                <a:lnTo>
                  <a:pt x="4429" y="1996"/>
                </a:lnTo>
                <a:lnTo>
                  <a:pt x="4527" y="2021"/>
                </a:lnTo>
                <a:lnTo>
                  <a:pt x="4624" y="1996"/>
                </a:lnTo>
                <a:lnTo>
                  <a:pt x="4721" y="1972"/>
                </a:lnTo>
                <a:lnTo>
                  <a:pt x="4794" y="1899"/>
                </a:lnTo>
                <a:lnTo>
                  <a:pt x="4843" y="1777"/>
                </a:lnTo>
                <a:lnTo>
                  <a:pt x="4843" y="1656"/>
                </a:lnTo>
                <a:lnTo>
                  <a:pt x="4794" y="1461"/>
                </a:lnTo>
                <a:lnTo>
                  <a:pt x="4697" y="1266"/>
                </a:lnTo>
                <a:lnTo>
                  <a:pt x="4502" y="901"/>
                </a:lnTo>
                <a:lnTo>
                  <a:pt x="4283" y="536"/>
                </a:lnTo>
                <a:lnTo>
                  <a:pt x="4162" y="390"/>
                </a:lnTo>
                <a:lnTo>
                  <a:pt x="4040" y="244"/>
                </a:lnTo>
                <a:lnTo>
                  <a:pt x="3967" y="196"/>
                </a:lnTo>
                <a:lnTo>
                  <a:pt x="3894" y="171"/>
                </a:lnTo>
                <a:close/>
                <a:moveTo>
                  <a:pt x="15452" y="4405"/>
                </a:moveTo>
                <a:lnTo>
                  <a:pt x="15379" y="4429"/>
                </a:lnTo>
                <a:lnTo>
                  <a:pt x="15306" y="4454"/>
                </a:lnTo>
                <a:lnTo>
                  <a:pt x="15135" y="4551"/>
                </a:lnTo>
                <a:lnTo>
                  <a:pt x="14941" y="4600"/>
                </a:lnTo>
                <a:lnTo>
                  <a:pt x="14551" y="4697"/>
                </a:lnTo>
                <a:lnTo>
                  <a:pt x="14357" y="4746"/>
                </a:lnTo>
                <a:lnTo>
                  <a:pt x="14162" y="4819"/>
                </a:lnTo>
                <a:lnTo>
                  <a:pt x="14016" y="4916"/>
                </a:lnTo>
                <a:lnTo>
                  <a:pt x="13870" y="5062"/>
                </a:lnTo>
                <a:lnTo>
                  <a:pt x="13822" y="5135"/>
                </a:lnTo>
                <a:lnTo>
                  <a:pt x="13822" y="5232"/>
                </a:lnTo>
                <a:lnTo>
                  <a:pt x="13846" y="5330"/>
                </a:lnTo>
                <a:lnTo>
                  <a:pt x="13895" y="5354"/>
                </a:lnTo>
                <a:lnTo>
                  <a:pt x="13943" y="5354"/>
                </a:lnTo>
                <a:lnTo>
                  <a:pt x="14138" y="5378"/>
                </a:lnTo>
                <a:lnTo>
                  <a:pt x="14357" y="5378"/>
                </a:lnTo>
                <a:lnTo>
                  <a:pt x="14600" y="5354"/>
                </a:lnTo>
                <a:lnTo>
                  <a:pt x="14819" y="5330"/>
                </a:lnTo>
                <a:lnTo>
                  <a:pt x="15038" y="5257"/>
                </a:lnTo>
                <a:lnTo>
                  <a:pt x="15257" y="5208"/>
                </a:lnTo>
                <a:lnTo>
                  <a:pt x="15452" y="5111"/>
                </a:lnTo>
                <a:lnTo>
                  <a:pt x="15646" y="5038"/>
                </a:lnTo>
                <a:lnTo>
                  <a:pt x="15719" y="4989"/>
                </a:lnTo>
                <a:lnTo>
                  <a:pt x="15768" y="4940"/>
                </a:lnTo>
                <a:lnTo>
                  <a:pt x="15817" y="4819"/>
                </a:lnTo>
                <a:lnTo>
                  <a:pt x="15792" y="4697"/>
                </a:lnTo>
                <a:lnTo>
                  <a:pt x="15768" y="4575"/>
                </a:lnTo>
                <a:lnTo>
                  <a:pt x="15671" y="4478"/>
                </a:lnTo>
                <a:lnTo>
                  <a:pt x="15573" y="4429"/>
                </a:lnTo>
                <a:lnTo>
                  <a:pt x="15452" y="4405"/>
                </a:lnTo>
                <a:close/>
                <a:moveTo>
                  <a:pt x="317" y="4697"/>
                </a:moveTo>
                <a:lnTo>
                  <a:pt x="220" y="4721"/>
                </a:lnTo>
                <a:lnTo>
                  <a:pt x="122" y="4746"/>
                </a:lnTo>
                <a:lnTo>
                  <a:pt x="25" y="4794"/>
                </a:lnTo>
                <a:lnTo>
                  <a:pt x="1" y="4867"/>
                </a:lnTo>
                <a:lnTo>
                  <a:pt x="1" y="4965"/>
                </a:lnTo>
                <a:lnTo>
                  <a:pt x="49" y="5038"/>
                </a:lnTo>
                <a:lnTo>
                  <a:pt x="195" y="5184"/>
                </a:lnTo>
                <a:lnTo>
                  <a:pt x="390" y="5305"/>
                </a:lnTo>
                <a:lnTo>
                  <a:pt x="779" y="5524"/>
                </a:lnTo>
                <a:lnTo>
                  <a:pt x="1169" y="5743"/>
                </a:lnTo>
                <a:lnTo>
                  <a:pt x="1388" y="5841"/>
                </a:lnTo>
                <a:lnTo>
                  <a:pt x="1582" y="5938"/>
                </a:lnTo>
                <a:lnTo>
                  <a:pt x="1655" y="5962"/>
                </a:lnTo>
                <a:lnTo>
                  <a:pt x="1801" y="5962"/>
                </a:lnTo>
                <a:lnTo>
                  <a:pt x="1850" y="5938"/>
                </a:lnTo>
                <a:lnTo>
                  <a:pt x="1923" y="5841"/>
                </a:lnTo>
                <a:lnTo>
                  <a:pt x="1972" y="5743"/>
                </a:lnTo>
                <a:lnTo>
                  <a:pt x="1996" y="5622"/>
                </a:lnTo>
                <a:lnTo>
                  <a:pt x="1972" y="5476"/>
                </a:lnTo>
                <a:lnTo>
                  <a:pt x="1899" y="5378"/>
                </a:lnTo>
                <a:lnTo>
                  <a:pt x="1826" y="5330"/>
                </a:lnTo>
                <a:lnTo>
                  <a:pt x="1777" y="5305"/>
                </a:lnTo>
                <a:lnTo>
                  <a:pt x="1582" y="5208"/>
                </a:lnTo>
                <a:lnTo>
                  <a:pt x="1388" y="5111"/>
                </a:lnTo>
                <a:lnTo>
                  <a:pt x="974" y="4892"/>
                </a:lnTo>
                <a:lnTo>
                  <a:pt x="755" y="4794"/>
                </a:lnTo>
                <a:lnTo>
                  <a:pt x="536" y="4721"/>
                </a:lnTo>
                <a:lnTo>
                  <a:pt x="317" y="4697"/>
                </a:lnTo>
                <a:close/>
                <a:moveTo>
                  <a:pt x="8809" y="6936"/>
                </a:moveTo>
                <a:lnTo>
                  <a:pt x="8736" y="6984"/>
                </a:lnTo>
                <a:lnTo>
                  <a:pt x="8663" y="7057"/>
                </a:lnTo>
                <a:lnTo>
                  <a:pt x="8566" y="7252"/>
                </a:lnTo>
                <a:lnTo>
                  <a:pt x="8468" y="7495"/>
                </a:lnTo>
                <a:lnTo>
                  <a:pt x="8420" y="7739"/>
                </a:lnTo>
                <a:lnTo>
                  <a:pt x="8395" y="7958"/>
                </a:lnTo>
                <a:lnTo>
                  <a:pt x="8395" y="8128"/>
                </a:lnTo>
                <a:lnTo>
                  <a:pt x="8322" y="8177"/>
                </a:lnTo>
                <a:lnTo>
                  <a:pt x="8201" y="8225"/>
                </a:lnTo>
                <a:lnTo>
                  <a:pt x="8079" y="8250"/>
                </a:lnTo>
                <a:lnTo>
                  <a:pt x="7982" y="8225"/>
                </a:lnTo>
                <a:lnTo>
                  <a:pt x="7909" y="8201"/>
                </a:lnTo>
                <a:lnTo>
                  <a:pt x="7982" y="8079"/>
                </a:lnTo>
                <a:lnTo>
                  <a:pt x="8055" y="7933"/>
                </a:lnTo>
                <a:lnTo>
                  <a:pt x="8103" y="7812"/>
                </a:lnTo>
                <a:lnTo>
                  <a:pt x="8103" y="7666"/>
                </a:lnTo>
                <a:lnTo>
                  <a:pt x="8103" y="7520"/>
                </a:lnTo>
                <a:lnTo>
                  <a:pt x="8055" y="7398"/>
                </a:lnTo>
                <a:lnTo>
                  <a:pt x="7957" y="7252"/>
                </a:lnTo>
                <a:lnTo>
                  <a:pt x="7836" y="7130"/>
                </a:lnTo>
                <a:lnTo>
                  <a:pt x="7763" y="7082"/>
                </a:lnTo>
                <a:lnTo>
                  <a:pt x="7617" y="7082"/>
                </a:lnTo>
                <a:lnTo>
                  <a:pt x="7544" y="7130"/>
                </a:lnTo>
                <a:lnTo>
                  <a:pt x="7446" y="7252"/>
                </a:lnTo>
                <a:lnTo>
                  <a:pt x="7373" y="7374"/>
                </a:lnTo>
                <a:lnTo>
                  <a:pt x="7325" y="7495"/>
                </a:lnTo>
                <a:lnTo>
                  <a:pt x="7300" y="7641"/>
                </a:lnTo>
                <a:lnTo>
                  <a:pt x="7300" y="7787"/>
                </a:lnTo>
                <a:lnTo>
                  <a:pt x="7300" y="7909"/>
                </a:lnTo>
                <a:lnTo>
                  <a:pt x="7325" y="8055"/>
                </a:lnTo>
                <a:lnTo>
                  <a:pt x="7373" y="8177"/>
                </a:lnTo>
                <a:lnTo>
                  <a:pt x="7179" y="8298"/>
                </a:lnTo>
                <a:lnTo>
                  <a:pt x="7081" y="8323"/>
                </a:lnTo>
                <a:lnTo>
                  <a:pt x="6984" y="8347"/>
                </a:lnTo>
                <a:lnTo>
                  <a:pt x="6911" y="8371"/>
                </a:lnTo>
                <a:lnTo>
                  <a:pt x="6814" y="8347"/>
                </a:lnTo>
                <a:lnTo>
                  <a:pt x="6692" y="8298"/>
                </a:lnTo>
                <a:lnTo>
                  <a:pt x="6570" y="8201"/>
                </a:lnTo>
                <a:lnTo>
                  <a:pt x="6497" y="8055"/>
                </a:lnTo>
                <a:lnTo>
                  <a:pt x="6449" y="7909"/>
                </a:lnTo>
                <a:lnTo>
                  <a:pt x="6449" y="7739"/>
                </a:lnTo>
                <a:lnTo>
                  <a:pt x="6497" y="7544"/>
                </a:lnTo>
                <a:lnTo>
                  <a:pt x="6497" y="7520"/>
                </a:lnTo>
                <a:lnTo>
                  <a:pt x="6473" y="7520"/>
                </a:lnTo>
                <a:lnTo>
                  <a:pt x="6449" y="7495"/>
                </a:lnTo>
                <a:lnTo>
                  <a:pt x="6424" y="7520"/>
                </a:lnTo>
                <a:lnTo>
                  <a:pt x="6327" y="7617"/>
                </a:lnTo>
                <a:lnTo>
                  <a:pt x="6254" y="7739"/>
                </a:lnTo>
                <a:lnTo>
                  <a:pt x="6230" y="7836"/>
                </a:lnTo>
                <a:lnTo>
                  <a:pt x="6206" y="7958"/>
                </a:lnTo>
                <a:lnTo>
                  <a:pt x="6206" y="8055"/>
                </a:lnTo>
                <a:lnTo>
                  <a:pt x="6206" y="8177"/>
                </a:lnTo>
                <a:lnTo>
                  <a:pt x="6254" y="8274"/>
                </a:lnTo>
                <a:lnTo>
                  <a:pt x="6303" y="8371"/>
                </a:lnTo>
                <a:lnTo>
                  <a:pt x="6376" y="8469"/>
                </a:lnTo>
                <a:lnTo>
                  <a:pt x="6449" y="8542"/>
                </a:lnTo>
                <a:lnTo>
                  <a:pt x="6546" y="8615"/>
                </a:lnTo>
                <a:lnTo>
                  <a:pt x="6643" y="8663"/>
                </a:lnTo>
                <a:lnTo>
                  <a:pt x="6765" y="8712"/>
                </a:lnTo>
                <a:lnTo>
                  <a:pt x="6862" y="8736"/>
                </a:lnTo>
                <a:lnTo>
                  <a:pt x="7008" y="8736"/>
                </a:lnTo>
                <a:lnTo>
                  <a:pt x="7130" y="8712"/>
                </a:lnTo>
                <a:lnTo>
                  <a:pt x="7349" y="8615"/>
                </a:lnTo>
                <a:lnTo>
                  <a:pt x="7592" y="8493"/>
                </a:lnTo>
                <a:lnTo>
                  <a:pt x="7690" y="8566"/>
                </a:lnTo>
                <a:lnTo>
                  <a:pt x="7836" y="8639"/>
                </a:lnTo>
                <a:lnTo>
                  <a:pt x="7982" y="8663"/>
                </a:lnTo>
                <a:lnTo>
                  <a:pt x="8128" y="8688"/>
                </a:lnTo>
                <a:lnTo>
                  <a:pt x="8225" y="8688"/>
                </a:lnTo>
                <a:lnTo>
                  <a:pt x="8347" y="8663"/>
                </a:lnTo>
                <a:lnTo>
                  <a:pt x="8566" y="8566"/>
                </a:lnTo>
                <a:lnTo>
                  <a:pt x="8639" y="8663"/>
                </a:lnTo>
                <a:lnTo>
                  <a:pt x="8736" y="8736"/>
                </a:lnTo>
                <a:lnTo>
                  <a:pt x="8833" y="8809"/>
                </a:lnTo>
                <a:lnTo>
                  <a:pt x="8931" y="8858"/>
                </a:lnTo>
                <a:lnTo>
                  <a:pt x="9174" y="8907"/>
                </a:lnTo>
                <a:lnTo>
                  <a:pt x="9417" y="8931"/>
                </a:lnTo>
                <a:lnTo>
                  <a:pt x="9661" y="8882"/>
                </a:lnTo>
                <a:lnTo>
                  <a:pt x="9880" y="8809"/>
                </a:lnTo>
                <a:lnTo>
                  <a:pt x="9977" y="8736"/>
                </a:lnTo>
                <a:lnTo>
                  <a:pt x="10074" y="8663"/>
                </a:lnTo>
                <a:lnTo>
                  <a:pt x="10172" y="8566"/>
                </a:lnTo>
                <a:lnTo>
                  <a:pt x="10269" y="8469"/>
                </a:lnTo>
                <a:lnTo>
                  <a:pt x="10293" y="8396"/>
                </a:lnTo>
                <a:lnTo>
                  <a:pt x="10293" y="8347"/>
                </a:lnTo>
                <a:lnTo>
                  <a:pt x="10269" y="8298"/>
                </a:lnTo>
                <a:lnTo>
                  <a:pt x="10245" y="8250"/>
                </a:lnTo>
                <a:lnTo>
                  <a:pt x="10172" y="8225"/>
                </a:lnTo>
                <a:lnTo>
                  <a:pt x="10123" y="8201"/>
                </a:lnTo>
                <a:lnTo>
                  <a:pt x="10001" y="8201"/>
                </a:lnTo>
                <a:lnTo>
                  <a:pt x="9782" y="8323"/>
                </a:lnTo>
                <a:lnTo>
                  <a:pt x="9563" y="8420"/>
                </a:lnTo>
                <a:lnTo>
                  <a:pt x="9442" y="8444"/>
                </a:lnTo>
                <a:lnTo>
                  <a:pt x="9344" y="8469"/>
                </a:lnTo>
                <a:lnTo>
                  <a:pt x="9223" y="8469"/>
                </a:lnTo>
                <a:lnTo>
                  <a:pt x="9101" y="8420"/>
                </a:lnTo>
                <a:lnTo>
                  <a:pt x="9004" y="8347"/>
                </a:lnTo>
                <a:lnTo>
                  <a:pt x="8931" y="8274"/>
                </a:lnTo>
                <a:lnTo>
                  <a:pt x="9052" y="8128"/>
                </a:lnTo>
                <a:lnTo>
                  <a:pt x="9150" y="7982"/>
                </a:lnTo>
                <a:lnTo>
                  <a:pt x="9247" y="7836"/>
                </a:lnTo>
                <a:lnTo>
                  <a:pt x="9296" y="7666"/>
                </a:lnTo>
                <a:lnTo>
                  <a:pt x="9320" y="7495"/>
                </a:lnTo>
                <a:lnTo>
                  <a:pt x="9296" y="7349"/>
                </a:lnTo>
                <a:lnTo>
                  <a:pt x="9247" y="7203"/>
                </a:lnTo>
                <a:lnTo>
                  <a:pt x="9150" y="7057"/>
                </a:lnTo>
                <a:lnTo>
                  <a:pt x="9052" y="6984"/>
                </a:lnTo>
                <a:lnTo>
                  <a:pt x="8955" y="6936"/>
                </a:lnTo>
                <a:close/>
                <a:moveTo>
                  <a:pt x="1947" y="9710"/>
                </a:moveTo>
                <a:lnTo>
                  <a:pt x="1801" y="9758"/>
                </a:lnTo>
                <a:lnTo>
                  <a:pt x="1582" y="9856"/>
                </a:lnTo>
                <a:lnTo>
                  <a:pt x="1363" y="10002"/>
                </a:lnTo>
                <a:lnTo>
                  <a:pt x="925" y="10294"/>
                </a:lnTo>
                <a:lnTo>
                  <a:pt x="706" y="10415"/>
                </a:lnTo>
                <a:lnTo>
                  <a:pt x="585" y="10513"/>
                </a:lnTo>
                <a:lnTo>
                  <a:pt x="463" y="10610"/>
                </a:lnTo>
                <a:lnTo>
                  <a:pt x="366" y="10707"/>
                </a:lnTo>
                <a:lnTo>
                  <a:pt x="317" y="10829"/>
                </a:lnTo>
                <a:lnTo>
                  <a:pt x="317" y="10878"/>
                </a:lnTo>
                <a:lnTo>
                  <a:pt x="341" y="10926"/>
                </a:lnTo>
                <a:lnTo>
                  <a:pt x="366" y="10999"/>
                </a:lnTo>
                <a:lnTo>
                  <a:pt x="439" y="11048"/>
                </a:lnTo>
                <a:lnTo>
                  <a:pt x="536" y="11097"/>
                </a:lnTo>
                <a:lnTo>
                  <a:pt x="633" y="11097"/>
                </a:lnTo>
                <a:lnTo>
                  <a:pt x="755" y="11072"/>
                </a:lnTo>
                <a:lnTo>
                  <a:pt x="877" y="11048"/>
                </a:lnTo>
                <a:lnTo>
                  <a:pt x="1120" y="10926"/>
                </a:lnTo>
                <a:lnTo>
                  <a:pt x="1315" y="10829"/>
                </a:lnTo>
                <a:lnTo>
                  <a:pt x="1728" y="10610"/>
                </a:lnTo>
                <a:lnTo>
                  <a:pt x="1947" y="10488"/>
                </a:lnTo>
                <a:lnTo>
                  <a:pt x="2142" y="10342"/>
                </a:lnTo>
                <a:lnTo>
                  <a:pt x="2264" y="10245"/>
                </a:lnTo>
                <a:lnTo>
                  <a:pt x="2312" y="10123"/>
                </a:lnTo>
                <a:lnTo>
                  <a:pt x="2312" y="10002"/>
                </a:lnTo>
                <a:lnTo>
                  <a:pt x="2264" y="9880"/>
                </a:lnTo>
                <a:lnTo>
                  <a:pt x="2191" y="9783"/>
                </a:lnTo>
                <a:lnTo>
                  <a:pt x="2069" y="9734"/>
                </a:lnTo>
                <a:lnTo>
                  <a:pt x="1947" y="9710"/>
                </a:lnTo>
                <a:close/>
                <a:moveTo>
                  <a:pt x="14065" y="10026"/>
                </a:moveTo>
                <a:lnTo>
                  <a:pt x="13895" y="10050"/>
                </a:lnTo>
                <a:lnTo>
                  <a:pt x="13846" y="10075"/>
                </a:lnTo>
                <a:lnTo>
                  <a:pt x="13797" y="10123"/>
                </a:lnTo>
                <a:lnTo>
                  <a:pt x="13773" y="10172"/>
                </a:lnTo>
                <a:lnTo>
                  <a:pt x="13749" y="10221"/>
                </a:lnTo>
                <a:lnTo>
                  <a:pt x="13773" y="10318"/>
                </a:lnTo>
                <a:lnTo>
                  <a:pt x="13797" y="10367"/>
                </a:lnTo>
                <a:lnTo>
                  <a:pt x="13846" y="10415"/>
                </a:lnTo>
                <a:lnTo>
                  <a:pt x="14138" y="10586"/>
                </a:lnTo>
                <a:lnTo>
                  <a:pt x="14454" y="10756"/>
                </a:lnTo>
                <a:lnTo>
                  <a:pt x="14624" y="10878"/>
                </a:lnTo>
                <a:lnTo>
                  <a:pt x="14819" y="10975"/>
                </a:lnTo>
                <a:lnTo>
                  <a:pt x="15014" y="11048"/>
                </a:lnTo>
                <a:lnTo>
                  <a:pt x="15208" y="11097"/>
                </a:lnTo>
                <a:lnTo>
                  <a:pt x="15379" y="11097"/>
                </a:lnTo>
                <a:lnTo>
                  <a:pt x="15427" y="11072"/>
                </a:lnTo>
                <a:lnTo>
                  <a:pt x="15500" y="11024"/>
                </a:lnTo>
                <a:lnTo>
                  <a:pt x="15573" y="10951"/>
                </a:lnTo>
                <a:lnTo>
                  <a:pt x="15598" y="10829"/>
                </a:lnTo>
                <a:lnTo>
                  <a:pt x="15598" y="10707"/>
                </a:lnTo>
                <a:lnTo>
                  <a:pt x="15549" y="10586"/>
                </a:lnTo>
                <a:lnTo>
                  <a:pt x="15500" y="10537"/>
                </a:lnTo>
                <a:lnTo>
                  <a:pt x="15452" y="10513"/>
                </a:lnTo>
                <a:lnTo>
                  <a:pt x="15379" y="10464"/>
                </a:lnTo>
                <a:lnTo>
                  <a:pt x="15306" y="10464"/>
                </a:lnTo>
                <a:lnTo>
                  <a:pt x="15135" y="10415"/>
                </a:lnTo>
                <a:lnTo>
                  <a:pt x="14965" y="10367"/>
                </a:lnTo>
                <a:lnTo>
                  <a:pt x="14600" y="10196"/>
                </a:lnTo>
                <a:lnTo>
                  <a:pt x="14430" y="10099"/>
                </a:lnTo>
                <a:lnTo>
                  <a:pt x="14260" y="10050"/>
                </a:lnTo>
                <a:lnTo>
                  <a:pt x="14065" y="10026"/>
                </a:lnTo>
                <a:close/>
                <a:moveTo>
                  <a:pt x="8468" y="2605"/>
                </a:moveTo>
                <a:lnTo>
                  <a:pt x="8760" y="2629"/>
                </a:lnTo>
                <a:lnTo>
                  <a:pt x="9052" y="2678"/>
                </a:lnTo>
                <a:lnTo>
                  <a:pt x="9344" y="2726"/>
                </a:lnTo>
                <a:lnTo>
                  <a:pt x="9125" y="2799"/>
                </a:lnTo>
                <a:lnTo>
                  <a:pt x="9101" y="2824"/>
                </a:lnTo>
                <a:lnTo>
                  <a:pt x="9101" y="2848"/>
                </a:lnTo>
                <a:lnTo>
                  <a:pt x="9101" y="2872"/>
                </a:lnTo>
                <a:lnTo>
                  <a:pt x="9125" y="2897"/>
                </a:lnTo>
                <a:lnTo>
                  <a:pt x="9223" y="2945"/>
                </a:lnTo>
                <a:lnTo>
                  <a:pt x="9320" y="2970"/>
                </a:lnTo>
                <a:lnTo>
                  <a:pt x="9442" y="2945"/>
                </a:lnTo>
                <a:lnTo>
                  <a:pt x="9563" y="2921"/>
                </a:lnTo>
                <a:lnTo>
                  <a:pt x="9855" y="2872"/>
                </a:lnTo>
                <a:lnTo>
                  <a:pt x="10269" y="3043"/>
                </a:lnTo>
                <a:lnTo>
                  <a:pt x="10074" y="3067"/>
                </a:lnTo>
                <a:lnTo>
                  <a:pt x="9855" y="3116"/>
                </a:lnTo>
                <a:lnTo>
                  <a:pt x="9685" y="3189"/>
                </a:lnTo>
                <a:lnTo>
                  <a:pt x="9515" y="3262"/>
                </a:lnTo>
                <a:lnTo>
                  <a:pt x="9515" y="3286"/>
                </a:lnTo>
                <a:lnTo>
                  <a:pt x="9490" y="3310"/>
                </a:lnTo>
                <a:lnTo>
                  <a:pt x="9515" y="3335"/>
                </a:lnTo>
                <a:lnTo>
                  <a:pt x="9539" y="3359"/>
                </a:lnTo>
                <a:lnTo>
                  <a:pt x="9953" y="3335"/>
                </a:lnTo>
                <a:lnTo>
                  <a:pt x="10342" y="3310"/>
                </a:lnTo>
                <a:lnTo>
                  <a:pt x="10780" y="3310"/>
                </a:lnTo>
                <a:lnTo>
                  <a:pt x="11048" y="3505"/>
                </a:lnTo>
                <a:lnTo>
                  <a:pt x="10756" y="3578"/>
                </a:lnTo>
                <a:lnTo>
                  <a:pt x="10464" y="3675"/>
                </a:lnTo>
                <a:lnTo>
                  <a:pt x="10245" y="3797"/>
                </a:lnTo>
                <a:lnTo>
                  <a:pt x="10099" y="3918"/>
                </a:lnTo>
                <a:lnTo>
                  <a:pt x="10074" y="3943"/>
                </a:lnTo>
                <a:lnTo>
                  <a:pt x="10099" y="3943"/>
                </a:lnTo>
                <a:lnTo>
                  <a:pt x="10391" y="3918"/>
                </a:lnTo>
                <a:lnTo>
                  <a:pt x="10683" y="3870"/>
                </a:lnTo>
                <a:lnTo>
                  <a:pt x="10975" y="3821"/>
                </a:lnTo>
                <a:lnTo>
                  <a:pt x="11291" y="3773"/>
                </a:lnTo>
                <a:lnTo>
                  <a:pt x="11364" y="3773"/>
                </a:lnTo>
                <a:lnTo>
                  <a:pt x="11583" y="3967"/>
                </a:lnTo>
                <a:lnTo>
                  <a:pt x="11778" y="4186"/>
                </a:lnTo>
                <a:lnTo>
                  <a:pt x="11388" y="4210"/>
                </a:lnTo>
                <a:lnTo>
                  <a:pt x="10829" y="4259"/>
                </a:lnTo>
                <a:lnTo>
                  <a:pt x="10561" y="4283"/>
                </a:lnTo>
                <a:lnTo>
                  <a:pt x="10318" y="4381"/>
                </a:lnTo>
                <a:lnTo>
                  <a:pt x="10293" y="4405"/>
                </a:lnTo>
                <a:lnTo>
                  <a:pt x="10293" y="4429"/>
                </a:lnTo>
                <a:lnTo>
                  <a:pt x="10318" y="4454"/>
                </a:lnTo>
                <a:lnTo>
                  <a:pt x="10585" y="4527"/>
                </a:lnTo>
                <a:lnTo>
                  <a:pt x="11705" y="4527"/>
                </a:lnTo>
                <a:lnTo>
                  <a:pt x="11997" y="4502"/>
                </a:lnTo>
                <a:lnTo>
                  <a:pt x="12216" y="4867"/>
                </a:lnTo>
                <a:lnTo>
                  <a:pt x="11851" y="4867"/>
                </a:lnTo>
                <a:lnTo>
                  <a:pt x="11267" y="4892"/>
                </a:lnTo>
                <a:lnTo>
                  <a:pt x="10658" y="4940"/>
                </a:lnTo>
                <a:lnTo>
                  <a:pt x="10634" y="4940"/>
                </a:lnTo>
                <a:lnTo>
                  <a:pt x="10634" y="4965"/>
                </a:lnTo>
                <a:lnTo>
                  <a:pt x="10634" y="4989"/>
                </a:lnTo>
                <a:lnTo>
                  <a:pt x="10658" y="5013"/>
                </a:lnTo>
                <a:lnTo>
                  <a:pt x="10902" y="5086"/>
                </a:lnTo>
                <a:lnTo>
                  <a:pt x="11169" y="5111"/>
                </a:lnTo>
                <a:lnTo>
                  <a:pt x="12021" y="5111"/>
                </a:lnTo>
                <a:lnTo>
                  <a:pt x="12362" y="5135"/>
                </a:lnTo>
                <a:lnTo>
                  <a:pt x="12556" y="5622"/>
                </a:lnTo>
                <a:lnTo>
                  <a:pt x="11461" y="5622"/>
                </a:lnTo>
                <a:lnTo>
                  <a:pt x="11291" y="5646"/>
                </a:lnTo>
                <a:lnTo>
                  <a:pt x="11145" y="5695"/>
                </a:lnTo>
                <a:lnTo>
                  <a:pt x="10999" y="5768"/>
                </a:lnTo>
                <a:lnTo>
                  <a:pt x="10975" y="5792"/>
                </a:lnTo>
                <a:lnTo>
                  <a:pt x="10999" y="5841"/>
                </a:lnTo>
                <a:lnTo>
                  <a:pt x="11267" y="5889"/>
                </a:lnTo>
                <a:lnTo>
                  <a:pt x="11534" y="5889"/>
                </a:lnTo>
                <a:lnTo>
                  <a:pt x="12070" y="5914"/>
                </a:lnTo>
                <a:lnTo>
                  <a:pt x="12654" y="5938"/>
                </a:lnTo>
                <a:lnTo>
                  <a:pt x="12702" y="6060"/>
                </a:lnTo>
                <a:lnTo>
                  <a:pt x="12727" y="6181"/>
                </a:lnTo>
                <a:lnTo>
                  <a:pt x="12386" y="6181"/>
                </a:lnTo>
                <a:lnTo>
                  <a:pt x="11729" y="6254"/>
                </a:lnTo>
                <a:lnTo>
                  <a:pt x="11413" y="6279"/>
                </a:lnTo>
                <a:lnTo>
                  <a:pt x="11121" y="6352"/>
                </a:lnTo>
                <a:lnTo>
                  <a:pt x="11096" y="6352"/>
                </a:lnTo>
                <a:lnTo>
                  <a:pt x="11096" y="6376"/>
                </a:lnTo>
                <a:lnTo>
                  <a:pt x="11096" y="6400"/>
                </a:lnTo>
                <a:lnTo>
                  <a:pt x="11121" y="6425"/>
                </a:lnTo>
                <a:lnTo>
                  <a:pt x="11388" y="6473"/>
                </a:lnTo>
                <a:lnTo>
                  <a:pt x="11656" y="6498"/>
                </a:lnTo>
                <a:lnTo>
                  <a:pt x="12508" y="6498"/>
                </a:lnTo>
                <a:lnTo>
                  <a:pt x="12824" y="6522"/>
                </a:lnTo>
                <a:lnTo>
                  <a:pt x="12873" y="6838"/>
                </a:lnTo>
                <a:lnTo>
                  <a:pt x="12556" y="6838"/>
                </a:lnTo>
                <a:lnTo>
                  <a:pt x="12240" y="6863"/>
                </a:lnTo>
                <a:lnTo>
                  <a:pt x="11753" y="6887"/>
                </a:lnTo>
                <a:lnTo>
                  <a:pt x="11510" y="6911"/>
                </a:lnTo>
                <a:lnTo>
                  <a:pt x="11267" y="6936"/>
                </a:lnTo>
                <a:lnTo>
                  <a:pt x="11242" y="6936"/>
                </a:lnTo>
                <a:lnTo>
                  <a:pt x="11242" y="6960"/>
                </a:lnTo>
                <a:lnTo>
                  <a:pt x="11242" y="7009"/>
                </a:lnTo>
                <a:lnTo>
                  <a:pt x="11267" y="7009"/>
                </a:lnTo>
                <a:lnTo>
                  <a:pt x="11461" y="7082"/>
                </a:lnTo>
                <a:lnTo>
                  <a:pt x="11680" y="7130"/>
                </a:lnTo>
                <a:lnTo>
                  <a:pt x="12727" y="7130"/>
                </a:lnTo>
                <a:lnTo>
                  <a:pt x="12921" y="7106"/>
                </a:lnTo>
                <a:lnTo>
                  <a:pt x="12994" y="7593"/>
                </a:lnTo>
                <a:lnTo>
                  <a:pt x="12994" y="7593"/>
                </a:lnTo>
                <a:lnTo>
                  <a:pt x="12848" y="7568"/>
                </a:lnTo>
                <a:lnTo>
                  <a:pt x="12702" y="7568"/>
                </a:lnTo>
                <a:lnTo>
                  <a:pt x="12435" y="7593"/>
                </a:lnTo>
                <a:lnTo>
                  <a:pt x="11997" y="7593"/>
                </a:lnTo>
                <a:lnTo>
                  <a:pt x="11778" y="7617"/>
                </a:lnTo>
                <a:lnTo>
                  <a:pt x="11559" y="7690"/>
                </a:lnTo>
                <a:lnTo>
                  <a:pt x="11534" y="7690"/>
                </a:lnTo>
                <a:lnTo>
                  <a:pt x="11534" y="7739"/>
                </a:lnTo>
                <a:lnTo>
                  <a:pt x="11534" y="7763"/>
                </a:lnTo>
                <a:lnTo>
                  <a:pt x="11559" y="7787"/>
                </a:lnTo>
                <a:lnTo>
                  <a:pt x="11778" y="7836"/>
                </a:lnTo>
                <a:lnTo>
                  <a:pt x="11997" y="7860"/>
                </a:lnTo>
                <a:lnTo>
                  <a:pt x="12435" y="7860"/>
                </a:lnTo>
                <a:lnTo>
                  <a:pt x="12702" y="7885"/>
                </a:lnTo>
                <a:lnTo>
                  <a:pt x="12848" y="7885"/>
                </a:lnTo>
                <a:lnTo>
                  <a:pt x="12994" y="7860"/>
                </a:lnTo>
                <a:lnTo>
                  <a:pt x="12994" y="7909"/>
                </a:lnTo>
                <a:lnTo>
                  <a:pt x="12994" y="8250"/>
                </a:lnTo>
                <a:lnTo>
                  <a:pt x="12873" y="8201"/>
                </a:lnTo>
                <a:lnTo>
                  <a:pt x="12775" y="8201"/>
                </a:lnTo>
                <a:lnTo>
                  <a:pt x="12532" y="8177"/>
                </a:lnTo>
                <a:lnTo>
                  <a:pt x="12094" y="8177"/>
                </a:lnTo>
                <a:lnTo>
                  <a:pt x="11875" y="8201"/>
                </a:lnTo>
                <a:lnTo>
                  <a:pt x="11656" y="8250"/>
                </a:lnTo>
                <a:lnTo>
                  <a:pt x="11656" y="8274"/>
                </a:lnTo>
                <a:lnTo>
                  <a:pt x="11632" y="8298"/>
                </a:lnTo>
                <a:lnTo>
                  <a:pt x="11656" y="8298"/>
                </a:lnTo>
                <a:lnTo>
                  <a:pt x="11656" y="8323"/>
                </a:lnTo>
                <a:lnTo>
                  <a:pt x="12045" y="8396"/>
                </a:lnTo>
                <a:lnTo>
                  <a:pt x="12410" y="8444"/>
                </a:lnTo>
                <a:lnTo>
                  <a:pt x="12702" y="8469"/>
                </a:lnTo>
                <a:lnTo>
                  <a:pt x="12824" y="8493"/>
                </a:lnTo>
                <a:lnTo>
                  <a:pt x="12970" y="8469"/>
                </a:lnTo>
                <a:lnTo>
                  <a:pt x="12873" y="8858"/>
                </a:lnTo>
                <a:lnTo>
                  <a:pt x="12654" y="8809"/>
                </a:lnTo>
                <a:lnTo>
                  <a:pt x="12483" y="8785"/>
                </a:lnTo>
                <a:lnTo>
                  <a:pt x="12264" y="8736"/>
                </a:lnTo>
                <a:lnTo>
                  <a:pt x="11826" y="8736"/>
                </a:lnTo>
                <a:lnTo>
                  <a:pt x="11607" y="8809"/>
                </a:lnTo>
                <a:lnTo>
                  <a:pt x="11583" y="8834"/>
                </a:lnTo>
                <a:lnTo>
                  <a:pt x="11583" y="8858"/>
                </a:lnTo>
                <a:lnTo>
                  <a:pt x="11583" y="8882"/>
                </a:lnTo>
                <a:lnTo>
                  <a:pt x="11851" y="8882"/>
                </a:lnTo>
                <a:lnTo>
                  <a:pt x="12094" y="8931"/>
                </a:lnTo>
                <a:lnTo>
                  <a:pt x="12556" y="9053"/>
                </a:lnTo>
                <a:lnTo>
                  <a:pt x="12775" y="9126"/>
                </a:lnTo>
                <a:lnTo>
                  <a:pt x="12654" y="9345"/>
                </a:lnTo>
                <a:lnTo>
                  <a:pt x="12508" y="9296"/>
                </a:lnTo>
                <a:lnTo>
                  <a:pt x="12313" y="9272"/>
                </a:lnTo>
                <a:lnTo>
                  <a:pt x="12143" y="9223"/>
                </a:lnTo>
                <a:lnTo>
                  <a:pt x="11972" y="9199"/>
                </a:lnTo>
                <a:lnTo>
                  <a:pt x="11607" y="9199"/>
                </a:lnTo>
                <a:lnTo>
                  <a:pt x="11583" y="9223"/>
                </a:lnTo>
                <a:lnTo>
                  <a:pt x="11583" y="9247"/>
                </a:lnTo>
                <a:lnTo>
                  <a:pt x="11583" y="9272"/>
                </a:lnTo>
                <a:lnTo>
                  <a:pt x="11924" y="9418"/>
                </a:lnTo>
                <a:lnTo>
                  <a:pt x="12240" y="9564"/>
                </a:lnTo>
                <a:lnTo>
                  <a:pt x="12532" y="9637"/>
                </a:lnTo>
                <a:lnTo>
                  <a:pt x="12337" y="9929"/>
                </a:lnTo>
                <a:lnTo>
                  <a:pt x="12337" y="9977"/>
                </a:lnTo>
                <a:lnTo>
                  <a:pt x="12167" y="9904"/>
                </a:lnTo>
                <a:lnTo>
                  <a:pt x="11997" y="9880"/>
                </a:lnTo>
                <a:lnTo>
                  <a:pt x="11802" y="9831"/>
                </a:lnTo>
                <a:lnTo>
                  <a:pt x="11242" y="9831"/>
                </a:lnTo>
                <a:lnTo>
                  <a:pt x="11218" y="9856"/>
                </a:lnTo>
                <a:lnTo>
                  <a:pt x="11218" y="9880"/>
                </a:lnTo>
                <a:lnTo>
                  <a:pt x="11242" y="9880"/>
                </a:lnTo>
                <a:lnTo>
                  <a:pt x="11534" y="10002"/>
                </a:lnTo>
                <a:lnTo>
                  <a:pt x="11851" y="10123"/>
                </a:lnTo>
                <a:lnTo>
                  <a:pt x="12167" y="10245"/>
                </a:lnTo>
                <a:lnTo>
                  <a:pt x="11972" y="10513"/>
                </a:lnTo>
                <a:lnTo>
                  <a:pt x="11826" y="10488"/>
                </a:lnTo>
                <a:lnTo>
                  <a:pt x="11413" y="10391"/>
                </a:lnTo>
                <a:lnTo>
                  <a:pt x="11023" y="10342"/>
                </a:lnTo>
                <a:lnTo>
                  <a:pt x="10975" y="10342"/>
                </a:lnTo>
                <a:lnTo>
                  <a:pt x="10975" y="10367"/>
                </a:lnTo>
                <a:lnTo>
                  <a:pt x="10975" y="10391"/>
                </a:lnTo>
                <a:lnTo>
                  <a:pt x="10999" y="10440"/>
                </a:lnTo>
                <a:lnTo>
                  <a:pt x="11145" y="10537"/>
                </a:lnTo>
                <a:lnTo>
                  <a:pt x="11315" y="10610"/>
                </a:lnTo>
                <a:lnTo>
                  <a:pt x="11632" y="10732"/>
                </a:lnTo>
                <a:lnTo>
                  <a:pt x="11802" y="10780"/>
                </a:lnTo>
                <a:lnTo>
                  <a:pt x="11656" y="10999"/>
                </a:lnTo>
                <a:lnTo>
                  <a:pt x="11510" y="10951"/>
                </a:lnTo>
                <a:lnTo>
                  <a:pt x="11364" y="10926"/>
                </a:lnTo>
                <a:lnTo>
                  <a:pt x="11072" y="10853"/>
                </a:lnTo>
                <a:lnTo>
                  <a:pt x="10950" y="10853"/>
                </a:lnTo>
                <a:lnTo>
                  <a:pt x="10804" y="10902"/>
                </a:lnTo>
                <a:lnTo>
                  <a:pt x="10780" y="10926"/>
                </a:lnTo>
                <a:lnTo>
                  <a:pt x="10756" y="10951"/>
                </a:lnTo>
                <a:lnTo>
                  <a:pt x="10756" y="10999"/>
                </a:lnTo>
                <a:lnTo>
                  <a:pt x="10780" y="11048"/>
                </a:lnTo>
                <a:lnTo>
                  <a:pt x="10902" y="11121"/>
                </a:lnTo>
                <a:lnTo>
                  <a:pt x="11023" y="11170"/>
                </a:lnTo>
                <a:lnTo>
                  <a:pt x="11267" y="11243"/>
                </a:lnTo>
                <a:lnTo>
                  <a:pt x="11461" y="11291"/>
                </a:lnTo>
                <a:lnTo>
                  <a:pt x="11242" y="11583"/>
                </a:lnTo>
                <a:lnTo>
                  <a:pt x="11072" y="11535"/>
                </a:lnTo>
                <a:lnTo>
                  <a:pt x="10877" y="11535"/>
                </a:lnTo>
                <a:lnTo>
                  <a:pt x="10683" y="11583"/>
                </a:lnTo>
                <a:lnTo>
                  <a:pt x="10658" y="11608"/>
                </a:lnTo>
                <a:lnTo>
                  <a:pt x="10683" y="11632"/>
                </a:lnTo>
                <a:lnTo>
                  <a:pt x="10829" y="11681"/>
                </a:lnTo>
                <a:lnTo>
                  <a:pt x="10975" y="11729"/>
                </a:lnTo>
                <a:lnTo>
                  <a:pt x="11096" y="11778"/>
                </a:lnTo>
                <a:lnTo>
                  <a:pt x="10877" y="12143"/>
                </a:lnTo>
                <a:lnTo>
                  <a:pt x="10829" y="12118"/>
                </a:lnTo>
                <a:lnTo>
                  <a:pt x="10658" y="12045"/>
                </a:lnTo>
                <a:lnTo>
                  <a:pt x="10561" y="11997"/>
                </a:lnTo>
                <a:lnTo>
                  <a:pt x="10464" y="11972"/>
                </a:lnTo>
                <a:lnTo>
                  <a:pt x="10439" y="11997"/>
                </a:lnTo>
                <a:lnTo>
                  <a:pt x="10439" y="12045"/>
                </a:lnTo>
                <a:lnTo>
                  <a:pt x="10488" y="12118"/>
                </a:lnTo>
                <a:lnTo>
                  <a:pt x="10585" y="12191"/>
                </a:lnTo>
                <a:lnTo>
                  <a:pt x="10756" y="12313"/>
                </a:lnTo>
                <a:lnTo>
                  <a:pt x="10561" y="12654"/>
                </a:lnTo>
                <a:lnTo>
                  <a:pt x="10415" y="12629"/>
                </a:lnTo>
                <a:lnTo>
                  <a:pt x="10172" y="12629"/>
                </a:lnTo>
                <a:lnTo>
                  <a:pt x="10026" y="12654"/>
                </a:lnTo>
                <a:lnTo>
                  <a:pt x="10026" y="12678"/>
                </a:lnTo>
                <a:lnTo>
                  <a:pt x="10026" y="12702"/>
                </a:lnTo>
                <a:lnTo>
                  <a:pt x="10245" y="12800"/>
                </a:lnTo>
                <a:lnTo>
                  <a:pt x="10439" y="12897"/>
                </a:lnTo>
                <a:lnTo>
                  <a:pt x="10196" y="13384"/>
                </a:lnTo>
                <a:lnTo>
                  <a:pt x="9880" y="13384"/>
                </a:lnTo>
                <a:lnTo>
                  <a:pt x="9904" y="13432"/>
                </a:lnTo>
                <a:lnTo>
                  <a:pt x="10147" y="13505"/>
                </a:lnTo>
                <a:lnTo>
                  <a:pt x="10074" y="13700"/>
                </a:lnTo>
                <a:lnTo>
                  <a:pt x="10026" y="13895"/>
                </a:lnTo>
                <a:lnTo>
                  <a:pt x="9953" y="14284"/>
                </a:lnTo>
                <a:lnTo>
                  <a:pt x="9880" y="14673"/>
                </a:lnTo>
                <a:lnTo>
                  <a:pt x="9807" y="15087"/>
                </a:lnTo>
                <a:lnTo>
                  <a:pt x="9101" y="15111"/>
                </a:lnTo>
                <a:lnTo>
                  <a:pt x="9247" y="14673"/>
                </a:lnTo>
                <a:lnTo>
                  <a:pt x="9344" y="14235"/>
                </a:lnTo>
                <a:lnTo>
                  <a:pt x="9539" y="13359"/>
                </a:lnTo>
                <a:lnTo>
                  <a:pt x="9734" y="12459"/>
                </a:lnTo>
                <a:lnTo>
                  <a:pt x="9855" y="12021"/>
                </a:lnTo>
                <a:lnTo>
                  <a:pt x="9977" y="11583"/>
                </a:lnTo>
                <a:lnTo>
                  <a:pt x="10269" y="10659"/>
                </a:lnTo>
                <a:lnTo>
                  <a:pt x="10537" y="9734"/>
                </a:lnTo>
                <a:lnTo>
                  <a:pt x="10658" y="9320"/>
                </a:lnTo>
                <a:lnTo>
                  <a:pt x="10756" y="8858"/>
                </a:lnTo>
                <a:lnTo>
                  <a:pt x="10780" y="8639"/>
                </a:lnTo>
                <a:lnTo>
                  <a:pt x="10780" y="8396"/>
                </a:lnTo>
                <a:lnTo>
                  <a:pt x="10756" y="8177"/>
                </a:lnTo>
                <a:lnTo>
                  <a:pt x="10707" y="7958"/>
                </a:lnTo>
                <a:lnTo>
                  <a:pt x="10683" y="7933"/>
                </a:lnTo>
                <a:lnTo>
                  <a:pt x="10634" y="7933"/>
                </a:lnTo>
                <a:lnTo>
                  <a:pt x="10610" y="7958"/>
                </a:lnTo>
                <a:lnTo>
                  <a:pt x="10537" y="8177"/>
                </a:lnTo>
                <a:lnTo>
                  <a:pt x="10464" y="8420"/>
                </a:lnTo>
                <a:lnTo>
                  <a:pt x="10366" y="8882"/>
                </a:lnTo>
                <a:lnTo>
                  <a:pt x="10293" y="9369"/>
                </a:lnTo>
                <a:lnTo>
                  <a:pt x="10172" y="9831"/>
                </a:lnTo>
                <a:lnTo>
                  <a:pt x="9904" y="10756"/>
                </a:lnTo>
                <a:lnTo>
                  <a:pt x="9588" y="11656"/>
                </a:lnTo>
                <a:lnTo>
                  <a:pt x="9466" y="12094"/>
                </a:lnTo>
                <a:lnTo>
                  <a:pt x="9369" y="12532"/>
                </a:lnTo>
                <a:lnTo>
                  <a:pt x="9174" y="13384"/>
                </a:lnTo>
                <a:lnTo>
                  <a:pt x="8979" y="14260"/>
                </a:lnTo>
                <a:lnTo>
                  <a:pt x="8858" y="14698"/>
                </a:lnTo>
                <a:lnTo>
                  <a:pt x="8736" y="15111"/>
                </a:lnTo>
                <a:lnTo>
                  <a:pt x="8128" y="15136"/>
                </a:lnTo>
                <a:lnTo>
                  <a:pt x="7519" y="15087"/>
                </a:lnTo>
                <a:lnTo>
                  <a:pt x="7179" y="15063"/>
                </a:lnTo>
                <a:lnTo>
                  <a:pt x="7154" y="15038"/>
                </a:lnTo>
                <a:lnTo>
                  <a:pt x="7081" y="14698"/>
                </a:lnTo>
                <a:lnTo>
                  <a:pt x="7033" y="14357"/>
                </a:lnTo>
                <a:lnTo>
                  <a:pt x="6935" y="13651"/>
                </a:lnTo>
                <a:lnTo>
                  <a:pt x="6765" y="12605"/>
                </a:lnTo>
                <a:lnTo>
                  <a:pt x="6570" y="11583"/>
                </a:lnTo>
                <a:lnTo>
                  <a:pt x="6230" y="9880"/>
                </a:lnTo>
                <a:lnTo>
                  <a:pt x="6060" y="9028"/>
                </a:lnTo>
                <a:lnTo>
                  <a:pt x="5841" y="8177"/>
                </a:lnTo>
                <a:lnTo>
                  <a:pt x="5816" y="8152"/>
                </a:lnTo>
                <a:lnTo>
                  <a:pt x="5768" y="8128"/>
                </a:lnTo>
                <a:lnTo>
                  <a:pt x="5743" y="8128"/>
                </a:lnTo>
                <a:lnTo>
                  <a:pt x="5695" y="8152"/>
                </a:lnTo>
                <a:lnTo>
                  <a:pt x="5646" y="8298"/>
                </a:lnTo>
                <a:lnTo>
                  <a:pt x="5646" y="8420"/>
                </a:lnTo>
                <a:lnTo>
                  <a:pt x="5646" y="8542"/>
                </a:lnTo>
                <a:lnTo>
                  <a:pt x="5646" y="8663"/>
                </a:lnTo>
                <a:lnTo>
                  <a:pt x="5719" y="8931"/>
                </a:lnTo>
                <a:lnTo>
                  <a:pt x="5768" y="9199"/>
                </a:lnTo>
                <a:lnTo>
                  <a:pt x="5865" y="9734"/>
                </a:lnTo>
                <a:lnTo>
                  <a:pt x="5962" y="10245"/>
                </a:lnTo>
                <a:lnTo>
                  <a:pt x="6035" y="10780"/>
                </a:lnTo>
                <a:lnTo>
                  <a:pt x="6133" y="11316"/>
                </a:lnTo>
                <a:lnTo>
                  <a:pt x="6327" y="12337"/>
                </a:lnTo>
                <a:lnTo>
                  <a:pt x="6522" y="13384"/>
                </a:lnTo>
                <a:lnTo>
                  <a:pt x="6570" y="13773"/>
                </a:lnTo>
                <a:lnTo>
                  <a:pt x="6619" y="14211"/>
                </a:lnTo>
                <a:lnTo>
                  <a:pt x="6668" y="14625"/>
                </a:lnTo>
                <a:lnTo>
                  <a:pt x="6716" y="14819"/>
                </a:lnTo>
                <a:lnTo>
                  <a:pt x="6765" y="15014"/>
                </a:lnTo>
                <a:lnTo>
                  <a:pt x="6497" y="15038"/>
                </a:lnTo>
                <a:lnTo>
                  <a:pt x="6473" y="14625"/>
                </a:lnTo>
                <a:lnTo>
                  <a:pt x="6400" y="14235"/>
                </a:lnTo>
                <a:lnTo>
                  <a:pt x="6279" y="13846"/>
                </a:lnTo>
                <a:lnTo>
                  <a:pt x="6133" y="13481"/>
                </a:lnTo>
                <a:lnTo>
                  <a:pt x="5938" y="13116"/>
                </a:lnTo>
                <a:lnTo>
                  <a:pt x="5743" y="12775"/>
                </a:lnTo>
                <a:lnTo>
                  <a:pt x="5281" y="12070"/>
                </a:lnTo>
                <a:lnTo>
                  <a:pt x="4746" y="11267"/>
                </a:lnTo>
                <a:lnTo>
                  <a:pt x="4210" y="10415"/>
                </a:lnTo>
                <a:lnTo>
                  <a:pt x="3967" y="9977"/>
                </a:lnTo>
                <a:lnTo>
                  <a:pt x="3724" y="9539"/>
                </a:lnTo>
                <a:lnTo>
                  <a:pt x="3529" y="9077"/>
                </a:lnTo>
                <a:lnTo>
                  <a:pt x="3359" y="8615"/>
                </a:lnTo>
                <a:lnTo>
                  <a:pt x="3286" y="8396"/>
                </a:lnTo>
                <a:lnTo>
                  <a:pt x="3261" y="8152"/>
                </a:lnTo>
                <a:lnTo>
                  <a:pt x="3237" y="7909"/>
                </a:lnTo>
                <a:lnTo>
                  <a:pt x="3237" y="7666"/>
                </a:lnTo>
                <a:lnTo>
                  <a:pt x="3261" y="7155"/>
                </a:lnTo>
                <a:lnTo>
                  <a:pt x="3310" y="6668"/>
                </a:lnTo>
                <a:lnTo>
                  <a:pt x="3334" y="6376"/>
                </a:lnTo>
                <a:lnTo>
                  <a:pt x="3407" y="6108"/>
                </a:lnTo>
                <a:lnTo>
                  <a:pt x="3480" y="5841"/>
                </a:lnTo>
                <a:lnTo>
                  <a:pt x="3578" y="5597"/>
                </a:lnTo>
                <a:lnTo>
                  <a:pt x="3699" y="5354"/>
                </a:lnTo>
                <a:lnTo>
                  <a:pt x="3845" y="5111"/>
                </a:lnTo>
                <a:lnTo>
                  <a:pt x="4016" y="4892"/>
                </a:lnTo>
                <a:lnTo>
                  <a:pt x="4186" y="4673"/>
                </a:lnTo>
                <a:lnTo>
                  <a:pt x="4648" y="4162"/>
                </a:lnTo>
                <a:lnTo>
                  <a:pt x="5062" y="3748"/>
                </a:lnTo>
                <a:lnTo>
                  <a:pt x="5403" y="3432"/>
                </a:lnTo>
                <a:lnTo>
                  <a:pt x="5743" y="3189"/>
                </a:lnTo>
                <a:lnTo>
                  <a:pt x="6060" y="3018"/>
                </a:lnTo>
                <a:lnTo>
                  <a:pt x="6352" y="2872"/>
                </a:lnTo>
                <a:lnTo>
                  <a:pt x="6668" y="2775"/>
                </a:lnTo>
                <a:lnTo>
                  <a:pt x="6984" y="2702"/>
                </a:lnTo>
                <a:lnTo>
                  <a:pt x="7276" y="2653"/>
                </a:lnTo>
                <a:lnTo>
                  <a:pt x="7568" y="2629"/>
                </a:lnTo>
                <a:lnTo>
                  <a:pt x="7860" y="2605"/>
                </a:lnTo>
                <a:close/>
                <a:moveTo>
                  <a:pt x="6716" y="15525"/>
                </a:moveTo>
                <a:lnTo>
                  <a:pt x="6619" y="15720"/>
                </a:lnTo>
                <a:lnTo>
                  <a:pt x="6352" y="16158"/>
                </a:lnTo>
                <a:lnTo>
                  <a:pt x="6279" y="16109"/>
                </a:lnTo>
                <a:lnTo>
                  <a:pt x="6230" y="16060"/>
                </a:lnTo>
                <a:lnTo>
                  <a:pt x="6206" y="15963"/>
                </a:lnTo>
                <a:lnTo>
                  <a:pt x="6206" y="15866"/>
                </a:lnTo>
                <a:lnTo>
                  <a:pt x="6206" y="15768"/>
                </a:lnTo>
                <a:lnTo>
                  <a:pt x="6230" y="15695"/>
                </a:lnTo>
                <a:lnTo>
                  <a:pt x="6279" y="15598"/>
                </a:lnTo>
                <a:lnTo>
                  <a:pt x="6327" y="15549"/>
                </a:lnTo>
                <a:lnTo>
                  <a:pt x="6595" y="15525"/>
                </a:lnTo>
                <a:close/>
                <a:moveTo>
                  <a:pt x="6887" y="15525"/>
                </a:moveTo>
                <a:lnTo>
                  <a:pt x="7276" y="15549"/>
                </a:lnTo>
                <a:lnTo>
                  <a:pt x="7641" y="15598"/>
                </a:lnTo>
                <a:lnTo>
                  <a:pt x="8225" y="15647"/>
                </a:lnTo>
                <a:lnTo>
                  <a:pt x="8809" y="15671"/>
                </a:lnTo>
                <a:lnTo>
                  <a:pt x="8541" y="15963"/>
                </a:lnTo>
                <a:lnTo>
                  <a:pt x="8298" y="16255"/>
                </a:lnTo>
                <a:lnTo>
                  <a:pt x="7909" y="16231"/>
                </a:lnTo>
                <a:lnTo>
                  <a:pt x="8249" y="15744"/>
                </a:lnTo>
                <a:lnTo>
                  <a:pt x="8249" y="15720"/>
                </a:lnTo>
                <a:lnTo>
                  <a:pt x="8225" y="15695"/>
                </a:lnTo>
                <a:lnTo>
                  <a:pt x="8201" y="15671"/>
                </a:lnTo>
                <a:lnTo>
                  <a:pt x="8176" y="15695"/>
                </a:lnTo>
                <a:lnTo>
                  <a:pt x="7690" y="16231"/>
                </a:lnTo>
                <a:lnTo>
                  <a:pt x="7179" y="16182"/>
                </a:lnTo>
                <a:lnTo>
                  <a:pt x="7325" y="15939"/>
                </a:lnTo>
                <a:lnTo>
                  <a:pt x="7471" y="15671"/>
                </a:lnTo>
                <a:lnTo>
                  <a:pt x="7471" y="15647"/>
                </a:lnTo>
                <a:lnTo>
                  <a:pt x="7446" y="15622"/>
                </a:lnTo>
                <a:lnTo>
                  <a:pt x="7422" y="15647"/>
                </a:lnTo>
                <a:lnTo>
                  <a:pt x="7203" y="15890"/>
                </a:lnTo>
                <a:lnTo>
                  <a:pt x="6935" y="16182"/>
                </a:lnTo>
                <a:lnTo>
                  <a:pt x="6741" y="16206"/>
                </a:lnTo>
                <a:lnTo>
                  <a:pt x="6570" y="16255"/>
                </a:lnTo>
                <a:lnTo>
                  <a:pt x="6668" y="16060"/>
                </a:lnTo>
                <a:lnTo>
                  <a:pt x="6814" y="15817"/>
                </a:lnTo>
                <a:lnTo>
                  <a:pt x="6862" y="15671"/>
                </a:lnTo>
                <a:lnTo>
                  <a:pt x="6887" y="15525"/>
                </a:lnTo>
                <a:close/>
                <a:moveTo>
                  <a:pt x="9661" y="15622"/>
                </a:moveTo>
                <a:lnTo>
                  <a:pt x="9734" y="15671"/>
                </a:lnTo>
                <a:lnTo>
                  <a:pt x="9807" y="15695"/>
                </a:lnTo>
                <a:lnTo>
                  <a:pt x="9953" y="15695"/>
                </a:lnTo>
                <a:lnTo>
                  <a:pt x="9782" y="15793"/>
                </a:lnTo>
                <a:lnTo>
                  <a:pt x="9661" y="15939"/>
                </a:lnTo>
                <a:lnTo>
                  <a:pt x="9539" y="16085"/>
                </a:lnTo>
                <a:lnTo>
                  <a:pt x="9417" y="16279"/>
                </a:lnTo>
                <a:lnTo>
                  <a:pt x="9271" y="16279"/>
                </a:lnTo>
                <a:lnTo>
                  <a:pt x="9612" y="15817"/>
                </a:lnTo>
                <a:lnTo>
                  <a:pt x="9612" y="15793"/>
                </a:lnTo>
                <a:lnTo>
                  <a:pt x="9612" y="15768"/>
                </a:lnTo>
                <a:lnTo>
                  <a:pt x="9563" y="15768"/>
                </a:lnTo>
                <a:lnTo>
                  <a:pt x="9320" y="16012"/>
                </a:lnTo>
                <a:lnTo>
                  <a:pt x="9077" y="16255"/>
                </a:lnTo>
                <a:lnTo>
                  <a:pt x="8517" y="16255"/>
                </a:lnTo>
                <a:lnTo>
                  <a:pt x="8882" y="15720"/>
                </a:lnTo>
                <a:lnTo>
                  <a:pt x="8906" y="15695"/>
                </a:lnTo>
                <a:lnTo>
                  <a:pt x="8882" y="15671"/>
                </a:lnTo>
                <a:lnTo>
                  <a:pt x="9271" y="15671"/>
                </a:lnTo>
                <a:lnTo>
                  <a:pt x="9661" y="15622"/>
                </a:lnTo>
                <a:close/>
                <a:moveTo>
                  <a:pt x="10074" y="15768"/>
                </a:moveTo>
                <a:lnTo>
                  <a:pt x="10074" y="15841"/>
                </a:lnTo>
                <a:lnTo>
                  <a:pt x="10099" y="15939"/>
                </a:lnTo>
                <a:lnTo>
                  <a:pt x="10074" y="16060"/>
                </a:lnTo>
                <a:lnTo>
                  <a:pt x="10050" y="16182"/>
                </a:lnTo>
                <a:lnTo>
                  <a:pt x="9977" y="16304"/>
                </a:lnTo>
                <a:lnTo>
                  <a:pt x="9758" y="16279"/>
                </a:lnTo>
                <a:lnTo>
                  <a:pt x="9880" y="16012"/>
                </a:lnTo>
                <a:lnTo>
                  <a:pt x="9977" y="15890"/>
                </a:lnTo>
                <a:lnTo>
                  <a:pt x="10074" y="15768"/>
                </a:lnTo>
                <a:close/>
                <a:moveTo>
                  <a:pt x="6522" y="16571"/>
                </a:moveTo>
                <a:lnTo>
                  <a:pt x="6595" y="16620"/>
                </a:lnTo>
                <a:lnTo>
                  <a:pt x="6424" y="16888"/>
                </a:lnTo>
                <a:lnTo>
                  <a:pt x="6376" y="17034"/>
                </a:lnTo>
                <a:lnTo>
                  <a:pt x="6327" y="17180"/>
                </a:lnTo>
                <a:lnTo>
                  <a:pt x="6254" y="17082"/>
                </a:lnTo>
                <a:lnTo>
                  <a:pt x="6230" y="16985"/>
                </a:lnTo>
                <a:lnTo>
                  <a:pt x="6206" y="16912"/>
                </a:lnTo>
                <a:lnTo>
                  <a:pt x="6230" y="16815"/>
                </a:lnTo>
                <a:lnTo>
                  <a:pt x="6254" y="16839"/>
                </a:lnTo>
                <a:lnTo>
                  <a:pt x="6303" y="16839"/>
                </a:lnTo>
                <a:lnTo>
                  <a:pt x="6352" y="16815"/>
                </a:lnTo>
                <a:lnTo>
                  <a:pt x="6376" y="16766"/>
                </a:lnTo>
                <a:lnTo>
                  <a:pt x="6424" y="16596"/>
                </a:lnTo>
                <a:lnTo>
                  <a:pt x="6449" y="16596"/>
                </a:lnTo>
                <a:lnTo>
                  <a:pt x="6522" y="16571"/>
                </a:lnTo>
                <a:close/>
                <a:moveTo>
                  <a:pt x="7884" y="16693"/>
                </a:moveTo>
                <a:lnTo>
                  <a:pt x="7957" y="16717"/>
                </a:lnTo>
                <a:lnTo>
                  <a:pt x="7787" y="16985"/>
                </a:lnTo>
                <a:lnTo>
                  <a:pt x="7617" y="17253"/>
                </a:lnTo>
                <a:lnTo>
                  <a:pt x="7592" y="17326"/>
                </a:lnTo>
                <a:lnTo>
                  <a:pt x="7300" y="17326"/>
                </a:lnTo>
                <a:lnTo>
                  <a:pt x="7398" y="17107"/>
                </a:lnTo>
                <a:lnTo>
                  <a:pt x="7519" y="16888"/>
                </a:lnTo>
                <a:lnTo>
                  <a:pt x="7617" y="16717"/>
                </a:lnTo>
                <a:lnTo>
                  <a:pt x="7884" y="16693"/>
                </a:lnTo>
                <a:close/>
                <a:moveTo>
                  <a:pt x="8225" y="16717"/>
                </a:moveTo>
                <a:lnTo>
                  <a:pt x="8736" y="16742"/>
                </a:lnTo>
                <a:lnTo>
                  <a:pt x="8541" y="17034"/>
                </a:lnTo>
                <a:lnTo>
                  <a:pt x="8371" y="17326"/>
                </a:lnTo>
                <a:lnTo>
                  <a:pt x="7909" y="17326"/>
                </a:lnTo>
                <a:lnTo>
                  <a:pt x="7933" y="17277"/>
                </a:lnTo>
                <a:lnTo>
                  <a:pt x="8225" y="16717"/>
                </a:lnTo>
                <a:close/>
                <a:moveTo>
                  <a:pt x="9223" y="16742"/>
                </a:moveTo>
                <a:lnTo>
                  <a:pt x="8979" y="17350"/>
                </a:lnTo>
                <a:lnTo>
                  <a:pt x="8663" y="17350"/>
                </a:lnTo>
                <a:lnTo>
                  <a:pt x="8979" y="16742"/>
                </a:lnTo>
                <a:close/>
                <a:moveTo>
                  <a:pt x="9928" y="16742"/>
                </a:moveTo>
                <a:lnTo>
                  <a:pt x="9661" y="17253"/>
                </a:lnTo>
                <a:lnTo>
                  <a:pt x="9612" y="17350"/>
                </a:lnTo>
                <a:lnTo>
                  <a:pt x="9320" y="17350"/>
                </a:lnTo>
                <a:lnTo>
                  <a:pt x="9563" y="16742"/>
                </a:lnTo>
                <a:close/>
                <a:moveTo>
                  <a:pt x="10147" y="16839"/>
                </a:moveTo>
                <a:lnTo>
                  <a:pt x="10220" y="16961"/>
                </a:lnTo>
                <a:lnTo>
                  <a:pt x="10245" y="17107"/>
                </a:lnTo>
                <a:lnTo>
                  <a:pt x="10220" y="17228"/>
                </a:lnTo>
                <a:lnTo>
                  <a:pt x="10147" y="17350"/>
                </a:lnTo>
                <a:lnTo>
                  <a:pt x="9928" y="17350"/>
                </a:lnTo>
                <a:lnTo>
                  <a:pt x="9953" y="17277"/>
                </a:lnTo>
                <a:lnTo>
                  <a:pt x="10050" y="17082"/>
                </a:lnTo>
                <a:lnTo>
                  <a:pt x="10147" y="16839"/>
                </a:lnTo>
                <a:close/>
                <a:moveTo>
                  <a:pt x="6862" y="16693"/>
                </a:moveTo>
                <a:lnTo>
                  <a:pt x="7081" y="16717"/>
                </a:lnTo>
                <a:lnTo>
                  <a:pt x="7300" y="16717"/>
                </a:lnTo>
                <a:lnTo>
                  <a:pt x="7106" y="17009"/>
                </a:lnTo>
                <a:lnTo>
                  <a:pt x="6935" y="17326"/>
                </a:lnTo>
                <a:lnTo>
                  <a:pt x="6741" y="17350"/>
                </a:lnTo>
                <a:lnTo>
                  <a:pt x="6570" y="17399"/>
                </a:lnTo>
                <a:lnTo>
                  <a:pt x="6619" y="17204"/>
                </a:lnTo>
                <a:lnTo>
                  <a:pt x="6692" y="17034"/>
                </a:lnTo>
                <a:lnTo>
                  <a:pt x="6862" y="16693"/>
                </a:lnTo>
                <a:close/>
                <a:moveTo>
                  <a:pt x="6473" y="17618"/>
                </a:moveTo>
                <a:lnTo>
                  <a:pt x="6643" y="17691"/>
                </a:lnTo>
                <a:lnTo>
                  <a:pt x="6814" y="17715"/>
                </a:lnTo>
                <a:lnTo>
                  <a:pt x="6789" y="17910"/>
                </a:lnTo>
                <a:lnTo>
                  <a:pt x="6765" y="18080"/>
                </a:lnTo>
                <a:lnTo>
                  <a:pt x="6643" y="17983"/>
                </a:lnTo>
                <a:lnTo>
                  <a:pt x="6546" y="17861"/>
                </a:lnTo>
                <a:lnTo>
                  <a:pt x="6352" y="17642"/>
                </a:lnTo>
                <a:lnTo>
                  <a:pt x="6376" y="17618"/>
                </a:lnTo>
                <a:lnTo>
                  <a:pt x="6424" y="17642"/>
                </a:lnTo>
                <a:lnTo>
                  <a:pt x="6473" y="17618"/>
                </a:lnTo>
                <a:close/>
                <a:moveTo>
                  <a:pt x="7398" y="17739"/>
                </a:moveTo>
                <a:lnTo>
                  <a:pt x="7300" y="18031"/>
                </a:lnTo>
                <a:lnTo>
                  <a:pt x="7252" y="18177"/>
                </a:lnTo>
                <a:lnTo>
                  <a:pt x="7252" y="18299"/>
                </a:lnTo>
                <a:lnTo>
                  <a:pt x="7008" y="18202"/>
                </a:lnTo>
                <a:lnTo>
                  <a:pt x="7154" y="17739"/>
                </a:lnTo>
                <a:close/>
                <a:moveTo>
                  <a:pt x="8833" y="17715"/>
                </a:moveTo>
                <a:lnTo>
                  <a:pt x="8785" y="17837"/>
                </a:lnTo>
                <a:lnTo>
                  <a:pt x="8736" y="17983"/>
                </a:lnTo>
                <a:lnTo>
                  <a:pt x="8712" y="18104"/>
                </a:lnTo>
                <a:lnTo>
                  <a:pt x="8736" y="18153"/>
                </a:lnTo>
                <a:lnTo>
                  <a:pt x="8736" y="18202"/>
                </a:lnTo>
                <a:lnTo>
                  <a:pt x="8809" y="18250"/>
                </a:lnTo>
                <a:lnTo>
                  <a:pt x="8882" y="18250"/>
                </a:lnTo>
                <a:lnTo>
                  <a:pt x="8931" y="18226"/>
                </a:lnTo>
                <a:lnTo>
                  <a:pt x="9004" y="18153"/>
                </a:lnTo>
                <a:lnTo>
                  <a:pt x="9125" y="17958"/>
                </a:lnTo>
                <a:lnTo>
                  <a:pt x="9198" y="17739"/>
                </a:lnTo>
                <a:lnTo>
                  <a:pt x="9393" y="17739"/>
                </a:lnTo>
                <a:lnTo>
                  <a:pt x="9369" y="17861"/>
                </a:lnTo>
                <a:lnTo>
                  <a:pt x="9369" y="18007"/>
                </a:lnTo>
                <a:lnTo>
                  <a:pt x="9125" y="18153"/>
                </a:lnTo>
                <a:lnTo>
                  <a:pt x="8833" y="18275"/>
                </a:lnTo>
                <a:lnTo>
                  <a:pt x="8566" y="18372"/>
                </a:lnTo>
                <a:lnTo>
                  <a:pt x="8249" y="18421"/>
                </a:lnTo>
                <a:lnTo>
                  <a:pt x="8274" y="18275"/>
                </a:lnTo>
                <a:lnTo>
                  <a:pt x="8371" y="17983"/>
                </a:lnTo>
                <a:lnTo>
                  <a:pt x="8468" y="17715"/>
                </a:lnTo>
                <a:close/>
                <a:moveTo>
                  <a:pt x="8176" y="17715"/>
                </a:moveTo>
                <a:lnTo>
                  <a:pt x="8030" y="18056"/>
                </a:lnTo>
                <a:lnTo>
                  <a:pt x="7957" y="18250"/>
                </a:lnTo>
                <a:lnTo>
                  <a:pt x="7933" y="18445"/>
                </a:lnTo>
                <a:lnTo>
                  <a:pt x="7738" y="18421"/>
                </a:lnTo>
                <a:lnTo>
                  <a:pt x="7568" y="18396"/>
                </a:lnTo>
                <a:lnTo>
                  <a:pt x="7568" y="18226"/>
                </a:lnTo>
                <a:lnTo>
                  <a:pt x="7641" y="17983"/>
                </a:lnTo>
                <a:lnTo>
                  <a:pt x="7738" y="17715"/>
                </a:lnTo>
                <a:close/>
                <a:moveTo>
                  <a:pt x="8128" y="2094"/>
                </a:moveTo>
                <a:lnTo>
                  <a:pt x="7714" y="2142"/>
                </a:lnTo>
                <a:lnTo>
                  <a:pt x="7325" y="2191"/>
                </a:lnTo>
                <a:lnTo>
                  <a:pt x="6935" y="2264"/>
                </a:lnTo>
                <a:lnTo>
                  <a:pt x="6546" y="2386"/>
                </a:lnTo>
                <a:lnTo>
                  <a:pt x="6181" y="2507"/>
                </a:lnTo>
                <a:lnTo>
                  <a:pt x="5841" y="2653"/>
                </a:lnTo>
                <a:lnTo>
                  <a:pt x="5500" y="2824"/>
                </a:lnTo>
                <a:lnTo>
                  <a:pt x="5184" y="3018"/>
                </a:lnTo>
                <a:lnTo>
                  <a:pt x="4892" y="3237"/>
                </a:lnTo>
                <a:lnTo>
                  <a:pt x="4551" y="3554"/>
                </a:lnTo>
                <a:lnTo>
                  <a:pt x="4210" y="3918"/>
                </a:lnTo>
                <a:lnTo>
                  <a:pt x="3918" y="4332"/>
                </a:lnTo>
                <a:lnTo>
                  <a:pt x="3626" y="4746"/>
                </a:lnTo>
                <a:lnTo>
                  <a:pt x="3383" y="5159"/>
                </a:lnTo>
                <a:lnTo>
                  <a:pt x="3164" y="5549"/>
                </a:lnTo>
                <a:lnTo>
                  <a:pt x="3018" y="5889"/>
                </a:lnTo>
                <a:lnTo>
                  <a:pt x="2921" y="6157"/>
                </a:lnTo>
                <a:lnTo>
                  <a:pt x="2823" y="6595"/>
                </a:lnTo>
                <a:lnTo>
                  <a:pt x="2775" y="7057"/>
                </a:lnTo>
                <a:lnTo>
                  <a:pt x="2750" y="7495"/>
                </a:lnTo>
                <a:lnTo>
                  <a:pt x="2775" y="7958"/>
                </a:lnTo>
                <a:lnTo>
                  <a:pt x="2823" y="8396"/>
                </a:lnTo>
                <a:lnTo>
                  <a:pt x="2921" y="8834"/>
                </a:lnTo>
                <a:lnTo>
                  <a:pt x="3067" y="9272"/>
                </a:lnTo>
                <a:lnTo>
                  <a:pt x="3237" y="9685"/>
                </a:lnTo>
                <a:lnTo>
                  <a:pt x="3602" y="10367"/>
                </a:lnTo>
                <a:lnTo>
                  <a:pt x="3991" y="11024"/>
                </a:lnTo>
                <a:lnTo>
                  <a:pt x="4843" y="12337"/>
                </a:lnTo>
                <a:lnTo>
                  <a:pt x="5281" y="13019"/>
                </a:lnTo>
                <a:lnTo>
                  <a:pt x="5476" y="13384"/>
                </a:lnTo>
                <a:lnTo>
                  <a:pt x="5646" y="13724"/>
                </a:lnTo>
                <a:lnTo>
                  <a:pt x="5792" y="14089"/>
                </a:lnTo>
                <a:lnTo>
                  <a:pt x="5914" y="14454"/>
                </a:lnTo>
                <a:lnTo>
                  <a:pt x="5987" y="14844"/>
                </a:lnTo>
                <a:lnTo>
                  <a:pt x="5987" y="15282"/>
                </a:lnTo>
                <a:lnTo>
                  <a:pt x="5962" y="15379"/>
                </a:lnTo>
                <a:lnTo>
                  <a:pt x="5962" y="15428"/>
                </a:lnTo>
                <a:lnTo>
                  <a:pt x="5889" y="15525"/>
                </a:lnTo>
                <a:lnTo>
                  <a:pt x="5841" y="15647"/>
                </a:lnTo>
                <a:lnTo>
                  <a:pt x="5816" y="15768"/>
                </a:lnTo>
                <a:lnTo>
                  <a:pt x="5792" y="15914"/>
                </a:lnTo>
                <a:lnTo>
                  <a:pt x="5816" y="16036"/>
                </a:lnTo>
                <a:lnTo>
                  <a:pt x="5841" y="16158"/>
                </a:lnTo>
                <a:lnTo>
                  <a:pt x="5889" y="16279"/>
                </a:lnTo>
                <a:lnTo>
                  <a:pt x="5962" y="16377"/>
                </a:lnTo>
                <a:lnTo>
                  <a:pt x="5865" y="16474"/>
                </a:lnTo>
                <a:lnTo>
                  <a:pt x="5792" y="16620"/>
                </a:lnTo>
                <a:lnTo>
                  <a:pt x="5768" y="16766"/>
                </a:lnTo>
                <a:lnTo>
                  <a:pt x="5768" y="16912"/>
                </a:lnTo>
                <a:lnTo>
                  <a:pt x="5768" y="17058"/>
                </a:lnTo>
                <a:lnTo>
                  <a:pt x="5816" y="17204"/>
                </a:lnTo>
                <a:lnTo>
                  <a:pt x="5889" y="17350"/>
                </a:lnTo>
                <a:lnTo>
                  <a:pt x="5987" y="17472"/>
                </a:lnTo>
                <a:lnTo>
                  <a:pt x="5962" y="17496"/>
                </a:lnTo>
                <a:lnTo>
                  <a:pt x="5914" y="17618"/>
                </a:lnTo>
                <a:lnTo>
                  <a:pt x="5914" y="17715"/>
                </a:lnTo>
                <a:lnTo>
                  <a:pt x="5938" y="17837"/>
                </a:lnTo>
                <a:lnTo>
                  <a:pt x="5987" y="17934"/>
                </a:lnTo>
                <a:lnTo>
                  <a:pt x="6133" y="18129"/>
                </a:lnTo>
                <a:lnTo>
                  <a:pt x="6303" y="18299"/>
                </a:lnTo>
                <a:lnTo>
                  <a:pt x="6424" y="18421"/>
                </a:lnTo>
                <a:lnTo>
                  <a:pt x="6570" y="18518"/>
                </a:lnTo>
                <a:lnTo>
                  <a:pt x="6862" y="18688"/>
                </a:lnTo>
                <a:lnTo>
                  <a:pt x="7179" y="18810"/>
                </a:lnTo>
                <a:lnTo>
                  <a:pt x="7495" y="18859"/>
                </a:lnTo>
                <a:lnTo>
                  <a:pt x="7738" y="18883"/>
                </a:lnTo>
                <a:lnTo>
                  <a:pt x="7982" y="18883"/>
                </a:lnTo>
                <a:lnTo>
                  <a:pt x="8030" y="18956"/>
                </a:lnTo>
                <a:lnTo>
                  <a:pt x="8079" y="18980"/>
                </a:lnTo>
                <a:lnTo>
                  <a:pt x="8128" y="18980"/>
                </a:lnTo>
                <a:lnTo>
                  <a:pt x="8176" y="18956"/>
                </a:lnTo>
                <a:lnTo>
                  <a:pt x="8201" y="18907"/>
                </a:lnTo>
                <a:lnTo>
                  <a:pt x="8201" y="18883"/>
                </a:lnTo>
                <a:lnTo>
                  <a:pt x="8493" y="18834"/>
                </a:lnTo>
                <a:lnTo>
                  <a:pt x="8785" y="18761"/>
                </a:lnTo>
                <a:lnTo>
                  <a:pt x="9052" y="18664"/>
                </a:lnTo>
                <a:lnTo>
                  <a:pt x="9320" y="18542"/>
                </a:lnTo>
                <a:lnTo>
                  <a:pt x="9563" y="18396"/>
                </a:lnTo>
                <a:lnTo>
                  <a:pt x="9807" y="18226"/>
                </a:lnTo>
                <a:lnTo>
                  <a:pt x="10050" y="18056"/>
                </a:lnTo>
                <a:lnTo>
                  <a:pt x="10269" y="17837"/>
                </a:lnTo>
                <a:lnTo>
                  <a:pt x="10318" y="17764"/>
                </a:lnTo>
                <a:lnTo>
                  <a:pt x="10342" y="17691"/>
                </a:lnTo>
                <a:lnTo>
                  <a:pt x="10464" y="17593"/>
                </a:lnTo>
                <a:lnTo>
                  <a:pt x="10537" y="17447"/>
                </a:lnTo>
                <a:lnTo>
                  <a:pt x="10585" y="17301"/>
                </a:lnTo>
                <a:lnTo>
                  <a:pt x="10634" y="17107"/>
                </a:lnTo>
                <a:lnTo>
                  <a:pt x="10634" y="16936"/>
                </a:lnTo>
                <a:lnTo>
                  <a:pt x="10585" y="16742"/>
                </a:lnTo>
                <a:lnTo>
                  <a:pt x="10512" y="16596"/>
                </a:lnTo>
                <a:lnTo>
                  <a:pt x="10391" y="16474"/>
                </a:lnTo>
                <a:lnTo>
                  <a:pt x="10488" y="16255"/>
                </a:lnTo>
                <a:lnTo>
                  <a:pt x="10537" y="16036"/>
                </a:lnTo>
                <a:lnTo>
                  <a:pt x="10537" y="15817"/>
                </a:lnTo>
                <a:lnTo>
                  <a:pt x="10488" y="15574"/>
                </a:lnTo>
                <a:lnTo>
                  <a:pt x="10415" y="15476"/>
                </a:lnTo>
                <a:lnTo>
                  <a:pt x="10342" y="15379"/>
                </a:lnTo>
                <a:lnTo>
                  <a:pt x="10342" y="15306"/>
                </a:lnTo>
                <a:lnTo>
                  <a:pt x="10415" y="14965"/>
                </a:lnTo>
                <a:lnTo>
                  <a:pt x="10464" y="14625"/>
                </a:lnTo>
                <a:lnTo>
                  <a:pt x="10512" y="14284"/>
                </a:lnTo>
                <a:lnTo>
                  <a:pt x="10585" y="13943"/>
                </a:lnTo>
                <a:lnTo>
                  <a:pt x="10658" y="13700"/>
                </a:lnTo>
                <a:lnTo>
                  <a:pt x="10756" y="13457"/>
                </a:lnTo>
                <a:lnTo>
                  <a:pt x="10999" y="12994"/>
                </a:lnTo>
                <a:lnTo>
                  <a:pt x="11023" y="12970"/>
                </a:lnTo>
                <a:lnTo>
                  <a:pt x="11023" y="12946"/>
                </a:lnTo>
                <a:lnTo>
                  <a:pt x="11340" y="12459"/>
                </a:lnTo>
                <a:lnTo>
                  <a:pt x="11632" y="11972"/>
                </a:lnTo>
                <a:lnTo>
                  <a:pt x="12191" y="11194"/>
                </a:lnTo>
                <a:lnTo>
                  <a:pt x="12483" y="10780"/>
                </a:lnTo>
                <a:lnTo>
                  <a:pt x="12751" y="10367"/>
                </a:lnTo>
                <a:lnTo>
                  <a:pt x="12994" y="9953"/>
                </a:lnTo>
                <a:lnTo>
                  <a:pt x="13213" y="9515"/>
                </a:lnTo>
                <a:lnTo>
                  <a:pt x="13384" y="9053"/>
                </a:lnTo>
                <a:lnTo>
                  <a:pt x="13457" y="8809"/>
                </a:lnTo>
                <a:lnTo>
                  <a:pt x="13505" y="8590"/>
                </a:lnTo>
                <a:lnTo>
                  <a:pt x="13554" y="8152"/>
                </a:lnTo>
                <a:lnTo>
                  <a:pt x="13554" y="7714"/>
                </a:lnTo>
                <a:lnTo>
                  <a:pt x="13505" y="7276"/>
                </a:lnTo>
                <a:lnTo>
                  <a:pt x="13432" y="6838"/>
                </a:lnTo>
                <a:lnTo>
                  <a:pt x="13335" y="6400"/>
                </a:lnTo>
                <a:lnTo>
                  <a:pt x="13213" y="5962"/>
                </a:lnTo>
                <a:lnTo>
                  <a:pt x="12946" y="5135"/>
                </a:lnTo>
                <a:lnTo>
                  <a:pt x="12800" y="4770"/>
                </a:lnTo>
                <a:lnTo>
                  <a:pt x="12605" y="4429"/>
                </a:lnTo>
                <a:lnTo>
                  <a:pt x="12386" y="4113"/>
                </a:lnTo>
                <a:lnTo>
                  <a:pt x="12143" y="3797"/>
                </a:lnTo>
                <a:lnTo>
                  <a:pt x="12143" y="3773"/>
                </a:lnTo>
                <a:lnTo>
                  <a:pt x="12094" y="3675"/>
                </a:lnTo>
                <a:lnTo>
                  <a:pt x="12021" y="3602"/>
                </a:lnTo>
                <a:lnTo>
                  <a:pt x="11948" y="3554"/>
                </a:lnTo>
                <a:lnTo>
                  <a:pt x="11851" y="3505"/>
                </a:lnTo>
                <a:lnTo>
                  <a:pt x="11607" y="3286"/>
                </a:lnTo>
                <a:lnTo>
                  <a:pt x="11340" y="3091"/>
                </a:lnTo>
                <a:lnTo>
                  <a:pt x="11072" y="2897"/>
                </a:lnTo>
                <a:lnTo>
                  <a:pt x="10804" y="2726"/>
                </a:lnTo>
                <a:lnTo>
                  <a:pt x="10464" y="2556"/>
                </a:lnTo>
                <a:lnTo>
                  <a:pt x="10099" y="2386"/>
                </a:lnTo>
                <a:lnTo>
                  <a:pt x="9709" y="2264"/>
                </a:lnTo>
                <a:lnTo>
                  <a:pt x="9320" y="2191"/>
                </a:lnTo>
                <a:lnTo>
                  <a:pt x="8931" y="2142"/>
                </a:lnTo>
                <a:lnTo>
                  <a:pt x="8517" y="209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Brabantio template">
  <a:themeElements>
    <a:clrScheme name="Custom 347">
      <a:dk1>
        <a:srgbClr val="FFFFFF"/>
      </a:dk1>
      <a:lt1>
        <a:srgbClr val="000000"/>
      </a:lt1>
      <a:dk2>
        <a:srgbClr val="D3D9DF"/>
      </a:dk2>
      <a:lt2>
        <a:srgbClr val="496175"/>
      </a:lt2>
      <a:accent1>
        <a:srgbClr val="1456BB"/>
      </a:accent1>
      <a:accent2>
        <a:srgbClr val="971D4D"/>
      </a:accent2>
      <a:accent3>
        <a:srgbClr val="C92126"/>
      </a:accent3>
      <a:accent4>
        <a:srgbClr val="E4682F"/>
      </a:accent4>
      <a:accent5>
        <a:srgbClr val="EEAD12"/>
      </a:accent5>
      <a:accent6>
        <a:srgbClr val="328EFF"/>
      </a:accent6>
      <a:hlink>
        <a:srgbClr val="7CAEF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6500</TotalTime>
  <Words>5582</Words>
  <Application>Microsoft Office PowerPoint</Application>
  <PresentationFormat>On-screen Show (16:9)</PresentationFormat>
  <Paragraphs>941</Paragraphs>
  <Slides>60</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Arial</vt:lpstr>
      <vt:lpstr>Calibri</vt:lpstr>
      <vt:lpstr>inter-regular</vt:lpstr>
      <vt:lpstr>Vidaloka</vt:lpstr>
      <vt:lpstr>Lora</vt:lpstr>
      <vt:lpstr>Brabantio template</vt:lpstr>
      <vt:lpstr>  Programming in C</vt:lpstr>
      <vt:lpstr>Dynamic  Data structures - Pointers</vt:lpstr>
      <vt:lpstr>Contents</vt:lpstr>
      <vt:lpstr>Pointers</vt:lpstr>
      <vt:lpstr>Example for Pointers</vt:lpstr>
      <vt:lpstr>The * and &amp; Operator</vt:lpstr>
      <vt:lpstr>Example for Without Pointers</vt:lpstr>
      <vt:lpstr>Null Pointers Example</vt:lpstr>
      <vt:lpstr>Pointer Examples</vt:lpstr>
      <vt:lpstr>Pointer Example for Swapping numbers</vt:lpstr>
      <vt:lpstr>Pointer Example for Swapping numbers</vt:lpstr>
      <vt:lpstr>Arithmetic Pointer Examples</vt:lpstr>
      <vt:lpstr>Pointer Increment (++) Expression</vt:lpstr>
      <vt:lpstr>Pointer Decrement (--) Expression</vt:lpstr>
      <vt:lpstr>Pointer Addition (+) Expression</vt:lpstr>
      <vt:lpstr>Pointer Subtraction (-) Expression</vt:lpstr>
      <vt:lpstr>Illegal Arithmetic with Pointers</vt:lpstr>
      <vt:lpstr>Comparison</vt:lpstr>
      <vt:lpstr>Dynamic Memory Allocation</vt:lpstr>
      <vt:lpstr>malloc() </vt:lpstr>
      <vt:lpstr>malloc() Example </vt:lpstr>
      <vt:lpstr>calloc() </vt:lpstr>
      <vt:lpstr>malloc()  vs. calloc() </vt:lpstr>
      <vt:lpstr>Arrays of Pointers</vt:lpstr>
      <vt:lpstr>Arrays of Pointers Example with name</vt:lpstr>
      <vt:lpstr>Pointers to Pointers</vt:lpstr>
      <vt:lpstr>Pointers with Functions</vt:lpstr>
      <vt:lpstr>Pointers with Functions</vt:lpstr>
      <vt:lpstr>Function returning Pointers</vt:lpstr>
      <vt:lpstr>Function returning Pointers</vt:lpstr>
      <vt:lpstr>Advantages of Pointers</vt:lpstr>
      <vt:lpstr>Structures</vt:lpstr>
      <vt:lpstr>Structures</vt:lpstr>
      <vt:lpstr>Structures</vt:lpstr>
      <vt:lpstr>Accessing Members</vt:lpstr>
      <vt:lpstr>Accessing Members Type 1 - Example</vt:lpstr>
      <vt:lpstr>Accessing Members Type 2- Example</vt:lpstr>
      <vt:lpstr>Array of Structures </vt:lpstr>
      <vt:lpstr>Array of Structures Example</vt:lpstr>
      <vt:lpstr>Passing Structures to Functions</vt:lpstr>
      <vt:lpstr>Structure Pointers</vt:lpstr>
      <vt:lpstr>Structure Pointers Example</vt:lpstr>
      <vt:lpstr>Nested Structures </vt:lpstr>
      <vt:lpstr>Nested Structures Example </vt:lpstr>
      <vt:lpstr>Unions</vt:lpstr>
      <vt:lpstr>Unions - Example</vt:lpstr>
      <vt:lpstr>Unions - Example</vt:lpstr>
      <vt:lpstr>Structure vs. Union</vt:lpstr>
      <vt:lpstr>Structure vs. Union</vt:lpstr>
      <vt:lpstr>Enumerated Data Type</vt:lpstr>
      <vt:lpstr>Enumerated Data Type - Example</vt:lpstr>
      <vt:lpstr>Enumerated Data Type - Example</vt:lpstr>
      <vt:lpstr>Typedef</vt:lpstr>
      <vt:lpstr>Typedef Example</vt:lpstr>
      <vt:lpstr>Typedef</vt:lpstr>
      <vt:lpstr>Credits</vt:lpstr>
      <vt:lpstr>Roadmap for Unit IV</vt:lpstr>
      <vt:lpstr>Roadmap to Programming in C</vt:lpstr>
      <vt:lpstr>Feedback – Rating Star</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COMPUTER APPLICATIONS</dc:title>
  <dc:creator>ram</dc:creator>
  <cp:lastModifiedBy>KRITI KAUSIK</cp:lastModifiedBy>
  <cp:revision>116</cp:revision>
  <dcterms:modified xsi:type="dcterms:W3CDTF">2023-10-14T17:38:40Z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2023-10-14T17:35:08Z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2d5e1975-ab36-484d-8c13-33bddcce1615</vt:lpwstr>
  </property>
  <property fmtid="{D5CDD505-2E9C-101B-9397-08002B2CF9AE}" pid="7" name="MSIP_Label_defa4170-0d19-0005-0004-bc88714345d2_ActionId">
    <vt:lpwstr>251e9b29-dd01-4b2a-aba7-9b4394cc2fc4</vt:lpwstr>
  </property>
  <property fmtid="{D5CDD505-2E9C-101B-9397-08002B2CF9AE}" pid="8" name="MSIP_Label_defa4170-0d19-0005-0004-bc88714345d2_ContentBits">
    <vt:lpwstr>0</vt:lpwstr>
  </property>
</Properties>
</file>